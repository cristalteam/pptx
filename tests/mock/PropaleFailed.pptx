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5055" r:id="rId1"/>
    <p:sldMasterId id="2147485056" r:id="rId2"/>
    <p:sldMasterId id="2147485057" r:id="rId3"/>
  </p:sldMasterIdLst>
  <p:notesMasterIdLst>
    <p:notesMasterId r:id="rId22"/>
  </p:notesMasterIdLst>
  <p:handoutMasterIdLst>
    <p:handoutMasterId r:id="rId19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906000" cy="6858000" type="A4"/>
  <p:notesSz cx="6858000" cy="9144000"/>
  <p:custDataLst>
    <p:tags r:id="rId29"/>
  </p:custDataLst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381A8-E85A-4AE3-BBB8-7E095746C347}" v="11" dt="2026-03-02T17:55:4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20" Type="http://schemas.openxmlformats.org/officeDocument/2006/relationships/tableStyles" Target="tableStyles.xml"/><Relationship Id="rId21" Type="http://schemas.openxmlformats.org/officeDocument/2006/relationships/customXml" Target="../customXml/item3.xml"/><Relationship Id="rId22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24" Type="http://schemas.openxmlformats.org/officeDocument/2006/relationships/customXml" Target="../customXml/item2.xml"/><Relationship Id="rId25" Type="http://schemas.openxmlformats.org/officeDocument/2006/relationships/viewProps" Target="viewProps.xml"/><Relationship Id="rId26" Type="http://schemas.openxmlformats.org/officeDocument/2006/relationships/customXml" Target="../customXml/item1.xml"/><Relationship Id="rId27" Type="http://schemas.openxmlformats.org/officeDocument/2006/relationships/presProps" Target="presProps.xml"/><Relationship Id="rId28" Type="http://schemas.microsoft.com/office/2015/10/relationships/revisionInfo" Target="revisionInfo.xml"/><Relationship Id="rId29" Type="http://schemas.openxmlformats.org/officeDocument/2006/relationships/tags" Target="tags/tag1.xml"/><Relationship Id="rId30" Type="http://schemas.openxmlformats.org/officeDocument/2006/relationships/theme" Target="theme/theme4.xml"/><Relationship Id="rId31" Type="http://schemas.openxmlformats.org/officeDocument/2006/relationships/theme" Target="theme/theme5.xml"/>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demander à Emmanuel de m’envoyer les éléments contractuels pour unifier le </a:t>
            </a:r>
            <a:r>
              <a:rPr lang="fr-FR" dirty="0" err="1"/>
              <a:t>wording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i="1" dirty="0"/>
              <a:t>Conditions à boucler avec les équipes télécom sur les prestations</a:t>
            </a:r>
          </a:p>
          <a:p>
            <a:r>
              <a:rPr lang="fr-FR" sz="1200" i="1" dirty="0"/>
              <a:t>+ affichage des SLA</a:t>
            </a:r>
          </a:p>
          <a:p>
            <a:r>
              <a:rPr lang="fr-FR" sz="1200" i="1" dirty="0"/>
              <a:t>Services managés (slide à part ?)</a:t>
            </a:r>
          </a:p>
          <a:p>
            <a:r>
              <a:rPr lang="fr-FR" sz="1200" i="1" dirty="0"/>
              <a:t>Horaires standards</a:t>
            </a:r>
          </a:p>
          <a:p>
            <a:r>
              <a:rPr lang="fr-FR" sz="1200" i="1" dirty="0"/>
              <a:t>		étendus</a:t>
            </a:r>
          </a:p>
          <a:p>
            <a:r>
              <a:rPr lang="fr-FR" sz="1200" i="1" dirty="0"/>
              <a:t>		24/7 (que sur certains éléments)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0EF67D-F771-43F2-9BC9-8E012AD24F8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3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593" y="683268"/>
            <a:ext cx="3948447" cy="6029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71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94" y="1524004"/>
            <a:ext cx="4421233" cy="4670605"/>
          </a:xfrm>
          <a:prstGeom prst="rect">
            <a:avLst/>
          </a:prstGeom>
        </p:spPr>
        <p:txBody>
          <a:bodyPr/>
          <a:lstStyle>
            <a:lvl1pPr marL="136408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432">
                <a:latin typeface="+mn-lt"/>
              </a:defRPr>
            </a:lvl1pPr>
            <a:lvl2pPr marL="409224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194">
                <a:latin typeface="+mn-lt"/>
              </a:defRPr>
            </a:lvl2pPr>
            <a:lvl3pPr marL="682040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074">
                <a:latin typeface="+mn-lt"/>
              </a:defRPr>
            </a:lvl3pPr>
            <a:lvl4pPr marL="954857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4pPr>
            <a:lvl5pPr marL="1227673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30496" y="1524004"/>
            <a:ext cx="3304657" cy="39163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545633" rtl="0" eaLnBrk="1" fontAlgn="auto" latinLnBrk="0" hangingPunct="1">
              <a:lnSpc>
                <a:spcPct val="90000"/>
              </a:lnSpc>
              <a:spcBef>
                <a:spcPts val="59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35579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1.xml"/></Relationships>
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45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</p:sldLayoutIdLst>
  <p:hf hdr="0"/>
  <p:txStyles>
    <p:titleStyle>
      <a:lvl1pPr algn="l" defTabSz="530689" rtl="0" eaLnBrk="1" latinLnBrk="0" hangingPunct="1">
        <a:lnSpc>
          <a:spcPct val="90000"/>
        </a:lnSpc>
        <a:spcBef>
          <a:spcPct val="0"/>
        </a:spcBef>
        <a:buNone/>
        <a:defRPr sz="2089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32673" indent="-132673" algn="l" defTabSz="530689" rtl="0" eaLnBrk="1" latinLnBrk="0" hangingPunct="1">
        <a:lnSpc>
          <a:spcPct val="90000"/>
        </a:lnSpc>
        <a:spcBef>
          <a:spcPts val="581"/>
        </a:spcBef>
        <a:buClr>
          <a:schemeClr val="tx2"/>
        </a:buClr>
        <a:buFont typeface="Arial" panose="020B0604020202020204" pitchFamily="34" charset="0"/>
        <a:buChar char="•"/>
        <a:defRPr sz="150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98017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277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663362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161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04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6pPr>
      <a:lvl7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7pPr>
      <a:lvl8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8pPr>
      <a:lvl9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1pPr>
      <a:lvl2pPr marL="265345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530689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3pPr>
      <a:lvl4pPr marL="796034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4pPr>
      <a:lvl5pPr marL="106137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5pPr>
      <a:lvl6pPr marL="1326723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6pPr>
      <a:lvl7pPr marL="159206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7pPr>
      <a:lvl8pPr marL="1857412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8pPr>
      <a:lvl9pPr marL="2122757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2" r:id="rId2"/>
    <p:sldLayoutId id="2147485023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9" r:id="rId2"/>
    <p:sldLayoutId id="2147485030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5.png"/><Relationship Id="rId4" Type="http://schemas.openxmlformats.org/officeDocument/2006/relationships/image" Target="../media/image36.jpeg"/></Relationships>
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023543" y="2128493"/>
            <a:ext cx="4077096" cy="37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1861" b="1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046183" y="2425853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419854" y="2423714"/>
            <a:ext cx="1653764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02/03/2026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023543" y="2826171"/>
            <a:ext cx="3813848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54703"/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TEST 27/02/2026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046184" y="4259173"/>
            <a:ext cx="2936663" cy="33111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046183" y="4081868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489822" y="3647890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023541" y="3167507"/>
            <a:ext cx="3403451" cy="771602"/>
            <a:chOff x="5995758" y="4145905"/>
            <a:chExt cx="3777415" cy="994524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45905"/>
              <a:ext cx="3777415" cy="2728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54703"/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CHARLES REMA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0"/>
              <a:ext cx="3676747" cy="7345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ZI LES FOUGERES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/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01250 SAINT-JUST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046184" y="4856792"/>
            <a:ext cx="2680638" cy="5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Bruno GRANJON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0000000000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bruno.granjon@koesio.com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046183" y="4679206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489822" y="2720436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006" y="1105058"/>
            <a:ext cx="1413847" cy="616515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6981594" y="1049628"/>
            <a:ext cx="1547255" cy="77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4703"/>
            <a:endParaRPr lang="fr-FR" sz="1396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046183" y="2536305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280767" y="1"/>
            <a:ext cx="4170474" cy="6858000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473813" y="2592781"/>
            <a:ext cx="3098373" cy="1035891"/>
          </a:xfrm>
          <a:prstGeom prst="rect">
            <a:avLst/>
          </a:prstGeom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342886" y="2512410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8309798" y="1019498"/>
            <a:ext cx="1492912" cy="1492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3247" y="125102"/>
            <a:ext cx="3977649" cy="53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474416" y="2333416"/>
            <a:ext cx="2905894" cy="202150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54703"/>
              <a:endParaRPr lang="fr-FR" sz="1396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97619" y="1805640"/>
            <a:ext cx="1906603" cy="1460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6663779" y="1505220"/>
            <a:ext cx="2178409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44336" y="5258397"/>
            <a:ext cx="2054106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39692" y="4604755"/>
            <a:ext cx="2026290" cy="939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187563" y="4601806"/>
            <a:ext cx="2137415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185151" y="3811337"/>
            <a:ext cx="2251292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572" y="2251025"/>
            <a:ext cx="641007" cy="641007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73" y="1917777"/>
            <a:ext cx="333247" cy="333247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3763" y="4973726"/>
            <a:ext cx="319421" cy="319421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5305" y="4679754"/>
            <a:ext cx="643240" cy="643240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810" y="1939332"/>
            <a:ext cx="639317" cy="639317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1603" y="4325965"/>
            <a:ext cx="653409" cy="653409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0751" y="4350010"/>
            <a:ext cx="326875" cy="3268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6663779" y="919823"/>
            <a:ext cx="1896789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42684" y="3903567"/>
            <a:ext cx="259171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185150" y="3095011"/>
            <a:ext cx="2555236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8042" y="2571530"/>
            <a:ext cx="326875" cy="326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22001" y="1522555"/>
            <a:ext cx="2591714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95386" y="240701"/>
            <a:ext cx="4937054" cy="938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09409"/>
            <a:r>
              <a:rPr lang="fr-FR" sz="1861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85E3-1601-D8DC-8AC7-08D5CC49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97F1DEF5-6DBD-249C-6DAA-6482FF45E0B5}"/>
              </a:ext>
            </a:extLst>
          </p:cNvPr>
          <p:cNvSpPr txBox="1">
            <a:spLocks/>
          </p:cNvSpPr>
          <p:nvPr/>
        </p:nvSpPr>
        <p:spPr>
          <a:xfrm>
            <a:off x="1554693" y="2708503"/>
            <a:ext cx="3998130" cy="804446"/>
          </a:xfrm>
          <a:prstGeom prst="rect">
            <a:avLst/>
          </a:prstGeom>
          <a:noFill/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 b="1">
                <a:solidFill>
                  <a:schemeClr val="tx1"/>
                </a:solidFill>
                <a:latin typeface="Century Gothic" panose="020B0502020202020204" pitchFamily="34" charset="0"/>
              </a:rPr>
              <a:t>Koesio vous accompagne dans vos enjeux numériques</a:t>
            </a:r>
          </a:p>
        </p:txBody>
      </p:sp>
      <p:sp>
        <p:nvSpPr>
          <p:cNvPr id="4" name="color:primary">
            <a:extLst>
              <a:ext uri="{FF2B5EF4-FFF2-40B4-BE49-F238E27FC236}">
                <a16:creationId xmlns:a16="http://schemas.microsoft.com/office/drawing/2014/main" id="{C13B1F5B-EF5C-A815-4A70-EAAD2C58C60F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9EF226B-A24C-2CA4-CC2E-864560A78F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0887B9-58C9-CFDE-090C-F1A5388318C7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9ECA-E043-339B-50A3-F6E77C631268}"/>
              </a:ext>
            </a:extLst>
          </p:cNvPr>
          <p:cNvSpPr/>
          <p:nvPr/>
        </p:nvSpPr>
        <p:spPr>
          <a:xfrm>
            <a:off x="5699456" y="2398177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C00F-3242-C77F-4C4F-559700418DC4}"/>
              </a:ext>
            </a:extLst>
          </p:cNvPr>
          <p:cNvSpPr/>
          <p:nvPr/>
        </p:nvSpPr>
        <p:spPr>
          <a:xfrm>
            <a:off x="4206544" y="5365089"/>
            <a:ext cx="1492912" cy="1492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7" name="Image 6" descr="Une image contenant habits, Visage humain, personne, sourire&#10;&#10;Le contenu généré par l’IA peut être incorrect.">
            <a:extLst>
              <a:ext uri="{FF2B5EF4-FFF2-40B4-BE49-F238E27FC236}">
                <a16:creationId xmlns:a16="http://schemas.microsoft.com/office/drawing/2014/main" id="{8C352D7F-9452-0D70-EA05-0D7DB7FF3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813" y="154927"/>
            <a:ext cx="5210162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079792" y="2641040"/>
            <a:ext cx="3907433" cy="2891445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4"/>
                <a:ext cx="1336021" cy="43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4"/>
                <a:ext cx="1336020" cy="36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6" y="37855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6"/>
                <a:ext cx="1336019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6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731883" y="173928"/>
            <a:ext cx="648726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731883" y="1238155"/>
            <a:ext cx="7093716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47584" y="2446093"/>
            <a:ext cx="3855189" cy="33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813" b="1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270" b="1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270">
                <a:latin typeface="Arial Nova" panose="020B0504020202020204" pitchFamily="34" charset="0"/>
              </a:rPr>
              <a:t>, à distance avec un service illimité.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270" b="1">
                <a:latin typeface="Arial Nova" panose="020B0504020202020204" pitchFamily="34" charset="0"/>
              </a:rPr>
              <a:t>plus</a:t>
            </a:r>
            <a:r>
              <a:rPr lang="fr-FR" sz="1270">
                <a:latin typeface="Arial Nova" panose="020B0504020202020204" pitchFamily="34" charset="0"/>
              </a:rPr>
              <a:t> </a:t>
            </a:r>
            <a:r>
              <a:rPr lang="fr-FR" sz="1270" b="1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270" b="1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151149" y="2610453"/>
            <a:ext cx="3923171" cy="2918485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5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2"/>
              <a:ext cx="1116354" cy="972621"/>
              <a:chOff x="4644036" y="3412813"/>
              <a:chExt cx="1567391" cy="13655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7"/>
                <a:ext cx="1336021" cy="96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6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1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6" y="36569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6"/>
                <a:ext cx="1336020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4"/>
                <a:ext cx="1325618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1" y="4117652"/>
                <a:ext cx="1336020" cy="58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79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631350" y="183049"/>
            <a:ext cx="699735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631350" y="1094031"/>
            <a:ext cx="7093716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54036" y="2263670"/>
            <a:ext cx="4018829" cy="436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Fort de </a:t>
            </a:r>
            <a:r>
              <a:rPr lang="fr-FR" sz="1270" b="1">
                <a:latin typeface="Arial Nova" panose="020B0504020202020204" pitchFamily="34" charset="0"/>
              </a:rPr>
              <a:t>notre propre fibre </a:t>
            </a:r>
            <a:r>
              <a:rPr lang="fr-FR" sz="1270" b="1" err="1">
                <a:latin typeface="Arial Nova" panose="020B0504020202020204" pitchFamily="34" charset="0"/>
              </a:rPr>
              <a:t>Koesio</a:t>
            </a:r>
            <a:r>
              <a:rPr lang="fr-FR" sz="1270">
                <a:latin typeface="Arial Nova" panose="020B0504020202020204" pitchFamily="34" charset="0"/>
              </a:rPr>
              <a:t>, nous avons mis en place une </a:t>
            </a:r>
            <a:r>
              <a:rPr lang="fr-FR" sz="1270" b="1">
                <a:latin typeface="Arial Nova" panose="020B0504020202020204" pitchFamily="34" charset="0"/>
              </a:rPr>
              <a:t>infrastructure Télécom puissante </a:t>
            </a:r>
            <a:r>
              <a:rPr lang="fr-FR" sz="127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Parmi les rares titulaires d’une </a:t>
            </a:r>
            <a:r>
              <a:rPr lang="fr-FR" sz="1270" b="1">
                <a:latin typeface="Arial Nova" panose="020B0504020202020204" pitchFamily="34" charset="0"/>
              </a:rPr>
              <a:t>MVNO avec Orange</a:t>
            </a:r>
            <a:r>
              <a:rPr lang="fr-FR" sz="127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270" b="1">
                <a:latin typeface="Arial Nova" panose="020B0504020202020204" pitchFamily="34" charset="0"/>
              </a:rPr>
              <a:t>forfaits mobiles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Grâce à nos </a:t>
            </a:r>
            <a:r>
              <a:rPr lang="fr-FR" sz="1270" b="1">
                <a:latin typeface="Arial Nova" panose="020B0504020202020204" pitchFamily="34" charset="0"/>
              </a:rPr>
              <a:t>offres informatiques</a:t>
            </a:r>
            <a:r>
              <a:rPr lang="fr-FR" sz="1270">
                <a:latin typeface="Arial Nova" panose="020B0504020202020204" pitchFamily="34" charset="0"/>
              </a:rPr>
              <a:t>, nous complétons nos propositions de </a:t>
            </a:r>
            <a:r>
              <a:rPr lang="fr-FR" sz="1270" b="1">
                <a:latin typeface="Arial Nova" panose="020B0504020202020204" pitchFamily="34" charset="0"/>
              </a:rPr>
              <a:t>solutions de sécurité </a:t>
            </a:r>
            <a:r>
              <a:rPr lang="fr-FR" sz="1270">
                <a:latin typeface="Arial Nova" panose="020B0504020202020204" pitchFamily="34" charset="0"/>
              </a:rPr>
              <a:t>essentielles pour vous protéger.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</a:t>
            </a:r>
            <a:r>
              <a:rPr lang="fr-FR" sz="1270" b="1">
                <a:latin typeface="Arial Nova" panose="020B0504020202020204" pitchFamily="34" charset="0"/>
              </a:rPr>
              <a:t>contrats de maintenance </a:t>
            </a:r>
            <a:r>
              <a:rPr lang="fr-FR" sz="1270">
                <a:latin typeface="Arial Nova" panose="020B0504020202020204" pitchFamily="34" charset="0"/>
              </a:rPr>
              <a:t>vous permettent une </a:t>
            </a:r>
            <a:r>
              <a:rPr lang="fr-FR" sz="1270" b="1">
                <a:latin typeface="Arial Nova" panose="020B0504020202020204" pitchFamily="34" charset="0"/>
              </a:rPr>
              <a:t>garantie de votre matériel de téléphonie</a:t>
            </a:r>
            <a:r>
              <a:rPr lang="fr-FR" sz="127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795F79-E10F-8CC4-179B-FEC73D03879E}"/>
              </a:ext>
            </a:extLst>
          </p:cNvPr>
          <p:cNvSpPr/>
          <p:nvPr/>
        </p:nvSpPr>
        <p:spPr>
          <a:xfrm>
            <a:off x="288125" y="3233140"/>
            <a:ext cx="9514376" cy="3624860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C5C24-1C82-FEF1-BC0D-952984EB2FB1}"/>
              </a:ext>
            </a:extLst>
          </p:cNvPr>
          <p:cNvSpPr/>
          <p:nvPr/>
        </p:nvSpPr>
        <p:spPr>
          <a:xfrm>
            <a:off x="6764454" y="1952560"/>
            <a:ext cx="2194654" cy="2193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384D4F7E-06D1-47E8-1A68-C21F8BF8AF2D}"/>
              </a:ext>
            </a:extLst>
          </p:cNvPr>
          <p:cNvSpPr txBox="1">
            <a:spLocks/>
          </p:cNvSpPr>
          <p:nvPr/>
        </p:nvSpPr>
        <p:spPr>
          <a:xfrm>
            <a:off x="788431" y="757368"/>
            <a:ext cx="6487262" cy="3525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>
                <a:latin typeface="Century Gothic" panose="020B0502020202020204" pitchFamily="34" charset="0"/>
              </a:rPr>
              <a:t>          </a:t>
            </a:r>
            <a:r>
              <a:rPr lang="fr-FR" sz="3266" err="1">
                <a:latin typeface="Century Gothic" panose="020B0502020202020204" pitchFamily="34" charset="0"/>
              </a:rPr>
              <a:t>oi</a:t>
            </a:r>
            <a:r>
              <a:rPr lang="fr-FR" sz="3266">
                <a:latin typeface="Century Gothic" panose="020B0502020202020204" pitchFamily="34" charset="0"/>
              </a:rPr>
              <a:t> de neuf ?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49A9A943-31DC-0978-7867-40A7EAFA9D19}"/>
              </a:ext>
            </a:extLst>
          </p:cNvPr>
          <p:cNvSpPr txBox="1">
            <a:spLocks/>
          </p:cNvSpPr>
          <p:nvPr/>
        </p:nvSpPr>
        <p:spPr>
          <a:xfrm>
            <a:off x="1463935" y="4759761"/>
            <a:ext cx="1637800" cy="1124640"/>
          </a:xfrm>
          <a:prstGeom prst="rect">
            <a:avLst/>
          </a:prstGeom>
        </p:spPr>
        <p:txBody>
          <a:bodyPr vert="horz" lIns="82953" tIns="41476" rIns="82953" bIns="41476" rtlCol="0" anchor="t"/>
          <a:lstStyle>
            <a:defPPr>
              <a:defRPr lang="en-US"/>
            </a:defPPr>
            <a:lvl1pPr marL="0" algn="r" defTabSz="457200" rtl="0" eaLnBrk="1" latinLnBrk="0" hangingPunct="1">
              <a:defRPr sz="11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L’informatique managée des TPE / PME pour apporter le service à vos utilisateurs.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5AF983E-8E2D-7DDE-99CB-9FD4810131E8}"/>
              </a:ext>
            </a:extLst>
          </p:cNvPr>
          <p:cNvSpPr txBox="1">
            <a:spLocks/>
          </p:cNvSpPr>
          <p:nvPr/>
        </p:nvSpPr>
        <p:spPr>
          <a:xfrm>
            <a:off x="1250478" y="4366554"/>
            <a:ext cx="2064716" cy="330358"/>
          </a:xfrm>
          <a:prstGeom prst="rect">
            <a:avLst/>
          </a:prstGeom>
        </p:spPr>
        <p:txBody>
          <a:bodyPr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Be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Proactiv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BD3AFA6-D43E-DAA6-881D-908FABB59D7A}"/>
              </a:ext>
            </a:extLst>
          </p:cNvPr>
          <p:cNvSpPr txBox="1">
            <a:spLocks/>
          </p:cNvSpPr>
          <p:nvPr/>
        </p:nvSpPr>
        <p:spPr>
          <a:xfrm>
            <a:off x="4085136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L’écran tactile </a:t>
            </a:r>
          </a:p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by </a:t>
            </a: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vous apporte design et efficacité pour vos salles de réunion.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4271D354-A69A-E584-B067-833413A2DC40}"/>
              </a:ext>
            </a:extLst>
          </p:cNvPr>
          <p:cNvSpPr txBox="1">
            <a:spLocks/>
          </p:cNvSpPr>
          <p:nvPr/>
        </p:nvSpPr>
        <p:spPr>
          <a:xfrm>
            <a:off x="4085137" y="4445402"/>
            <a:ext cx="2064716" cy="33035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Screen ISI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Touch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E493F19E-5AFD-68D9-3007-64E3EBD5B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7037" y="3422540"/>
            <a:ext cx="276509" cy="2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953" tIns="41476" rIns="82953" bIns="41476" numCol="1" anchor="t" anchorCtr="0" compatLnSpc="1">
            <a:prstTxWarp prst="textNoShape">
              <a:avLst/>
            </a:prstTxWarp>
          </a:bodyPr>
          <a:lstStyle/>
          <a:p>
            <a:endParaRPr lang="fr-FR" sz="1632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B13BD93-36CA-8171-D01B-3A4E32F9C891}"/>
              </a:ext>
            </a:extLst>
          </p:cNvPr>
          <p:cNvGrpSpPr/>
          <p:nvPr/>
        </p:nvGrpSpPr>
        <p:grpSpPr>
          <a:xfrm>
            <a:off x="4046012" y="1955678"/>
            <a:ext cx="2279557" cy="2190010"/>
            <a:chOff x="3757905" y="1274211"/>
            <a:chExt cx="3179608" cy="30547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E6E69A-E393-4A74-57FA-FBF44080783B}"/>
                </a:ext>
              </a:extLst>
            </p:cNvPr>
            <p:cNvSpPr/>
            <p:nvPr/>
          </p:nvSpPr>
          <p:spPr>
            <a:xfrm>
              <a:off x="3757905" y="3703234"/>
              <a:ext cx="3179608" cy="625682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A48B5A-F878-2E02-492B-4D0D26433EED}"/>
                </a:ext>
              </a:extLst>
            </p:cNvPr>
            <p:cNvSpPr/>
            <p:nvPr/>
          </p:nvSpPr>
          <p:spPr>
            <a:xfrm>
              <a:off x="3757905" y="1274211"/>
              <a:ext cx="3179608" cy="670250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pic>
          <p:nvPicPr>
            <p:cNvPr id="20" name="Image 19" descr="Une image contenant texte, capture d’écran, ligne, diagramme&#10;&#10;Description générée automatiquement">
              <a:extLst>
                <a:ext uri="{FF2B5EF4-FFF2-40B4-BE49-F238E27FC236}">
                  <a16:creationId xmlns:a16="http://schemas.microsoft.com/office/drawing/2014/main" id="{79360F83-745A-B43B-3A93-A62062C5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905" y="1870578"/>
              <a:ext cx="3179608" cy="2119739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747737A9-EECA-4B39-0796-722649CD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973" y="1952560"/>
            <a:ext cx="2279557" cy="219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4D33BB-F222-DDFB-03BC-64BFD22C51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86971">
            <a:off x="7493962" y="2103500"/>
            <a:ext cx="950141" cy="1841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E283D48-32F8-2984-E61A-7F0F4236350D}"/>
              </a:ext>
            </a:extLst>
          </p:cNvPr>
          <p:cNvSpPr txBox="1">
            <a:spLocks/>
          </p:cNvSpPr>
          <p:nvPr/>
        </p:nvSpPr>
        <p:spPr>
          <a:xfrm>
            <a:off x="6890285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est MVNO d’Orange pour vous apporter le meilleur des 2 mondes, le réseau n°1 et un service de proximité.</a:t>
            </a:r>
          </a:p>
        </p:txBody>
      </p:sp>
      <p:sp>
        <p:nvSpPr>
          <p:cNvPr id="26" name="text:typogr">
            <a:extLst>
              <a:ext uri="{FF2B5EF4-FFF2-40B4-BE49-F238E27FC236}">
                <a16:creationId xmlns:a16="http://schemas.microsoft.com/office/drawing/2014/main" id="{E98F62F7-C5A7-F6F0-2D09-002A4A71516F}"/>
              </a:ext>
            </a:extLst>
          </p:cNvPr>
          <p:cNvSpPr txBox="1">
            <a:spLocks/>
          </p:cNvSpPr>
          <p:nvPr/>
        </p:nvSpPr>
        <p:spPr>
          <a:xfrm>
            <a:off x="6890286" y="4428426"/>
            <a:ext cx="2064716" cy="33035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Forfait Mobile</a:t>
            </a:r>
          </a:p>
        </p:txBody>
      </p:sp>
      <p:pic>
        <p:nvPicPr>
          <p:cNvPr id="29" name="Image 28" descr="Une image contenant logo, Graphique, graphisme, symbole&#10;&#10;Description générée automatiquement">
            <a:extLst>
              <a:ext uri="{FF2B5EF4-FFF2-40B4-BE49-F238E27FC236}">
                <a16:creationId xmlns:a16="http://schemas.microsoft.com/office/drawing/2014/main" id="{DD72E4F2-6585-CADC-1ED0-58CBF445EC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47017">
            <a:off x="1483694" y="764945"/>
            <a:ext cx="549718" cy="5577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EF81A-63B5-BABA-7CF1-BB1AD1C1B461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C8D0F7-6FB0-EBB7-7BDB-CBF456AF5C0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805365" y="5679287"/>
            <a:ext cx="8295271" cy="862167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96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321993" y="3172333"/>
            <a:ext cx="4653050" cy="927774"/>
            <a:chOff x="1309238" y="2090435"/>
            <a:chExt cx="4435954" cy="1195813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88431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3 rue de l'octant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Zone SUD Galaxie- BP 244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38433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Echirolles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04 28 38 00 27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0435"/>
              <a:ext cx="4435954" cy="2728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GRE-KAU : Grenoble - Koesio Aura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321995" y="1958749"/>
            <a:ext cx="4653050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Bruno GRANJON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321994" y="2322587"/>
            <a:ext cx="2581339" cy="450508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Développeur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0000000000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bruno.granjon@koesio.com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704" y="2280808"/>
            <a:ext cx="500640" cy="502754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396" y="2541184"/>
            <a:ext cx="1890355" cy="824299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3911433" y="2064612"/>
            <a:ext cx="0" cy="1913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9237" y="5996969"/>
            <a:ext cx="5564667" cy="25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87" b="1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6825334" y="5961336"/>
            <a:ext cx="0" cy="3039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11" y="5996967"/>
            <a:ext cx="249172" cy="24917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328" y="5996967"/>
            <a:ext cx="249172" cy="249172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44" y="5996967"/>
            <a:ext cx="249172" cy="249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B2D1-1D4C-E4DF-BC76-A8665B7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8D3C9-4009-71B1-AB23-7B238D380B5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9DE743-FBE7-7DE6-D94A-E737B039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2550CD-BD70-C2B4-BE56-5F62CDA9CB4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73145C-9520-BDA5-7554-FF48D65B7412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B9131FC0-7C40-3C8B-D8B6-F03ABB6E7CFC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Utilisateur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7A12248-D472-166B-6AE0-BF9C6F320101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76875C-00B9-50CE-3B48-BEB8C269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88A3E137-A1B8-534D-C84E-BFBC6FAA7CC7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D01D238-A94C-4262-FCCF-23B974F79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BAA7BB-D2E5-D033-5E8D-330B126B3552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5" name="ZoneTexte 59">
            <a:extLst>
              <a:ext uri="{FF2B5EF4-FFF2-40B4-BE49-F238E27FC236}">
                <a16:creationId xmlns:a16="http://schemas.microsoft.com/office/drawing/2014/main" id="{E8A23022-7732-BEC4-6D2E-436D3AC4896B}"/>
              </a:ext>
            </a:extLst>
          </p:cNvPr>
          <p:cNvSpPr txBox="1"/>
          <p:nvPr/>
        </p:nvSpPr>
        <p:spPr>
          <a:xfrm>
            <a:off x="1358692" y="3984101"/>
            <a:ext cx="2203104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la main d’œuvre et des déplacements.</a:t>
            </a:r>
          </a:p>
        </p:txBody>
      </p:sp>
      <p:sp>
        <p:nvSpPr>
          <p:cNvPr id="31" name="ZoneTexte 60">
            <a:extLst>
              <a:ext uri="{FF2B5EF4-FFF2-40B4-BE49-F238E27FC236}">
                <a16:creationId xmlns:a16="http://schemas.microsoft.com/office/drawing/2014/main" id="{C0C28FD8-C2C9-BD69-A196-2757F9725EBA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B264E8CE-5EBF-A318-2BA2-6A647634F2A5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0" name="ZoneTexte 68">
            <a:extLst>
              <a:ext uri="{FF2B5EF4-FFF2-40B4-BE49-F238E27FC236}">
                <a16:creationId xmlns:a16="http://schemas.microsoft.com/office/drawing/2014/main" id="{7951DBC5-EB38-4124-F9BD-B0A0196FF3E2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AA4593D0-D1E8-E0B9-FAF1-B973D558E2B4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D13BF8-5673-D124-6008-FAE4C3C9E609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711CCC-2382-A43D-E204-CE6A171B06EF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7BB14-D266-F08E-CA13-C4C8D3198B13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31663BB9-6E29-E7FF-7EC3-EB7160470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3F87007B-D466-EA4A-73FA-56FC5932E2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0FD18B0E-0807-A947-91FA-ED556A01D7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77FE6E5C-8D7D-DAE8-AF55-6996B7F064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6D6-60C8-FB31-1267-F3787CAA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0E1FC-1DEC-E430-8380-7D9182652D3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DD619-275F-48B0-7D9D-098080DE3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FF1C4C-70C0-A57E-E7AD-7F2480D3373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86B4E3-CB46-4FBF-B09F-769C14CFD768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A6DA6E18-087D-7889-920C-C0FE2B13B989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Hotline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DBBF2017-E843-A392-AFCF-CAFBD2F6BB3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743827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Bénéficiez d’un service client.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 Koesio vous offre une couverture minimale qui permet d’avoir un accès à notre service client.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et vous fait bénéficier d’un service client de proximité.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9AC216F-1759-AE7A-FF21-E1863B5E7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1E90F995-DFD4-CBFD-69C4-02E2758017F9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16AD0129-6095-2D16-C266-85F831BC8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31" name="ZoneTexte 60">
            <a:extLst>
              <a:ext uri="{FF2B5EF4-FFF2-40B4-BE49-F238E27FC236}">
                <a16:creationId xmlns:a16="http://schemas.microsoft.com/office/drawing/2014/main" id="{BDCDD899-7B0B-34DB-5010-62F9E828EA77}"/>
              </a:ext>
            </a:extLst>
          </p:cNvPr>
          <p:cNvSpPr txBox="1"/>
          <p:nvPr/>
        </p:nvSpPr>
        <p:spPr>
          <a:xfrm>
            <a:off x="1373794" y="3812751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au téléphone dans les meilleurs délais.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338BDAC0-5E35-95AA-E1D8-FAE47A05EB28}"/>
              </a:ext>
            </a:extLst>
          </p:cNvPr>
          <p:cNvSpPr txBox="1"/>
          <p:nvPr/>
        </p:nvSpPr>
        <p:spPr>
          <a:xfrm>
            <a:off x="1383728" y="5133444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875B7D91-6F0F-9346-0457-224972B2F900}"/>
              </a:ext>
            </a:extLst>
          </p:cNvPr>
          <p:cNvSpPr txBox="1">
            <a:spLocks/>
          </p:cNvSpPr>
          <p:nvPr/>
        </p:nvSpPr>
        <p:spPr>
          <a:xfrm>
            <a:off x="668603" y="2862651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103D1-CF0A-3015-1BF4-CB49E70EFC89}"/>
              </a:ext>
            </a:extLst>
          </p:cNvPr>
          <p:cNvSpPr/>
          <p:nvPr/>
        </p:nvSpPr>
        <p:spPr>
          <a:xfrm>
            <a:off x="1447969" y="3504863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9533F8-1E5D-9B0C-1AD1-56BB162B449C}"/>
              </a:ext>
            </a:extLst>
          </p:cNvPr>
          <p:cNvSpPr/>
          <p:nvPr/>
        </p:nvSpPr>
        <p:spPr>
          <a:xfrm>
            <a:off x="1457902" y="4803951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8DD1191-D966-03A1-74C5-397184ED5D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76" y="3493143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CCB56419-2D4F-F933-B2BB-A5365B48E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790" y="4802160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4C7F8-BD38-6BA5-53F8-F38947F15A34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A5A156-13B0-0AE1-FA63-6342E1FF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921333-BA1C-FC90-685C-1210FB8ABB59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ZoneTexte 61">
            <a:extLst>
              <a:ext uri="{FF2B5EF4-FFF2-40B4-BE49-F238E27FC236}">
                <a16:creationId xmlns:a16="http://schemas.microsoft.com/office/drawing/2014/main" id="{80BC83B7-0D53-AF5D-66B8-D0D5FBC5234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Tranquillité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(location)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EFDECD3-1E68-9116-4208-121FF5E0B4D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618715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et n’est pas optionnel, soyez tranquille,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se charge de votre système.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3891D9D-851E-123E-7A43-BB8E0BCBB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A060108F-A3C3-C873-3BBD-45176532E2F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0" name="Image 1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47BA0A-2E8B-D1E9-1EC8-1159A9409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CE038BC-DD13-4B9D-2541-B0F431302079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Aucun surcoût</a:t>
            </a:r>
          </a:p>
        </p:txBody>
      </p:sp>
      <p:sp>
        <p:nvSpPr>
          <p:cNvPr id="22" name="ZoneTexte 59">
            <a:extLst>
              <a:ext uri="{FF2B5EF4-FFF2-40B4-BE49-F238E27FC236}">
                <a16:creationId xmlns:a16="http://schemas.microsoft.com/office/drawing/2014/main" id="{13F6CC72-7AE1-4687-38AD-A3795FB41018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« tout inclus » pour une prise en charge totale de vos équipements, main d’œuvre et déplacement (inclus : casse, foudre, surtension électrique)</a:t>
            </a:r>
          </a:p>
        </p:txBody>
      </p:sp>
      <p:sp>
        <p:nvSpPr>
          <p:cNvPr id="23" name="ZoneTexte 60">
            <a:extLst>
              <a:ext uri="{FF2B5EF4-FFF2-40B4-BE49-F238E27FC236}">
                <a16:creationId xmlns:a16="http://schemas.microsoft.com/office/drawing/2014/main" id="{339459C4-E872-56EE-60B6-531467FACF87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B1C95922-A0C2-97B2-74FF-97DBF1BAC79C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F366C202-8239-06DB-B6C0-264C6E9B9E70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EDE7C4F5-803B-A3DD-B144-375EEB499C0E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5FC70-5CA0-D6F7-6254-7D67682DA206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D91F76-0594-AFC0-FE5D-FC3B432490C8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E5E57E-4A08-421A-D9B3-83C10957025B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7E9AC59-BD34-8FC0-1DEC-4B4EA6BD58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D7BFC7A-A347-8327-2443-1B25E11F65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F5398BF-E623-7C51-19B8-F88B024069C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41EF7D4-9D0B-896B-B2F6-936676AC20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8BF228-6056-BFFB-E3F5-CDF14B9DCA8B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944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0EFF8E-E322-4A4A-9D25-AE88475C372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7D49B6-7DB7-4397-ED82-77D10D959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9B0C6-060E-2DA0-77D5-85DCB4235B3E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ZoneTexte 61">
            <a:extLst>
              <a:ext uri="{FF2B5EF4-FFF2-40B4-BE49-F238E27FC236}">
                <a16:creationId xmlns:a16="http://schemas.microsoft.com/office/drawing/2014/main" id="{6CAB56D1-5FA7-A0A2-A725-D8CDA3E7EB6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C802A2B-72DF-0F0B-91E0-135098EC2A42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F7F5E1E-66D6-D5B7-6D26-052B03E5D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CB9B2C63-91D1-E39A-9AAB-BD04553B4FA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4005D5E-5597-6B52-C3AF-5864C86AE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377AFC-ECEF-9593-1B21-2C7C9F624AF5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9911A280-91C5-DBC9-C589-303B7C1ADD7D}"/>
              </a:ext>
            </a:extLst>
          </p:cNvPr>
          <p:cNvSpPr txBox="1"/>
          <p:nvPr/>
        </p:nvSpPr>
        <p:spPr>
          <a:xfrm>
            <a:off x="1358692" y="3984101"/>
            <a:ext cx="2203104" cy="1097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vos équipements, main d’œuvre et déplacement inclus (hors : postes sans fil, casques, écrans,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990E4559-0AE1-BB55-D82B-D1B1DA41B368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CF8102E4-90B6-16F1-8DC3-FFE4F1A6E8FB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8ACD4FA8-3A7C-DE90-9522-7A4E9A08E319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824C1BB6-7AE8-B5C9-C5BD-DC5F2A90E562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63F98-4FD9-59F8-27F5-90EE1364B14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133F7E-54EE-DBD7-C60D-738F04C3F9BB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ACA58B-A76B-CB52-775B-CBE8ABECE3F4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CDB3DA1A-60A5-855F-7351-A5F4973D06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8FBD8DB5-1795-37D2-1FE2-D224A0945D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348B9A8-DD06-A697-10EC-59371C78C1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5C89F00-DD9C-12BC-A82A-5ACD9A0BC4F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45A3D58-7FC8-0DA7-2D47-900EEC9DD40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2823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17C677-4897-F661-F503-07F8A8ED7D0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51C9CF-BDEC-94AE-2D2C-2E5BA981F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1330AF-C0CA-9411-5BC5-CCB667F2F348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ZoneTexte 61">
            <a:extLst>
              <a:ext uri="{FF2B5EF4-FFF2-40B4-BE49-F238E27FC236}">
                <a16:creationId xmlns:a16="http://schemas.microsoft.com/office/drawing/2014/main" id="{CC72E5A7-2F62-17DB-D89A-D07DBFCF3988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Privilège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4BA93E19-0F6B-536E-CBA6-8A332ED2D938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7A3CDA-AF5D-AD67-64D6-C59E0DB6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B651B2A1-A353-F45A-13AB-E9A6A6886D61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661BE0D-2C10-BAD6-74CE-118BAB00B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8CCD6C-9CF4-D10F-48C7-97E0D42F219E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66E07AC2-F80E-1307-E3F1-0E5D202A6F55}"/>
              </a:ext>
            </a:extLst>
          </p:cNvPr>
          <p:cNvSpPr txBox="1"/>
          <p:nvPr/>
        </p:nvSpPr>
        <p:spPr>
          <a:xfrm>
            <a:off x="1358692" y="3984102"/>
            <a:ext cx="2203104" cy="12656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votre serveur de communication et  du poste de votre standard, main d’œuvre et déplacement inclus (hors :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F0A41952-054D-F461-73CF-FB66FF5895E0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18438C4A-FE6F-36F8-DB6D-E1090426F6D9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624CC9B9-069C-FDCA-AF31-38CFC8ECF295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A0455AA2-8537-D68B-A8AE-02B4B01F241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28811-9C62-DE8D-2F16-54C658877CED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8B4176-2DE7-8D5F-C3E0-9449D440956A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D65B9C-991B-B99A-BEF6-FCB0BA993548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060C1E6F-9F37-5A1F-6BC2-9CDA05C641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318BFC2-1F6B-AD32-181D-B2D572AFD9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C356D3A-FB96-B8C3-E1C0-36E6D6D46A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7285767-6E3C-6D2F-F1CB-E8C22C6BE4B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909EB7E-95E3-D988-F987-3BE36A3B78B1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69668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32696-0A68-AEA4-3E2F-5AEE178D18A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58E678-64DC-92B3-2455-501F67E3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1DC3-E846-2096-4658-24D4F33AE03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45E1F-68DB-6D8E-EBB9-AB8333DAAB37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18" name="ZoneTexte 59">
            <a:extLst>
              <a:ext uri="{FF2B5EF4-FFF2-40B4-BE49-F238E27FC236}">
                <a16:creationId xmlns:a16="http://schemas.microsoft.com/office/drawing/2014/main" id="{044B1AA7-1FD1-5AB7-EEB2-3C007CF0F92C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uniquement  la main d’œuvre et déplacement concernant vos équipements</a:t>
            </a:r>
          </a:p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(hors : pièces, casse, foudre, surtension électrique)</a:t>
            </a:r>
          </a:p>
        </p:txBody>
      </p:sp>
      <p:sp>
        <p:nvSpPr>
          <p:cNvPr id="19" name="ZoneTexte 60">
            <a:extLst>
              <a:ext uri="{FF2B5EF4-FFF2-40B4-BE49-F238E27FC236}">
                <a16:creationId xmlns:a16="http://schemas.microsoft.com/office/drawing/2014/main" id="{D60956E8-4627-42D1-FE99-21BBF6C366BB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20" name="ZoneTexte 61">
            <a:extLst>
              <a:ext uri="{FF2B5EF4-FFF2-40B4-BE49-F238E27FC236}">
                <a16:creationId xmlns:a16="http://schemas.microsoft.com/office/drawing/2014/main" id="{2BF7149C-8A0A-D27A-A12D-E2CC2F03F171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Base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5BC3592B-574C-EC58-5B6E-91D8E9F7FD1F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sp>
        <p:nvSpPr>
          <p:cNvPr id="22" name="ZoneTexte 65">
            <a:extLst>
              <a:ext uri="{FF2B5EF4-FFF2-40B4-BE49-F238E27FC236}">
                <a16:creationId xmlns:a16="http://schemas.microsoft.com/office/drawing/2014/main" id="{9D500CC1-EC8A-795F-F8A4-233C023CB1C2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23" name="ZoneTexte 68">
            <a:extLst>
              <a:ext uri="{FF2B5EF4-FFF2-40B4-BE49-F238E27FC236}">
                <a16:creationId xmlns:a16="http://schemas.microsoft.com/office/drawing/2014/main" id="{E7332DA2-6DE5-7486-702F-D3C2DDFA8DCD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3992385-4171-433B-200D-4B4C915B15D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C23A736-3887-89F9-2AF8-185ED1DED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37B5614A-BD7D-C1B6-05D5-20CD467DB235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7594EA1-B0DA-0170-75CB-C1ABDAB64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FFC1881-651B-AF70-76E1-1AB963D0BC2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32082-52DC-521D-8C75-D9C991FF4940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A5432-E26D-744F-1E2F-06B86A415739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EF6D422-B57F-F2D6-C0C8-6D93112267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3579446B-0E80-F228-4A04-C5DB762873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95D4C8B9-42CE-3B84-6DDE-5AE95B31D04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DD269FD-AA4E-ED84-EBB7-9A7FD53BDE4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EAD982-1F53-40C5-EFCA-C62A5C4B030A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16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7E76D-86BE-924B-5A68-1FB400BFEFE3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819A0C-7039-D301-F9AC-6F8C191DB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1F2B7-4BE9-37AC-B8C3-F9ED6472244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A67EE2-C7FD-39B3-5F34-3393405813F2}"/>
              </a:ext>
            </a:extLst>
          </p:cNvPr>
          <p:cNvSpPr txBox="1"/>
          <p:nvPr/>
        </p:nvSpPr>
        <p:spPr>
          <a:xfrm>
            <a:off x="664738" y="1551168"/>
            <a:ext cx="59227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772">
              <a:defRPr/>
            </a:pP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Le matériel installé est garanti pièces, main d’œuvre et déplacement sur toute la durée du contrat sans franchise, ni formalités, ni vétusté. Avec </a:t>
            </a:r>
            <a:r>
              <a:rPr lang="fr-FR" sz="127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 vous êtes assurés de bénéficier des interventions techniques suivantes gratuitement et dans les délais suivants :</a:t>
            </a:r>
            <a:endParaRPr lang="fr-FR" sz="1114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CA3D3A-6A40-2FF3-7E0A-0AD7235C9880}"/>
              </a:ext>
            </a:extLst>
          </p:cNvPr>
          <p:cNvGraphicFramePr>
            <a:graphicFrameLocks noGrp="1"/>
          </p:cNvGraphicFramePr>
          <p:nvPr/>
        </p:nvGraphicFramePr>
        <p:xfrm>
          <a:off x="1679477" y="2861999"/>
          <a:ext cx="6195263" cy="2653429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1524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8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768563407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746220966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1463734406"/>
                    </a:ext>
                  </a:extLst>
                </a:gridCol>
              </a:tblGrid>
              <a:tr h="678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SLA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Criticité</a:t>
                      </a:r>
                    </a:p>
                  </a:txBody>
                  <a:tcPr marL="26065" marR="25332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Description de l’anomalie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Délai maximum d’intervention / anomalie </a:t>
                      </a:r>
                      <a:r>
                        <a:rPr lang="fr-FR" sz="1000" b="0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(heures ouvrées)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Garantie de Temps de Rétablissement (GTR)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1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8981"/>
                  </a:ext>
                </a:extLst>
              </a:tr>
              <a:tr h="724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2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55581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3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ZoneTexte 61">
            <a:extLst>
              <a:ext uri="{FF2B5EF4-FFF2-40B4-BE49-F238E27FC236}">
                <a16:creationId xmlns:a16="http://schemas.microsoft.com/office/drawing/2014/main" id="{D8425DA6-2B89-A039-9A52-613120856D41}"/>
              </a:ext>
            </a:extLst>
          </p:cNvPr>
          <p:cNvSpPr txBox="1"/>
          <p:nvPr/>
        </p:nvSpPr>
        <p:spPr>
          <a:xfrm>
            <a:off x="674485" y="1169937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Services et délais d’intervention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EF393205-D70A-FD4C-C2DC-A14F9144B38E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garanties de services (SLA)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BF797334-FC74-E4FB-3504-BA3E04BB5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F183137-14D9-7554-A18A-AEEEF93C619A}"/>
              </a:ext>
            </a:extLst>
          </p:cNvPr>
          <p:cNvSpPr txBox="1"/>
          <p:nvPr/>
        </p:nvSpPr>
        <p:spPr>
          <a:xfrm>
            <a:off x="7597314" y="3828927"/>
            <a:ext cx="1587390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 COMPLETER</a:t>
            </a:r>
          </a:p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EN REGION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B5A51D-A648-7C13-D630-9E3B2843397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487988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5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customXml/itemProps2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964</TotalTime>
  <Words>739</Words>
  <Application>Microsoft Office PowerPoint</Application>
  <PresentationFormat>Format A4 (210 x 297 mm)</PresentationFormat>
  <Paragraphs>116</Paragraphs>
  <Slides>15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