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641" r:id="rId4"/>
  </p:sldMasterIdLst>
  <p:notesMasterIdLst>
    <p:notesMasterId r:id="rId12"/>
  </p:notesMasterIdLst>
  <p:handoutMasterIdLst>
    <p:handoutMasterId r:id="rId13"/>
  </p:handoutMasterIdLst>
  <p:sldIdLst>
    <p:sldId id="256" r:id="rId5"/>
    <p:sldId id="281" r:id="rId6"/>
    <p:sldId id="257" r:id="rId7"/>
    <p:sldId id="771" r:id="rId8"/>
    <p:sldId id="754" r:id="rId9"/>
    <p:sldId id="275" r:id="rId10"/>
    <p:sldId id="306" r:id="rId11"/>
  </p:sldIdLst>
  <p:sldSz cx="9906000" cy="6858000" type="A4"/>
  <p:notesSz cx="6858000" cy="9144000"/>
  <p:custDataLst>
    <p:tags r:id="rId14"/>
  </p:custDataLst>
  <p:defaultTextStyle>
    <a:defPPr>
      <a:defRPr lang="en-US"/>
    </a:defPPr>
    <a:lvl1pPr marL="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A0"/>
    <a:srgbClr val="EE7203"/>
    <a:srgbClr val="0184B3"/>
    <a:srgbClr val="232651"/>
    <a:srgbClr val="EEEEED"/>
    <a:srgbClr val="6E398E"/>
    <a:srgbClr val="136999"/>
    <a:srgbClr val="1F5F93"/>
    <a:srgbClr val="5F408F"/>
    <a:srgbClr val="504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381A8-E85A-4AE3-BBB8-7E095746C347}" v="11" dt="2026-03-02T17:55:44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22" autoAdjust="0"/>
    <p:restoredTop sz="92009" autoAdjust="0"/>
  </p:normalViewPr>
  <p:slideViewPr>
    <p:cSldViewPr snapToGrid="0" snapToObjects="1">
      <p:cViewPr varScale="1">
        <p:scale>
          <a:sx n="82" d="100"/>
          <a:sy n="82" d="100"/>
        </p:scale>
        <p:origin x="151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CF17EA-0750-734A-AB11-C6BE1C8A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DFD55-BF47-FF46-B218-E7875DE3F9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7F726-697A-44D7-82CE-E417D31DFDAB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1EE19C-D9E5-DB44-B446-8FDAA5BD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F731E4-1D5B-314A-B092-D1F67DB42B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D4A2-F628-8E49-B2EA-02C47A6111C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66965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B05-50CD-4A3A-A163-9590CC578EA9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9F9A8-5C53-684F-A7CC-57EADD1FE4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40585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4848-5D7E-EB15-2916-BE91DDE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245EB0-FD40-8534-96F1-A54319C23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88B573-57D3-65CD-763C-BD8507944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65547-95F8-17DE-32D7-1912157C4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48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038B-00F9-4E7B-FA47-C0F9F66F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D49CC-9B53-DAB6-A2FD-160708460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0DB7DE-29B4-A64F-7100-7D095FC61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4CDB7A-E823-90DB-86FE-FBAFAE20D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136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35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9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13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52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45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  <p:sldLayoutId id="2147484644" r:id="rId3"/>
  </p:sldLayoutIdLst>
  <p:hf hdr="0"/>
  <p:txStyles>
    <p:titleStyle>
      <a:lvl1pPr algn="l" defTabSz="530689" rtl="0" eaLnBrk="1" latinLnBrk="0" hangingPunct="1">
        <a:lnSpc>
          <a:spcPct val="90000"/>
        </a:lnSpc>
        <a:spcBef>
          <a:spcPct val="0"/>
        </a:spcBef>
        <a:buNone/>
        <a:defRPr sz="2089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32673" indent="-132673" algn="l" defTabSz="530689" rtl="0" eaLnBrk="1" latinLnBrk="0" hangingPunct="1">
        <a:lnSpc>
          <a:spcPct val="90000"/>
        </a:lnSpc>
        <a:spcBef>
          <a:spcPts val="581"/>
        </a:spcBef>
        <a:buClr>
          <a:schemeClr val="tx2"/>
        </a:buClr>
        <a:buFont typeface="Arial" panose="020B0604020202020204" pitchFamily="34" charset="0"/>
        <a:buChar char="•"/>
        <a:defRPr sz="150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398017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277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663362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161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04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6pPr>
      <a:lvl7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7pPr>
      <a:lvl8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8pPr>
      <a:lvl9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1pPr>
      <a:lvl2pPr marL="265345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2pPr>
      <a:lvl3pPr marL="530689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3pPr>
      <a:lvl4pPr marL="796034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4pPr>
      <a:lvl5pPr marL="106137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5pPr>
      <a:lvl6pPr marL="1326723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6pPr>
      <a:lvl7pPr marL="159206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7pPr>
      <a:lvl8pPr marL="1857412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8pPr>
      <a:lvl9pPr marL="2122757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5CC54840-7A9C-4B53-8620-8A8509347D53}"/>
              </a:ext>
            </a:extLst>
          </p:cNvPr>
          <p:cNvSpPr txBox="1"/>
          <p:nvPr/>
        </p:nvSpPr>
        <p:spPr>
          <a:xfrm>
            <a:off x="5023543" y="2128493"/>
            <a:ext cx="4077096" cy="378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1861" b="1">
                <a:solidFill>
                  <a:srgbClr val="E94C57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ÉTUDE PERSONNALISÉE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B7E121-52D4-57C4-7010-DC4573E414DA}"/>
              </a:ext>
            </a:extLst>
          </p:cNvPr>
          <p:cNvSpPr txBox="1"/>
          <p:nvPr/>
        </p:nvSpPr>
        <p:spPr>
          <a:xfrm>
            <a:off x="5046183" y="2425853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 d’édition de l’offre :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F0DD2D-306C-5A82-159B-398D94100376}"/>
              </a:ext>
            </a:extLst>
          </p:cNvPr>
          <p:cNvSpPr txBox="1"/>
          <p:nvPr/>
        </p:nvSpPr>
        <p:spPr>
          <a:xfrm>
            <a:off x="6419854" y="2423714"/>
            <a:ext cx="1653764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{{date}}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A7BF358-E2F4-BE57-F27E-7C62249A308A}"/>
              </a:ext>
            </a:extLst>
          </p:cNvPr>
          <p:cNvSpPr txBox="1"/>
          <p:nvPr/>
        </p:nvSpPr>
        <p:spPr>
          <a:xfrm>
            <a:off x="5023543" y="2826171"/>
            <a:ext cx="3813848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354703"/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b="1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339342-D8CA-824B-B8E7-1FF07368217D}"/>
              </a:ext>
            </a:extLst>
          </p:cNvPr>
          <p:cNvSpPr txBox="1"/>
          <p:nvPr/>
        </p:nvSpPr>
        <p:spPr>
          <a:xfrm>
            <a:off x="5046184" y="4259173"/>
            <a:ext cx="2936663" cy="33111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88D49CD-CEDE-475F-CE2D-4DA1C275FD94}"/>
              </a:ext>
            </a:extLst>
          </p:cNvPr>
          <p:cNvSpPr txBox="1"/>
          <p:nvPr/>
        </p:nvSpPr>
        <p:spPr>
          <a:xfrm>
            <a:off x="5046183" y="4081868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D26F997-04E2-270D-7350-CE47B70F1B44}"/>
              </a:ext>
            </a:extLst>
          </p:cNvPr>
          <p:cNvSpPr/>
          <p:nvPr/>
        </p:nvSpPr>
        <p:spPr>
          <a:xfrm flipV="1">
            <a:off x="5489822" y="3647890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70D14D9-BB44-2993-85A3-AA456253D35D}"/>
              </a:ext>
            </a:extLst>
          </p:cNvPr>
          <p:cNvGrpSpPr/>
          <p:nvPr/>
        </p:nvGrpSpPr>
        <p:grpSpPr>
          <a:xfrm>
            <a:off x="5023541" y="3167507"/>
            <a:ext cx="3403451" cy="771602"/>
            <a:chOff x="5995758" y="4145905"/>
            <a:chExt cx="3777415" cy="994524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4A39A64-6A89-8D3F-88E8-D716006756D6}"/>
                </a:ext>
              </a:extLst>
            </p:cNvPr>
            <p:cNvSpPr txBox="1"/>
            <p:nvPr/>
          </p:nvSpPr>
          <p:spPr>
            <a:xfrm>
              <a:off x="5995758" y="4145905"/>
              <a:ext cx="3777415" cy="2728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354703"/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b="1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474899F4-78BE-E0CB-DA42-ACE554826DFF}"/>
                </a:ext>
              </a:extLst>
            </p:cNvPr>
            <p:cNvSpPr txBox="1"/>
            <p:nvPr/>
          </p:nvSpPr>
          <p:spPr>
            <a:xfrm>
              <a:off x="5995758" y="4405880"/>
              <a:ext cx="3676747" cy="734549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776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38B05EA3-7F24-817E-0B7B-45861E4E3A92}"/>
              </a:ext>
            </a:extLst>
          </p:cNvPr>
          <p:cNvSpPr txBox="1"/>
          <p:nvPr/>
        </p:nvSpPr>
        <p:spPr>
          <a:xfrm>
            <a:off x="5046184" y="4856792"/>
            <a:ext cx="2680638" cy="569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BE787A-A814-F03E-E736-66B779407BAA}"/>
              </a:ext>
            </a:extLst>
          </p:cNvPr>
          <p:cNvSpPr txBox="1"/>
          <p:nvPr/>
        </p:nvSpPr>
        <p:spPr>
          <a:xfrm>
            <a:off x="5046183" y="4679206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AC41B73-EE3F-9E8D-8FA8-7D2B20FFC92A}"/>
              </a:ext>
            </a:extLst>
          </p:cNvPr>
          <p:cNvSpPr/>
          <p:nvPr/>
        </p:nvSpPr>
        <p:spPr>
          <a:xfrm flipV="1">
            <a:off x="5489822" y="2720436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" name="Image 50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03C3216-2A5C-8296-DB2F-2EAAAAB1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6006" y="1105058"/>
            <a:ext cx="1413847" cy="616515"/>
          </a:xfrm>
          <a:prstGeom prst="rect">
            <a:avLst/>
          </a:prstGeom>
        </p:spPr>
      </p:pic>
      <p:sp>
        <p:nvSpPr>
          <p:cNvPr id="54" name="Rectangle 53" descr="simulation.projet.organisation.image" title="simulation.projet.organisation.image">
            <a:extLst>
              <a:ext uri="{FF2B5EF4-FFF2-40B4-BE49-F238E27FC236}">
                <a16:creationId xmlns:a16="http://schemas.microsoft.com/office/drawing/2014/main" id="{4564F8D9-F6AD-E76B-1653-2F83D0D91DC1}"/>
              </a:ext>
            </a:extLst>
          </p:cNvPr>
          <p:cNvSpPr/>
          <p:nvPr/>
        </p:nvSpPr>
        <p:spPr>
          <a:xfrm>
            <a:off x="6981594" y="1049628"/>
            <a:ext cx="1547255" cy="77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54703"/>
            <a:endParaRPr lang="fr-FR" sz="1396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A3A6CA-1279-5D1C-617A-B17D5E4791DC}"/>
              </a:ext>
            </a:extLst>
          </p:cNvPr>
          <p:cNvSpPr txBox="1"/>
          <p:nvPr/>
        </p:nvSpPr>
        <p:spPr>
          <a:xfrm>
            <a:off x="5046183" y="2536305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Validité de l’offre : 1 mois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3ADA18A-DE26-5907-027A-90F81AB51B38}"/>
              </a:ext>
            </a:extLst>
          </p:cNvPr>
          <p:cNvGrpSpPr/>
          <p:nvPr/>
        </p:nvGrpSpPr>
        <p:grpSpPr>
          <a:xfrm>
            <a:off x="280767" y="1"/>
            <a:ext cx="4170474" cy="6858000"/>
            <a:chOff x="178333" y="0"/>
            <a:chExt cx="5115594" cy="841217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EC8255A-E473-3552-7B83-D30D6DEB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8333" y="0"/>
              <a:ext cx="5111587" cy="3406272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BC62A945-0E03-794F-8DED-8EA2E63D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5050431"/>
              <a:ext cx="5106842" cy="3361741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CE23816-19BC-A961-3FD3-50150DD7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2801" y="3406272"/>
              <a:ext cx="1698003" cy="168199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A334966-AFF1-3025-85CA-AFFC2811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3406617"/>
              <a:ext cx="1717121" cy="1668081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DD25EBE-C5DA-B00B-750F-DFBA8B760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3458" y="3408581"/>
              <a:ext cx="1698003" cy="16819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B2415E8-0418-998F-9F0D-149E9BC92015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8BFED4-C10F-9135-5699-5096ACA971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197EF8C7-A33D-C349-4167-360B00E015CE}"/>
              </a:ext>
            </a:extLst>
          </p:cNvPr>
          <p:cNvSpPr txBox="1">
            <a:spLocks/>
          </p:cNvSpPr>
          <p:nvPr/>
        </p:nvSpPr>
        <p:spPr>
          <a:xfrm>
            <a:off x="1473813" y="2592781"/>
            <a:ext cx="3098373" cy="1035891"/>
          </a:xfrm>
          <a:prstGeom prst="rect">
            <a:avLst/>
          </a:prstGeom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Présentation </a:t>
            </a:r>
          </a:p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de l’entreprise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0E767-8BB0-9442-6D4D-E7BAB9D0519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DED-D2C6-25E9-081E-3BB98B60E794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7A770-E1D6-3DFE-8F91-6780FB18A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F8903-A0EA-85B4-6943-D6E0DB5D4A0E}"/>
              </a:ext>
            </a:extLst>
          </p:cNvPr>
          <p:cNvSpPr/>
          <p:nvPr/>
        </p:nvSpPr>
        <p:spPr>
          <a:xfrm>
            <a:off x="5342886" y="2512410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1E82-F55C-B778-D037-1CC1C460A36B}"/>
              </a:ext>
            </a:extLst>
          </p:cNvPr>
          <p:cNvSpPr/>
          <p:nvPr/>
        </p:nvSpPr>
        <p:spPr>
          <a:xfrm>
            <a:off x="8309798" y="1019498"/>
            <a:ext cx="1492912" cy="14929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5" name="Image 4" descr="Une image contenant personne, Visage humain, Blazer, habits&#10;&#10;Le contenu généré par l’IA peut être incorrect.">
            <a:extLst>
              <a:ext uri="{FF2B5EF4-FFF2-40B4-BE49-F238E27FC236}">
                <a16:creationId xmlns:a16="http://schemas.microsoft.com/office/drawing/2014/main" id="{4544F399-605E-DB10-1735-167833BDE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3247" y="125102"/>
            <a:ext cx="3977649" cy="53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804B5D71-5D9E-4BB9-A118-8EAB2A864002}"/>
              </a:ext>
            </a:extLst>
          </p:cNvPr>
          <p:cNvGrpSpPr/>
          <p:nvPr/>
        </p:nvGrpSpPr>
        <p:grpSpPr>
          <a:xfrm>
            <a:off x="3474416" y="2333416"/>
            <a:ext cx="2905894" cy="2021503"/>
            <a:chOff x="3274308" y="1337521"/>
            <a:chExt cx="4452372" cy="3097320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E7C024-5CC4-4C53-A854-E3A4ED8D0332}"/>
                </a:ext>
              </a:extLst>
            </p:cNvPr>
            <p:cNvSpPr/>
            <p:nvPr/>
          </p:nvSpPr>
          <p:spPr>
            <a:xfrm>
              <a:off x="3274308" y="2201134"/>
              <a:ext cx="2226186" cy="2226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54703"/>
              <a:endParaRPr lang="fr-FR" sz="1396">
                <a:solidFill>
                  <a:prstClr val="white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Image 220" descr="Une image contenant texte, clipart, graphiques vectoriels&#10;&#10;Description générée automatiquement">
              <a:extLst>
                <a:ext uri="{FF2B5EF4-FFF2-40B4-BE49-F238E27FC236}">
                  <a16:creationId xmlns:a16="http://schemas.microsoft.com/office/drawing/2014/main" id="{01625E29-6D93-47C6-9554-BE5ACD549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494" y="2201134"/>
              <a:ext cx="2226186" cy="2233707"/>
            </a:xfrm>
            <a:prstGeom prst="rect">
              <a:avLst/>
            </a:prstGeom>
          </p:spPr>
        </p:pic>
        <p:pic>
          <p:nvPicPr>
            <p:cNvPr id="222" name="Image 221" descr="Une image contenant personne&#10;&#10;Description générée automatiquement">
              <a:extLst>
                <a:ext uri="{FF2B5EF4-FFF2-40B4-BE49-F238E27FC236}">
                  <a16:creationId xmlns:a16="http://schemas.microsoft.com/office/drawing/2014/main" id="{A5F13AFD-AF0C-406D-A0A0-5CE138D10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68085" y="1337521"/>
              <a:ext cx="3464819" cy="3097320"/>
            </a:xfrm>
            <a:prstGeom prst="rect">
              <a:avLst/>
            </a:prstGeom>
          </p:spPr>
        </p:pic>
      </p:grpSp>
      <p:sp>
        <p:nvSpPr>
          <p:cNvPr id="190" name="ZoneTexte 12">
            <a:extLst>
              <a:ext uri="{FF2B5EF4-FFF2-40B4-BE49-F238E27FC236}">
                <a16:creationId xmlns:a16="http://schemas.microsoft.com/office/drawing/2014/main" id="{B62DEBA0-40CB-489E-842F-0C01FB1800E3}"/>
              </a:ext>
            </a:extLst>
          </p:cNvPr>
          <p:cNvSpPr txBox="1"/>
          <p:nvPr/>
        </p:nvSpPr>
        <p:spPr>
          <a:xfrm>
            <a:off x="997619" y="1805640"/>
            <a:ext cx="1906603" cy="1460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Imprimantes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hotocopieurs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Imprimantes grand format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de parc d’impression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Presse numérique &amp; traceurs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Scanners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Consommables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ZoneTexte 14">
            <a:extLst>
              <a:ext uri="{FF2B5EF4-FFF2-40B4-BE49-F238E27FC236}">
                <a16:creationId xmlns:a16="http://schemas.microsoft.com/office/drawing/2014/main" id="{5D7A0C58-1D48-4EF1-966D-B2A1D56D61BA}"/>
              </a:ext>
            </a:extLst>
          </p:cNvPr>
          <p:cNvSpPr txBox="1"/>
          <p:nvPr/>
        </p:nvSpPr>
        <p:spPr>
          <a:xfrm>
            <a:off x="6663779" y="1505220"/>
            <a:ext cx="2178409" cy="11346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Liens Internet (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adsl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, fibre 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Téléphonie fixe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Forfaits mobile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Interconnexion de sites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Visioconférence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Postes téléphoniques &amp; casques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Softphonie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et téléphonie cloud</a:t>
            </a:r>
          </a:p>
        </p:txBody>
      </p:sp>
      <p:sp>
        <p:nvSpPr>
          <p:cNvPr id="192" name="ZoneTexte 16">
            <a:extLst>
              <a:ext uri="{FF2B5EF4-FFF2-40B4-BE49-F238E27FC236}">
                <a16:creationId xmlns:a16="http://schemas.microsoft.com/office/drawing/2014/main" id="{E10D4F72-5F37-4B82-A76D-8939DD40EE60}"/>
              </a:ext>
            </a:extLst>
          </p:cNvPr>
          <p:cNvSpPr txBox="1"/>
          <p:nvPr/>
        </p:nvSpPr>
        <p:spPr>
          <a:xfrm>
            <a:off x="944336" y="5258397"/>
            <a:ext cx="2054106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Gestion : comptabilité, finance, RH, ERP, production…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CRM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Business intelligence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F571674E-37FB-4E8B-AF6F-E402BBBE91DC}"/>
              </a:ext>
            </a:extLst>
          </p:cNvPr>
          <p:cNvSpPr txBox="1"/>
          <p:nvPr/>
        </p:nvSpPr>
        <p:spPr>
          <a:xfrm>
            <a:off x="939692" y="4604755"/>
            <a:ext cx="2026290" cy="9392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Dématérialisation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Signature électronique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Automatisation des processus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électronique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Composition et édition du document</a:t>
            </a: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ZoneTexte 20">
            <a:extLst>
              <a:ext uri="{FF2B5EF4-FFF2-40B4-BE49-F238E27FC236}">
                <a16:creationId xmlns:a16="http://schemas.microsoft.com/office/drawing/2014/main" id="{F7995F77-6589-422A-87C1-83D768D495B2}"/>
              </a:ext>
            </a:extLst>
          </p:cNvPr>
          <p:cNvSpPr txBox="1"/>
          <p:nvPr/>
        </p:nvSpPr>
        <p:spPr>
          <a:xfrm>
            <a:off x="7187563" y="4601806"/>
            <a:ext cx="2137415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Utilisateurs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Sécurité proactive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RGPD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Equipement audio &amp; visioconférence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Écrans tactiles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Affichage dynamique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ZoneTexte 32">
            <a:extLst>
              <a:ext uri="{FF2B5EF4-FFF2-40B4-BE49-F238E27FC236}">
                <a16:creationId xmlns:a16="http://schemas.microsoft.com/office/drawing/2014/main" id="{3BD0D439-6B25-41A7-8560-B469443A8DB0}"/>
              </a:ext>
            </a:extLst>
          </p:cNvPr>
          <p:cNvSpPr txBox="1"/>
          <p:nvPr/>
        </p:nvSpPr>
        <p:spPr>
          <a:xfrm>
            <a:off x="7185151" y="3811337"/>
            <a:ext cx="2251292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Infrastructure (serveurs, stockage, réseaux…)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Environnement utilisateur : postes de travail, outils collaboratifs…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Hébergement &amp; Cloud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Services managés</a:t>
            </a:r>
          </a:p>
        </p:txBody>
      </p:sp>
      <p:pic>
        <p:nvPicPr>
          <p:cNvPr id="202" name="Graphique 39">
            <a:extLst>
              <a:ext uri="{FF2B5EF4-FFF2-40B4-BE49-F238E27FC236}">
                <a16:creationId xmlns:a16="http://schemas.microsoft.com/office/drawing/2014/main" id="{A204F90A-065D-4063-81E3-28E6EAA9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572" y="2251025"/>
            <a:ext cx="641007" cy="641007"/>
          </a:xfrm>
          <a:prstGeom prst="rect">
            <a:avLst/>
          </a:prstGeom>
        </p:spPr>
      </p:pic>
      <p:pic>
        <p:nvPicPr>
          <p:cNvPr id="203" name="Graphique 41">
            <a:extLst>
              <a:ext uri="{FF2B5EF4-FFF2-40B4-BE49-F238E27FC236}">
                <a16:creationId xmlns:a16="http://schemas.microsoft.com/office/drawing/2014/main" id="{5058263D-CE35-4163-82DB-5621BD8D9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9573" y="1917777"/>
            <a:ext cx="333247" cy="333247"/>
          </a:xfrm>
          <a:prstGeom prst="rect">
            <a:avLst/>
          </a:prstGeom>
        </p:spPr>
      </p:pic>
      <p:pic>
        <p:nvPicPr>
          <p:cNvPr id="207" name="Graphique 47">
            <a:extLst>
              <a:ext uri="{FF2B5EF4-FFF2-40B4-BE49-F238E27FC236}">
                <a16:creationId xmlns:a16="http://schemas.microsoft.com/office/drawing/2014/main" id="{82A2AE6E-6F38-4890-A630-ED89A53CE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3763" y="4973726"/>
            <a:ext cx="319421" cy="319421"/>
          </a:xfrm>
          <a:prstGeom prst="rect">
            <a:avLst/>
          </a:prstGeom>
        </p:spPr>
      </p:pic>
      <p:pic>
        <p:nvPicPr>
          <p:cNvPr id="209" name="Graphique 50">
            <a:extLst>
              <a:ext uri="{FF2B5EF4-FFF2-40B4-BE49-F238E27FC236}">
                <a16:creationId xmlns:a16="http://schemas.microsoft.com/office/drawing/2014/main" id="{4D1D5E16-19FD-4427-B79C-F6E53FB3E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5305" y="4679754"/>
            <a:ext cx="643240" cy="643240"/>
          </a:xfrm>
          <a:prstGeom prst="rect">
            <a:avLst/>
          </a:prstGeom>
        </p:spPr>
      </p:pic>
      <p:pic>
        <p:nvPicPr>
          <p:cNvPr id="210" name="Graphique 52">
            <a:extLst>
              <a:ext uri="{FF2B5EF4-FFF2-40B4-BE49-F238E27FC236}">
                <a16:creationId xmlns:a16="http://schemas.microsoft.com/office/drawing/2014/main" id="{C4918393-7FEE-40D5-B3C6-46C1750A7F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47810" y="1939332"/>
            <a:ext cx="639317" cy="639317"/>
          </a:xfrm>
          <a:prstGeom prst="rect">
            <a:avLst/>
          </a:prstGeom>
        </p:spPr>
      </p:pic>
      <p:pic>
        <p:nvPicPr>
          <p:cNvPr id="212" name="Graphique 59">
            <a:extLst>
              <a:ext uri="{FF2B5EF4-FFF2-40B4-BE49-F238E27FC236}">
                <a16:creationId xmlns:a16="http://schemas.microsoft.com/office/drawing/2014/main" id="{D7D4F7C0-4EAE-4B9B-9429-3EA977EFF3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71603" y="4325965"/>
            <a:ext cx="653409" cy="653409"/>
          </a:xfrm>
          <a:prstGeom prst="rect">
            <a:avLst/>
          </a:prstGeom>
        </p:spPr>
      </p:pic>
      <p:pic>
        <p:nvPicPr>
          <p:cNvPr id="213" name="Graphique 62">
            <a:extLst>
              <a:ext uri="{FF2B5EF4-FFF2-40B4-BE49-F238E27FC236}">
                <a16:creationId xmlns:a16="http://schemas.microsoft.com/office/drawing/2014/main" id="{657BD877-908D-4D59-8EEC-6188C115A3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70751" y="4350010"/>
            <a:ext cx="326875" cy="3268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C35189-C4B8-2701-F6A8-E872334C766A}"/>
              </a:ext>
            </a:extLst>
          </p:cNvPr>
          <p:cNvSpPr txBox="1"/>
          <p:nvPr/>
        </p:nvSpPr>
        <p:spPr>
          <a:xfrm>
            <a:off x="6663779" y="919823"/>
            <a:ext cx="1896789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Opérateur &amp; Téléphonie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C1891-DBE3-35D9-62CE-DAFCF4E331A5}"/>
              </a:ext>
            </a:extLst>
          </p:cNvPr>
          <p:cNvSpPr txBox="1"/>
          <p:nvPr/>
        </p:nvSpPr>
        <p:spPr>
          <a:xfrm>
            <a:off x="942684" y="3903567"/>
            <a:ext cx="2591714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Gestion, BI, GED &amp; Dématérialisation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897664-87DF-B9DB-7514-10CD12501403}"/>
              </a:ext>
            </a:extLst>
          </p:cNvPr>
          <p:cNvSpPr txBox="1"/>
          <p:nvPr/>
        </p:nvSpPr>
        <p:spPr>
          <a:xfrm>
            <a:off x="7185150" y="3095011"/>
            <a:ext cx="2555236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Informatique &amp; Sécurité</a:t>
            </a:r>
          </a:p>
        </p:txBody>
      </p:sp>
      <p:pic>
        <p:nvPicPr>
          <p:cNvPr id="211" name="Graphique 54">
            <a:extLst>
              <a:ext uri="{FF2B5EF4-FFF2-40B4-BE49-F238E27FC236}">
                <a16:creationId xmlns:a16="http://schemas.microsoft.com/office/drawing/2014/main" id="{FC21A16C-448E-4028-A17E-81B119ED2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58042" y="2571530"/>
            <a:ext cx="326875" cy="3268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6C1CFD-D81E-42E4-5866-62455739EC48}"/>
              </a:ext>
            </a:extLst>
          </p:cNvPr>
          <p:cNvSpPr txBox="1"/>
          <p:nvPr/>
        </p:nvSpPr>
        <p:spPr>
          <a:xfrm>
            <a:off x="1022001" y="1522555"/>
            <a:ext cx="2591714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AADFF-0F24-9C96-CAB1-29FCB6F9A679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54489-15BD-7351-8E13-BB5DBE3C50B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B460DA-CCC3-46D8-BC13-BAD8626E51C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F572B2-CD0E-63FB-1018-159BF722ED27}"/>
              </a:ext>
            </a:extLst>
          </p:cNvPr>
          <p:cNvSpPr txBox="1">
            <a:spLocks/>
          </p:cNvSpPr>
          <p:nvPr/>
        </p:nvSpPr>
        <p:spPr>
          <a:xfrm>
            <a:off x="795386" y="240701"/>
            <a:ext cx="4937054" cy="938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09409"/>
            <a:r>
              <a:rPr lang="fr-FR" sz="1861">
                <a:solidFill>
                  <a:srgbClr val="323231"/>
                </a:solidFill>
                <a:latin typeface="Century Gothic" panose="020B0502020202020204" pitchFamily="34" charset="0"/>
              </a:rPr>
              <a:t>Une convergence unique pour vous accompagner dans la transformation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4786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85E3-1601-D8DC-8AC7-08D5CC49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97F1DEF5-6DBD-249C-6DAA-6482FF45E0B5}"/>
              </a:ext>
            </a:extLst>
          </p:cNvPr>
          <p:cNvSpPr txBox="1">
            <a:spLocks/>
          </p:cNvSpPr>
          <p:nvPr/>
        </p:nvSpPr>
        <p:spPr>
          <a:xfrm>
            <a:off x="1554693" y="2708503"/>
            <a:ext cx="3998130" cy="804446"/>
          </a:xfrm>
          <a:prstGeom prst="rect">
            <a:avLst/>
          </a:prstGeom>
          <a:noFill/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 b="1">
                <a:solidFill>
                  <a:schemeClr val="tx1"/>
                </a:solidFill>
                <a:latin typeface="Century Gothic" panose="020B0502020202020204" pitchFamily="34" charset="0"/>
              </a:rPr>
              <a:t>Koesio vous accompagne dans vos enjeux numériques</a:t>
            </a:r>
          </a:p>
        </p:txBody>
      </p:sp>
      <p:sp>
        <p:nvSpPr>
          <p:cNvPr id="4" name="color:primary">
            <a:extLst>
              <a:ext uri="{FF2B5EF4-FFF2-40B4-BE49-F238E27FC236}">
                <a16:creationId xmlns:a16="http://schemas.microsoft.com/office/drawing/2014/main" id="{C13B1F5B-EF5C-A815-4A70-EAAD2C58C60F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9EF226B-A24C-2CA4-CC2E-864560A78F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0887B9-58C9-CFDE-090C-F1A5388318C7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8F9ECA-E043-339B-50A3-F6E77C631268}"/>
              </a:ext>
            </a:extLst>
          </p:cNvPr>
          <p:cNvSpPr/>
          <p:nvPr/>
        </p:nvSpPr>
        <p:spPr>
          <a:xfrm>
            <a:off x="5699456" y="2398177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9C00F-3242-C77F-4C4F-559700418DC4}"/>
              </a:ext>
            </a:extLst>
          </p:cNvPr>
          <p:cNvSpPr/>
          <p:nvPr/>
        </p:nvSpPr>
        <p:spPr>
          <a:xfrm>
            <a:off x="4206544" y="5365089"/>
            <a:ext cx="1492912" cy="14929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7" name="Image 6" descr="Une image contenant habits, Visage humain, personne, sourire&#10;&#10;Le contenu généré par l’IA peut être incorrect.">
            <a:extLst>
              <a:ext uri="{FF2B5EF4-FFF2-40B4-BE49-F238E27FC236}">
                <a16:creationId xmlns:a16="http://schemas.microsoft.com/office/drawing/2014/main" id="{8C352D7F-9452-0D70-EA05-0D7DB7FF35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6813" y="154927"/>
            <a:ext cx="5210162" cy="52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7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E9E1-A0B7-D0CD-7DDF-6762DC02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49A2C608-42D2-07F9-BE93-86CB53397BA8}"/>
              </a:ext>
            </a:extLst>
          </p:cNvPr>
          <p:cNvGrpSpPr/>
          <p:nvPr/>
        </p:nvGrpSpPr>
        <p:grpSpPr>
          <a:xfrm>
            <a:off x="5079792" y="2641040"/>
            <a:ext cx="3907433" cy="2891445"/>
            <a:chOff x="218022" y="2103185"/>
            <a:chExt cx="5036307" cy="372679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F4BA96-6E58-A28A-F14F-7EC9AEA7D7AF}"/>
                </a:ext>
              </a:extLst>
            </p:cNvPr>
            <p:cNvSpPr/>
            <p:nvPr/>
          </p:nvSpPr>
          <p:spPr>
            <a:xfrm>
              <a:off x="3525371" y="415195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6B0D5-18B1-6FEE-E379-7684E47C8DEC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5DAEDF27-BCB3-3E5E-98CC-A281871DF7F6}"/>
                </a:ext>
              </a:extLst>
            </p:cNvPr>
            <p:cNvGrpSpPr/>
            <p:nvPr/>
          </p:nvGrpSpPr>
          <p:grpSpPr>
            <a:xfrm>
              <a:off x="218022" y="3609424"/>
              <a:ext cx="1291986" cy="1116353"/>
              <a:chOff x="3167259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B5CB016-F080-7A9A-5780-4C16B76502A9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33A5FFB-0E95-53EF-C16A-B7EA22DD76BC}"/>
                  </a:ext>
                </a:extLst>
              </p:cNvPr>
              <p:cNvSpPr txBox="1"/>
              <p:nvPr/>
            </p:nvSpPr>
            <p:spPr>
              <a:xfrm>
                <a:off x="3167259" y="5422727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collaborateurs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informatiques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7B8A93F5-55A7-0E88-36A9-D9DAC92BF6D1}"/>
                  </a:ext>
                </a:extLst>
              </p:cNvPr>
              <p:cNvSpPr txBox="1"/>
              <p:nvPr/>
            </p:nvSpPr>
            <p:spPr>
              <a:xfrm>
                <a:off x="3209670" y="4979844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1000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4016718-2106-C5B3-7B49-1E59251CA223}"/>
                </a:ext>
              </a:extLst>
            </p:cNvPr>
            <p:cNvGrpSpPr/>
            <p:nvPr/>
          </p:nvGrpSpPr>
          <p:grpSpPr>
            <a:xfrm>
              <a:off x="1371183" y="2649148"/>
              <a:ext cx="1116354" cy="940724"/>
              <a:chOff x="4644036" y="3412813"/>
              <a:chExt cx="1567391" cy="13208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47A22B4-FEAF-2BA7-0BA4-919B92CE4ED7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2A4A9BB9-2C3F-0216-8704-421726358C52}"/>
                  </a:ext>
                </a:extLst>
              </p:cNvPr>
              <p:cNvSpPr txBox="1"/>
              <p:nvPr/>
            </p:nvSpPr>
            <p:spPr>
              <a:xfrm>
                <a:off x="4767333" y="4031854"/>
                <a:ext cx="1336021" cy="43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M€ de CA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B7A46F56-9831-5320-8930-A0BEC6B8AB44}"/>
                  </a:ext>
                </a:extLst>
              </p:cNvPr>
              <p:cNvSpPr txBox="1"/>
              <p:nvPr/>
            </p:nvSpPr>
            <p:spPr>
              <a:xfrm>
                <a:off x="4644036" y="3674683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450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85A7B732-DD74-8789-F1E8-FE67E767234D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BA2D50B-F592-922A-A5A3-2BA6DFF9ADA5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15B2F68-9863-0F45-200F-8EBF6C324C6E}"/>
                  </a:ext>
                </a:extLst>
              </p:cNvPr>
              <p:cNvSpPr txBox="1"/>
              <p:nvPr/>
            </p:nvSpPr>
            <p:spPr>
              <a:xfrm>
                <a:off x="2127764" y="4095114"/>
                <a:ext cx="1336020" cy="364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Datacenters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B79A269-69B9-0319-4AC2-5DB478D7387F}"/>
                  </a:ext>
                </a:extLst>
              </p:cNvPr>
              <p:cNvSpPr txBox="1"/>
              <p:nvPr/>
            </p:nvSpPr>
            <p:spPr>
              <a:xfrm>
                <a:off x="2127766" y="37855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65A0E00-6BA7-8865-B1DC-4EFD5CB8CC8E}"/>
                </a:ext>
              </a:extLst>
            </p:cNvPr>
            <p:cNvGrpSpPr/>
            <p:nvPr/>
          </p:nvGrpSpPr>
          <p:grpSpPr>
            <a:xfrm>
              <a:off x="3468034" y="2634496"/>
              <a:ext cx="1116354" cy="940723"/>
              <a:chOff x="3323236" y="4757935"/>
              <a:chExt cx="1567391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2161A86-0798-8F2D-0949-8279098BB7A2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2F87650E-C0AC-5E8A-7874-B0D6FCD00B2F}"/>
                  </a:ext>
                </a:extLst>
              </p:cNvPr>
              <p:cNvSpPr txBox="1"/>
              <p:nvPr/>
            </p:nvSpPr>
            <p:spPr>
              <a:xfrm>
                <a:off x="3446533" y="5295886"/>
                <a:ext cx="1336019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 err="1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Users</a:t>
                </a: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 managés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F593B589-3BB3-512C-AFA2-7DBB013EF365}"/>
                  </a:ext>
                </a:extLst>
              </p:cNvPr>
              <p:cNvSpPr txBox="1"/>
              <p:nvPr/>
            </p:nvSpPr>
            <p:spPr>
              <a:xfrm>
                <a:off x="3323236" y="4869214"/>
                <a:ext cx="1567391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10 000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A2FCF93-CDDF-B380-D7D0-CA159CF90EE6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6A02A08-F783-E6CB-9FB1-2D49D93B35D8}"/>
                </a:ext>
              </a:extLst>
            </p:cNvPr>
            <p:cNvSpPr/>
            <p:nvPr/>
          </p:nvSpPr>
          <p:spPr>
            <a:xfrm>
              <a:off x="4507413" y="3575219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469E32-1AFF-99D2-A951-BA6D1E50B486}"/>
                </a:ext>
              </a:extLst>
            </p:cNvPr>
            <p:cNvSpPr/>
            <p:nvPr/>
          </p:nvSpPr>
          <p:spPr>
            <a:xfrm>
              <a:off x="905715" y="2103185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DD1E1650-A894-1D8C-D43A-A0C5982D8318}"/>
                </a:ext>
              </a:extLst>
            </p:cNvPr>
            <p:cNvGrpSpPr/>
            <p:nvPr/>
          </p:nvGrpSpPr>
          <p:grpSpPr>
            <a:xfrm>
              <a:off x="4050849" y="4713627"/>
              <a:ext cx="1203480" cy="1116354"/>
              <a:chOff x="2076222" y="3424366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1CAB370-B70A-CE88-94E0-33457B496D01}"/>
                  </a:ext>
                </a:extLst>
              </p:cNvPr>
              <p:cNvSpPr/>
              <p:nvPr/>
            </p:nvSpPr>
            <p:spPr>
              <a:xfrm>
                <a:off x="2127764" y="3424366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54D3E4F-6594-8459-8A64-C8E1CCA52047}"/>
                  </a:ext>
                </a:extLst>
              </p:cNvPr>
              <p:cNvSpPr txBox="1"/>
              <p:nvPr/>
            </p:nvSpPr>
            <p:spPr>
              <a:xfrm>
                <a:off x="2120153" y="3969506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serveurs supervisés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D2F365A-764B-FB57-1045-3626ECE9D563}"/>
                  </a:ext>
                </a:extLst>
              </p:cNvPr>
              <p:cNvSpPr txBox="1"/>
              <p:nvPr/>
            </p:nvSpPr>
            <p:spPr>
              <a:xfrm>
                <a:off x="2076222" y="3693778"/>
                <a:ext cx="1423882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5 000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29DEE302-95E6-A7F9-9B1E-603EA0F3637E}"/>
              </a:ext>
            </a:extLst>
          </p:cNvPr>
          <p:cNvSpPr txBox="1">
            <a:spLocks/>
          </p:cNvSpPr>
          <p:nvPr/>
        </p:nvSpPr>
        <p:spPr>
          <a:xfrm>
            <a:off x="731883" y="173928"/>
            <a:ext cx="648726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IT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Informatique &amp; Sécurité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0D5CBDF-8D76-F3BB-72F5-3F675EE8399B}"/>
              </a:ext>
            </a:extLst>
          </p:cNvPr>
          <p:cNvSpPr txBox="1"/>
          <p:nvPr/>
        </p:nvSpPr>
        <p:spPr>
          <a:xfrm>
            <a:off x="731883" y="1238155"/>
            <a:ext cx="7093716" cy="6786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Notre croissance sur les métiers de l’informatique a démarré dès 2002, et s’est particulièrement accrue depuis 2018, pour nous permettre de devenir leader dans les métiers numériques en France, autour d’une mission.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Un seul guichet pour tous vos enjeux numériques !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5FB574-5E38-BACD-CC61-650F257AB3AC}"/>
              </a:ext>
            </a:extLst>
          </p:cNvPr>
          <p:cNvSpPr txBox="1"/>
          <p:nvPr/>
        </p:nvSpPr>
        <p:spPr>
          <a:xfrm>
            <a:off x="947584" y="2446093"/>
            <a:ext cx="3855189" cy="338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 err="1">
                <a:latin typeface="Arial Nova" panose="020B0504020202020204" pitchFamily="34" charset="0"/>
                <a:sym typeface="Open Sans"/>
              </a:rPr>
              <a:t>Koesio</a:t>
            </a:r>
            <a:r>
              <a:rPr lang="fr-FR" sz="1813" b="1">
                <a:latin typeface="Arial Nova" panose="020B0504020202020204" pitchFamily="34" charset="0"/>
                <a:sym typeface="Open Sans"/>
              </a:rPr>
              <a:t>, une synergie parfaite des métiers informatiques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notre expertise en services managés, nous </a:t>
            </a:r>
            <a:r>
              <a:rPr lang="fr-FR" sz="1270" b="1">
                <a:latin typeface="Arial Nova" panose="020B0504020202020204" pitchFamily="34" charset="0"/>
              </a:rPr>
              <a:t>pilotons proactivement vos postes informatiques</a:t>
            </a:r>
            <a:r>
              <a:rPr lang="fr-FR" sz="1270">
                <a:latin typeface="Arial Nova" panose="020B0504020202020204" pitchFamily="34" charset="0"/>
              </a:rPr>
              <a:t>, à distance avec un service illimité.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nos volumes d’achat, nous vous donnons accès au </a:t>
            </a:r>
            <a:r>
              <a:rPr lang="fr-FR" sz="1270" b="1">
                <a:latin typeface="Arial Nova" panose="020B0504020202020204" pitchFamily="34" charset="0"/>
              </a:rPr>
              <a:t>plus</a:t>
            </a:r>
            <a:r>
              <a:rPr lang="fr-FR" sz="1270">
                <a:latin typeface="Arial Nova" panose="020B0504020202020204" pitchFamily="34" charset="0"/>
              </a:rPr>
              <a:t> </a:t>
            </a:r>
            <a:r>
              <a:rPr lang="fr-FR" sz="1270" b="1">
                <a:latin typeface="Arial Nova" panose="020B0504020202020204" pitchFamily="34" charset="0"/>
              </a:rPr>
              <a:t>grand stock d’équipements informatiques et négocient au mieux les prix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experts informatiques régionaux configurent, suivent et agissent pour vous </a:t>
            </a:r>
            <a:r>
              <a:rPr lang="fr-FR" sz="1270" b="1">
                <a:latin typeface="Arial Nova" panose="020B0504020202020204" pitchFamily="34" charset="0"/>
              </a:rPr>
              <a:t>garantir le maintien en conditions opérationnelles de votre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92B68D-89F1-FF68-EB4F-2C7B496D75E6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37630A-98EE-3171-2D25-62AAA36AEF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1D55E8-F50B-AA6A-548F-7B881F3902C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28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B6C7-ED8A-7600-7C10-556FD460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AC9BC1E2-44E6-0CDF-31A7-23E1976F48F5}"/>
              </a:ext>
            </a:extLst>
          </p:cNvPr>
          <p:cNvGrpSpPr/>
          <p:nvPr/>
        </p:nvGrpSpPr>
        <p:grpSpPr>
          <a:xfrm>
            <a:off x="5151149" y="2610453"/>
            <a:ext cx="3923171" cy="2918485"/>
            <a:chOff x="241299" y="2080487"/>
            <a:chExt cx="5056594" cy="376164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51D44A-28B2-C78F-223D-3A3C4922FB2A}"/>
                </a:ext>
              </a:extLst>
            </p:cNvPr>
            <p:cNvSpPr/>
            <p:nvPr/>
          </p:nvSpPr>
          <p:spPr>
            <a:xfrm>
              <a:off x="3525371" y="416410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0867E-9EF5-8550-C89D-E05309A238F0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350E52B-65CA-FD73-56C6-6BE35D9AE8A2}"/>
                </a:ext>
              </a:extLst>
            </p:cNvPr>
            <p:cNvGrpSpPr/>
            <p:nvPr/>
          </p:nvGrpSpPr>
          <p:grpSpPr>
            <a:xfrm>
              <a:off x="241299" y="3609424"/>
              <a:ext cx="1291986" cy="1116353"/>
              <a:chOff x="3199940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693DBCD-F75A-120D-EF6D-015CDD5AF598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2B25ECAC-60E0-B75D-85CA-BB8D2044D731}"/>
                  </a:ext>
                </a:extLst>
              </p:cNvPr>
              <p:cNvSpPr txBox="1"/>
              <p:nvPr/>
            </p:nvSpPr>
            <p:spPr>
              <a:xfrm>
                <a:off x="3199940" y="5441160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Fibres 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dédiées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71929E4-441C-0A9C-2AD2-D33E3CBD8EDB}"/>
                  </a:ext>
                </a:extLst>
              </p:cNvPr>
              <p:cNvSpPr txBox="1"/>
              <p:nvPr/>
            </p:nvSpPr>
            <p:spPr>
              <a:xfrm>
                <a:off x="3242351" y="4998275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2000 km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3E91CFA-6BD5-3A14-632F-5FB05E07E0AA}"/>
                </a:ext>
              </a:extLst>
            </p:cNvPr>
            <p:cNvGrpSpPr/>
            <p:nvPr/>
          </p:nvGrpSpPr>
          <p:grpSpPr>
            <a:xfrm>
              <a:off x="1371183" y="2649152"/>
              <a:ext cx="1116354" cy="972621"/>
              <a:chOff x="4644036" y="3412813"/>
              <a:chExt cx="1567391" cy="136558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DB97B6E-6D66-3EBC-A438-43E4A3312D9A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19C0C794-2D0E-8E81-CEC4-C05E8E3545F6}"/>
                  </a:ext>
                </a:extLst>
              </p:cNvPr>
              <p:cNvSpPr txBox="1"/>
              <p:nvPr/>
            </p:nvSpPr>
            <p:spPr>
              <a:xfrm>
                <a:off x="4767333" y="3815187"/>
                <a:ext cx="1336021" cy="96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Points de présence opérateur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EF7744BF-AF26-FE83-39BC-38FED3780BC7}"/>
                  </a:ext>
                </a:extLst>
              </p:cNvPr>
              <p:cNvSpPr txBox="1"/>
              <p:nvPr/>
            </p:nvSpPr>
            <p:spPr>
              <a:xfrm>
                <a:off x="4644036" y="3458016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70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6E99939-A62A-4075-F01F-F32F1828742B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9EB162F-876D-18F1-1B65-F0D55F7CF7FF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8D58FB5E-1059-D076-0970-02ACC55818E7}"/>
                  </a:ext>
                </a:extLst>
              </p:cNvPr>
              <p:cNvSpPr txBox="1"/>
              <p:nvPr/>
            </p:nvSpPr>
            <p:spPr>
              <a:xfrm>
                <a:off x="2127764" y="3966511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Clients télécom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395BFDC8-F485-E25A-7F9E-2898B9F52939}"/>
                  </a:ext>
                </a:extLst>
              </p:cNvPr>
              <p:cNvSpPr txBox="1"/>
              <p:nvPr/>
            </p:nvSpPr>
            <p:spPr>
              <a:xfrm>
                <a:off x="2127766" y="36569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10 000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2EE1E27-C6C9-C00B-A3FB-A8EA3C966266}"/>
                </a:ext>
              </a:extLst>
            </p:cNvPr>
            <p:cNvGrpSpPr/>
            <p:nvPr/>
          </p:nvGrpSpPr>
          <p:grpSpPr>
            <a:xfrm>
              <a:off x="3555850" y="2634496"/>
              <a:ext cx="951563" cy="940723"/>
              <a:chOff x="3446532" y="4757935"/>
              <a:chExt cx="1336020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696C3CF-095A-6591-81E6-94FFEE0A8929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D7BB17E-7C71-90EE-39A7-4C136F2B9A75}"/>
                  </a:ext>
                </a:extLst>
              </p:cNvPr>
              <p:cNvSpPr txBox="1"/>
              <p:nvPr/>
            </p:nvSpPr>
            <p:spPr>
              <a:xfrm>
                <a:off x="3446532" y="5295886"/>
                <a:ext cx="1336020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experts métier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52684A49-05E1-41F3-AA8D-FA111EEDD942}"/>
                  </a:ext>
                </a:extLst>
              </p:cNvPr>
              <p:cNvSpPr txBox="1"/>
              <p:nvPr/>
            </p:nvSpPr>
            <p:spPr>
              <a:xfrm>
                <a:off x="3446532" y="4871874"/>
                <a:ext cx="1325618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400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50550D-7F5F-978E-776A-653197341E65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BD6C03B-65F1-4131-C31C-2AABAAF6C64F}"/>
                </a:ext>
              </a:extLst>
            </p:cNvPr>
            <p:cNvSpPr/>
            <p:nvPr/>
          </p:nvSpPr>
          <p:spPr>
            <a:xfrm>
              <a:off x="4500005" y="3562762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C9910B-D0E5-163C-0A72-B8C31D39FC53}"/>
                </a:ext>
              </a:extLst>
            </p:cNvPr>
            <p:cNvSpPr/>
            <p:nvPr/>
          </p:nvSpPr>
          <p:spPr>
            <a:xfrm>
              <a:off x="924230" y="2080487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45967717-1782-493E-5AD2-97EB8D5A5567}"/>
                </a:ext>
              </a:extLst>
            </p:cNvPr>
            <p:cNvGrpSpPr/>
            <p:nvPr/>
          </p:nvGrpSpPr>
          <p:grpSpPr>
            <a:xfrm>
              <a:off x="4094413" y="4725780"/>
              <a:ext cx="1203480" cy="1116355"/>
              <a:chOff x="2127764" y="3438741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D35C2A6-398E-1FAB-5215-C534210FFCA6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190B31A-D086-8F7E-A2C6-7BF2B9F8786E}"/>
                  </a:ext>
                </a:extLst>
              </p:cNvPr>
              <p:cNvSpPr txBox="1"/>
              <p:nvPr/>
            </p:nvSpPr>
            <p:spPr>
              <a:xfrm>
                <a:off x="2150301" y="4117652"/>
                <a:ext cx="1336020" cy="588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Minutes </a:t>
                </a:r>
              </a:p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voix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DD274F41-3C42-9D5A-5343-C5EBE9840968}"/>
                  </a:ext>
                </a:extLst>
              </p:cNvPr>
              <p:cNvSpPr txBox="1"/>
              <p:nvPr/>
            </p:nvSpPr>
            <p:spPr>
              <a:xfrm>
                <a:off x="2127764" y="3480210"/>
                <a:ext cx="1423882" cy="779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20</a:t>
                </a:r>
              </a:p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Millions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CEA649CC-DF0B-674D-75C0-BAEDBAA37721}"/>
              </a:ext>
            </a:extLst>
          </p:cNvPr>
          <p:cNvSpPr txBox="1">
            <a:spLocks/>
          </p:cNvSpPr>
          <p:nvPr/>
        </p:nvSpPr>
        <p:spPr>
          <a:xfrm>
            <a:off x="631350" y="183049"/>
            <a:ext cx="699735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Télécom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Opérateur &amp; Téléphonie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EAC1F59-2FF3-07F5-BBC0-570A06B4BF7B}"/>
              </a:ext>
            </a:extLst>
          </p:cNvPr>
          <p:cNvSpPr txBox="1"/>
          <p:nvPr/>
        </p:nvSpPr>
        <p:spPr>
          <a:xfrm>
            <a:off x="631350" y="1094031"/>
            <a:ext cx="7093716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Nous avons créé dès 2012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l’usine Télécom Koesio Networks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 qui opère la mise en production des liens internet, de la voix et des forfaits mobiles, conscient des enjeux vitaux que représente la communication unifiée. Ainsi, nos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entités régionales 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peuvent ainsi se concentrer sur leur cœur de métier :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le conseil et la satisfaction de nos clients.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4DE61D-6987-62A0-49DA-09EC796278EF}"/>
              </a:ext>
            </a:extLst>
          </p:cNvPr>
          <p:cNvSpPr txBox="1"/>
          <p:nvPr/>
        </p:nvSpPr>
        <p:spPr>
          <a:xfrm>
            <a:off x="754036" y="2263670"/>
            <a:ext cx="4018829" cy="4363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La force de notre offre </a:t>
            </a:r>
          </a:p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Opérateur &amp; Téléphonie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Fort de </a:t>
            </a:r>
            <a:r>
              <a:rPr lang="fr-FR" sz="1270" b="1">
                <a:latin typeface="Arial Nova" panose="020B0504020202020204" pitchFamily="34" charset="0"/>
              </a:rPr>
              <a:t>notre propre fibre </a:t>
            </a:r>
            <a:r>
              <a:rPr lang="fr-FR" sz="1270" b="1" err="1">
                <a:latin typeface="Arial Nova" panose="020B0504020202020204" pitchFamily="34" charset="0"/>
              </a:rPr>
              <a:t>Koesio</a:t>
            </a:r>
            <a:r>
              <a:rPr lang="fr-FR" sz="1270">
                <a:latin typeface="Arial Nova" panose="020B0504020202020204" pitchFamily="34" charset="0"/>
              </a:rPr>
              <a:t>, nous avons mis en place une </a:t>
            </a:r>
            <a:r>
              <a:rPr lang="fr-FR" sz="1270" b="1">
                <a:latin typeface="Arial Nova" panose="020B0504020202020204" pitchFamily="34" charset="0"/>
              </a:rPr>
              <a:t>infrastructure Télécom puissante </a:t>
            </a:r>
            <a:r>
              <a:rPr lang="fr-FR" sz="1270">
                <a:latin typeface="Arial Nova" panose="020B0504020202020204" pitchFamily="34" charset="0"/>
              </a:rPr>
              <a:t>(70 points de présence POP) pour garantir la qualité et la résilience de nos liens.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Parmi les rares titulaires d’une </a:t>
            </a:r>
            <a:r>
              <a:rPr lang="fr-FR" sz="1270" b="1">
                <a:latin typeface="Arial Nova" panose="020B0504020202020204" pitchFamily="34" charset="0"/>
              </a:rPr>
              <a:t>MVNO avec Orange</a:t>
            </a:r>
            <a:r>
              <a:rPr lang="fr-FR" sz="1270">
                <a:latin typeface="Arial Nova" panose="020B0504020202020204" pitchFamily="34" charset="0"/>
              </a:rPr>
              <a:t>, nous apportons le service client dédié de proximité pour nos </a:t>
            </a:r>
            <a:r>
              <a:rPr lang="fr-FR" sz="1270" b="1">
                <a:latin typeface="Arial Nova" panose="020B0504020202020204" pitchFamily="34" charset="0"/>
              </a:rPr>
              <a:t>forfaits mobiles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Grâce à nos </a:t>
            </a:r>
            <a:r>
              <a:rPr lang="fr-FR" sz="1270" b="1">
                <a:latin typeface="Arial Nova" panose="020B0504020202020204" pitchFamily="34" charset="0"/>
              </a:rPr>
              <a:t>offres informatiques</a:t>
            </a:r>
            <a:r>
              <a:rPr lang="fr-FR" sz="1270">
                <a:latin typeface="Arial Nova" panose="020B0504020202020204" pitchFamily="34" charset="0"/>
              </a:rPr>
              <a:t>, nous complétons nos propositions de </a:t>
            </a:r>
            <a:r>
              <a:rPr lang="fr-FR" sz="1270" b="1">
                <a:latin typeface="Arial Nova" panose="020B0504020202020204" pitchFamily="34" charset="0"/>
              </a:rPr>
              <a:t>solutions de sécurité </a:t>
            </a:r>
            <a:r>
              <a:rPr lang="fr-FR" sz="1270">
                <a:latin typeface="Arial Nova" panose="020B0504020202020204" pitchFamily="34" charset="0"/>
              </a:rPr>
              <a:t>essentielles pour vous protéger.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</a:t>
            </a:r>
            <a:r>
              <a:rPr lang="fr-FR" sz="1270" b="1">
                <a:latin typeface="Arial Nova" panose="020B0504020202020204" pitchFamily="34" charset="0"/>
              </a:rPr>
              <a:t>contrats de maintenance </a:t>
            </a:r>
            <a:r>
              <a:rPr lang="fr-FR" sz="1270">
                <a:latin typeface="Arial Nova" panose="020B0504020202020204" pitchFamily="34" charset="0"/>
              </a:rPr>
              <a:t>vous permettent une </a:t>
            </a:r>
            <a:r>
              <a:rPr lang="fr-FR" sz="1270" b="1">
                <a:latin typeface="Arial Nova" panose="020B0504020202020204" pitchFamily="34" charset="0"/>
              </a:rPr>
              <a:t>garantie de votre matériel de téléphonie</a:t>
            </a:r>
            <a:r>
              <a:rPr lang="fr-FR" sz="1270">
                <a:latin typeface="Arial Nova" panose="020B0504020202020204" pitchFamily="34" charset="0"/>
              </a:rPr>
              <a:t>, et nos offres de financement un renouvellement régulier de votre matériel, à la vitesse des innovations technologiques.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93EF4-DB40-C246-53CE-00FC12D83A7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F55453-A8A3-CCED-1850-9F26E55902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363B31-356C-8B60-0CAA-1663F46B97D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30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795F79-E10F-8CC4-179B-FEC73D03879E}"/>
              </a:ext>
            </a:extLst>
          </p:cNvPr>
          <p:cNvSpPr/>
          <p:nvPr/>
        </p:nvSpPr>
        <p:spPr>
          <a:xfrm>
            <a:off x="288125" y="3233140"/>
            <a:ext cx="9514376" cy="3624860"/>
          </a:xfrm>
          <a:prstGeom prst="rect">
            <a:avLst/>
          </a:prstGeom>
          <a:solidFill>
            <a:srgbClr val="E94B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2C5C24-1C82-FEF1-BC0D-952984EB2FB1}"/>
              </a:ext>
            </a:extLst>
          </p:cNvPr>
          <p:cNvSpPr/>
          <p:nvPr/>
        </p:nvSpPr>
        <p:spPr>
          <a:xfrm>
            <a:off x="6764454" y="1952560"/>
            <a:ext cx="2194654" cy="2193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8" name="Espace réservé du texte 1">
            <a:extLst>
              <a:ext uri="{FF2B5EF4-FFF2-40B4-BE49-F238E27FC236}">
                <a16:creationId xmlns:a16="http://schemas.microsoft.com/office/drawing/2014/main" id="{384D4F7E-06D1-47E8-1A68-C21F8BF8AF2D}"/>
              </a:ext>
            </a:extLst>
          </p:cNvPr>
          <p:cNvSpPr txBox="1">
            <a:spLocks/>
          </p:cNvSpPr>
          <p:nvPr/>
        </p:nvSpPr>
        <p:spPr>
          <a:xfrm>
            <a:off x="788431" y="757368"/>
            <a:ext cx="6487262" cy="3525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>
                <a:latin typeface="Century Gothic" panose="020B0502020202020204" pitchFamily="34" charset="0"/>
              </a:rPr>
              <a:t>          </a:t>
            </a:r>
            <a:r>
              <a:rPr lang="fr-FR" sz="3266" err="1">
                <a:latin typeface="Century Gothic" panose="020B0502020202020204" pitchFamily="34" charset="0"/>
              </a:rPr>
              <a:t>oi</a:t>
            </a:r>
            <a:r>
              <a:rPr lang="fr-FR" sz="3266">
                <a:latin typeface="Century Gothic" panose="020B0502020202020204" pitchFamily="34" charset="0"/>
              </a:rPr>
              <a:t> de neuf ?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49A9A943-31DC-0978-7867-40A7EAFA9D19}"/>
              </a:ext>
            </a:extLst>
          </p:cNvPr>
          <p:cNvSpPr txBox="1">
            <a:spLocks/>
          </p:cNvSpPr>
          <p:nvPr/>
        </p:nvSpPr>
        <p:spPr>
          <a:xfrm>
            <a:off x="1463935" y="4759761"/>
            <a:ext cx="1637800" cy="1124640"/>
          </a:xfrm>
          <a:prstGeom prst="rect">
            <a:avLst/>
          </a:prstGeom>
        </p:spPr>
        <p:txBody>
          <a:bodyPr vert="horz" lIns="82953" tIns="41476" rIns="82953" bIns="41476" rtlCol="0" anchor="t"/>
          <a:lstStyle>
            <a:defPPr>
              <a:defRPr lang="en-US"/>
            </a:defPPr>
            <a:lvl1pPr marL="0" algn="r" defTabSz="457200" rtl="0" eaLnBrk="1" latinLnBrk="0" hangingPunct="1">
              <a:defRPr sz="113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L’informatique managée des TPE / PME pour apporter le service à vos utilisateurs.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5AF983E-8E2D-7DDE-99CB-9FD4810131E8}"/>
              </a:ext>
            </a:extLst>
          </p:cNvPr>
          <p:cNvSpPr txBox="1">
            <a:spLocks/>
          </p:cNvSpPr>
          <p:nvPr/>
        </p:nvSpPr>
        <p:spPr>
          <a:xfrm>
            <a:off x="1250478" y="4366554"/>
            <a:ext cx="2064716" cy="330358"/>
          </a:xfrm>
          <a:prstGeom prst="rect">
            <a:avLst/>
          </a:prstGeom>
        </p:spPr>
        <p:txBody>
          <a:bodyPr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Be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Proactiv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FBD3AFA6-D43E-DAA6-881D-908FABB59D7A}"/>
              </a:ext>
            </a:extLst>
          </p:cNvPr>
          <p:cNvSpPr txBox="1">
            <a:spLocks/>
          </p:cNvSpPr>
          <p:nvPr/>
        </p:nvSpPr>
        <p:spPr>
          <a:xfrm>
            <a:off x="4085136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L’écran tactile </a:t>
            </a:r>
          </a:p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by </a:t>
            </a: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vous apporte design et efficacité pour vos salles de réunion.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4271D354-A69A-E584-B067-833413A2DC40}"/>
              </a:ext>
            </a:extLst>
          </p:cNvPr>
          <p:cNvSpPr txBox="1">
            <a:spLocks/>
          </p:cNvSpPr>
          <p:nvPr/>
        </p:nvSpPr>
        <p:spPr>
          <a:xfrm>
            <a:off x="4085137" y="4445402"/>
            <a:ext cx="2064716" cy="33035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Screen ISI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Touch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E493F19E-5AFD-68D9-3007-64E3EBD5B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7037" y="3422540"/>
            <a:ext cx="276509" cy="27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953" tIns="41476" rIns="82953" bIns="41476" numCol="1" anchor="t" anchorCtr="0" compatLnSpc="1">
            <a:prstTxWarp prst="textNoShape">
              <a:avLst/>
            </a:prstTxWarp>
          </a:bodyPr>
          <a:lstStyle/>
          <a:p>
            <a:endParaRPr lang="fr-FR" sz="1632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B13BD93-36CA-8171-D01B-3A4E32F9C891}"/>
              </a:ext>
            </a:extLst>
          </p:cNvPr>
          <p:cNvGrpSpPr/>
          <p:nvPr/>
        </p:nvGrpSpPr>
        <p:grpSpPr>
          <a:xfrm>
            <a:off x="4046012" y="1955678"/>
            <a:ext cx="2279557" cy="2190010"/>
            <a:chOff x="3757905" y="1274211"/>
            <a:chExt cx="3179608" cy="305470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E6E69A-E393-4A74-57FA-FBF44080783B}"/>
                </a:ext>
              </a:extLst>
            </p:cNvPr>
            <p:cNvSpPr/>
            <p:nvPr/>
          </p:nvSpPr>
          <p:spPr>
            <a:xfrm>
              <a:off x="3757905" y="3703234"/>
              <a:ext cx="3179608" cy="625682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A48B5A-F878-2E02-492B-4D0D26433EED}"/>
                </a:ext>
              </a:extLst>
            </p:cNvPr>
            <p:cNvSpPr/>
            <p:nvPr/>
          </p:nvSpPr>
          <p:spPr>
            <a:xfrm>
              <a:off x="3757905" y="1274211"/>
              <a:ext cx="3179608" cy="670250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pic>
          <p:nvPicPr>
            <p:cNvPr id="20" name="Image 19" descr="Une image contenant texte, capture d’écran, ligne, diagramme&#10;&#10;Description générée automatiquement">
              <a:extLst>
                <a:ext uri="{FF2B5EF4-FFF2-40B4-BE49-F238E27FC236}">
                  <a16:creationId xmlns:a16="http://schemas.microsoft.com/office/drawing/2014/main" id="{79360F83-745A-B43B-3A93-A62062C5B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57905" y="1870578"/>
              <a:ext cx="3179608" cy="2119739"/>
            </a:xfrm>
            <a:prstGeom prst="rect">
              <a:avLst/>
            </a:prstGeom>
          </p:spPr>
        </p:pic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747737A9-EECA-4B39-0796-722649CD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4973" y="1952560"/>
            <a:ext cx="2279557" cy="219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E4D33BB-F222-DDFB-03BC-64BFD22C51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86971">
            <a:off x="7493962" y="2103500"/>
            <a:ext cx="950141" cy="18415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FE283D48-32F8-2984-E61A-7F0F4236350D}"/>
              </a:ext>
            </a:extLst>
          </p:cNvPr>
          <p:cNvSpPr txBox="1">
            <a:spLocks/>
          </p:cNvSpPr>
          <p:nvPr/>
        </p:nvSpPr>
        <p:spPr>
          <a:xfrm>
            <a:off x="6890285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est MVNO d’Orange pour vous apporter le meilleur des 2 mondes, le réseau n°1 et un service de proximité.</a:t>
            </a:r>
          </a:p>
        </p:txBody>
      </p:sp>
      <p:sp>
        <p:nvSpPr>
          <p:cNvPr id="26" name="text:typogr">
            <a:extLst>
              <a:ext uri="{FF2B5EF4-FFF2-40B4-BE49-F238E27FC236}">
                <a16:creationId xmlns:a16="http://schemas.microsoft.com/office/drawing/2014/main" id="{E98F62F7-C5A7-F6F0-2D09-002A4A71516F}"/>
              </a:ext>
            </a:extLst>
          </p:cNvPr>
          <p:cNvSpPr txBox="1">
            <a:spLocks/>
          </p:cNvSpPr>
          <p:nvPr/>
        </p:nvSpPr>
        <p:spPr>
          <a:xfrm>
            <a:off x="6890286" y="4428426"/>
            <a:ext cx="2064716" cy="33035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Forfait Mobile</a:t>
            </a:r>
          </a:p>
        </p:txBody>
      </p:sp>
      <p:pic>
        <p:nvPicPr>
          <p:cNvPr id="29" name="Image 28" descr="Une image contenant logo, Graphique, graphisme, symbole&#10;&#10;Description générée automatiquement">
            <a:extLst>
              <a:ext uri="{FF2B5EF4-FFF2-40B4-BE49-F238E27FC236}">
                <a16:creationId xmlns:a16="http://schemas.microsoft.com/office/drawing/2014/main" id="{DD72E4F2-6585-CADC-1ED0-58CBF445EC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347017">
            <a:off x="1483694" y="764945"/>
            <a:ext cx="549718" cy="5577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8EF81A-63B5-BABA-7CF1-BB1AD1C1B461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C8D0F7-6FB0-EBB7-7BDB-CBF456AF5C0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308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LAYOUT" val="PAGE DE GARDE 1"/>
  <p:tag name="UPSLIDETOCALGOID" val="Standard"/>
  <p:tag name="UPSLIDEPRINTFACINGPAGESDESIGN" val="CONTENU"/>
  <p:tag name="TEMPLATESHORTNAMETAG" val="Finance"/>
  <p:tag name="TEMPLATEFULLNAMETAG" val="Finance"/>
  <p:tag name="UPSLIDE" val="KOE02942_Finance_02-09-2024"/>
  <p:tag name="UPSLIDEVERSION" val="6.8.47.2"/>
  <p:tag name="FOOTERSCRIPT" val="&lt;%Titre%&gt;  |  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Table des matières&lt;/SlideTitle&gt;&#10;  &lt;/TocSlidesOptions&gt;&#10;  &lt;SectionSlideOptions&gt;&#10;    &lt;ContainsOwnSubSection&gt;false&lt;/ContainsOwnSubSection&gt;&#10;    &lt;ContainsOwnSlide&gt;tru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CONTENU&lt;/DesignName&gt;&#10;      &lt;LayoutName&gt;TABLE DES MATIERES&lt;/LayoutName&gt;&#10;    &lt;/TocSlidesLayout&gt;&#10;    &lt;SectionLayout&gt;&#10;      &lt;DesignName&gt;CONTENU&lt;/DesignName&gt;&#10;      &lt;LayoutName&gt;SECTION&lt;/LayoutName&gt;&#10;    &lt;/SectionLayout&gt;&#10;    &lt;SubsectionLayout&gt;&#10;      &lt;DesignName&gt;CONTENU&lt;/DesignName&gt;&#10;      &lt;LayoutName&gt;SECTION&lt;/LayoutName&gt;&#10;    &lt;/SubsectionLayout&gt;&#10;    &lt;AppendixLayout&gt;&#10;      &lt;DesignName /&gt;&#10;      &lt;LayoutName /&gt;&#10;    &lt;/AppendixLayout&gt;&#10;    &lt;TitleSliLayout&gt;&#10;      &lt;DesignName&gt;CONTENU&lt;/DesignName&gt;&#10;      &lt;LayoutName&gt;PAGE DE GARDE&lt;/LayoutName&gt;&#10;    &lt;/TitleSliLayout&gt;&#10;  &lt;/UsedSlideLayouts&gt;&#10;  &lt;ActiveReminders&gt;&#10;    &lt;ReminderScriptList&gt;&#10;      &lt;ReminderScript&gt;&#10;        &lt;Key xsi:type=&quot;xsd:string&quot;&gt;Reminder09/02/2024 17:01:54350154534&lt;/Key&gt;&#10;        &lt;Value xsi:type=&quot;xsd:string&quot;&gt;&amp;lt;%SectionNum%&amp;gt;. &amp;lt;%SectionName%&amp;gt; | &amp;lt;%SubSectionNum%&amp;gt; &amp;lt;%DotIfSubSecNum%&amp;gt;  &amp;lt;%SubSectionName%&amp;gt;&lt;/Value&gt;&#10;      &lt;/ReminderScript&gt;&#10;    &lt;/ReminderScriptList&gt;&#10;    &lt;MigrationVersion&gt;6.8.47.2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true&lt;/DisplayTOCOnTwocolumns&gt;&#10;      &lt;Scripts&gt;&#10;        &lt;BeforeSubSecTitle /&gt;&#10;        &lt;BeforeSlideIndex&gt;p.&lt;/BeforeSlideIndex&gt;&#10;        &lt;AfterSecNum&gt;.&lt;/AfterSecNum&gt;&#10;        &lt;BeforeSecNum /&gt;&#10;        &lt;ZeroBeforeSecNum&gt;false&lt;/ZeroBeforeSecNum&gt;&#10;        &lt;AfterSubSecNum&gt;.&lt;/AfterSubSecNum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4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2&lt;/SpaceBeforeSubSections&gt;&#10;          &lt;SpaceBeforeSlides&gt;1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2&lt;/SpaceBeforeSlides&gt;&#10;        &lt;/ManualSpacingSubSections&gt;&#10;        &lt;UseSpecificSpacingForSecDivider&gt;true&lt;/UseSpecificSpacingForSecDivider&gt;&#10;        &lt;UseSpecificSpacingForSubSecDivider&gt;true&lt;/UseSpecificSpacingForSubSecDivider&gt;&#10;      &lt;/ManVerticalSpacing&gt;&#10;    &lt;/CustomBaseAlgoOptions&gt;&#10;  &lt;/CustomAlgoOptions&gt;&#10;  &lt;UserPresentationOptions&gt;&#10;    &lt;SubSectionsHaveSlide xsi:nil=&quot;true&quot; /&gt;&#10;    &lt;SectionDividersContainOwnSubSections xsi:nil=&quot;true&quot; /&gt;&#10;    &lt;SectionDividersContainOwnSlideTitles&gt;false&lt;/SectionDividersContainOwnSlideTitles&gt;&#10;    &lt;SubSectionDividersContainOwnSlideTitles xsi:nil=&quot;true&quot; /&gt;&#10;    &lt;TOCSlidesContainSubsectionTitles xsi:nil=&quot;true&quot; /&gt;&#10;    &lt;TOCSlidesContainSlideTitles xsi:nil=&quot;true&quot; /&gt;&#10;    &lt;DisplayRemindersOnSlides&gt;tru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heme/theme1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7e4748-b4be-4712-b5f7-3821262dd9ef">
      <Terms xmlns="http://schemas.microsoft.com/office/infopath/2007/PartnerControls"/>
    </lcf76f155ced4ddcb4097134ff3c332f>
    <TaxCatchAll xmlns="834a401e-6025-4840-ab01-94c3ee29c08d" xsi:nil="true"/>
    <SharedWithUsers xmlns="834a401e-6025-4840-ab01-94c3ee29c08d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414B5A0CDB1A4F92F60DB93384A30A" ma:contentTypeVersion="16" ma:contentTypeDescription="Crée un document." ma:contentTypeScope="" ma:versionID="609214881e4f3f8740e3c070a8d720ea">
  <xsd:schema xmlns:xsd="http://www.w3.org/2001/XMLSchema" xmlns:xs="http://www.w3.org/2001/XMLSchema" xmlns:p="http://schemas.microsoft.com/office/2006/metadata/properties" xmlns:ns2="c57e4748-b4be-4712-b5f7-3821262dd9ef" xmlns:ns3="834a401e-6025-4840-ab01-94c3ee29c08d" targetNamespace="http://schemas.microsoft.com/office/2006/metadata/properties" ma:root="true" ma:fieldsID="2507b1b3effccabb5a92121b78c895e5" ns2:_="" ns3:_="">
    <xsd:import namespace="c57e4748-b4be-4712-b5f7-3821262dd9ef"/>
    <xsd:import namespace="834a401e-6025-4840-ab01-94c3ee29c0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e4748-b4be-4712-b5f7-3821262dd9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c7f24229-f875-4422-9699-0c85aaf9f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a401e-6025-4840-ab01-94c3ee29c08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1054e7a-b831-4ce0-ae97-3db8823617b9}" ma:internalName="TaxCatchAll" ma:showField="CatchAllData" ma:web="834a401e-6025-4840-ab01-94c3ee29c0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A889CF-47FE-431B-A87A-A1640F9B5A5F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216e2b9e-0941-4f39-ad78-54f7f7dc5e95"/>
    <ds:schemaRef ds:uri="b056d838-330f-47e6-8fb0-765c3d4b8b26"/>
    <ds:schemaRef ds:uri="http://schemas.microsoft.com/office/2006/metadata/properties"/>
    <ds:schemaRef ds:uri="c57e4748-b4be-4712-b5f7-3821262dd9ef"/>
    <ds:schemaRef ds:uri="834a401e-6025-4840-ab01-94c3ee29c08d"/>
  </ds:schemaRefs>
</ds:datastoreItem>
</file>

<file path=customXml/itemProps2.xml><?xml version="1.0" encoding="utf-8"?>
<ds:datastoreItem xmlns:ds="http://schemas.openxmlformats.org/officeDocument/2006/customXml" ds:itemID="{4AC27131-CD93-41DC-B29F-8F0D82F700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D994B2-4E79-425B-B29F-9D88D84E43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7e4748-b4be-4712-b5f7-3821262dd9ef"/>
    <ds:schemaRef ds:uri="834a401e-6025-4840-ab01-94c3ee29c0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964</TotalTime>
  <Words>739</Words>
  <Application>Microsoft Office PowerPoint</Application>
  <PresentationFormat>Format A4 (210 x 297 mm)</PresentationFormat>
  <Paragraphs>116</Paragraphs>
  <Slides>7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PAGE VIERGE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</dc:creator>
  <cp:lastModifiedBy>Bruno GRANJON</cp:lastModifiedBy>
  <cp:revision>8</cp:revision>
  <dcterms:created xsi:type="dcterms:W3CDTF">2025-03-14T08:10:21Z</dcterms:created>
  <dcterms:modified xsi:type="dcterms:W3CDTF">2026-03-02T18:07:58Z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0x010100DD414B5A0CDB1A4F92F60DB93384A30A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