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16"/>
  </p:notesMasterIdLst>
  <p:sldIdLst>
    <p:sldId id="256" r:id="rId2"/>
    <p:sldId id="281" r:id="rId3"/>
    <p:sldId id="257" r:id="rId4"/>
    <p:sldId id="280" r:id="rId5"/>
    <p:sldId id="284" r:id="rId6"/>
    <p:sldId id="805" r:id="rId7"/>
    <p:sldId id="799" r:id="rId8"/>
    <p:sldId id="277" r:id="rId9"/>
    <p:sldId id="800" r:id="rId10"/>
    <p:sldId id="287" r:id="rId11"/>
    <p:sldId id="797" r:id="rId12"/>
    <p:sldId id="804" r:id="rId13"/>
    <p:sldId id="803" r:id="rId14"/>
    <p:sldId id="282" r:id="rId15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 PROPALE TELECOM" id="{B0071AC5-CA5C-4B84-8CE8-7C94260FF46F}">
          <p14:sldIdLst>
            <p14:sldId id="256"/>
            <p14:sldId id="281"/>
            <p14:sldId id="257"/>
            <p14:sldId id="280"/>
            <p14:sldId id="284"/>
            <p14:sldId id="805"/>
            <p14:sldId id="799"/>
            <p14:sldId id="277"/>
            <p14:sldId id="800"/>
            <p14:sldId id="287"/>
            <p14:sldId id="797"/>
            <p14:sldId id="804"/>
            <p14:sldId id="803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981" userDrawn="1">
          <p15:clr>
            <a:srgbClr val="A4A3A4"/>
          </p15:clr>
        </p15:guide>
        <p15:guide id="4" pos="2519" userDrawn="1">
          <p15:clr>
            <a:srgbClr val="A4A3A4"/>
          </p15:clr>
        </p15:guide>
        <p15:guide id="5" pos="6285" userDrawn="1">
          <p15:clr>
            <a:srgbClr val="A4A3A4"/>
          </p15:clr>
        </p15:guide>
        <p15:guide id="6" pos="533" userDrawn="1">
          <p15:clr>
            <a:srgbClr val="A4A3A4"/>
          </p15:clr>
        </p15:guide>
        <p15:guide id="7" orient="horz" pos="32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4682A-0780-4E8B-8D98-0D280E4D050C}" v="154" dt="2025-03-19T10:51:42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3470" y="254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460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jpg"/><Relationship Id="rId16" Type="http://schemas.openxmlformats.org/officeDocument/2006/relationships/image" Target="../media/image2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9.jpeg"/><Relationship Id="rId21" Type="http://schemas.openxmlformats.org/officeDocument/2006/relationships/image" Target="../media/image46.sv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17" Type="http://schemas.openxmlformats.org/officeDocument/2006/relationships/image" Target="../media/image42.svg"/><Relationship Id="rId2" Type="http://schemas.openxmlformats.org/officeDocument/2006/relationships/image" Target="../media/image28.jpe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36.png"/><Relationship Id="rId5" Type="http://schemas.openxmlformats.org/officeDocument/2006/relationships/image" Target="../media/image31.jpeg"/><Relationship Id="rId15" Type="http://schemas.openxmlformats.org/officeDocument/2006/relationships/image" Target="../media/image40.svg"/><Relationship Id="rId10" Type="http://schemas.openxmlformats.org/officeDocument/2006/relationships/image" Target="../media/image35.svg"/><Relationship Id="rId19" Type="http://schemas.openxmlformats.org/officeDocument/2006/relationships/image" Target="../media/image44.svg"/><Relationship Id="rId4" Type="http://schemas.openxmlformats.org/officeDocument/2006/relationships/image" Target="../media/image30.jpe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svg"/><Relationship Id="rId3" Type="http://schemas.openxmlformats.org/officeDocument/2006/relationships/image" Target="../media/image7.png"/><Relationship Id="rId7" Type="http://schemas.openxmlformats.org/officeDocument/2006/relationships/image" Target="../media/image51.svg"/><Relationship Id="rId12" Type="http://schemas.openxmlformats.org/officeDocument/2006/relationships/image" Target="../media/image5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svg"/><Relationship Id="rId5" Type="http://schemas.openxmlformats.org/officeDocument/2006/relationships/image" Target="../media/image49.svg"/><Relationship Id="rId15" Type="http://schemas.openxmlformats.org/officeDocument/2006/relationships/image" Target="../media/image59.sv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svg"/><Relationship Id="rId1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7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jpeg"/><Relationship Id="rId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74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svg"/><Relationship Id="rId4" Type="http://schemas.openxmlformats.org/officeDocument/2006/relationships/image" Target="../media/image7.png"/><Relationship Id="rId9" Type="http://schemas.openxmlformats.org/officeDocument/2006/relationships/image" Target="../media/image70.png"/><Relationship Id="rId14" Type="http://schemas.openxmlformats.org/officeDocument/2006/relationships/image" Target="../media/image7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5.svg"/><Relationship Id="rId18" Type="http://schemas.openxmlformats.org/officeDocument/2006/relationships/image" Target="../media/image58.png"/><Relationship Id="rId26" Type="http://schemas.openxmlformats.org/officeDocument/2006/relationships/image" Target="../media/image66.png"/><Relationship Id="rId3" Type="http://schemas.openxmlformats.org/officeDocument/2006/relationships/image" Target="../media/image7.png"/><Relationship Id="rId21" Type="http://schemas.openxmlformats.org/officeDocument/2006/relationships/image" Target="../media/image91.svg"/><Relationship Id="rId7" Type="http://schemas.openxmlformats.org/officeDocument/2006/relationships/image" Target="../media/image81.svg"/><Relationship Id="rId12" Type="http://schemas.openxmlformats.org/officeDocument/2006/relationships/image" Target="../media/image84.png"/><Relationship Id="rId17" Type="http://schemas.openxmlformats.org/officeDocument/2006/relationships/image" Target="../media/image89.svg"/><Relationship Id="rId25" Type="http://schemas.openxmlformats.org/officeDocument/2006/relationships/image" Target="../media/image95.svg"/><Relationship Id="rId2" Type="http://schemas.openxmlformats.org/officeDocument/2006/relationships/image" Target="../media/image38.png"/><Relationship Id="rId16" Type="http://schemas.openxmlformats.org/officeDocument/2006/relationships/image" Target="../media/image88.png"/><Relationship Id="rId20" Type="http://schemas.openxmlformats.org/officeDocument/2006/relationships/image" Target="../media/image90.png"/><Relationship Id="rId29" Type="http://schemas.openxmlformats.org/officeDocument/2006/relationships/image" Target="../media/image9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44.svg"/><Relationship Id="rId24" Type="http://schemas.openxmlformats.org/officeDocument/2006/relationships/image" Target="../media/image94.png"/><Relationship Id="rId5" Type="http://schemas.openxmlformats.org/officeDocument/2006/relationships/image" Target="../media/image79.svg"/><Relationship Id="rId15" Type="http://schemas.openxmlformats.org/officeDocument/2006/relationships/image" Target="../media/image87.svg"/><Relationship Id="rId23" Type="http://schemas.openxmlformats.org/officeDocument/2006/relationships/image" Target="../media/image93.svg"/><Relationship Id="rId28" Type="http://schemas.openxmlformats.org/officeDocument/2006/relationships/image" Target="../media/image96.png"/><Relationship Id="rId10" Type="http://schemas.openxmlformats.org/officeDocument/2006/relationships/image" Target="../media/image43.png"/><Relationship Id="rId19" Type="http://schemas.openxmlformats.org/officeDocument/2006/relationships/image" Target="../media/image59.svg"/><Relationship Id="rId4" Type="http://schemas.openxmlformats.org/officeDocument/2006/relationships/image" Target="../media/image78.png"/><Relationship Id="rId9" Type="http://schemas.openxmlformats.org/officeDocument/2006/relationships/image" Target="../media/image83.svg"/><Relationship Id="rId14" Type="http://schemas.openxmlformats.org/officeDocument/2006/relationships/image" Target="../media/image86.png"/><Relationship Id="rId22" Type="http://schemas.openxmlformats.org/officeDocument/2006/relationships/image" Target="../media/image92.png"/><Relationship Id="rId27" Type="http://schemas.openxmlformats.org/officeDocument/2006/relationships/image" Target="../media/image6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ZoneTexte 35">
            <a:extLst>
              <a:ext uri="{FF2B5EF4-FFF2-40B4-BE49-F238E27FC236}">
                <a16:creationId xmlns:a16="http://schemas.microsoft.com/office/drawing/2014/main" id="{5CC54840-7A9C-4B53-8620-8A8509347D53}"/>
              </a:ext>
            </a:extLst>
          </p:cNvPr>
          <p:cNvSpPr txBox="1"/>
          <p:nvPr/>
        </p:nvSpPr>
        <p:spPr>
          <a:xfrm>
            <a:off x="5423666" y="2346268"/>
            <a:ext cx="4494243" cy="407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2051" b="1" dirty="0">
                <a:solidFill>
                  <a:srgbClr val="E94C57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ÉTUDE PERSONNALISÉE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4B7E121-52D4-57C4-7010-DC4573E414DA}"/>
              </a:ext>
            </a:extLst>
          </p:cNvPr>
          <p:cNvSpPr txBox="1"/>
          <p:nvPr/>
        </p:nvSpPr>
        <p:spPr>
          <a:xfrm>
            <a:off x="5448623" y="2678793"/>
            <a:ext cx="1705562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Date d’édition de l’offre :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7F0DD2D-306C-5A82-159B-398D94100376}"/>
              </a:ext>
            </a:extLst>
          </p:cNvPr>
          <p:cNvSpPr txBox="1"/>
          <p:nvPr/>
        </p:nvSpPr>
        <p:spPr>
          <a:xfrm>
            <a:off x="6962840" y="2676435"/>
            <a:ext cx="1822969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90987"/>
            <a:r>
              <a:rPr lang="fr-FR" sz="855" dirty="0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{{date}} 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A7BF358-E2F4-BE57-F27E-7C62249A308A}"/>
              </a:ext>
            </a:extLst>
          </p:cNvPr>
          <p:cNvSpPr txBox="1"/>
          <p:nvPr/>
        </p:nvSpPr>
        <p:spPr>
          <a:xfrm>
            <a:off x="5423666" y="3120070"/>
            <a:ext cx="4204061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390987"/>
            <a:r>
              <a:rPr lang="fr-FR" sz="855" b="1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simulation.projet.nomProjet</a:t>
            </a:r>
            <a:r>
              <a:rPr lang="fr-FR" sz="855" b="1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E339342-D8CA-824B-B8E7-1FF07368217D}"/>
              </a:ext>
            </a:extLst>
          </p:cNvPr>
          <p:cNvSpPr txBox="1"/>
          <p:nvPr/>
        </p:nvSpPr>
        <p:spPr>
          <a:xfrm>
            <a:off x="5448624" y="4694949"/>
            <a:ext cx="3237127" cy="355482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simulation.projet.contact.prenom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88D49CD-CEDE-475F-CE2D-4DA1C275FD94}"/>
              </a:ext>
            </a:extLst>
          </p:cNvPr>
          <p:cNvSpPr txBox="1"/>
          <p:nvPr/>
        </p:nvSpPr>
        <p:spPr>
          <a:xfrm>
            <a:off x="5448623" y="4504243"/>
            <a:ext cx="174808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2D26F997-04E2-270D-7350-CE47B70F1B44}"/>
              </a:ext>
            </a:extLst>
          </p:cNvPr>
          <p:cNvSpPr/>
          <p:nvPr/>
        </p:nvSpPr>
        <p:spPr>
          <a:xfrm flipV="1">
            <a:off x="5937653" y="4021122"/>
            <a:ext cx="84388" cy="843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90987"/>
            <a:endParaRPr lang="fr-FR" sz="855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F70D14D9-BB44-2993-85A3-AA456253D35D}"/>
              </a:ext>
            </a:extLst>
          </p:cNvPr>
          <p:cNvGrpSpPr/>
          <p:nvPr/>
        </p:nvGrpSpPr>
        <p:grpSpPr>
          <a:xfrm>
            <a:off x="5423665" y="3496330"/>
            <a:ext cx="3751674" cy="836229"/>
            <a:chOff x="5995758" y="4151449"/>
            <a:chExt cx="3777415" cy="977781"/>
          </a:xfrm>
        </p:grpSpPr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4A39A64-6A89-8D3F-88E8-D716006756D6}"/>
                </a:ext>
              </a:extLst>
            </p:cNvPr>
            <p:cNvSpPr txBox="1"/>
            <p:nvPr/>
          </p:nvSpPr>
          <p:spPr>
            <a:xfrm>
              <a:off x="5995758" y="4151449"/>
              <a:ext cx="3777415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390987"/>
              <a:r>
                <a:rPr lang="fr-FR" sz="855" b="1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b="1" dirty="0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simulation.projet.organisation.raisonSociale</a:t>
              </a:r>
              <a:r>
                <a:rPr lang="fr-FR" sz="855" b="1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474899F4-78BE-E0CB-DA42-ACE554826DFF}"/>
                </a:ext>
              </a:extLst>
            </p:cNvPr>
            <p:cNvSpPr txBox="1"/>
            <p:nvPr/>
          </p:nvSpPr>
          <p:spPr>
            <a:xfrm>
              <a:off x="5995758" y="4405881"/>
              <a:ext cx="3676747" cy="723349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pPr defTabSz="390987"/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{{simulation.projet.organisation.adresse1}}</a:t>
              </a:r>
            </a:p>
            <a:p>
              <a:pPr defTabSz="390987"/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{{simulation.projet.organisation.adresse2}}</a:t>
              </a:r>
            </a:p>
            <a:p>
              <a:pPr defTabSz="390987"/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simulation.projet.organisation.codePostal</a:t>
              </a:r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{{</a:t>
              </a:r>
              <a:r>
                <a:rPr lang="fr-FR" sz="855" dirty="0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simulation.projet.organisation.ville</a:t>
              </a:r>
              <a:r>
                <a:rPr lang="fr-FR" sz="855" dirty="0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38B05EA3-7F24-817E-0B7B-45861E4E3A92}"/>
              </a:ext>
            </a:extLst>
          </p:cNvPr>
          <p:cNvSpPr txBox="1"/>
          <p:nvPr/>
        </p:nvSpPr>
        <p:spPr>
          <a:xfrm>
            <a:off x="5448624" y="5353713"/>
            <a:ext cx="2954907" cy="6186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DBE787A-A814-F03E-E736-66B779407BAA}"/>
              </a:ext>
            </a:extLst>
          </p:cNvPr>
          <p:cNvSpPr txBox="1"/>
          <p:nvPr/>
        </p:nvSpPr>
        <p:spPr>
          <a:xfrm>
            <a:off x="5448623" y="5162697"/>
            <a:ext cx="174808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2AC41B73-EE3F-9E8D-8FA8-7D2B20FFC92A}"/>
              </a:ext>
            </a:extLst>
          </p:cNvPr>
          <p:cNvSpPr/>
          <p:nvPr/>
        </p:nvSpPr>
        <p:spPr>
          <a:xfrm flipV="1">
            <a:off x="5937653" y="2998776"/>
            <a:ext cx="84388" cy="843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90987"/>
            <a:endParaRPr lang="fr-FR" sz="855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1" name="Image 50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A03C3216-2A5C-8296-DB2F-2EAAAAB1C4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335" y="1218121"/>
            <a:ext cx="1558505" cy="679594"/>
          </a:xfrm>
          <a:prstGeom prst="rect">
            <a:avLst/>
          </a:prstGeom>
        </p:spPr>
      </p:pic>
      <p:sp>
        <p:nvSpPr>
          <p:cNvPr id="54" name="Rectangle 53" descr="simulation.projet.organisation.image" title="simulation.projet.organisation.image">
            <a:extLst>
              <a:ext uri="{FF2B5EF4-FFF2-40B4-BE49-F238E27FC236}">
                <a16:creationId xmlns:a16="http://schemas.microsoft.com/office/drawing/2014/main" id="{4564F8D9-F6AD-E76B-1653-2F83D0D91DC1}"/>
              </a:ext>
            </a:extLst>
          </p:cNvPr>
          <p:cNvSpPr/>
          <p:nvPr/>
        </p:nvSpPr>
        <p:spPr>
          <a:xfrm>
            <a:off x="7582055" y="1157020"/>
            <a:ext cx="1705562" cy="851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90987"/>
            <a:endParaRPr lang="fr-FR" sz="153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A3A6CA-1279-5D1C-617A-B17D5E4791DC}"/>
              </a:ext>
            </a:extLst>
          </p:cNvPr>
          <p:cNvSpPr txBox="1"/>
          <p:nvPr/>
        </p:nvSpPr>
        <p:spPr>
          <a:xfrm>
            <a:off x="5448623" y="2800546"/>
            <a:ext cx="1705562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90987"/>
            <a:r>
              <a:rPr lang="fr-FR" sz="855" dirty="0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Validité de l’offre : 1 mois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3ADA18A-DE26-5907-027A-90F81AB51B38}"/>
              </a:ext>
            </a:extLst>
          </p:cNvPr>
          <p:cNvGrpSpPr/>
          <p:nvPr/>
        </p:nvGrpSpPr>
        <p:grpSpPr>
          <a:xfrm>
            <a:off x="195634" y="0"/>
            <a:ext cx="4597175" cy="7559675"/>
            <a:chOff x="178333" y="0"/>
            <a:chExt cx="5115594" cy="8412172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8EC8255A-E473-3552-7B83-D30D6DEB3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8333" y="0"/>
              <a:ext cx="5111587" cy="3406272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BC62A945-0E03-794F-8DED-8EA2E63D9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5050431"/>
              <a:ext cx="5106842" cy="3361741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9CE23816-19BC-A961-3FD3-50150DD71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92801" y="3406272"/>
              <a:ext cx="1698003" cy="1681992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A334966-AFF1-3025-85CA-AFFC28119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3406617"/>
              <a:ext cx="1717121" cy="1668081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DDD25EBE-C5DA-B00B-750F-DFBA8B760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3458" y="3408581"/>
              <a:ext cx="1698003" cy="1681992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B2415E8-0418-998F-9F0D-149E9BC92015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8BFED4-C10F-9135-5699-5096ACA9714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4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197EF8C7-A33D-C349-4167-360B00E015CE}"/>
              </a:ext>
            </a:extLst>
          </p:cNvPr>
          <p:cNvSpPr txBox="1">
            <a:spLocks/>
          </p:cNvSpPr>
          <p:nvPr/>
        </p:nvSpPr>
        <p:spPr>
          <a:xfrm>
            <a:off x="1510747" y="2858060"/>
            <a:ext cx="3415382" cy="1141878"/>
          </a:xfrm>
          <a:prstGeom prst="rect">
            <a:avLst/>
          </a:prstGeom>
        </p:spPr>
        <p:txBody>
          <a:bodyPr vert="horz" lIns="78203" tIns="39101" rIns="78203" bIns="39101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3600" b="1" dirty="0">
                <a:solidFill>
                  <a:prstClr val="black"/>
                </a:solidFill>
                <a:latin typeface="Century Gothic" panose="020B0502020202020204" pitchFamily="34" charset="0"/>
              </a:rPr>
              <a:t>Présentation </a:t>
            </a:r>
          </a:p>
          <a:p>
            <a:pPr defTabSz="390987"/>
            <a:r>
              <a:rPr lang="fr-FR" sz="3600" b="1" dirty="0">
                <a:solidFill>
                  <a:prstClr val="black"/>
                </a:solidFill>
                <a:latin typeface="Century Gothic" panose="020B0502020202020204" pitchFamily="34" charset="0"/>
              </a:rPr>
              <a:t>de l’entreprise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F0E767-8BB0-9442-6D4D-E7BAB9D0519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F1DED-D2C6-25E9-081E-3BB98B60E794}"/>
              </a:ext>
            </a:extLst>
          </p:cNvPr>
          <p:cNvSpPr/>
          <p:nvPr/>
        </p:nvSpPr>
        <p:spPr>
          <a:xfrm>
            <a:off x="0" y="3052966"/>
            <a:ext cx="1225118" cy="75206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17A770-E1D6-3DFE-8F91-6780FB18A0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EF8903-A0EA-85B4-6943-D6E0DB5D4A0E}"/>
              </a:ext>
            </a:extLst>
          </p:cNvPr>
          <p:cNvSpPr/>
          <p:nvPr/>
        </p:nvSpPr>
        <p:spPr>
          <a:xfrm>
            <a:off x="5775683" y="2769466"/>
            <a:ext cx="3270471" cy="3270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C1E82-F55C-B778-D037-1CC1C460A36B}"/>
              </a:ext>
            </a:extLst>
          </p:cNvPr>
          <p:cNvSpPr/>
          <p:nvPr/>
        </p:nvSpPr>
        <p:spPr>
          <a:xfrm>
            <a:off x="9046154" y="1123807"/>
            <a:ext cx="1645659" cy="16456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personne, Visage humain, Blazer, habits&#10;&#10;Le contenu généré par l’IA peut être incorrect.">
            <a:extLst>
              <a:ext uri="{FF2B5EF4-FFF2-40B4-BE49-F238E27FC236}">
                <a16:creationId xmlns:a16="http://schemas.microsoft.com/office/drawing/2014/main" id="{4544F399-605E-DB10-1735-167833BDE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0599" y="137901"/>
            <a:ext cx="4384621" cy="590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4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roupe 188">
            <a:extLst>
              <a:ext uri="{FF2B5EF4-FFF2-40B4-BE49-F238E27FC236}">
                <a16:creationId xmlns:a16="http://schemas.microsoft.com/office/drawing/2014/main" id="{804B5D71-5D9E-4BB9-A118-8EAB2A864002}"/>
              </a:ext>
            </a:extLst>
          </p:cNvPr>
          <p:cNvGrpSpPr/>
          <p:nvPr/>
        </p:nvGrpSpPr>
        <p:grpSpPr>
          <a:xfrm>
            <a:off x="3716041" y="2572158"/>
            <a:ext cx="3203210" cy="2228333"/>
            <a:chOff x="3274308" y="1337521"/>
            <a:chExt cx="4452372" cy="3097320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FE7C024-5CC4-4C53-A854-E3A4ED8D0332}"/>
                </a:ext>
              </a:extLst>
            </p:cNvPr>
            <p:cNvSpPr/>
            <p:nvPr/>
          </p:nvSpPr>
          <p:spPr>
            <a:xfrm>
              <a:off x="3274308" y="2201134"/>
              <a:ext cx="2226186" cy="2226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90987"/>
              <a:endParaRPr lang="fr-FR" sz="1539">
                <a:solidFill>
                  <a:prstClr val="white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1" name="Image 220" descr="Une image contenant texte, clipart, graphiques vectoriels&#10;&#10;Description générée automatiquement">
              <a:extLst>
                <a:ext uri="{FF2B5EF4-FFF2-40B4-BE49-F238E27FC236}">
                  <a16:creationId xmlns:a16="http://schemas.microsoft.com/office/drawing/2014/main" id="{01625E29-6D93-47C6-9554-BE5ACD549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0494" y="2201134"/>
              <a:ext cx="2226186" cy="2233707"/>
            </a:xfrm>
            <a:prstGeom prst="rect">
              <a:avLst/>
            </a:prstGeom>
          </p:spPr>
        </p:pic>
        <p:pic>
          <p:nvPicPr>
            <p:cNvPr id="222" name="Image 221" descr="Une image contenant personne&#10;&#10;Description générée automatiquement">
              <a:extLst>
                <a:ext uri="{FF2B5EF4-FFF2-40B4-BE49-F238E27FC236}">
                  <a16:creationId xmlns:a16="http://schemas.microsoft.com/office/drawing/2014/main" id="{A5F13AFD-AF0C-406D-A0A0-5CE138D10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68085" y="1337521"/>
              <a:ext cx="3464819" cy="3097320"/>
            </a:xfrm>
            <a:prstGeom prst="rect">
              <a:avLst/>
            </a:prstGeom>
          </p:spPr>
        </p:pic>
      </p:grpSp>
      <p:sp>
        <p:nvSpPr>
          <p:cNvPr id="190" name="ZoneTexte 12">
            <a:extLst>
              <a:ext uri="{FF2B5EF4-FFF2-40B4-BE49-F238E27FC236}">
                <a16:creationId xmlns:a16="http://schemas.microsoft.com/office/drawing/2014/main" id="{B62DEBA0-40CB-489E-842F-0C01FB1800E3}"/>
              </a:ext>
            </a:extLst>
          </p:cNvPr>
          <p:cNvSpPr txBox="1"/>
          <p:nvPr/>
        </p:nvSpPr>
        <p:spPr>
          <a:xfrm>
            <a:off x="985830" y="1990383"/>
            <a:ext cx="210167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endParaRPr lang="fr-FR" sz="1400" b="1" baseline="30000" dirty="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Imprimantes A4 et A3 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P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hotocopieurs A4 et A3 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Imprimantes grand format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de parc d’impression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Presse numérique &amp; traceurs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Scanners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Consommables</a:t>
            </a:r>
          </a:p>
          <a:p>
            <a:pPr defTabSz="390987"/>
            <a:endParaRPr lang="fr-FR" sz="1400" baseline="30000" dirty="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endParaRPr lang="fr-FR" sz="1400" dirty="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ZoneTexte 14">
            <a:extLst>
              <a:ext uri="{FF2B5EF4-FFF2-40B4-BE49-F238E27FC236}">
                <a16:creationId xmlns:a16="http://schemas.microsoft.com/office/drawing/2014/main" id="{5D7A0C58-1D48-4EF1-966D-B2A1D56D61BA}"/>
              </a:ext>
            </a:extLst>
          </p:cNvPr>
          <p:cNvSpPr txBox="1"/>
          <p:nvPr/>
        </p:nvSpPr>
        <p:spPr>
          <a:xfrm>
            <a:off x="7231722" y="1659226"/>
            <a:ext cx="2401293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endParaRPr lang="fr-FR" sz="1400" b="1" baseline="30000" dirty="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Liens Internet (</a:t>
            </a:r>
            <a:r>
              <a:rPr lang="fr-FR" sz="1400" baseline="30000" dirty="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adsl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, fibre …)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Téléphonie fixe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Forfaits mobile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Interconnexion de sites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Visioconférence</a:t>
            </a:r>
            <a:endParaRPr lang="fr-FR" sz="1400" baseline="30000" dirty="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latin typeface="Arial Nova" panose="020B0504020202020204" pitchFamily="34" charset="0"/>
                <a:cs typeface="Arial" panose="020B0604020202020204" pitchFamily="34" charset="0"/>
              </a:rPr>
              <a:t>Postes téléphoniques &amp; casques</a:t>
            </a:r>
            <a:endParaRPr lang="fr-FR" sz="1400" baseline="30000" dirty="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</a:t>
            </a:r>
            <a:r>
              <a:rPr lang="fr-FR" sz="1400" baseline="30000" dirty="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Softphonie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et téléphonie cloud</a:t>
            </a:r>
          </a:p>
        </p:txBody>
      </p:sp>
      <p:sp>
        <p:nvSpPr>
          <p:cNvPr id="192" name="ZoneTexte 16">
            <a:extLst>
              <a:ext uri="{FF2B5EF4-FFF2-40B4-BE49-F238E27FC236}">
                <a16:creationId xmlns:a16="http://schemas.microsoft.com/office/drawing/2014/main" id="{E10D4F72-5F37-4B82-A76D-8939DD40EE60}"/>
              </a:ext>
            </a:extLst>
          </p:cNvPr>
          <p:cNvSpPr txBox="1"/>
          <p:nvPr/>
        </p:nvSpPr>
        <p:spPr>
          <a:xfrm>
            <a:off x="927096" y="5796408"/>
            <a:ext cx="2264271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Gestion : comptabilité, finance, RH, ERP, production… 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CRM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Business intelligence</a:t>
            </a:r>
          </a:p>
          <a:p>
            <a:pPr defTabSz="390987"/>
            <a:endParaRPr lang="fr-FR" sz="1400" baseline="30000" dirty="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ZoneTexte 18">
            <a:extLst>
              <a:ext uri="{FF2B5EF4-FFF2-40B4-BE49-F238E27FC236}">
                <a16:creationId xmlns:a16="http://schemas.microsoft.com/office/drawing/2014/main" id="{F571674E-37FB-4E8B-AF6F-E402BBBE91DC}"/>
              </a:ext>
            </a:extLst>
          </p:cNvPr>
          <p:cNvSpPr txBox="1"/>
          <p:nvPr/>
        </p:nvSpPr>
        <p:spPr>
          <a:xfrm>
            <a:off x="921977" y="5075889"/>
            <a:ext cx="2233609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Dématérialisation des documents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Signature électronique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Automatisation des processus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électronique des documents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Composition et édition du document</a:t>
            </a:r>
          </a:p>
          <a:p>
            <a:pPr defTabSz="390987"/>
            <a:endParaRPr lang="fr-FR" sz="1400" dirty="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ZoneTexte 20">
            <a:extLst>
              <a:ext uri="{FF2B5EF4-FFF2-40B4-BE49-F238E27FC236}">
                <a16:creationId xmlns:a16="http://schemas.microsoft.com/office/drawing/2014/main" id="{F7995F77-6589-422A-87C1-83D768D495B2}"/>
              </a:ext>
            </a:extLst>
          </p:cNvPr>
          <p:cNvSpPr txBox="1"/>
          <p:nvPr/>
        </p:nvSpPr>
        <p:spPr>
          <a:xfrm>
            <a:off x="7809098" y="5072638"/>
            <a:ext cx="2356104" cy="13131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Utilisateurs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Sécurité proactive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RGPD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Equipement audio &amp; visioconférence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Écrans tactiles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Affichage dynamique</a:t>
            </a:r>
          </a:p>
          <a:p>
            <a:pPr defTabSz="390987"/>
            <a:endParaRPr lang="fr-FR" sz="1400" baseline="30000" dirty="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90987"/>
            <a:endParaRPr lang="fr-FR" sz="1400" dirty="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ZoneTexte 32">
            <a:extLst>
              <a:ext uri="{FF2B5EF4-FFF2-40B4-BE49-F238E27FC236}">
                <a16:creationId xmlns:a16="http://schemas.microsoft.com/office/drawing/2014/main" id="{3BD0D439-6B25-41A7-8560-B469443A8DB0}"/>
              </a:ext>
            </a:extLst>
          </p:cNvPr>
          <p:cNvSpPr txBox="1"/>
          <p:nvPr/>
        </p:nvSpPr>
        <p:spPr>
          <a:xfrm>
            <a:off x="7806438" y="4201292"/>
            <a:ext cx="24816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Infrastructure (serveurs, stockage, réseaux…)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Environnement utilisateur : postes de travail, outils collaboratifs…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Hébergement &amp; Cloud</a:t>
            </a:r>
          </a:p>
          <a:p>
            <a:pPr defTabSz="390987"/>
            <a:r>
              <a:rPr lang="fr-FR" sz="1400" baseline="30000" dirty="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400" baseline="30000" dirty="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Services managés</a:t>
            </a:r>
          </a:p>
        </p:txBody>
      </p:sp>
      <p:pic>
        <p:nvPicPr>
          <p:cNvPr id="202" name="Graphique 39">
            <a:extLst>
              <a:ext uri="{FF2B5EF4-FFF2-40B4-BE49-F238E27FC236}">
                <a16:creationId xmlns:a16="http://schemas.microsoft.com/office/drawing/2014/main" id="{A204F90A-065D-4063-81E3-28E6EAA94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6243" y="2481337"/>
            <a:ext cx="706592" cy="706592"/>
          </a:xfrm>
          <a:prstGeom prst="rect">
            <a:avLst/>
          </a:prstGeom>
        </p:spPr>
      </p:pic>
      <p:pic>
        <p:nvPicPr>
          <p:cNvPr id="203" name="Graphique 41">
            <a:extLst>
              <a:ext uri="{FF2B5EF4-FFF2-40B4-BE49-F238E27FC236}">
                <a16:creationId xmlns:a16="http://schemas.microsoft.com/office/drawing/2014/main" id="{5058263D-CE35-4163-82DB-5621BD8D95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16244" y="2113993"/>
            <a:ext cx="367343" cy="367343"/>
          </a:xfrm>
          <a:prstGeom prst="rect">
            <a:avLst/>
          </a:prstGeom>
        </p:spPr>
      </p:pic>
      <p:pic>
        <p:nvPicPr>
          <p:cNvPr id="207" name="Graphique 47">
            <a:extLst>
              <a:ext uri="{FF2B5EF4-FFF2-40B4-BE49-F238E27FC236}">
                <a16:creationId xmlns:a16="http://schemas.microsoft.com/office/drawing/2014/main" id="{82A2AE6E-6F38-4890-A630-ED89A53CEA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5797" y="5482611"/>
            <a:ext cx="352103" cy="352103"/>
          </a:xfrm>
          <a:prstGeom prst="rect">
            <a:avLst/>
          </a:prstGeom>
        </p:spPr>
      </p:pic>
      <p:pic>
        <p:nvPicPr>
          <p:cNvPr id="209" name="Graphique 50">
            <a:extLst>
              <a:ext uri="{FF2B5EF4-FFF2-40B4-BE49-F238E27FC236}">
                <a16:creationId xmlns:a16="http://schemas.microsoft.com/office/drawing/2014/main" id="{4D1D5E16-19FD-4427-B79C-F6E53FB3EC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64280" y="5158561"/>
            <a:ext cx="709053" cy="709053"/>
          </a:xfrm>
          <a:prstGeom prst="rect">
            <a:avLst/>
          </a:prstGeom>
        </p:spPr>
      </p:pic>
      <p:pic>
        <p:nvPicPr>
          <p:cNvPr id="210" name="Graphique 52">
            <a:extLst>
              <a:ext uri="{FF2B5EF4-FFF2-40B4-BE49-F238E27FC236}">
                <a16:creationId xmlns:a16="http://schemas.microsoft.com/office/drawing/2014/main" id="{C4918393-7FEE-40D5-B3C6-46C1750A7F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22036" y="2137753"/>
            <a:ext cx="704729" cy="704729"/>
          </a:xfrm>
          <a:prstGeom prst="rect">
            <a:avLst/>
          </a:prstGeom>
        </p:spPr>
      </p:pic>
      <p:pic>
        <p:nvPicPr>
          <p:cNvPr id="212" name="Graphique 59">
            <a:extLst>
              <a:ext uri="{FF2B5EF4-FFF2-40B4-BE49-F238E27FC236}">
                <a16:creationId xmlns:a16="http://schemas.microsoft.com/office/drawing/2014/main" id="{D7D4F7C0-4EAE-4B9B-9429-3EA977EFF3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09653" y="4768575"/>
            <a:ext cx="720262" cy="720262"/>
          </a:xfrm>
          <a:prstGeom prst="rect">
            <a:avLst/>
          </a:prstGeom>
        </p:spPr>
      </p:pic>
      <p:pic>
        <p:nvPicPr>
          <p:cNvPr id="213" name="Graphique 62">
            <a:extLst>
              <a:ext uri="{FF2B5EF4-FFF2-40B4-BE49-F238E27FC236}">
                <a16:creationId xmlns:a16="http://schemas.microsoft.com/office/drawing/2014/main" id="{657BD877-908D-4D59-8EEC-6188C115A3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712000" y="4795080"/>
            <a:ext cx="360319" cy="36031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8C35189-C4B8-2701-F6A8-E872334C766A}"/>
              </a:ext>
            </a:extLst>
          </p:cNvPr>
          <p:cNvSpPr txBox="1"/>
          <p:nvPr/>
        </p:nvSpPr>
        <p:spPr>
          <a:xfrm>
            <a:off x="7231722" y="1013934"/>
            <a:ext cx="2090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Opérateur &amp; Téléphonie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4C1891-DBE3-35D9-62CE-DAFCF4E331A5}"/>
              </a:ext>
            </a:extLst>
          </p:cNvPr>
          <p:cNvSpPr txBox="1"/>
          <p:nvPr/>
        </p:nvSpPr>
        <p:spPr>
          <a:xfrm>
            <a:off x="925275" y="4302959"/>
            <a:ext cx="2856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Gestion, BI, GED &amp; Dématérialisation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897664-87DF-B9DB-7514-10CD12501403}"/>
              </a:ext>
            </a:extLst>
          </p:cNvPr>
          <p:cNvSpPr txBox="1"/>
          <p:nvPr/>
        </p:nvSpPr>
        <p:spPr>
          <a:xfrm>
            <a:off x="7806438" y="3411676"/>
            <a:ext cx="2816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Informatique &amp; Sécurité</a:t>
            </a:r>
          </a:p>
        </p:txBody>
      </p:sp>
      <p:pic>
        <p:nvPicPr>
          <p:cNvPr id="211" name="Graphique 54">
            <a:extLst>
              <a:ext uri="{FF2B5EF4-FFF2-40B4-BE49-F238E27FC236}">
                <a16:creationId xmlns:a16="http://schemas.microsoft.com/office/drawing/2014/main" id="{FC21A16C-448E-4028-A17E-81B119ED28B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64010" y="2834635"/>
            <a:ext cx="360319" cy="36031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6C1CFD-D81E-42E4-5866-62455739EC48}"/>
              </a:ext>
            </a:extLst>
          </p:cNvPr>
          <p:cNvSpPr txBox="1"/>
          <p:nvPr/>
        </p:nvSpPr>
        <p:spPr>
          <a:xfrm>
            <a:off x="1012707" y="1678335"/>
            <a:ext cx="2856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Arial Nova" panose="020B0504020202020204" pitchFamily="34" charset="0"/>
              </a:rPr>
              <a:t>Impression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FAADFF-0F24-9C96-CAB1-29FCB6F9A679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54489-15BD-7351-8E13-BB5DBE3C50BC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3B460DA-CCC3-46D8-BC13-BAD8626E51CB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B0F572B2-CD0E-63FB-1018-159BF722ED27}"/>
              </a:ext>
            </a:extLst>
          </p:cNvPr>
          <p:cNvSpPr txBox="1">
            <a:spLocks/>
          </p:cNvSpPr>
          <p:nvPr/>
        </p:nvSpPr>
        <p:spPr>
          <a:xfrm>
            <a:off x="762906" y="265328"/>
            <a:ext cx="5442188" cy="10346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Une convergence unique pour vous accompagner dans la transformation numérique</a:t>
            </a:r>
          </a:p>
        </p:txBody>
      </p:sp>
    </p:spTree>
    <p:extLst>
      <p:ext uri="{BB962C8B-B14F-4D97-AF65-F5344CB8AC3E}">
        <p14:creationId xmlns:p14="http://schemas.microsoft.com/office/powerpoint/2010/main" val="47867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62BAE92-6D50-6E60-8CC4-715E8217BBD2}"/>
              </a:ext>
            </a:extLst>
          </p:cNvPr>
          <p:cNvSpPr/>
          <p:nvPr/>
        </p:nvSpPr>
        <p:spPr>
          <a:xfrm>
            <a:off x="6168735" y="2643545"/>
            <a:ext cx="3270471" cy="327047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 descr="Une image contenant personne, tenant&#10;&#10;Description générée automatiquement">
            <a:extLst>
              <a:ext uri="{FF2B5EF4-FFF2-40B4-BE49-F238E27FC236}">
                <a16:creationId xmlns:a16="http://schemas.microsoft.com/office/drawing/2014/main" id="{54DBD9CE-4A24-6EC9-DEEA-BD2A6077D32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5788" y="1047175"/>
            <a:ext cx="3244561" cy="48668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568E65-D154-D9FF-3386-93810A658E1B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4" name="Espace réservé du texte 1">
            <a:extLst>
              <a:ext uri="{FF2B5EF4-FFF2-40B4-BE49-F238E27FC236}">
                <a16:creationId xmlns:a16="http://schemas.microsoft.com/office/drawing/2014/main" id="{72CB8F02-B1F9-29E2-2D8E-6099559496B3}"/>
              </a:ext>
            </a:extLst>
          </p:cNvPr>
          <p:cNvSpPr txBox="1">
            <a:spLocks/>
          </p:cNvSpPr>
          <p:nvPr/>
        </p:nvSpPr>
        <p:spPr>
          <a:xfrm>
            <a:off x="1510747" y="2858060"/>
            <a:ext cx="3415382" cy="1141878"/>
          </a:xfrm>
          <a:prstGeom prst="rect">
            <a:avLst/>
          </a:prstGeom>
        </p:spPr>
        <p:txBody>
          <a:bodyPr vert="horz" lIns="78203" tIns="39101" rIns="78203" bIns="39101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3600" b="1" dirty="0">
                <a:solidFill>
                  <a:prstClr val="black"/>
                </a:solidFill>
                <a:latin typeface="Century Gothic" panose="020B0502020202020204" pitchFamily="34" charset="0"/>
              </a:rPr>
              <a:t>Votre situation actuelle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4B4D3B-E882-DE4C-A26D-5B70AE18AC70}"/>
              </a:ext>
            </a:extLst>
          </p:cNvPr>
          <p:cNvSpPr/>
          <p:nvPr/>
        </p:nvSpPr>
        <p:spPr>
          <a:xfrm>
            <a:off x="0" y="3052966"/>
            <a:ext cx="1225118" cy="75206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134BD31-3248-02B5-0E8D-1FB22A2F68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5CEE07-328E-33B9-2317-97F33D1C5F87}"/>
              </a:ext>
            </a:extLst>
          </p:cNvPr>
          <p:cNvSpPr/>
          <p:nvPr/>
        </p:nvSpPr>
        <p:spPr>
          <a:xfrm>
            <a:off x="4523076" y="5914016"/>
            <a:ext cx="1645659" cy="16456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04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E3FA-1FD9-05F7-6252-0EBB52B2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1502AEFA-0A3A-3CA3-9DDB-0E859E909B08}"/>
              </a:ext>
            </a:extLst>
          </p:cNvPr>
          <p:cNvSpPr/>
          <p:nvPr/>
        </p:nvSpPr>
        <p:spPr>
          <a:xfrm>
            <a:off x="890220" y="4116605"/>
            <a:ext cx="4776797" cy="315204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B8487119-284A-5EC0-096D-B1B40DADDC04}"/>
              </a:ext>
            </a:extLst>
          </p:cNvPr>
          <p:cNvGrpSpPr/>
          <p:nvPr/>
        </p:nvGrpSpPr>
        <p:grpSpPr>
          <a:xfrm>
            <a:off x="4842332" y="4929761"/>
            <a:ext cx="888317" cy="887861"/>
            <a:chOff x="5404049" y="3343576"/>
            <a:chExt cx="1619752" cy="1618921"/>
          </a:xfrm>
        </p:grpSpPr>
        <p:pic>
          <p:nvPicPr>
            <p:cNvPr id="52" name="Image 51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8F697BE2-4A66-EE7E-4389-E47043819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04049" y="3343576"/>
              <a:ext cx="901499" cy="942467"/>
            </a:xfrm>
            <a:prstGeom prst="rect">
              <a:avLst/>
            </a:prstGeom>
          </p:spPr>
        </p:pic>
        <p:pic>
          <p:nvPicPr>
            <p:cNvPr id="53" name="Image 52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6A805120-94A2-C4B3-9D03-A862CFFD2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22302" y="3550962"/>
              <a:ext cx="901499" cy="942467"/>
            </a:xfrm>
            <a:prstGeom prst="rect">
              <a:avLst/>
            </a:prstGeom>
          </p:spPr>
        </p:pic>
        <p:pic>
          <p:nvPicPr>
            <p:cNvPr id="54" name="Image 53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A56BCF8B-DB2A-418A-84AA-79798BF64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22422" y="4160378"/>
              <a:ext cx="767252" cy="802119"/>
            </a:xfrm>
            <a:prstGeom prst="rect">
              <a:avLst/>
            </a:prstGeom>
          </p:spPr>
        </p:pic>
        <p:pic>
          <p:nvPicPr>
            <p:cNvPr id="55" name="Image 54" descr="Une image contenant capture d’écran, texte, cercle, conception&#10;&#10;Le contenu généré par l’IA peut être incorrect.">
              <a:extLst>
                <a:ext uri="{FF2B5EF4-FFF2-40B4-BE49-F238E27FC236}">
                  <a16:creationId xmlns:a16="http://schemas.microsoft.com/office/drawing/2014/main" id="{9298B7B0-CC59-30E2-2FEA-0EBFA0FE5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4EBEFE"/>
                </a:clrFrom>
                <a:clrTo>
                  <a:srgbClr val="4EB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954770" y="4157261"/>
              <a:ext cx="767252" cy="802119"/>
            </a:xfrm>
            <a:prstGeom prst="rect">
              <a:avLst/>
            </a:prstGeom>
          </p:spPr>
        </p:pic>
      </p:grpSp>
      <p:sp>
        <p:nvSpPr>
          <p:cNvPr id="67" name="ZoneTexte 66">
            <a:extLst>
              <a:ext uri="{FF2B5EF4-FFF2-40B4-BE49-F238E27FC236}">
                <a16:creationId xmlns:a16="http://schemas.microsoft.com/office/drawing/2014/main" id="{6E371717-4BBE-3598-B963-A89C2ED4DBB9}"/>
              </a:ext>
            </a:extLst>
          </p:cNvPr>
          <p:cNvSpPr txBox="1"/>
          <p:nvPr/>
        </p:nvSpPr>
        <p:spPr>
          <a:xfrm>
            <a:off x="748488" y="3979629"/>
            <a:ext cx="1494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USAGES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B5D52E-F6E1-48CB-4769-710C57D4B8C0}"/>
              </a:ext>
            </a:extLst>
          </p:cNvPr>
          <p:cNvSpPr/>
          <p:nvPr/>
        </p:nvSpPr>
        <p:spPr>
          <a:xfrm>
            <a:off x="881216" y="1358736"/>
            <a:ext cx="4776797" cy="242708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47C2F80-B3A7-968B-61B8-758DF256117C}"/>
              </a:ext>
            </a:extLst>
          </p:cNvPr>
          <p:cNvSpPr txBox="1"/>
          <p:nvPr/>
        </p:nvSpPr>
        <p:spPr>
          <a:xfrm>
            <a:off x="4291807" y="6865048"/>
            <a:ext cx="9239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Téléphonie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BA53CF4-BC7D-4B1A-C34F-DDE5451C2BB9}"/>
              </a:ext>
            </a:extLst>
          </p:cNvPr>
          <p:cNvSpPr txBox="1"/>
          <p:nvPr/>
        </p:nvSpPr>
        <p:spPr>
          <a:xfrm>
            <a:off x="2146531" y="6845631"/>
            <a:ext cx="779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Logiciels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4BBBC59-6B1C-460E-36E4-3A6A8DA84F50}"/>
              </a:ext>
            </a:extLst>
          </p:cNvPr>
          <p:cNvSpPr txBox="1"/>
          <p:nvPr/>
        </p:nvSpPr>
        <p:spPr>
          <a:xfrm>
            <a:off x="1296407" y="6830934"/>
            <a:ext cx="504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Visio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B794909-BFBC-EF21-DD70-B1A56F5E2CB9}"/>
              </a:ext>
            </a:extLst>
          </p:cNvPr>
          <p:cNvSpPr txBox="1"/>
          <p:nvPr/>
        </p:nvSpPr>
        <p:spPr>
          <a:xfrm>
            <a:off x="3130435" y="6838765"/>
            <a:ext cx="971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Partage de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données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27413DF-85A3-45A6-A50F-4641BD61D057}"/>
              </a:ext>
            </a:extLst>
          </p:cNvPr>
          <p:cNvSpPr txBox="1"/>
          <p:nvPr/>
        </p:nvSpPr>
        <p:spPr>
          <a:xfrm>
            <a:off x="3772592" y="3989104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B81ABB7-90FE-F35D-0547-ABBFE936099F}"/>
              </a:ext>
            </a:extLst>
          </p:cNvPr>
          <p:cNvSpPr txBox="1"/>
          <p:nvPr/>
        </p:nvSpPr>
        <p:spPr>
          <a:xfrm>
            <a:off x="1947574" y="4247312"/>
            <a:ext cx="2259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u="sng" dirty="0">
                <a:latin typeface="Arial Nova" panose="020B0504020202020204" pitchFamily="34" charset="0"/>
              </a:rPr>
              <a:t>Vos types de wifi existants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77B06A27-9D62-E4A3-7CD9-0FD9AD92CEEA}"/>
              </a:ext>
            </a:extLst>
          </p:cNvPr>
          <p:cNvSpPr txBox="1"/>
          <p:nvPr/>
        </p:nvSpPr>
        <p:spPr>
          <a:xfrm>
            <a:off x="1390220" y="6020241"/>
            <a:ext cx="3692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u="sng" dirty="0">
                <a:latin typeface="Arial Nova" panose="020B0504020202020204" pitchFamily="34" charset="0"/>
              </a:rPr>
              <a:t>Vos usages principaux de wifi collaborateurs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D26BEB4-8AD0-6FC6-6948-2DEDB79C6EF7}"/>
              </a:ext>
            </a:extLst>
          </p:cNvPr>
          <p:cNvSpPr txBox="1"/>
          <p:nvPr/>
        </p:nvSpPr>
        <p:spPr>
          <a:xfrm>
            <a:off x="1491645" y="2368351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potentiels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02254C2-D0DB-E7AC-A962-5B6C44553AE8}"/>
              </a:ext>
            </a:extLst>
          </p:cNvPr>
          <p:cNvSpPr txBox="1"/>
          <p:nvPr/>
        </p:nvSpPr>
        <p:spPr>
          <a:xfrm>
            <a:off x="2696000" y="2368691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simultanés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11F8B5-DAE3-FD7B-359B-C4FA9E445EB4}"/>
              </a:ext>
            </a:extLst>
          </p:cNvPr>
          <p:cNvSpPr/>
          <p:nvPr/>
        </p:nvSpPr>
        <p:spPr>
          <a:xfrm>
            <a:off x="2931547" y="2849342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761F243-9439-75CC-1899-06240F4708C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C56F24-D031-4507-D52B-36692A7BC30D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AD872467-0FF2-3791-F8C6-D773245F9A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1191" t="20986"/>
          <a:stretch/>
        </p:blipFill>
        <p:spPr>
          <a:xfrm>
            <a:off x="873420" y="5026469"/>
            <a:ext cx="1124562" cy="860891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02F49F87-1F43-CA12-D79F-16B0877E84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19199" y="4914047"/>
            <a:ext cx="875736" cy="976346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BB10A752-A08C-1849-18CB-3F04C880DD23}"/>
              </a:ext>
            </a:extLst>
          </p:cNvPr>
          <p:cNvGrpSpPr/>
          <p:nvPr/>
        </p:nvGrpSpPr>
        <p:grpSpPr>
          <a:xfrm>
            <a:off x="3545283" y="4898308"/>
            <a:ext cx="1036036" cy="1019036"/>
            <a:chOff x="8897781" y="2137780"/>
            <a:chExt cx="2391271" cy="2478706"/>
          </a:xfrm>
        </p:grpSpPr>
        <p:pic>
          <p:nvPicPr>
            <p:cNvPr id="16" name="Graphique 15">
              <a:extLst>
                <a:ext uri="{FF2B5EF4-FFF2-40B4-BE49-F238E27FC236}">
                  <a16:creationId xmlns:a16="http://schemas.microsoft.com/office/drawing/2014/main" id="{04B70162-9F6E-46EA-0F57-BCAF89C946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8897781" y="2137780"/>
              <a:ext cx="1805205" cy="1552866"/>
            </a:xfrm>
            <a:prstGeom prst="rect">
              <a:avLst/>
            </a:prstGeom>
          </p:spPr>
        </p:pic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AECC5CD7-F77F-3A31-C1AD-C3EEAC9BC9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9483846" y="2328209"/>
              <a:ext cx="1805205" cy="1552866"/>
            </a:xfrm>
            <a:prstGeom prst="rect">
              <a:avLst/>
            </a:prstGeom>
          </p:spPr>
        </p:pic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0FCDCE72-7F9E-FAFB-40B2-654F439E99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9483847" y="3063620"/>
              <a:ext cx="1805205" cy="1552866"/>
            </a:xfrm>
            <a:prstGeom prst="rect">
              <a:avLst/>
            </a:prstGeom>
          </p:spPr>
        </p:pic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21B9D23B-4C8F-41AF-D9A2-BEBF2A412A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r="29115" b="39024"/>
            <a:stretch/>
          </p:blipFill>
          <p:spPr>
            <a:xfrm>
              <a:off x="9044650" y="3027567"/>
              <a:ext cx="1805205" cy="1552866"/>
            </a:xfrm>
            <a:prstGeom prst="rect">
              <a:avLst/>
            </a:prstGeom>
          </p:spPr>
        </p:pic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C818CD00-DF20-B158-F12A-CC46412C6E8E}"/>
              </a:ext>
            </a:extLst>
          </p:cNvPr>
          <p:cNvSpPr txBox="1"/>
          <p:nvPr/>
        </p:nvSpPr>
        <p:spPr>
          <a:xfrm>
            <a:off x="785491" y="4544169"/>
            <a:ext cx="13398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D’ENTREPRISE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E106059-3AD8-C069-9FC1-1F7BD4F43131}"/>
              </a:ext>
            </a:extLst>
          </p:cNvPr>
          <p:cNvSpPr txBox="1"/>
          <p:nvPr/>
        </p:nvSpPr>
        <p:spPr>
          <a:xfrm>
            <a:off x="2417864" y="4544169"/>
            <a:ext cx="7340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INVITÉ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E227632-13DA-0F21-0ED7-572391A49C6C}"/>
              </a:ext>
            </a:extLst>
          </p:cNvPr>
          <p:cNvSpPr txBox="1"/>
          <p:nvPr/>
        </p:nvSpPr>
        <p:spPr>
          <a:xfrm>
            <a:off x="3799114" y="4557219"/>
            <a:ext cx="6864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CAPTIF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6A86E46B-511F-AAFA-DFED-CCA0530881F3}"/>
              </a:ext>
            </a:extLst>
          </p:cNvPr>
          <p:cNvSpPr txBox="1"/>
          <p:nvPr/>
        </p:nvSpPr>
        <p:spPr>
          <a:xfrm>
            <a:off x="780922" y="1225412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ABA2B9-F2BB-CB19-36BF-94EBF04554E0}"/>
              </a:ext>
            </a:extLst>
          </p:cNvPr>
          <p:cNvSpPr/>
          <p:nvPr/>
        </p:nvSpPr>
        <p:spPr>
          <a:xfrm>
            <a:off x="1705630" y="2849342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D326CAEA-9115-8DAE-4BC5-4E7CEA42E092}"/>
              </a:ext>
            </a:extLst>
          </p:cNvPr>
          <p:cNvSpPr txBox="1"/>
          <p:nvPr/>
        </p:nvSpPr>
        <p:spPr>
          <a:xfrm>
            <a:off x="1034174" y="1555440"/>
            <a:ext cx="994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Solution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Prestataire :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E2FA5E38-F29F-5318-70DF-AD284905564A}"/>
              </a:ext>
            </a:extLst>
          </p:cNvPr>
          <p:cNvSpPr txBox="1"/>
          <p:nvPr/>
        </p:nvSpPr>
        <p:spPr>
          <a:xfrm>
            <a:off x="4096369" y="2358046"/>
            <a:ext cx="941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Niveau de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86CED2-8D0C-02CD-AA0C-0D037FB2D159}"/>
              </a:ext>
            </a:extLst>
          </p:cNvPr>
          <p:cNvSpPr/>
          <p:nvPr/>
        </p:nvSpPr>
        <p:spPr>
          <a:xfrm>
            <a:off x="4207232" y="2838697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2263A21-B944-17D0-95C9-EB479C875335}"/>
              </a:ext>
            </a:extLst>
          </p:cNvPr>
          <p:cNvSpPr txBox="1"/>
          <p:nvPr/>
        </p:nvSpPr>
        <p:spPr>
          <a:xfrm>
            <a:off x="4983178" y="4575410"/>
            <a:ext cx="5196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>
                <a:latin typeface="Arial Nova" panose="020B0504020202020204" pitchFamily="34" charset="0"/>
              </a:rPr>
              <a:t>WIFI </a:t>
            </a:r>
          </a:p>
          <a:p>
            <a:pPr algn="ctr"/>
            <a:r>
              <a:rPr lang="fr-FR" sz="1100" b="1" dirty="0">
                <a:latin typeface="Arial Nova" panose="020B0504020202020204" pitchFamily="34" charset="0"/>
              </a:rPr>
              <a:t>IOT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80A3B4F-34FF-02DF-1C6D-3497E0C8426F}"/>
              </a:ext>
            </a:extLst>
          </p:cNvPr>
          <p:cNvSpPr/>
          <p:nvPr/>
        </p:nvSpPr>
        <p:spPr>
          <a:xfrm>
            <a:off x="6576059" y="1190019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ACFF79C-0979-9299-920B-DE5546A1AD1E}"/>
              </a:ext>
            </a:extLst>
          </p:cNvPr>
          <p:cNvSpPr txBox="1"/>
          <p:nvPr/>
        </p:nvSpPr>
        <p:spPr>
          <a:xfrm>
            <a:off x="6572821" y="963854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5FB72DA-6293-BD2D-F9B0-8CA7E2829C46}"/>
              </a:ext>
            </a:extLst>
          </p:cNvPr>
          <p:cNvSpPr/>
          <p:nvPr/>
        </p:nvSpPr>
        <p:spPr>
          <a:xfrm>
            <a:off x="6572821" y="3134063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5D77A3A7-5830-C0AD-CFF2-DD9325617867}"/>
              </a:ext>
            </a:extLst>
          </p:cNvPr>
          <p:cNvSpPr txBox="1"/>
          <p:nvPr/>
        </p:nvSpPr>
        <p:spPr>
          <a:xfrm>
            <a:off x="6572821" y="2907898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7EC2186-5798-43B1-80FC-25FE242A2139}"/>
              </a:ext>
            </a:extLst>
          </p:cNvPr>
          <p:cNvSpPr/>
          <p:nvPr/>
        </p:nvSpPr>
        <p:spPr>
          <a:xfrm>
            <a:off x="6572821" y="5192106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7D8FDF86-F7B9-3CF7-5534-E9261B309036}"/>
              </a:ext>
            </a:extLst>
          </p:cNvPr>
          <p:cNvSpPr txBox="1"/>
          <p:nvPr/>
        </p:nvSpPr>
        <p:spPr>
          <a:xfrm>
            <a:off x="6572821" y="4965941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7E570A2D-9395-5D19-1A8F-B03517922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299" y="1239560"/>
            <a:ext cx="3212739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Couverture insuffisante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Déconnexions fréquentes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performances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Est-ce que mon réseau est sécurisé ?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Je donne mon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mdp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à des personnes externes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Je ne suis pas satisfait de mon prestataire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646C0C85-5662-250C-1ED2-46E6BFF8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299" y="3305696"/>
            <a:ext cx="296587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Extension de la couverture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WiFi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 réseau invité sécurisé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Un service plus réactif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Une disponibilité du service client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Gestion d’un portail captif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68C5C9BC-2CDA-CD41-9C7E-23FE145EF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8575" y="5611756"/>
            <a:ext cx="281679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Sécurisation des accès privés et invités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Couverture de wifi adapté à l’entreprise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E14B853D-0644-1641-12E4-64E23AA65A56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WIFI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FDB2426-1CE6-79E7-BC9E-F74A0C82AF5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pic>
        <p:nvPicPr>
          <p:cNvPr id="38" name="Graphique 37">
            <a:extLst>
              <a:ext uri="{FF2B5EF4-FFF2-40B4-BE49-F238E27FC236}">
                <a16:creationId xmlns:a16="http://schemas.microsoft.com/office/drawing/2014/main" id="{9A46BD0E-4BFF-858A-CBF3-4558C069CA1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31059" y="6389664"/>
            <a:ext cx="435386" cy="413737"/>
          </a:xfrm>
          <a:prstGeom prst="rect">
            <a:avLst/>
          </a:prstGeom>
        </p:spPr>
      </p:pic>
      <p:pic>
        <p:nvPicPr>
          <p:cNvPr id="45" name="Graphique 44">
            <a:extLst>
              <a:ext uri="{FF2B5EF4-FFF2-40B4-BE49-F238E27FC236}">
                <a16:creationId xmlns:a16="http://schemas.microsoft.com/office/drawing/2014/main" id="{084CCAAB-4B9F-868E-1A68-257C48D9D7D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79429" y="6438538"/>
            <a:ext cx="427376" cy="424323"/>
          </a:xfrm>
          <a:prstGeom prst="rect">
            <a:avLst/>
          </a:prstGeom>
        </p:spPr>
      </p:pic>
      <p:pic>
        <p:nvPicPr>
          <p:cNvPr id="51" name="Graphique 50">
            <a:extLst>
              <a:ext uri="{FF2B5EF4-FFF2-40B4-BE49-F238E27FC236}">
                <a16:creationId xmlns:a16="http://schemas.microsoft.com/office/drawing/2014/main" id="{A89ADC91-906B-349C-91E7-3056B5149D6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08874" y="6420039"/>
            <a:ext cx="508956" cy="441988"/>
          </a:xfrm>
          <a:prstGeom prst="rect">
            <a:avLst/>
          </a:prstGeom>
        </p:spPr>
      </p:pic>
      <p:pic>
        <p:nvPicPr>
          <p:cNvPr id="69" name="Graphique 68">
            <a:extLst>
              <a:ext uri="{FF2B5EF4-FFF2-40B4-BE49-F238E27FC236}">
                <a16:creationId xmlns:a16="http://schemas.microsoft.com/office/drawing/2014/main" id="{01EB024C-9E39-5AFD-3BC1-FBD6184A9FC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24974" y="6408984"/>
            <a:ext cx="333539" cy="416924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74D9F4E3-D3A9-45F2-5C31-9ED46563EAF7}"/>
              </a:ext>
            </a:extLst>
          </p:cNvPr>
          <p:cNvSpPr/>
          <p:nvPr/>
        </p:nvSpPr>
        <p:spPr>
          <a:xfrm>
            <a:off x="707094" y="1249013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3A6EEB1-4386-4347-35D0-1ABAB6295322}"/>
              </a:ext>
            </a:extLst>
          </p:cNvPr>
          <p:cNvSpPr/>
          <p:nvPr/>
        </p:nvSpPr>
        <p:spPr>
          <a:xfrm>
            <a:off x="657813" y="3995692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62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51712-08E0-8880-9400-3A1D9619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A4A3DA8-5EC6-E99D-0AB6-B377F3284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35556"/>
              </p:ext>
            </p:extLst>
          </p:nvPr>
        </p:nvGraphicFramePr>
        <p:xfrm>
          <a:off x="878640" y="1687810"/>
          <a:ext cx="9306325" cy="2967317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228879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342207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191384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1309730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309730">
                  <a:extLst>
                    <a:ext uri="{9D8B030D-6E8A-4147-A177-3AD203B41FA5}">
                      <a16:colId xmlns:a16="http://schemas.microsoft.com/office/drawing/2014/main" val="705901280"/>
                    </a:ext>
                  </a:extLst>
                </a:gridCol>
                <a:gridCol w="1309730">
                  <a:extLst>
                    <a:ext uri="{9D8B030D-6E8A-4147-A177-3AD203B41FA5}">
                      <a16:colId xmlns:a16="http://schemas.microsoft.com/office/drawing/2014/main" val="1544762168"/>
                    </a:ext>
                  </a:extLst>
                </a:gridCol>
                <a:gridCol w="837738">
                  <a:extLst>
                    <a:ext uri="{9D8B030D-6E8A-4147-A177-3AD203B41FA5}">
                      <a16:colId xmlns:a16="http://schemas.microsoft.com/office/drawing/2014/main" val="1507821284"/>
                    </a:ext>
                  </a:extLst>
                </a:gridCol>
                <a:gridCol w="776927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collab.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invité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IOT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Wifi Usagers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Satisfaction </a:t>
                      </a:r>
                    </a:p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340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74FB87D-CB1A-8225-0EAD-F16EBBB5E004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FAA3AF1-1C87-2C0F-0FCB-04ED3CD7CDFD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WIFI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43526DB-7AA0-631E-8C0E-6884FA1479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B154605-CE31-859C-DD8E-DA894C16EE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29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8C62-3977-4E0B-E530-BBB17CA2E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2DB1DC38-48D7-2FB2-503B-4F53F51ABB7D}"/>
              </a:ext>
            </a:extLst>
          </p:cNvPr>
          <p:cNvSpPr/>
          <p:nvPr/>
        </p:nvSpPr>
        <p:spPr>
          <a:xfrm>
            <a:off x="562409" y="4308022"/>
            <a:ext cx="4776797" cy="315204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172A34D-0646-A014-E7FE-42E3078DD626}"/>
              </a:ext>
            </a:extLst>
          </p:cNvPr>
          <p:cNvSpPr txBox="1"/>
          <p:nvPr/>
        </p:nvSpPr>
        <p:spPr>
          <a:xfrm>
            <a:off x="607339" y="4162601"/>
            <a:ext cx="2959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BESOINS SPÉCIFIQUES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DC57CC5-7E60-9BF1-802F-28E137C983DE}"/>
              </a:ext>
            </a:extLst>
          </p:cNvPr>
          <p:cNvSpPr/>
          <p:nvPr/>
        </p:nvSpPr>
        <p:spPr>
          <a:xfrm>
            <a:off x="569903" y="1344177"/>
            <a:ext cx="4776797" cy="242708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4A056AF-C63C-1ADF-549C-CD7C60503265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FIXE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8361402-B5FD-9703-8861-630AADBC8E7D}"/>
              </a:ext>
            </a:extLst>
          </p:cNvPr>
          <p:cNvSpPr txBox="1"/>
          <p:nvPr/>
        </p:nvSpPr>
        <p:spPr>
          <a:xfrm>
            <a:off x="3517571" y="4162601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1C5D882-E7CF-3BDC-B730-055138A12383}"/>
              </a:ext>
            </a:extLst>
          </p:cNvPr>
          <p:cNvSpPr txBox="1"/>
          <p:nvPr/>
        </p:nvSpPr>
        <p:spPr>
          <a:xfrm>
            <a:off x="1211950" y="2318326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lignes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téléphoniques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14FFA49-E00C-C9CD-2383-C8A4CB77EA94}"/>
              </a:ext>
            </a:extLst>
          </p:cNvPr>
          <p:cNvSpPr txBox="1"/>
          <p:nvPr/>
        </p:nvSpPr>
        <p:spPr>
          <a:xfrm>
            <a:off x="2470007" y="2318666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appels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 simultanées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6E9981-EDCA-9DE4-501A-497EAD65A44B}"/>
              </a:ext>
            </a:extLst>
          </p:cNvPr>
          <p:cNvSpPr/>
          <p:nvPr/>
        </p:nvSpPr>
        <p:spPr>
          <a:xfrm>
            <a:off x="2627132" y="2799317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A2A03-816D-34BF-CF78-591DC001EA6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C706208D-748E-2B4F-79DC-FE2878927310}"/>
              </a:ext>
            </a:extLst>
          </p:cNvPr>
          <p:cNvSpPr txBox="1"/>
          <p:nvPr/>
        </p:nvSpPr>
        <p:spPr>
          <a:xfrm>
            <a:off x="643962" y="1219912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1E0EF15-75AE-E884-C098-8902EC4C20E4}"/>
              </a:ext>
            </a:extLst>
          </p:cNvPr>
          <p:cNvSpPr/>
          <p:nvPr/>
        </p:nvSpPr>
        <p:spPr>
          <a:xfrm>
            <a:off x="1401215" y="2799317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940EAD81-AC29-4767-34DD-DF99B81B710F}"/>
              </a:ext>
            </a:extLst>
          </p:cNvPr>
          <p:cNvSpPr txBox="1"/>
          <p:nvPr/>
        </p:nvSpPr>
        <p:spPr>
          <a:xfrm>
            <a:off x="722861" y="1540881"/>
            <a:ext cx="1555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Type de téléphonie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Marque : 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40EB1F28-A808-EAF3-5B38-8651E5AD5EAD}"/>
              </a:ext>
            </a:extLst>
          </p:cNvPr>
          <p:cNvSpPr txBox="1"/>
          <p:nvPr/>
        </p:nvSpPr>
        <p:spPr>
          <a:xfrm>
            <a:off x="3887624" y="2308021"/>
            <a:ext cx="750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Volume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d’appels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2E86C8E-EA0B-5237-CB27-4D61E0B1AD6C}"/>
              </a:ext>
            </a:extLst>
          </p:cNvPr>
          <p:cNvSpPr/>
          <p:nvPr/>
        </p:nvSpPr>
        <p:spPr>
          <a:xfrm>
            <a:off x="3902817" y="2788672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2550CB5-6801-122C-F399-60053AC9CE8C}"/>
              </a:ext>
            </a:extLst>
          </p:cNvPr>
          <p:cNvSpPr/>
          <p:nvPr/>
        </p:nvSpPr>
        <p:spPr>
          <a:xfrm>
            <a:off x="6067454" y="1014716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D07812E0-BB36-FBEE-C3EC-738A5D999107}"/>
              </a:ext>
            </a:extLst>
          </p:cNvPr>
          <p:cNvSpPr txBox="1"/>
          <p:nvPr/>
        </p:nvSpPr>
        <p:spPr>
          <a:xfrm>
            <a:off x="6064216" y="788551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874CABB-B955-9EDD-4C79-F659B318A6C6}"/>
              </a:ext>
            </a:extLst>
          </p:cNvPr>
          <p:cNvSpPr/>
          <p:nvPr/>
        </p:nvSpPr>
        <p:spPr>
          <a:xfrm>
            <a:off x="6064216" y="2958760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86A47B4A-ACAE-CC50-9C3A-97D78C80A1A9}"/>
              </a:ext>
            </a:extLst>
          </p:cNvPr>
          <p:cNvSpPr txBox="1"/>
          <p:nvPr/>
        </p:nvSpPr>
        <p:spPr>
          <a:xfrm>
            <a:off x="6064216" y="2732595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CA24A22-E015-E8AA-B764-0AB35D47F6B0}"/>
              </a:ext>
            </a:extLst>
          </p:cNvPr>
          <p:cNvSpPr/>
          <p:nvPr/>
        </p:nvSpPr>
        <p:spPr>
          <a:xfrm>
            <a:off x="6064216" y="5016803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0406AA3B-7663-2AAB-920F-63AD968FF68B}"/>
              </a:ext>
            </a:extLst>
          </p:cNvPr>
          <p:cNvSpPr txBox="1"/>
          <p:nvPr/>
        </p:nvSpPr>
        <p:spPr>
          <a:xfrm>
            <a:off x="6064216" y="4790638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0D2B6955-6E52-1385-8550-B6197267B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694" y="1233535"/>
            <a:ext cx="425949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Qualité d’appel médiocre (écho, latence, coupures)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Insuffisance de lignes simultanées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fonctionnalités (standard, messagerie, supervision)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Difficulté d’intégration avec d’autres outils (CRM, Teams, ERP)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Coût trop élevé</a:t>
            </a: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D14B022A-E5D9-DFA8-E8FA-1912CC9A1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694" y="3130393"/>
            <a:ext cx="412164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Augmentation du nombre de lignes / extensions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Migration vers une solution Cloud (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Centrex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,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VoIP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hébergée)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Intégration avec Microsoft Teams / CRM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Ajout de fonctionnalités avancées (SVI, messagerie unifiée)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Amélioration de la redondance et de la continuité de service </a:t>
            </a: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56E41BC6-A1A4-1AAA-0FD0-39411C784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970" y="5267176"/>
            <a:ext cx="3158237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Protection contre le hacking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VoIP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Fiabilité du service pour les appels critiques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Confidentialité des communications internes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Plan de secours en cas de panne </a:t>
            </a:r>
          </a:p>
        </p:txBody>
      </p:sp>
      <p:pic>
        <p:nvPicPr>
          <p:cNvPr id="6" name="Image 5" descr="Une image contenant orange, Graphique, symbole, conception&#10;&#10;Description générée automatiquement">
            <a:extLst>
              <a:ext uri="{FF2B5EF4-FFF2-40B4-BE49-F238E27FC236}">
                <a16:creationId xmlns:a16="http://schemas.microsoft.com/office/drawing/2014/main" id="{E353188E-2682-5EE3-30E7-51EC9912B7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0031" y="220722"/>
            <a:ext cx="720000" cy="720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D08E882-38DD-70AC-23D0-9A04ED92980B}"/>
              </a:ext>
            </a:extLst>
          </p:cNvPr>
          <p:cNvSpPr txBox="1"/>
          <p:nvPr/>
        </p:nvSpPr>
        <p:spPr>
          <a:xfrm>
            <a:off x="951189" y="5149827"/>
            <a:ext cx="100567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Messagerie vocale et répondeur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12EC5D3-3A72-CE42-5F4B-9DAA018A278F}"/>
              </a:ext>
            </a:extLst>
          </p:cNvPr>
          <p:cNvSpPr txBox="1"/>
          <p:nvPr/>
        </p:nvSpPr>
        <p:spPr>
          <a:xfrm>
            <a:off x="1916277" y="5167256"/>
            <a:ext cx="153224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Standard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automatique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et SVI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B0E09AF-0251-9F50-55FF-A15857DB9261}"/>
              </a:ext>
            </a:extLst>
          </p:cNvPr>
          <p:cNvSpPr txBox="1"/>
          <p:nvPr/>
        </p:nvSpPr>
        <p:spPr>
          <a:xfrm>
            <a:off x="2033977" y="6581503"/>
            <a:ext cx="130192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Call Center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(supervision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&amp; statistiques)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3413A75-D286-8154-8717-26D816336DA4}"/>
              </a:ext>
            </a:extLst>
          </p:cNvPr>
          <p:cNvSpPr txBox="1"/>
          <p:nvPr/>
        </p:nvSpPr>
        <p:spPr>
          <a:xfrm>
            <a:off x="813083" y="6566453"/>
            <a:ext cx="13019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Groupes d’appels et files d’attente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A5B762B-3EEF-E63B-D706-B8D8B178C382}"/>
              </a:ext>
            </a:extLst>
          </p:cNvPr>
          <p:cNvSpPr txBox="1"/>
          <p:nvPr/>
        </p:nvSpPr>
        <p:spPr>
          <a:xfrm>
            <a:off x="3404263" y="5164877"/>
            <a:ext cx="100934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Standard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téléphonique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et redirection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FCE8FED-D11B-74B5-2977-7F0FCA69663F}"/>
              </a:ext>
            </a:extLst>
          </p:cNvPr>
          <p:cNvSpPr txBox="1"/>
          <p:nvPr/>
        </p:nvSpPr>
        <p:spPr>
          <a:xfrm>
            <a:off x="3267691" y="6581503"/>
            <a:ext cx="12398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1100" dirty="0">
                <a:latin typeface="Arial Nova" panose="020B0504020202020204" pitchFamily="34" charset="0"/>
              </a:rPr>
              <a:t>Visio &amp; Audio conférence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3C144F6-5F84-6236-BB25-989462F06EE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B6D6F5BC-6C8C-F233-7264-095027E56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6187" y="4659231"/>
            <a:ext cx="478932" cy="391728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3898342C-BF83-0951-7006-64C3DE79C3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9848" y="5986698"/>
            <a:ext cx="648909" cy="461272"/>
          </a:xfrm>
          <a:prstGeom prst="rect">
            <a:avLst/>
          </a:prstGeom>
        </p:spPr>
      </p:pic>
      <p:pic>
        <p:nvPicPr>
          <p:cNvPr id="22" name="Graphique 21">
            <a:extLst>
              <a:ext uri="{FF2B5EF4-FFF2-40B4-BE49-F238E27FC236}">
                <a16:creationId xmlns:a16="http://schemas.microsoft.com/office/drawing/2014/main" id="{BEFFBC4A-B748-AA31-53B0-762E12ED38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85303" y="5986698"/>
            <a:ext cx="567414" cy="466367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EBA7FDE4-B1A7-E342-71E3-C0C4DA6D1A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8473" y="4622020"/>
            <a:ext cx="478932" cy="489575"/>
          </a:xfrm>
          <a:prstGeom prst="rect">
            <a:avLst/>
          </a:prstGeom>
        </p:spPr>
      </p:pic>
      <p:pic>
        <p:nvPicPr>
          <p:cNvPr id="30" name="Graphique 29">
            <a:extLst>
              <a:ext uri="{FF2B5EF4-FFF2-40B4-BE49-F238E27FC236}">
                <a16:creationId xmlns:a16="http://schemas.microsoft.com/office/drawing/2014/main" id="{80D484E1-487A-5FC6-1D17-E5431A863D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09936" y="4610307"/>
            <a:ext cx="504639" cy="489575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AC788C2D-01B7-6AA9-CCA4-E1FCA1F57E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37800" y="5891055"/>
            <a:ext cx="648909" cy="61073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836527A-7A15-19C8-8FDF-9C326CBDA478}"/>
              </a:ext>
            </a:extLst>
          </p:cNvPr>
          <p:cNvSpPr/>
          <p:nvPr/>
        </p:nvSpPr>
        <p:spPr>
          <a:xfrm>
            <a:off x="582522" y="1227276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262827-01EA-28C7-A4C0-808FBB006339}"/>
              </a:ext>
            </a:extLst>
          </p:cNvPr>
          <p:cNvSpPr/>
          <p:nvPr/>
        </p:nvSpPr>
        <p:spPr>
          <a:xfrm>
            <a:off x="533700" y="4169189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20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9AF177D2-C4AA-E1F5-6FB9-EA231809E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01834"/>
              </p:ext>
            </p:extLst>
          </p:nvPr>
        </p:nvGraphicFramePr>
        <p:xfrm>
          <a:off x="594095" y="1595061"/>
          <a:ext cx="9551948" cy="312222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419590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109609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757535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963100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097486">
                  <a:extLst>
                    <a:ext uri="{9D8B030D-6E8A-4147-A177-3AD203B41FA5}">
                      <a16:colId xmlns:a16="http://schemas.microsoft.com/office/drawing/2014/main" val="1507821284"/>
                    </a:ext>
                  </a:extLst>
                </a:gridCol>
                <a:gridCol w="1455850">
                  <a:extLst>
                    <a:ext uri="{9D8B030D-6E8A-4147-A177-3AD203B41FA5}">
                      <a16:colId xmlns:a16="http://schemas.microsoft.com/office/drawing/2014/main" val="1191447353"/>
                    </a:ext>
                  </a:extLst>
                </a:gridCol>
                <a:gridCol w="1478247">
                  <a:extLst>
                    <a:ext uri="{9D8B030D-6E8A-4147-A177-3AD203B41FA5}">
                      <a16:colId xmlns:a16="http://schemas.microsoft.com/office/drawing/2014/main" val="872859464"/>
                    </a:ext>
                  </a:extLst>
                </a:gridCol>
                <a:gridCol w="1270531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Type de téléphonie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de postes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de lignes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d’appels simultanés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de satisfaction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Date d’engagement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837856B-54BF-0410-324B-EC1C78A89C5E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57C19675-9670-1C67-E200-D5648CE17CD2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FIXE</a:t>
            </a:r>
          </a:p>
        </p:txBody>
      </p:sp>
      <p:pic>
        <p:nvPicPr>
          <p:cNvPr id="22" name="Image 21" descr="Une image contenant orange, Graphique, symbole, conception&#10;&#10;Description générée automatiquement">
            <a:extLst>
              <a:ext uri="{FF2B5EF4-FFF2-40B4-BE49-F238E27FC236}">
                <a16:creationId xmlns:a16="http://schemas.microsoft.com/office/drawing/2014/main" id="{A8F6571C-DD98-5E68-262C-E72D4FCDEE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0031" y="220722"/>
            <a:ext cx="720000" cy="720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68F7125-E9E6-1A0B-6FBA-4943B51C88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1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3D03-324A-EB69-516C-F27EC1D3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9726D0B2-84C0-3383-4B96-2D4563017F88}"/>
              </a:ext>
            </a:extLst>
          </p:cNvPr>
          <p:cNvSpPr/>
          <p:nvPr/>
        </p:nvSpPr>
        <p:spPr>
          <a:xfrm>
            <a:off x="796049" y="4395138"/>
            <a:ext cx="4776797" cy="2853891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F6AE4C0C-C9B6-15ED-9456-070269C0A7E3}"/>
              </a:ext>
            </a:extLst>
          </p:cNvPr>
          <p:cNvSpPr txBox="1"/>
          <p:nvPr/>
        </p:nvSpPr>
        <p:spPr>
          <a:xfrm>
            <a:off x="825052" y="4259082"/>
            <a:ext cx="25486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TYPES DE FORFAIT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7E01D3-FD7C-CF3C-DFC3-89A351F806E3}"/>
              </a:ext>
            </a:extLst>
          </p:cNvPr>
          <p:cNvSpPr/>
          <p:nvPr/>
        </p:nvSpPr>
        <p:spPr>
          <a:xfrm>
            <a:off x="729959" y="1481839"/>
            <a:ext cx="4776797" cy="2550699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B5434B3-6522-61D5-797D-70F31ACB297F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MOBILE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3EF6521-34C7-0A27-0EC9-E6441E0A8A17}"/>
              </a:ext>
            </a:extLst>
          </p:cNvPr>
          <p:cNvSpPr txBox="1"/>
          <p:nvPr/>
        </p:nvSpPr>
        <p:spPr>
          <a:xfrm>
            <a:off x="3678421" y="4267637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A9BE1F1-A0B3-4DBF-1349-D7F6B54BC229}"/>
              </a:ext>
            </a:extLst>
          </p:cNvPr>
          <p:cNvSpPr txBox="1"/>
          <p:nvPr/>
        </p:nvSpPr>
        <p:spPr>
          <a:xfrm>
            <a:off x="1326024" y="2446239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lignes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téléphoniques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5C0B7CC-C794-A271-D7C3-23874383D3ED}"/>
              </a:ext>
            </a:extLst>
          </p:cNvPr>
          <p:cNvSpPr txBox="1"/>
          <p:nvPr/>
        </p:nvSpPr>
        <p:spPr>
          <a:xfrm>
            <a:off x="2633775" y="2446579"/>
            <a:ext cx="934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téléphones</a:t>
            </a:r>
          </a:p>
          <a:p>
            <a:pPr algn="ctr"/>
            <a:endParaRPr lang="fr-FR" sz="1200" dirty="0">
              <a:latin typeface="Arial Nova" panose="020B05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9BE3DF-BD38-6176-FCEF-E5ECF8F08709}"/>
              </a:ext>
            </a:extLst>
          </p:cNvPr>
          <p:cNvSpPr/>
          <p:nvPr/>
        </p:nvSpPr>
        <p:spPr>
          <a:xfrm>
            <a:off x="2741206" y="2927230"/>
            <a:ext cx="720000" cy="7200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318DD6-6887-5C51-CCED-A6E6E178C9B5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0504EC06-7582-E74E-EC66-EEF9E5BCFFA7}"/>
              </a:ext>
            </a:extLst>
          </p:cNvPr>
          <p:cNvSpPr txBox="1"/>
          <p:nvPr/>
        </p:nvSpPr>
        <p:spPr>
          <a:xfrm>
            <a:off x="789738" y="1307519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1FB7DC9-0189-97C8-D1BB-A5B5F707896A}"/>
              </a:ext>
            </a:extLst>
          </p:cNvPr>
          <p:cNvSpPr/>
          <p:nvPr/>
        </p:nvSpPr>
        <p:spPr>
          <a:xfrm>
            <a:off x="1515289" y="2927230"/>
            <a:ext cx="720000" cy="7200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A5D5CA26-5BC5-E3A9-6C66-68419E2EB0D3}"/>
              </a:ext>
            </a:extLst>
          </p:cNvPr>
          <p:cNvSpPr txBox="1"/>
          <p:nvPr/>
        </p:nvSpPr>
        <p:spPr>
          <a:xfrm>
            <a:off x="882917" y="1802157"/>
            <a:ext cx="961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Opérateur :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78158C70-C460-0F0B-C031-9E36D9B13B75}"/>
              </a:ext>
            </a:extLst>
          </p:cNvPr>
          <p:cNvSpPr txBox="1"/>
          <p:nvPr/>
        </p:nvSpPr>
        <p:spPr>
          <a:xfrm>
            <a:off x="3892405" y="2435934"/>
            <a:ext cx="968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Indice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7A2A18D-2A69-D096-DA08-F08790027625}"/>
              </a:ext>
            </a:extLst>
          </p:cNvPr>
          <p:cNvSpPr/>
          <p:nvPr/>
        </p:nvSpPr>
        <p:spPr>
          <a:xfrm>
            <a:off x="4016891" y="2916585"/>
            <a:ext cx="720000" cy="7200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7B1CE4-909D-BA6C-C531-C12BD8474650}"/>
              </a:ext>
            </a:extLst>
          </p:cNvPr>
          <p:cNvSpPr/>
          <p:nvPr/>
        </p:nvSpPr>
        <p:spPr>
          <a:xfrm>
            <a:off x="6330613" y="852394"/>
            <a:ext cx="2033017" cy="1524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940858D-43AE-7D2C-9B2A-DF415BE14420}"/>
              </a:ext>
            </a:extLst>
          </p:cNvPr>
          <p:cNvSpPr txBox="1"/>
          <p:nvPr/>
        </p:nvSpPr>
        <p:spPr>
          <a:xfrm>
            <a:off x="6327375" y="626229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9F7A28D-C7CF-4E38-DB4E-A3D4999963FE}"/>
              </a:ext>
            </a:extLst>
          </p:cNvPr>
          <p:cNvSpPr/>
          <p:nvPr/>
        </p:nvSpPr>
        <p:spPr>
          <a:xfrm>
            <a:off x="6327375" y="2796438"/>
            <a:ext cx="2033017" cy="1524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5CE104D-F511-2FA2-1702-24539A00AFD3}"/>
              </a:ext>
            </a:extLst>
          </p:cNvPr>
          <p:cNvSpPr txBox="1"/>
          <p:nvPr/>
        </p:nvSpPr>
        <p:spPr>
          <a:xfrm>
            <a:off x="6327375" y="2570273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98F1690-25B7-C5E7-57B7-1B6B299629DB}"/>
              </a:ext>
            </a:extLst>
          </p:cNvPr>
          <p:cNvSpPr/>
          <p:nvPr/>
        </p:nvSpPr>
        <p:spPr>
          <a:xfrm>
            <a:off x="6327375" y="4854481"/>
            <a:ext cx="2033017" cy="152400"/>
          </a:xfrm>
          <a:prstGeom prst="rect">
            <a:avLst/>
          </a:prstGeom>
          <a:solidFill>
            <a:srgbClr val="F29F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6404A23-CAD4-9004-23E7-F1E72F8CD738}"/>
              </a:ext>
            </a:extLst>
          </p:cNvPr>
          <p:cNvSpPr txBox="1"/>
          <p:nvPr/>
        </p:nvSpPr>
        <p:spPr>
          <a:xfrm>
            <a:off x="6327375" y="4628316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A2BE4A62-93CA-18DA-4F90-379A86EEB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8853" y="1071213"/>
            <a:ext cx="282962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couverture réseau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Débit 4G/5G insuffisant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Mauvaise gestion des forfaits / surcoûts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Absence de solutions de sécurité MDM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Roaming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trop coûteux</a:t>
            </a: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6546BFF0-9CA9-872D-0D09-CC4523C47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6432" y="2964351"/>
            <a:ext cx="3887692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Forfaits adaptés à l’usage pro (illimité,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roaming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inclus)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d’une gestion MDM (Mobile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Device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Management)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Sécurisation des échanges mobiles (VPN, chiffrement)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Passage à la 5G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Consolidation des lignes mobiles sous un même contrat</a:t>
            </a: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815EA19A-0EAD-6E6B-ABBB-5C3001B78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30" y="5020217"/>
            <a:ext cx="383817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Risques liés aux appareils perdus ou volés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Besoin de chiffrement des communications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Protection des accès aux données professionnelles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Gestion et contrôle des usages (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roaming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, accès non autorisés)</a:t>
            </a:r>
            <a:endParaRPr lang="fr-FR" altLang="fr-FR" sz="1100" dirty="0">
              <a:latin typeface="Arial Nova" panose="020B0504020202020204" pitchFamily="34" charset="0"/>
            </a:endParaRPr>
          </a:p>
        </p:txBody>
      </p:sp>
      <p:pic>
        <p:nvPicPr>
          <p:cNvPr id="2" name="Image 1" descr="Une image contenant capture d’écran, conception&#10;&#10;Description générée automatiquement">
            <a:extLst>
              <a:ext uri="{FF2B5EF4-FFF2-40B4-BE49-F238E27FC236}">
                <a16:creationId xmlns:a16="http://schemas.microsoft.com/office/drawing/2014/main" id="{9E93AF81-39C6-6AF3-4918-0DCF0CC9E9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117" y="231461"/>
            <a:ext cx="720000" cy="72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BD032A-2CA0-4212-80E1-18BEC957AC55}"/>
              </a:ext>
            </a:extLst>
          </p:cNvPr>
          <p:cNvSpPr/>
          <p:nvPr/>
        </p:nvSpPr>
        <p:spPr>
          <a:xfrm>
            <a:off x="1002296" y="5395427"/>
            <a:ext cx="1248709" cy="230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73D74277-A541-E4F8-62A3-1E1510F32C0C}"/>
              </a:ext>
            </a:extLst>
          </p:cNvPr>
          <p:cNvSpPr txBox="1">
            <a:spLocks/>
          </p:cNvSpPr>
          <p:nvPr/>
        </p:nvSpPr>
        <p:spPr>
          <a:xfrm>
            <a:off x="1090224" y="5342501"/>
            <a:ext cx="931454" cy="556764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fr-FR" sz="1200" b="1" dirty="0">
                <a:latin typeface="Arial Nova" panose="020B0504020202020204" pitchFamily="34" charset="0"/>
              </a:rPr>
              <a:t>Forfaits Premium</a:t>
            </a:r>
          </a:p>
          <a:p>
            <a:pPr marL="400955" lvl="1" indent="0" algn="ctr">
              <a:lnSpc>
                <a:spcPct val="120000"/>
              </a:lnSpc>
              <a:buNone/>
            </a:pPr>
            <a:endParaRPr lang="fr-FR" sz="1400" b="1" dirty="0">
              <a:latin typeface="Arial Nova" panose="020B05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B99D608-0E7E-B0E5-9903-E6B0803D5FB5}"/>
              </a:ext>
            </a:extLst>
          </p:cNvPr>
          <p:cNvSpPr txBox="1"/>
          <p:nvPr/>
        </p:nvSpPr>
        <p:spPr>
          <a:xfrm>
            <a:off x="851450" y="5939255"/>
            <a:ext cx="179405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Forfaits fort en datas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Option internationale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Emission / réception importante d’appels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Besoin d’options régulièrement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endParaRPr lang="fr-FR" sz="1000" dirty="0">
              <a:solidFill>
                <a:srgbClr val="434341"/>
              </a:solidFill>
              <a:latin typeface="Arial Nova" panose="020B05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Arial Nova" panose="020B0504020202020204" pitchFamily="34" charset="0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1C6CBC3-6358-8D78-7A21-1DCD2E1F0758}"/>
              </a:ext>
            </a:extLst>
          </p:cNvPr>
          <p:cNvGrpSpPr/>
          <p:nvPr/>
        </p:nvGrpSpPr>
        <p:grpSpPr>
          <a:xfrm>
            <a:off x="2375824" y="5196517"/>
            <a:ext cx="1362300" cy="505960"/>
            <a:chOff x="2127600" y="4053919"/>
            <a:chExt cx="4485355" cy="525521"/>
          </a:xfrm>
          <a:noFill/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B62C7E1-513C-C52A-7218-DA45EBF58AE4}"/>
                </a:ext>
              </a:extLst>
            </p:cNvPr>
            <p:cNvSpPr/>
            <p:nvPr/>
          </p:nvSpPr>
          <p:spPr>
            <a:xfrm>
              <a:off x="2127600" y="4053919"/>
              <a:ext cx="3871458" cy="239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8" name="Espace réservé du texte 5">
              <a:extLst>
                <a:ext uri="{FF2B5EF4-FFF2-40B4-BE49-F238E27FC236}">
                  <a16:creationId xmlns:a16="http://schemas.microsoft.com/office/drawing/2014/main" id="{3133FD4F-1568-3050-5838-811B06D2FBF2}"/>
                </a:ext>
              </a:extLst>
            </p:cNvPr>
            <p:cNvSpPr txBox="1">
              <a:spLocks/>
            </p:cNvSpPr>
            <p:nvPr/>
          </p:nvSpPr>
          <p:spPr>
            <a:xfrm>
              <a:off x="2328725" y="4198594"/>
              <a:ext cx="4284230" cy="380846"/>
            </a:xfrm>
            <a:prstGeom prst="rect">
              <a:avLst/>
            </a:prstGeom>
            <a:grpFill/>
          </p:spPr>
          <p:txBody>
            <a:bodyPr>
              <a:noAutofit/>
            </a:bodyPr>
            <a:lstStyle>
              <a:lvl1pPr marL="251986" indent="-251986" algn="l" defTabSz="1007943" rtl="0" eaLnBrk="1" latinLnBrk="0" hangingPunct="1">
                <a:lnSpc>
                  <a:spcPct val="90000"/>
                </a:lnSpc>
                <a:spcBef>
                  <a:spcPts val="1102"/>
                </a:spcBef>
                <a:buFont typeface="Arial" panose="020B0604020202020204" pitchFamily="34" charset="0"/>
                <a:buChar char="•"/>
                <a:defRPr sz="30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595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6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9929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20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63900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267872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71844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75815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7978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83758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0000"/>
                </a:lnSpc>
                <a:buNone/>
              </a:pPr>
              <a:r>
                <a:rPr lang="fr-FR" sz="1200" b="1" dirty="0">
                  <a:latin typeface="Arial Nova" panose="020B0504020202020204" pitchFamily="34" charset="0"/>
                </a:rPr>
                <a:t>Forfaits standard</a:t>
              </a:r>
            </a:p>
            <a:p>
              <a:pPr marL="400955" lvl="1" indent="0">
                <a:lnSpc>
                  <a:spcPct val="120000"/>
                </a:lnSpc>
                <a:buNone/>
              </a:pPr>
              <a:endParaRPr lang="fr-FR" sz="1400" b="1" dirty="0">
                <a:latin typeface="Arial Nova" panose="020B0504020202020204" pitchFamily="34" charset="0"/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0033A8B-E5C3-874F-05BA-DB8A4553F0BB}"/>
              </a:ext>
            </a:extLst>
          </p:cNvPr>
          <p:cNvGrpSpPr/>
          <p:nvPr/>
        </p:nvGrpSpPr>
        <p:grpSpPr>
          <a:xfrm>
            <a:off x="4049359" y="5312581"/>
            <a:ext cx="1257954" cy="366670"/>
            <a:chOff x="2118480" y="4004321"/>
            <a:chExt cx="4141797" cy="380846"/>
          </a:xfrm>
          <a:noFill/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723B884-0E6C-415A-3B46-0F16603A5A87}"/>
                </a:ext>
              </a:extLst>
            </p:cNvPr>
            <p:cNvSpPr/>
            <p:nvPr/>
          </p:nvSpPr>
          <p:spPr>
            <a:xfrm>
              <a:off x="2127600" y="4053919"/>
              <a:ext cx="3871458" cy="239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21" name="Espace réservé du texte 5">
              <a:extLst>
                <a:ext uri="{FF2B5EF4-FFF2-40B4-BE49-F238E27FC236}">
                  <a16:creationId xmlns:a16="http://schemas.microsoft.com/office/drawing/2014/main" id="{72A02BBF-DEC0-4E11-8B11-F264BC2846D3}"/>
                </a:ext>
              </a:extLst>
            </p:cNvPr>
            <p:cNvSpPr txBox="1">
              <a:spLocks/>
            </p:cNvSpPr>
            <p:nvPr/>
          </p:nvSpPr>
          <p:spPr>
            <a:xfrm>
              <a:off x="2118480" y="4004321"/>
              <a:ext cx="4141797" cy="380846"/>
            </a:xfrm>
            <a:prstGeom prst="rect">
              <a:avLst/>
            </a:prstGeom>
            <a:grpFill/>
          </p:spPr>
          <p:txBody>
            <a:bodyPr>
              <a:noAutofit/>
            </a:bodyPr>
            <a:lstStyle>
              <a:lvl1pPr marL="251986" indent="-251986" algn="l" defTabSz="1007943" rtl="0" eaLnBrk="1" latinLnBrk="0" hangingPunct="1">
                <a:lnSpc>
                  <a:spcPct val="90000"/>
                </a:lnSpc>
                <a:spcBef>
                  <a:spcPts val="1102"/>
                </a:spcBef>
                <a:buFont typeface="Arial" panose="020B0604020202020204" pitchFamily="34" charset="0"/>
                <a:buChar char="•"/>
                <a:defRPr sz="30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5595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6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9929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220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63900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267872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771844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75815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79787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83758" indent="-251986" algn="l" defTabSz="1007943" rtl="0" eaLnBrk="1" latinLnBrk="0" hangingPunct="1">
                <a:lnSpc>
                  <a:spcPct val="90000"/>
                </a:lnSpc>
                <a:spcBef>
                  <a:spcPts val="551"/>
                </a:spcBef>
                <a:buFont typeface="Arial" panose="020B0604020202020204" pitchFamily="34" charset="0"/>
                <a:buChar char="•"/>
                <a:defRPr sz="198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0000"/>
                </a:lnSpc>
                <a:buNone/>
              </a:pPr>
              <a:r>
                <a:rPr lang="fr-FR" sz="1200" b="1" dirty="0">
                  <a:latin typeface="Arial Nova" panose="020B0504020202020204" pitchFamily="34" charset="0"/>
                </a:rPr>
                <a:t>Forfaits basiques</a:t>
              </a:r>
            </a:p>
            <a:p>
              <a:pPr marL="400955" lvl="1" indent="0">
                <a:lnSpc>
                  <a:spcPct val="120000"/>
                </a:lnSpc>
                <a:buNone/>
              </a:pPr>
              <a:endParaRPr lang="fr-FR" sz="1400" b="1" dirty="0">
                <a:latin typeface="Arial Nova" panose="020B0504020202020204" pitchFamily="34" charset="0"/>
              </a:endParaRPr>
            </a:p>
          </p:txBody>
        </p: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18442890-66F5-7F74-46BF-A389B3306CEC}"/>
              </a:ext>
            </a:extLst>
          </p:cNvPr>
          <p:cNvSpPr txBox="1"/>
          <p:nvPr/>
        </p:nvSpPr>
        <p:spPr>
          <a:xfrm>
            <a:off x="2487378" y="5988938"/>
            <a:ext cx="1794052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Forfaits classiques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Emission / réception normal d’appels, majoritairement en France / Europe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endParaRPr lang="fr-FR" sz="1000" dirty="0">
              <a:solidFill>
                <a:srgbClr val="434341"/>
              </a:solidFill>
              <a:latin typeface="Arial Nova" panose="020B05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Arial Nova" panose="020B0504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D204C56-1A06-5E19-21F6-974F555734F8}"/>
              </a:ext>
            </a:extLst>
          </p:cNvPr>
          <p:cNvSpPr txBox="1"/>
          <p:nvPr/>
        </p:nvSpPr>
        <p:spPr>
          <a:xfrm>
            <a:off x="4107056" y="5988938"/>
            <a:ext cx="1476724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Faible en data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Emission / réception d’appels que France / Europe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34341"/>
                </a:solidFill>
                <a:latin typeface="Arial Nova" panose="020B0504020202020204" pitchFamily="34" charset="0"/>
              </a:rPr>
              <a:t>Ne sert que de téléphone</a:t>
            </a:r>
          </a:p>
          <a:p>
            <a:pPr marL="171450" indent="-171450" defTabSz="1007919">
              <a:buClr>
                <a:srgbClr val="E94B57"/>
              </a:buClr>
              <a:buFont typeface="Arial" panose="020B0604020202020204" pitchFamily="34" charset="0"/>
              <a:buChar char="•"/>
              <a:defRPr/>
            </a:pPr>
            <a:endParaRPr lang="fr-FR" sz="1000" dirty="0">
              <a:solidFill>
                <a:srgbClr val="434341"/>
              </a:solidFill>
              <a:latin typeface="Arial Nova" panose="020B05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>
              <a:latin typeface="Arial Nova" panose="020B05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BD86C6-4C19-0EE5-4F19-0DAC83237E2B}"/>
              </a:ext>
            </a:extLst>
          </p:cNvPr>
          <p:cNvSpPr/>
          <p:nvPr/>
        </p:nvSpPr>
        <p:spPr>
          <a:xfrm>
            <a:off x="1322676" y="4861102"/>
            <a:ext cx="386902" cy="383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217CA6-EE88-7461-192C-B345D3E3B9C4}"/>
              </a:ext>
            </a:extLst>
          </p:cNvPr>
          <p:cNvSpPr/>
          <p:nvPr/>
        </p:nvSpPr>
        <p:spPr>
          <a:xfrm>
            <a:off x="2898978" y="4859644"/>
            <a:ext cx="386902" cy="383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B61BEB-3432-3310-7AD9-E551E8C2B2B0}"/>
              </a:ext>
            </a:extLst>
          </p:cNvPr>
          <p:cNvSpPr/>
          <p:nvPr/>
        </p:nvSpPr>
        <p:spPr>
          <a:xfrm>
            <a:off x="4475281" y="4859643"/>
            <a:ext cx="386902" cy="3835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pic>
        <p:nvPicPr>
          <p:cNvPr id="32" name="Picture 2" descr="Opérateur mobile : notre comparateur forfait mobile ...">
            <a:extLst>
              <a:ext uri="{FF2B5EF4-FFF2-40B4-BE49-F238E27FC236}">
                <a16:creationId xmlns:a16="http://schemas.microsoft.com/office/drawing/2014/main" id="{88C8D169-F1B8-992D-F67A-CCB5DAAA99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28"/>
          <a:stretch/>
        </p:blipFill>
        <p:spPr bwMode="auto">
          <a:xfrm>
            <a:off x="4028581" y="1682535"/>
            <a:ext cx="567305" cy="54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e réseau mobile en France, quelles différences entre opérateurs ?">
            <a:extLst>
              <a:ext uri="{FF2B5EF4-FFF2-40B4-BE49-F238E27FC236}">
                <a16:creationId xmlns:a16="http://schemas.microsoft.com/office/drawing/2014/main" id="{E8C2976C-FEF5-9B65-DAC0-BECE5F23F5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39111" y="1677034"/>
            <a:ext cx="1149663" cy="55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Le réseau mobile en France, quelles différences entre opérateurs ?">
            <a:extLst>
              <a:ext uri="{FF2B5EF4-FFF2-40B4-BE49-F238E27FC236}">
                <a16:creationId xmlns:a16="http://schemas.microsoft.com/office/drawing/2014/main" id="{9A5C7E74-91F8-C66C-0D17-B072E9584B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43194" y="1687515"/>
            <a:ext cx="512135" cy="50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Le réseau mobile en France, quelles différences entre opérateurs ?">
            <a:extLst>
              <a:ext uri="{FF2B5EF4-FFF2-40B4-BE49-F238E27FC236}">
                <a16:creationId xmlns:a16="http://schemas.microsoft.com/office/drawing/2014/main" id="{1CB098BC-1643-0AD6-686D-07B3C26D92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763085" y="1672228"/>
            <a:ext cx="856657" cy="4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7ADCB0A-8C8B-28AC-497D-553F6E9811E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818BB7-90ED-0A8D-4079-83677D566C82}"/>
              </a:ext>
            </a:extLst>
          </p:cNvPr>
          <p:cNvSpPr/>
          <p:nvPr/>
        </p:nvSpPr>
        <p:spPr>
          <a:xfrm>
            <a:off x="706462" y="1312978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7A9CB9-C273-1020-6892-666C5547CE5D}"/>
              </a:ext>
            </a:extLst>
          </p:cNvPr>
          <p:cNvSpPr/>
          <p:nvPr/>
        </p:nvSpPr>
        <p:spPr>
          <a:xfrm>
            <a:off x="698406" y="4239522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68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7DB2-D475-4835-402E-CC238A85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DAD9AD6A-7344-3151-5E84-B6C0A7833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207012"/>
              </p:ext>
            </p:extLst>
          </p:nvPr>
        </p:nvGraphicFramePr>
        <p:xfrm>
          <a:off x="983707" y="1736678"/>
          <a:ext cx="8930450" cy="295458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353780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356188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273996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1037690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613042">
                  <a:extLst>
                    <a:ext uri="{9D8B030D-6E8A-4147-A177-3AD203B41FA5}">
                      <a16:colId xmlns:a16="http://schemas.microsoft.com/office/drawing/2014/main" val="1191447353"/>
                    </a:ext>
                  </a:extLst>
                </a:gridCol>
                <a:gridCol w="1232899">
                  <a:extLst>
                    <a:ext uri="{9D8B030D-6E8A-4147-A177-3AD203B41FA5}">
                      <a16:colId xmlns:a16="http://schemas.microsoft.com/office/drawing/2014/main" val="872859464"/>
                    </a:ext>
                  </a:extLst>
                </a:gridCol>
                <a:gridCol w="1062855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Numéros / Flotte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Téléphone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Opérateur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Type de forfait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de satisfaction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Date d’engagement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C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28449E7-94F1-B97A-4039-741CAA2892B4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22C15C4-968C-5EC3-D888-4FFC87132EA4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TÉLÉPHONIE MOBILE</a:t>
            </a:r>
          </a:p>
        </p:txBody>
      </p:sp>
      <p:pic>
        <p:nvPicPr>
          <p:cNvPr id="22" name="Image 21" descr="Une image contenant capture d’écran, conception&#10;&#10;Description générée automatiquement">
            <a:extLst>
              <a:ext uri="{FF2B5EF4-FFF2-40B4-BE49-F238E27FC236}">
                <a16:creationId xmlns:a16="http://schemas.microsoft.com/office/drawing/2014/main" id="{9238EBDE-5CF2-E2F7-67FD-85366FCC77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117" y="231461"/>
            <a:ext cx="720000" cy="720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EC9E242-54EC-BF6C-B547-968B12417B1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98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re 1">
            <a:extLst>
              <a:ext uri="{FF2B5EF4-FFF2-40B4-BE49-F238E27FC236}">
                <a16:creationId xmlns:a16="http://schemas.microsoft.com/office/drawing/2014/main" id="{717C764F-72BF-24A0-BABF-272EE83644B3}"/>
              </a:ext>
            </a:extLst>
          </p:cNvPr>
          <p:cNvSpPr txBox="1">
            <a:spLocks/>
          </p:cNvSpPr>
          <p:nvPr/>
        </p:nvSpPr>
        <p:spPr>
          <a:xfrm>
            <a:off x="1407168" y="353999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PARE-FEU (FIREWALL)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B57BD0-7045-865D-D13F-DCAE3E90875F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pic>
        <p:nvPicPr>
          <p:cNvPr id="19" name="Image 18" descr="Une image contenant capture d’écran, Graphique, symbole, graphisme&#10;&#10;Le contenu généré par l’IA peut être incorrect.">
            <a:extLst>
              <a:ext uri="{FF2B5EF4-FFF2-40B4-BE49-F238E27FC236}">
                <a16:creationId xmlns:a16="http://schemas.microsoft.com/office/drawing/2014/main" id="{06036DD5-DC1F-C823-B0D6-B4A72921E1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38" y="232951"/>
            <a:ext cx="720000" cy="720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5CE39DD-0326-8B5D-188E-74C4EBD5BF12}"/>
              </a:ext>
            </a:extLst>
          </p:cNvPr>
          <p:cNvSpPr/>
          <p:nvPr/>
        </p:nvSpPr>
        <p:spPr>
          <a:xfrm>
            <a:off x="770463" y="4457969"/>
            <a:ext cx="4776797" cy="286875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1FE506-E87F-A46B-C660-075DC2AE06E3}"/>
              </a:ext>
            </a:extLst>
          </p:cNvPr>
          <p:cNvSpPr txBox="1"/>
          <p:nvPr/>
        </p:nvSpPr>
        <p:spPr>
          <a:xfrm>
            <a:off x="647431" y="4311654"/>
            <a:ext cx="52908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SOURCES D’ACCÈS VERS LE RÉSEAU EXTERNE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1EFAF7-2230-7519-2554-7B321CAC337C}"/>
              </a:ext>
            </a:extLst>
          </p:cNvPr>
          <p:cNvSpPr/>
          <p:nvPr/>
        </p:nvSpPr>
        <p:spPr>
          <a:xfrm>
            <a:off x="705167" y="1512044"/>
            <a:ext cx="4776797" cy="2583056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A7D8D14-3729-14D4-0FD5-E684F849CBB6}"/>
              </a:ext>
            </a:extLst>
          </p:cNvPr>
          <p:cNvSpPr txBox="1"/>
          <p:nvPr/>
        </p:nvSpPr>
        <p:spPr>
          <a:xfrm>
            <a:off x="3652835" y="4330468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0E5994C-6DB7-593A-BB4B-1189BF6AC824}"/>
              </a:ext>
            </a:extLst>
          </p:cNvPr>
          <p:cNvSpPr txBox="1"/>
          <p:nvPr/>
        </p:nvSpPr>
        <p:spPr>
          <a:xfrm>
            <a:off x="1874577" y="2582571"/>
            <a:ext cx="1147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collaborateurs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7AA373A-1BDD-3CAF-48B5-82A02FABB08C}"/>
              </a:ext>
            </a:extLst>
          </p:cNvPr>
          <p:cNvSpPr txBox="1"/>
          <p:nvPr/>
        </p:nvSpPr>
        <p:spPr>
          <a:xfrm>
            <a:off x="3252169" y="2582820"/>
            <a:ext cx="798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Part de mobilité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C84FE2-C496-4DB9-AF4E-786EF7A83839}"/>
              </a:ext>
            </a:extLst>
          </p:cNvPr>
          <p:cNvSpPr/>
          <p:nvPr/>
        </p:nvSpPr>
        <p:spPr>
          <a:xfrm>
            <a:off x="3292835" y="3063562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EA70C91-FD33-3649-1241-349ACE1670EE}"/>
              </a:ext>
            </a:extLst>
          </p:cNvPr>
          <p:cNvSpPr txBox="1"/>
          <p:nvPr/>
        </p:nvSpPr>
        <p:spPr>
          <a:xfrm>
            <a:off x="647431" y="1305923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7DE0D3-5191-3445-99F6-0CF00372A6FA}"/>
              </a:ext>
            </a:extLst>
          </p:cNvPr>
          <p:cNvSpPr/>
          <p:nvPr/>
        </p:nvSpPr>
        <p:spPr>
          <a:xfrm>
            <a:off x="2066918" y="3063562"/>
            <a:ext cx="720000" cy="7200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93437C7-8584-9534-22A9-A9E69543DF44}"/>
              </a:ext>
            </a:extLst>
          </p:cNvPr>
          <p:cNvSpPr txBox="1"/>
          <p:nvPr/>
        </p:nvSpPr>
        <p:spPr>
          <a:xfrm>
            <a:off x="858125" y="1708748"/>
            <a:ext cx="1857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Présence d’un pare-feu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Marque :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09BEA1-3C31-EE49-FE70-434AF194B48D}"/>
              </a:ext>
            </a:extLst>
          </p:cNvPr>
          <p:cNvSpPr/>
          <p:nvPr/>
        </p:nvSpPr>
        <p:spPr>
          <a:xfrm>
            <a:off x="6358198" y="1058601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FD433E26-0823-44E6-BA76-1780F864952E}"/>
              </a:ext>
            </a:extLst>
          </p:cNvPr>
          <p:cNvSpPr txBox="1"/>
          <p:nvPr/>
        </p:nvSpPr>
        <p:spPr>
          <a:xfrm>
            <a:off x="6354960" y="832436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CF3A05-D12C-4B1A-97B0-76CD0E1294C4}"/>
              </a:ext>
            </a:extLst>
          </p:cNvPr>
          <p:cNvSpPr/>
          <p:nvPr/>
        </p:nvSpPr>
        <p:spPr>
          <a:xfrm>
            <a:off x="6354960" y="3002645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FDFC87A-CCF1-C9B7-84BB-3FC237F673BC}"/>
              </a:ext>
            </a:extLst>
          </p:cNvPr>
          <p:cNvSpPr txBox="1"/>
          <p:nvPr/>
        </p:nvSpPr>
        <p:spPr>
          <a:xfrm>
            <a:off x="6354960" y="2776480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184990-8941-F6E6-7E23-2EAFD069831C}"/>
              </a:ext>
            </a:extLst>
          </p:cNvPr>
          <p:cNvSpPr/>
          <p:nvPr/>
        </p:nvSpPr>
        <p:spPr>
          <a:xfrm>
            <a:off x="6354960" y="5060688"/>
            <a:ext cx="2033017" cy="152400"/>
          </a:xfrm>
          <a:prstGeom prst="rect">
            <a:avLst/>
          </a:prstGeom>
          <a:solidFill>
            <a:srgbClr val="EE73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3954F1C-6A7F-79C4-697E-408238FF3B1A}"/>
              </a:ext>
            </a:extLst>
          </p:cNvPr>
          <p:cNvSpPr txBox="1"/>
          <p:nvPr/>
        </p:nvSpPr>
        <p:spPr>
          <a:xfrm>
            <a:off x="6354960" y="4834523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43" name="Rectangle 1">
            <a:extLst>
              <a:ext uri="{FF2B5EF4-FFF2-40B4-BE49-F238E27FC236}">
                <a16:creationId xmlns:a16="http://schemas.microsoft.com/office/drawing/2014/main" id="{337457AB-C441-E236-C871-A07EC54BA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439" y="1108144"/>
            <a:ext cx="401470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Capacité de filtrage insuffisante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protection avancée (antivirus, IDS/IPS,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sandboxing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Absence de VPN sécurisé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supervision et d’alertes en temps réel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Pare-feu vieillissant / non compatible avec les besoins actuels</a:t>
            </a:r>
          </a:p>
        </p:txBody>
      </p:sp>
      <p:sp>
        <p:nvSpPr>
          <p:cNvPr id="44" name="Rectangle 1">
            <a:extLst>
              <a:ext uri="{FF2B5EF4-FFF2-40B4-BE49-F238E27FC236}">
                <a16:creationId xmlns:a16="http://schemas.microsoft.com/office/drawing/2014/main" id="{5AA96EBE-7CF0-4491-5CC5-2573A059D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438" y="3174279"/>
            <a:ext cx="292900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Passage à un pare-feu Next-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Gen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(NGFW)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d’une protection avancée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Ajout de VPN sécurisé pour le télétravail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Surveillance et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reporting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 en temps réel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Redondance et haute disponibilité</a:t>
            </a:r>
          </a:p>
        </p:txBody>
      </p:sp>
      <p:sp>
        <p:nvSpPr>
          <p:cNvPr id="45" name="Rectangle 1">
            <a:extLst>
              <a:ext uri="{FF2B5EF4-FFF2-40B4-BE49-F238E27FC236}">
                <a16:creationId xmlns:a16="http://schemas.microsoft.com/office/drawing/2014/main" id="{58BDEC43-0A97-BD90-161C-A51065BFB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439" y="5100134"/>
            <a:ext cx="388626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Protection contre les cyberattaques (ransomware, phishing, DDoS)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Conformité réglementaire (RGPD, ISO 27001, PCI-DSS)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Besoin d’un monitoring en temps réel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Gestion des accès et des droits utilisateurs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FB573EB-E01D-27B2-15AC-81DB44082F43}"/>
              </a:ext>
            </a:extLst>
          </p:cNvPr>
          <p:cNvSpPr/>
          <p:nvPr/>
        </p:nvSpPr>
        <p:spPr>
          <a:xfrm>
            <a:off x="3823185" y="5549404"/>
            <a:ext cx="1033940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CAMERA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7181C2A-EA8E-8A4F-EA7D-89A5AD087FD0}"/>
              </a:ext>
            </a:extLst>
          </p:cNvPr>
          <p:cNvSpPr/>
          <p:nvPr/>
        </p:nvSpPr>
        <p:spPr>
          <a:xfrm>
            <a:off x="2227160" y="6711856"/>
            <a:ext cx="1590463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VISIO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E163F2B-E6AD-BF9E-90C9-6EA17716E573}"/>
              </a:ext>
            </a:extLst>
          </p:cNvPr>
          <p:cNvSpPr/>
          <p:nvPr/>
        </p:nvSpPr>
        <p:spPr>
          <a:xfrm>
            <a:off x="987907" y="5568082"/>
            <a:ext cx="1242235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SOFTPHONIE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5754323-2D95-99A5-A6F7-8E4FE4072CC8}"/>
              </a:ext>
            </a:extLst>
          </p:cNvPr>
          <p:cNvSpPr/>
          <p:nvPr/>
        </p:nvSpPr>
        <p:spPr>
          <a:xfrm>
            <a:off x="2401274" y="5549404"/>
            <a:ext cx="1242234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ORDINATEUR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DEFBD09-D56A-EFC7-580E-4AB9CFF58EDD}"/>
              </a:ext>
            </a:extLst>
          </p:cNvPr>
          <p:cNvSpPr/>
          <p:nvPr/>
        </p:nvSpPr>
        <p:spPr>
          <a:xfrm>
            <a:off x="813793" y="6726903"/>
            <a:ext cx="1590463" cy="253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SERVEURS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E35F19-CE82-9A51-F202-CE10BCB83D55}"/>
              </a:ext>
            </a:extLst>
          </p:cNvPr>
          <p:cNvSpPr/>
          <p:nvPr/>
        </p:nvSpPr>
        <p:spPr>
          <a:xfrm>
            <a:off x="3544924" y="6658163"/>
            <a:ext cx="1590463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Arial Nova" panose="020B0504020202020204" pitchFamily="34" charset="0"/>
              </a:rPr>
              <a:t>CONNEXION LOGICIELLE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E2EB4F7-859F-1074-149B-E9127E080B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pic>
        <p:nvPicPr>
          <p:cNvPr id="6" name="Graphique 5">
            <a:extLst>
              <a:ext uri="{FF2B5EF4-FFF2-40B4-BE49-F238E27FC236}">
                <a16:creationId xmlns:a16="http://schemas.microsoft.com/office/drawing/2014/main" id="{0A38BD89-7A57-4058-1A8D-9B36D4CD7A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6628" y="4912839"/>
            <a:ext cx="527054" cy="508004"/>
          </a:xfrm>
          <a:prstGeom prst="rect">
            <a:avLst/>
          </a:prstGeom>
        </p:spPr>
      </p:pic>
      <p:pic>
        <p:nvPicPr>
          <p:cNvPr id="36" name="Graphique 35">
            <a:extLst>
              <a:ext uri="{FF2B5EF4-FFF2-40B4-BE49-F238E27FC236}">
                <a16:creationId xmlns:a16="http://schemas.microsoft.com/office/drawing/2014/main" id="{28F01290-97CC-5ADD-0732-311C28A564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7705" y="6096757"/>
            <a:ext cx="553779" cy="553779"/>
          </a:xfrm>
          <a:prstGeom prst="rect">
            <a:avLst/>
          </a:prstGeom>
        </p:spPr>
      </p:pic>
      <p:pic>
        <p:nvPicPr>
          <p:cNvPr id="49" name="Graphique 48">
            <a:extLst>
              <a:ext uri="{FF2B5EF4-FFF2-40B4-BE49-F238E27FC236}">
                <a16:creationId xmlns:a16="http://schemas.microsoft.com/office/drawing/2014/main" id="{5822A904-514D-B24B-B5B8-3309DC9D98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7705" y="4973534"/>
            <a:ext cx="527054" cy="512413"/>
          </a:xfrm>
          <a:prstGeom prst="rect">
            <a:avLst/>
          </a:prstGeom>
        </p:spPr>
      </p:pic>
      <p:pic>
        <p:nvPicPr>
          <p:cNvPr id="51" name="Graphique 50">
            <a:extLst>
              <a:ext uri="{FF2B5EF4-FFF2-40B4-BE49-F238E27FC236}">
                <a16:creationId xmlns:a16="http://schemas.microsoft.com/office/drawing/2014/main" id="{92942DB1-2CD3-67FF-7F05-7B306B15DA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08499" y="4984957"/>
            <a:ext cx="684336" cy="473279"/>
          </a:xfrm>
          <a:prstGeom prst="rect">
            <a:avLst/>
          </a:prstGeom>
        </p:spPr>
      </p:pic>
      <p:pic>
        <p:nvPicPr>
          <p:cNvPr id="55" name="Graphique 54">
            <a:extLst>
              <a:ext uri="{FF2B5EF4-FFF2-40B4-BE49-F238E27FC236}">
                <a16:creationId xmlns:a16="http://schemas.microsoft.com/office/drawing/2014/main" id="{C4B6C757-64D8-6B5A-F7CC-03251A9D81D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53050" y="6014542"/>
            <a:ext cx="687483" cy="648198"/>
          </a:xfrm>
          <a:prstGeom prst="rect">
            <a:avLst/>
          </a:prstGeom>
        </p:spPr>
      </p:pic>
      <p:pic>
        <p:nvPicPr>
          <p:cNvPr id="57" name="Graphique 56">
            <a:extLst>
              <a:ext uri="{FF2B5EF4-FFF2-40B4-BE49-F238E27FC236}">
                <a16:creationId xmlns:a16="http://schemas.microsoft.com/office/drawing/2014/main" id="{100CD1F4-2644-572F-AB2E-E7C67881C1F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72478" y="6075452"/>
            <a:ext cx="620357" cy="570729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19E57F6E-CC8D-DF19-093E-C2ACD9AF3426}"/>
              </a:ext>
            </a:extLst>
          </p:cNvPr>
          <p:cNvSpPr/>
          <p:nvPr/>
        </p:nvSpPr>
        <p:spPr>
          <a:xfrm>
            <a:off x="541607" y="1315577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A31B1EF-A586-72D6-75CD-8885DA918449}"/>
              </a:ext>
            </a:extLst>
          </p:cNvPr>
          <p:cNvSpPr/>
          <p:nvPr/>
        </p:nvSpPr>
        <p:spPr>
          <a:xfrm>
            <a:off x="549008" y="4320993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996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FB48-743F-23E4-626C-FA3EBE4CD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E2871D27-8B1E-27FE-C527-2B250F8A3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401537"/>
              </p:ext>
            </p:extLst>
          </p:nvPr>
        </p:nvGraphicFramePr>
        <p:xfrm>
          <a:off x="1271709" y="1830547"/>
          <a:ext cx="8370185" cy="295458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598767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2006163987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685435">
                  <a:extLst>
                    <a:ext uri="{9D8B030D-6E8A-4147-A177-3AD203B41FA5}">
                      <a16:colId xmlns:a16="http://schemas.microsoft.com/office/drawing/2014/main" val="1191447353"/>
                    </a:ext>
                  </a:extLst>
                </a:gridCol>
                <a:gridCol w="1711363">
                  <a:extLst>
                    <a:ext uri="{9D8B030D-6E8A-4147-A177-3AD203B41FA5}">
                      <a16:colId xmlns:a16="http://schemas.microsoft.com/office/drawing/2014/main" val="872859464"/>
                    </a:ext>
                  </a:extLst>
                </a:gridCol>
                <a:gridCol w="1470890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Nbe</a:t>
                      </a:r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 collab.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Pare-feu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de satisfaction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Date d’engagement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9FF9E9E-32DB-5E70-4E03-8E21B6EF8563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D21768F-437D-5312-EA5F-A2E05A319F6B}"/>
              </a:ext>
            </a:extLst>
          </p:cNvPr>
          <p:cNvSpPr txBox="1">
            <a:spLocks/>
          </p:cNvSpPr>
          <p:nvPr/>
        </p:nvSpPr>
        <p:spPr>
          <a:xfrm>
            <a:off x="1407168" y="353999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PARE-FEU (FIREWALL)</a:t>
            </a:r>
          </a:p>
        </p:txBody>
      </p:sp>
      <p:pic>
        <p:nvPicPr>
          <p:cNvPr id="9" name="Image 8" descr="Une image contenant capture d’écran, Graphique, symbole, graphisme&#10;&#10;Le contenu généré par l’IA peut être incorrect.">
            <a:extLst>
              <a:ext uri="{FF2B5EF4-FFF2-40B4-BE49-F238E27FC236}">
                <a16:creationId xmlns:a16="http://schemas.microsoft.com/office/drawing/2014/main" id="{0010E3C5-1BD4-181B-8499-B43D825282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38" y="232951"/>
            <a:ext cx="720000" cy="720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0EBA55F-DB71-2856-1425-34C9B13185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98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6F1A9-CF6B-2FD9-0E3C-A1004E463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DF3977A3-71DE-1589-7E7C-32E68598D16D}"/>
              </a:ext>
            </a:extLst>
          </p:cNvPr>
          <p:cNvSpPr/>
          <p:nvPr/>
        </p:nvSpPr>
        <p:spPr>
          <a:xfrm>
            <a:off x="890220" y="1344187"/>
            <a:ext cx="4776797" cy="2427085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B02DBEB-8B37-9E3C-A954-E0A46812D214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FIBRE &amp; TRÈS HAUT DÉBIT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F7C3016-4007-ECDF-1D6D-56ACC0E184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FD220C01-7241-09A8-BFB2-46B202294372}"/>
              </a:ext>
            </a:extLst>
          </p:cNvPr>
          <p:cNvSpPr txBox="1"/>
          <p:nvPr/>
        </p:nvSpPr>
        <p:spPr>
          <a:xfrm>
            <a:off x="1457713" y="2385477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potentiels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813A7C0-7AAA-A564-E7C7-1C26989175D9}"/>
              </a:ext>
            </a:extLst>
          </p:cNvPr>
          <p:cNvSpPr txBox="1"/>
          <p:nvPr/>
        </p:nvSpPr>
        <p:spPr>
          <a:xfrm>
            <a:off x="2662068" y="2385817"/>
            <a:ext cx="119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Nb utilisateurs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simultanés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920C81-72D3-1CF2-088F-597AC1E10C01}"/>
              </a:ext>
            </a:extLst>
          </p:cNvPr>
          <p:cNvSpPr/>
          <p:nvPr/>
        </p:nvSpPr>
        <p:spPr>
          <a:xfrm>
            <a:off x="2897615" y="2866468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C95BB5-F1B1-3FD7-46B8-43062D591FE1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0A24B76-2848-0A86-627F-1BDEC22B81A7}"/>
              </a:ext>
            </a:extLst>
          </p:cNvPr>
          <p:cNvSpPr txBox="1"/>
          <p:nvPr/>
        </p:nvSpPr>
        <p:spPr>
          <a:xfrm>
            <a:off x="789926" y="1210863"/>
            <a:ext cx="3082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VOTRE ÉQUIPEMENT ACTUEL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795A010-2563-31CE-9451-3E098058E75F}"/>
              </a:ext>
            </a:extLst>
          </p:cNvPr>
          <p:cNvSpPr/>
          <p:nvPr/>
        </p:nvSpPr>
        <p:spPr>
          <a:xfrm>
            <a:off x="1671698" y="2866468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C345C55C-DEF0-4A20-88AC-571DFDBF8DC1}"/>
              </a:ext>
            </a:extLst>
          </p:cNvPr>
          <p:cNvSpPr txBox="1"/>
          <p:nvPr/>
        </p:nvSpPr>
        <p:spPr>
          <a:xfrm>
            <a:off x="1117360" y="1625360"/>
            <a:ext cx="994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Solution :</a:t>
            </a:r>
          </a:p>
          <a:p>
            <a:endParaRPr lang="fr-FR" sz="1200" dirty="0">
              <a:latin typeface="Arial Nova" panose="020B0504020202020204" pitchFamily="34" charset="0"/>
            </a:endParaRPr>
          </a:p>
          <a:p>
            <a:r>
              <a:rPr lang="fr-FR" sz="1200" dirty="0">
                <a:latin typeface="Arial Nova" panose="020B0504020202020204" pitchFamily="34" charset="0"/>
              </a:rPr>
              <a:t>Prestataire :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7C7617FC-5A1E-E6D4-7459-6F78AA51D7CD}"/>
              </a:ext>
            </a:extLst>
          </p:cNvPr>
          <p:cNvSpPr txBox="1"/>
          <p:nvPr/>
        </p:nvSpPr>
        <p:spPr>
          <a:xfrm>
            <a:off x="4062437" y="2375172"/>
            <a:ext cx="941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Niveau de </a:t>
            </a:r>
          </a:p>
          <a:p>
            <a:pPr algn="ctr"/>
            <a:r>
              <a:rPr lang="fr-FR" sz="1200" dirty="0"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FFBEC17-0C22-5B65-9481-5C399A8D9764}"/>
              </a:ext>
            </a:extLst>
          </p:cNvPr>
          <p:cNvSpPr/>
          <p:nvPr/>
        </p:nvSpPr>
        <p:spPr>
          <a:xfrm>
            <a:off x="4173300" y="2855823"/>
            <a:ext cx="720000" cy="720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7F81795-874F-4057-4C60-131857A1A685}"/>
              </a:ext>
            </a:extLst>
          </p:cNvPr>
          <p:cNvSpPr/>
          <p:nvPr/>
        </p:nvSpPr>
        <p:spPr>
          <a:xfrm>
            <a:off x="6366321" y="1106867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061FEB0-56AF-27B5-5ED0-B09D859D439B}"/>
              </a:ext>
            </a:extLst>
          </p:cNvPr>
          <p:cNvSpPr txBox="1"/>
          <p:nvPr/>
        </p:nvSpPr>
        <p:spPr>
          <a:xfrm>
            <a:off x="6363083" y="880702"/>
            <a:ext cx="2268582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Limites actuelles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86CE51D-5019-37BA-561C-870919FE4163}"/>
              </a:ext>
            </a:extLst>
          </p:cNvPr>
          <p:cNvSpPr/>
          <p:nvPr/>
        </p:nvSpPr>
        <p:spPr>
          <a:xfrm>
            <a:off x="6363083" y="3050911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62BE72A4-1E0F-752C-85CC-CCEB51F32E82}"/>
              </a:ext>
            </a:extLst>
          </p:cNvPr>
          <p:cNvSpPr txBox="1"/>
          <p:nvPr/>
        </p:nvSpPr>
        <p:spPr>
          <a:xfrm>
            <a:off x="6363083" y="2824746"/>
            <a:ext cx="281385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Évolutions attendues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2F667C0-5AC5-4DD5-F3EC-8971EDB34826}"/>
              </a:ext>
            </a:extLst>
          </p:cNvPr>
          <p:cNvSpPr/>
          <p:nvPr/>
        </p:nvSpPr>
        <p:spPr>
          <a:xfrm>
            <a:off x="6363083" y="5108954"/>
            <a:ext cx="2033017" cy="1524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B23E2EAD-0806-EFCF-438B-1BCCBDF1ED51}"/>
              </a:ext>
            </a:extLst>
          </p:cNvPr>
          <p:cNvSpPr txBox="1"/>
          <p:nvPr/>
        </p:nvSpPr>
        <p:spPr>
          <a:xfrm>
            <a:off x="6363083" y="4882789"/>
            <a:ext cx="3197171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2143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Enjeux de sécurité/criticité</a:t>
            </a:r>
          </a:p>
        </p:txBody>
      </p:sp>
      <p:sp>
        <p:nvSpPr>
          <p:cNvPr id="75" name="Rectangle 1">
            <a:extLst>
              <a:ext uri="{FF2B5EF4-FFF2-40B4-BE49-F238E27FC236}">
                <a16:creationId xmlns:a16="http://schemas.microsoft.com/office/drawing/2014/main" id="{7AA6F202-4614-B922-FE1A-493084164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561" y="1156410"/>
            <a:ext cx="386035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Débit insuffisant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Coupures fréquentes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Latence élevée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Manque de redondance / backup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Absence de QoS (priorisation des flux)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Non évolutif (limite technique de l’infrastructure actuelle)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Coût élevé par rapport aux besoins</a:t>
            </a:r>
          </a:p>
        </p:txBody>
      </p:sp>
      <p:sp>
        <p:nvSpPr>
          <p:cNvPr id="76" name="Rectangle 1">
            <a:extLst>
              <a:ext uri="{FF2B5EF4-FFF2-40B4-BE49-F238E27FC236}">
                <a16:creationId xmlns:a16="http://schemas.microsoft.com/office/drawing/2014/main" id="{8E06D6F6-214B-80FE-820D-979A51ACF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561" y="3222545"/>
            <a:ext cx="3738524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Passage à un débit supérieur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Mise en place d’un lien de backup (4G/5G, autre fibre)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Priorisation des flux (QoS)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Optimisation des coûts et flexibilité des abonnements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Intégration avec SD-WAN</a:t>
            </a:r>
          </a:p>
        </p:txBody>
      </p:sp>
      <p:sp>
        <p:nvSpPr>
          <p:cNvPr id="77" name="Rectangle 1">
            <a:extLst>
              <a:ext uri="{FF2B5EF4-FFF2-40B4-BE49-F238E27FC236}">
                <a16:creationId xmlns:a16="http://schemas.microsoft.com/office/drawing/2014/main" id="{F6DB03E9-6C8B-C10D-112D-8A995AC87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837" y="5359328"/>
            <a:ext cx="3578224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Risque d’interruption impactant la productivité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Données sensibles circulant sur le réseau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Besoin de garantie de service (SLA, GTR)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94B57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B0504020202020204" pitchFamily="34" charset="0"/>
              </a:rPr>
              <a:t>Nécessité de redondance pour assurer la continuité</a:t>
            </a:r>
            <a:endParaRPr lang="fr-FR" altLang="fr-FR" sz="1100" dirty="0">
              <a:latin typeface="Arial Nova" panose="020B05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E807018-3382-1D07-F2BC-39548C9B03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DD7AEFFC-29AA-CB00-1DDF-906A3B73B4F0}"/>
              </a:ext>
            </a:extLst>
          </p:cNvPr>
          <p:cNvSpPr txBox="1"/>
          <p:nvPr/>
        </p:nvSpPr>
        <p:spPr>
          <a:xfrm>
            <a:off x="748488" y="3979629"/>
            <a:ext cx="1494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latin typeface="Arial Nova" panose="020B0504020202020204" pitchFamily="34" charset="0"/>
              </a:rPr>
              <a:t>VOS USAGES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85F58F9-2117-973E-BF6E-6A2D13C8F632}"/>
              </a:ext>
            </a:extLst>
          </p:cNvPr>
          <p:cNvSpPr txBox="1"/>
          <p:nvPr/>
        </p:nvSpPr>
        <p:spPr>
          <a:xfrm>
            <a:off x="3772592" y="3989104"/>
            <a:ext cx="184731" cy="40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371A82A-A4FB-DF40-A257-6801447426B2}"/>
              </a:ext>
            </a:extLst>
          </p:cNvPr>
          <p:cNvSpPr/>
          <p:nvPr/>
        </p:nvSpPr>
        <p:spPr>
          <a:xfrm>
            <a:off x="707094" y="1249013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C25D8F1-80BC-BD8B-82F0-30C4A34FFA67}"/>
              </a:ext>
            </a:extLst>
          </p:cNvPr>
          <p:cNvSpPr/>
          <p:nvPr/>
        </p:nvSpPr>
        <p:spPr>
          <a:xfrm>
            <a:off x="657813" y="3995692"/>
            <a:ext cx="97643" cy="306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 Nova" panose="020B05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608BA73-F175-CA67-2896-148E9E38ACCB}"/>
              </a:ext>
            </a:extLst>
          </p:cNvPr>
          <p:cNvSpPr txBox="1"/>
          <p:nvPr/>
        </p:nvSpPr>
        <p:spPr>
          <a:xfrm>
            <a:off x="1574101" y="4992689"/>
            <a:ext cx="849913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Téléphonie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2C1E20D-BFA8-5A44-6C48-53835F260BB3}"/>
              </a:ext>
            </a:extLst>
          </p:cNvPr>
          <p:cNvSpPr txBox="1"/>
          <p:nvPr/>
        </p:nvSpPr>
        <p:spPr>
          <a:xfrm>
            <a:off x="564282" y="5033190"/>
            <a:ext cx="712054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Logiciels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44F1701-047C-DBAD-1921-8A9B5D0B12C0}"/>
              </a:ext>
            </a:extLst>
          </p:cNvPr>
          <p:cNvSpPr txBox="1"/>
          <p:nvPr/>
        </p:nvSpPr>
        <p:spPr>
          <a:xfrm>
            <a:off x="2696022" y="4972266"/>
            <a:ext cx="872355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Messagerie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73CB78A-8EBE-862C-39A0-0B473AD3C6D5}"/>
              </a:ext>
            </a:extLst>
          </p:cNvPr>
          <p:cNvSpPr txBox="1"/>
          <p:nvPr/>
        </p:nvSpPr>
        <p:spPr>
          <a:xfrm>
            <a:off x="3873160" y="5036621"/>
            <a:ext cx="946093" cy="416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2" dirty="0">
                <a:latin typeface="Arial Nova" panose="020B0504020202020204" pitchFamily="34" charset="0"/>
              </a:rPr>
              <a:t>Sauvegarde externe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01B4B79-98FB-4043-F761-08E270336B7C}"/>
              </a:ext>
            </a:extLst>
          </p:cNvPr>
          <p:cNvSpPr txBox="1"/>
          <p:nvPr/>
        </p:nvSpPr>
        <p:spPr>
          <a:xfrm>
            <a:off x="1433385" y="2585388"/>
            <a:ext cx="449162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VPN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260A06E7-6087-E358-FFD2-854C24D1F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5930" y="1862145"/>
            <a:ext cx="581025" cy="638175"/>
          </a:xfrm>
          <a:prstGeom prst="rect">
            <a:avLst/>
          </a:prstGeom>
        </p:spPr>
      </p:pic>
      <p:pic>
        <p:nvPicPr>
          <p:cNvPr id="17" name="Graphique 16">
            <a:extLst>
              <a:ext uri="{FF2B5EF4-FFF2-40B4-BE49-F238E27FC236}">
                <a16:creationId xmlns:a16="http://schemas.microsoft.com/office/drawing/2014/main" id="{50639633-B337-D603-F73E-B7D1DDC4D1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5214" y="4499162"/>
            <a:ext cx="473555" cy="45601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8CF39EAC-B7FB-A65F-F337-4BCC1319E5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63569" y="4497335"/>
            <a:ext cx="351717" cy="440196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C0F144F5-5A11-FAE8-34D4-26187C3A2E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525" y="4502140"/>
            <a:ext cx="545849" cy="474027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7BF94158-EBF0-5EB6-F72D-ECBA5980C4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36657" y="4528720"/>
            <a:ext cx="419100" cy="41910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929DBE4-F609-8B0C-D7E5-C4BC77033A5D}"/>
              </a:ext>
            </a:extLst>
          </p:cNvPr>
          <p:cNvSpPr txBox="1"/>
          <p:nvPr/>
        </p:nvSpPr>
        <p:spPr>
          <a:xfrm>
            <a:off x="1819414" y="6160303"/>
            <a:ext cx="407484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Wifi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1DCEDAD-D0D4-91A7-D5A1-C4C78181CDF1}"/>
              </a:ext>
            </a:extLst>
          </p:cNvPr>
          <p:cNvSpPr txBox="1"/>
          <p:nvPr/>
        </p:nvSpPr>
        <p:spPr>
          <a:xfrm>
            <a:off x="740729" y="7261896"/>
            <a:ext cx="683200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Sécurité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E90D0F2-37CB-DA5D-DDDF-3609C49E8AB7}"/>
              </a:ext>
            </a:extLst>
          </p:cNvPr>
          <p:cNvSpPr txBox="1"/>
          <p:nvPr/>
        </p:nvSpPr>
        <p:spPr>
          <a:xfrm>
            <a:off x="4079672" y="6136313"/>
            <a:ext cx="471604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Visio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BC481F6-C57E-FF1A-B5BE-C0D16FE39E05}"/>
              </a:ext>
            </a:extLst>
          </p:cNvPr>
          <p:cNvSpPr txBox="1"/>
          <p:nvPr/>
        </p:nvSpPr>
        <p:spPr>
          <a:xfrm>
            <a:off x="2791958" y="6085189"/>
            <a:ext cx="870751" cy="416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52" dirty="0">
                <a:latin typeface="Arial Nova" panose="020B0504020202020204" pitchFamily="34" charset="0"/>
              </a:rPr>
              <a:t>Partage de </a:t>
            </a:r>
          </a:p>
          <a:p>
            <a:pPr algn="ctr"/>
            <a:r>
              <a:rPr lang="fr-FR" sz="1052" dirty="0">
                <a:latin typeface="Arial Nova" panose="020B0504020202020204" pitchFamily="34" charset="0"/>
              </a:rPr>
              <a:t>données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7AF18F6-7A83-90E9-E5F8-367713B1AB21}"/>
              </a:ext>
            </a:extLst>
          </p:cNvPr>
          <p:cNvSpPr txBox="1"/>
          <p:nvPr/>
        </p:nvSpPr>
        <p:spPr>
          <a:xfrm>
            <a:off x="756107" y="6226897"/>
            <a:ext cx="449162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VPN</a:t>
            </a:r>
          </a:p>
        </p:txBody>
      </p:sp>
      <p:pic>
        <p:nvPicPr>
          <p:cNvPr id="27" name="Graphique 26">
            <a:extLst>
              <a:ext uri="{FF2B5EF4-FFF2-40B4-BE49-F238E27FC236}">
                <a16:creationId xmlns:a16="http://schemas.microsoft.com/office/drawing/2014/main" id="{5D7F89E2-BCF3-02DD-90C6-B6BF1CE4788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26293" y="5564768"/>
            <a:ext cx="584890" cy="473555"/>
          </a:xfrm>
          <a:prstGeom prst="rect">
            <a:avLst/>
          </a:prstGeom>
        </p:spPr>
      </p:pic>
      <p:pic>
        <p:nvPicPr>
          <p:cNvPr id="30" name="Graphique 29">
            <a:extLst>
              <a:ext uri="{FF2B5EF4-FFF2-40B4-BE49-F238E27FC236}">
                <a16:creationId xmlns:a16="http://schemas.microsoft.com/office/drawing/2014/main" id="{26454014-47B4-B41E-73FE-EDE811D56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2" y="5503654"/>
            <a:ext cx="581025" cy="638175"/>
          </a:xfrm>
          <a:prstGeom prst="rect">
            <a:avLst/>
          </a:prstGeom>
        </p:spPr>
      </p:pic>
      <p:pic>
        <p:nvPicPr>
          <p:cNvPr id="31" name="Graphique 30">
            <a:extLst>
              <a:ext uri="{FF2B5EF4-FFF2-40B4-BE49-F238E27FC236}">
                <a16:creationId xmlns:a16="http://schemas.microsoft.com/office/drawing/2014/main" id="{A93E9760-BEA2-EACF-4D6F-B2AE4F58E8C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42499" y="5563078"/>
            <a:ext cx="545952" cy="411985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5B348A7B-78C8-DB48-2F02-8730E6C4A79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046061" y="5557931"/>
            <a:ext cx="570379" cy="536827"/>
          </a:xfrm>
          <a:prstGeom prst="rect">
            <a:avLst/>
          </a:prstGeom>
        </p:spPr>
      </p:pic>
      <p:pic>
        <p:nvPicPr>
          <p:cNvPr id="33" name="Graphique 32">
            <a:extLst>
              <a:ext uri="{FF2B5EF4-FFF2-40B4-BE49-F238E27FC236}">
                <a16:creationId xmlns:a16="http://schemas.microsoft.com/office/drawing/2014/main" id="{A4457351-2C22-6870-E2D0-A17FAAD5D7F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246044" y="5778433"/>
            <a:ext cx="146942" cy="224735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592DF008-FBE7-6EF2-C714-E68C7BB885C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4471" y="6639854"/>
            <a:ext cx="504825" cy="552450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BD984F06-2250-0A93-B441-26F106434DDB}"/>
              </a:ext>
            </a:extLst>
          </p:cNvPr>
          <p:cNvSpPr txBox="1"/>
          <p:nvPr/>
        </p:nvSpPr>
        <p:spPr>
          <a:xfrm>
            <a:off x="1582760" y="7182348"/>
            <a:ext cx="946093" cy="416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52" dirty="0">
                <a:latin typeface="Arial Nova" panose="020B0504020202020204" pitchFamily="34" charset="0"/>
              </a:rPr>
              <a:t>Caméras de </a:t>
            </a:r>
          </a:p>
          <a:p>
            <a:pPr algn="ctr"/>
            <a:r>
              <a:rPr lang="fr-FR" sz="1052" dirty="0">
                <a:latin typeface="Arial Nova" panose="020B0504020202020204" pitchFamily="34" charset="0"/>
              </a:rPr>
              <a:t>surveillance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83F6069-0673-2714-3964-706D5B8F503D}"/>
              </a:ext>
            </a:extLst>
          </p:cNvPr>
          <p:cNvSpPr txBox="1"/>
          <p:nvPr/>
        </p:nvSpPr>
        <p:spPr>
          <a:xfrm>
            <a:off x="2617962" y="7217049"/>
            <a:ext cx="1168910" cy="25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Domotique / IOT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8BD15BCE-716D-F669-F6B6-9156F62427E8}"/>
              </a:ext>
            </a:extLst>
          </p:cNvPr>
          <p:cNvSpPr txBox="1"/>
          <p:nvPr/>
        </p:nvSpPr>
        <p:spPr>
          <a:xfrm>
            <a:off x="4046061" y="7097368"/>
            <a:ext cx="845103" cy="416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2" dirty="0">
                <a:latin typeface="Arial Nova" panose="020B0504020202020204" pitchFamily="34" charset="0"/>
              </a:rPr>
              <a:t>Affichage </a:t>
            </a:r>
          </a:p>
          <a:p>
            <a:r>
              <a:rPr lang="fr-FR" sz="1052" dirty="0">
                <a:latin typeface="Arial Nova" panose="020B0504020202020204" pitchFamily="34" charset="0"/>
              </a:rPr>
              <a:t>dynamique</a:t>
            </a:r>
          </a:p>
        </p:txBody>
      </p:sp>
      <p:pic>
        <p:nvPicPr>
          <p:cNvPr id="53" name="Graphique 52">
            <a:extLst>
              <a:ext uri="{FF2B5EF4-FFF2-40B4-BE49-F238E27FC236}">
                <a16:creationId xmlns:a16="http://schemas.microsoft.com/office/drawing/2014/main" id="{6CA8D62E-C0D6-ADD5-0228-FA5210F32EF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156309" y="6608134"/>
            <a:ext cx="417407" cy="416140"/>
          </a:xfrm>
          <a:prstGeom prst="rect">
            <a:avLst/>
          </a:prstGeom>
        </p:spPr>
      </p:pic>
      <p:pic>
        <p:nvPicPr>
          <p:cNvPr id="54" name="Graphique 53">
            <a:extLst>
              <a:ext uri="{FF2B5EF4-FFF2-40B4-BE49-F238E27FC236}">
                <a16:creationId xmlns:a16="http://schemas.microsoft.com/office/drawing/2014/main" id="{AF9985E0-41D0-115D-E32C-EAD588FCC41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818195" y="6679227"/>
            <a:ext cx="431745" cy="416140"/>
          </a:xfrm>
          <a:prstGeom prst="rect">
            <a:avLst/>
          </a:prstGeom>
        </p:spPr>
      </p:pic>
      <p:pic>
        <p:nvPicPr>
          <p:cNvPr id="55" name="Graphique 54">
            <a:extLst>
              <a:ext uri="{FF2B5EF4-FFF2-40B4-BE49-F238E27FC236}">
                <a16:creationId xmlns:a16="http://schemas.microsoft.com/office/drawing/2014/main" id="{44629EEC-95E9-B8A9-61C8-FBB77624570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871493" y="6631202"/>
            <a:ext cx="527655" cy="52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13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7DDF-B395-351A-B3D7-36D2BA17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094E691-1A27-8720-25F1-C663067B2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582628"/>
              </p:ext>
            </p:extLst>
          </p:nvPr>
        </p:nvGraphicFramePr>
        <p:xfrm>
          <a:off x="684893" y="1810517"/>
          <a:ext cx="9611678" cy="295458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766386">
                  <a:extLst>
                    <a:ext uri="{9D8B030D-6E8A-4147-A177-3AD203B41FA5}">
                      <a16:colId xmlns:a16="http://schemas.microsoft.com/office/drawing/2014/main" val="3615684430"/>
                    </a:ext>
                  </a:extLst>
                </a:gridCol>
                <a:gridCol w="1929283">
                  <a:extLst>
                    <a:ext uri="{9D8B030D-6E8A-4147-A177-3AD203B41FA5}">
                      <a16:colId xmlns:a16="http://schemas.microsoft.com/office/drawing/2014/main" val="1240341726"/>
                    </a:ext>
                  </a:extLst>
                </a:gridCol>
                <a:gridCol w="1712491">
                  <a:extLst>
                    <a:ext uri="{9D8B030D-6E8A-4147-A177-3AD203B41FA5}">
                      <a16:colId xmlns:a16="http://schemas.microsoft.com/office/drawing/2014/main" val="3418675952"/>
                    </a:ext>
                  </a:extLst>
                </a:gridCol>
                <a:gridCol w="1882603">
                  <a:extLst>
                    <a:ext uri="{9D8B030D-6E8A-4147-A177-3AD203B41FA5}">
                      <a16:colId xmlns:a16="http://schemas.microsoft.com/office/drawing/2014/main" val="3217757275"/>
                    </a:ext>
                  </a:extLst>
                </a:gridCol>
                <a:gridCol w="1204162">
                  <a:extLst>
                    <a:ext uri="{9D8B030D-6E8A-4147-A177-3AD203B41FA5}">
                      <a16:colId xmlns:a16="http://schemas.microsoft.com/office/drawing/2014/main" val="1507821284"/>
                    </a:ext>
                  </a:extLst>
                </a:gridCol>
                <a:gridCol w="1116753">
                  <a:extLst>
                    <a:ext uri="{9D8B030D-6E8A-4147-A177-3AD203B41FA5}">
                      <a16:colId xmlns:a16="http://schemas.microsoft.com/office/drawing/2014/main" val="3064555056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Adresse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Lien principal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Lien de secours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Satisfaction débit / 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Engagement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Coût mensuel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410505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86584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455821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3978"/>
                  </a:ext>
                </a:extLst>
              </a:tr>
              <a:tr h="421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53535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915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C433A22-6B3C-B44A-31C4-5C6E9F51A269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9DE8F63-1F71-1DC7-E572-5936B541BDF0}"/>
              </a:ext>
            </a:extLst>
          </p:cNvPr>
          <p:cNvSpPr txBox="1">
            <a:spLocks/>
          </p:cNvSpPr>
          <p:nvPr/>
        </p:nvSpPr>
        <p:spPr>
          <a:xfrm>
            <a:off x="1320435" y="310646"/>
            <a:ext cx="4049634" cy="4779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Votre situation actuelle</a:t>
            </a:r>
          </a:p>
          <a:p>
            <a:pPr defTabSz="781976"/>
            <a:r>
              <a:rPr lang="fr-FR" sz="2051" dirty="0">
                <a:solidFill>
                  <a:srgbClr val="323231"/>
                </a:solidFill>
                <a:latin typeface="Century Gothic" panose="020B0502020202020204" pitchFamily="34" charset="0"/>
              </a:rPr>
              <a:t>FIBRE &amp; TRÈS HAUT DÉBIT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5B66D54-4FFD-DB90-43EF-B41505012F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640" y="225433"/>
            <a:ext cx="720000" cy="720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F949B8C-BD38-47F6-586D-1366AA2020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7678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1177</Words>
  <Application>Microsoft Office PowerPoint</Application>
  <PresentationFormat>Personnalisé</PresentationFormat>
  <Paragraphs>326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Nova</vt:lpstr>
      <vt:lpstr>Calibri</vt:lpstr>
      <vt:lpstr>Calibri Light</vt:lpstr>
      <vt:lpstr>Century Gothic</vt:lpstr>
      <vt:lpstr>2_Thème Office 2013 – 2022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Jeremy TREDANT</cp:lastModifiedBy>
  <cp:revision>72</cp:revision>
  <dcterms:created xsi:type="dcterms:W3CDTF">2024-10-29T15:06:39Z</dcterms:created>
  <dcterms:modified xsi:type="dcterms:W3CDTF">2026-01-08T20:21:29Z</dcterms:modified>
</cp:coreProperties>
</file>