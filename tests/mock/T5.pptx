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4641" r:id="rId4"/>
  </p:sldMasterIdLst>
  <p:notesMasterIdLst>
    <p:notesMasterId r:id="rId12"/>
  </p:notesMasterIdLst>
  <p:handoutMasterIdLst>
    <p:handoutMasterId r:id="rId13"/>
  </p:handoutMasterIdLst>
  <p:sldIdLst>
    <p:sldId id="2147471230" r:id="rId5"/>
    <p:sldId id="2147471231" r:id="rId6"/>
    <p:sldId id="2147471232" r:id="rId7"/>
    <p:sldId id="2147471233" r:id="rId8"/>
    <p:sldId id="2147471234" r:id="rId9"/>
    <p:sldId id="2147471235" r:id="rId10"/>
    <p:sldId id="2147471236" r:id="rId11"/>
  </p:sldIdLst>
  <p:sldSz cx="9906000" cy="6858000" type="A4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2A0"/>
    <a:srgbClr val="EE7203"/>
    <a:srgbClr val="0184B3"/>
    <a:srgbClr val="232651"/>
    <a:srgbClr val="EEEEED"/>
    <a:srgbClr val="6E398E"/>
    <a:srgbClr val="136999"/>
    <a:srgbClr val="1F5F93"/>
    <a:srgbClr val="5F408F"/>
    <a:srgbClr val="5048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3D67E8-DEEC-4D9A-89CD-393F0B8DA771}" v="6" dt="2026-03-02T17:39:55.810"/>
    <p1510:client id="{0EF6CEA5-01C4-4B86-8FFD-C7E4856D4A9D}" v="1" dt="2026-03-02T17:59:13.407"/>
    <p1510:client id="{A0D381A8-E85A-4AE3-BBB8-7E095746C347}" v="6" dt="2026-03-02T16:50:11.8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Style clair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Style léger 3 - Accentuation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Style léger 3 - Accentuation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Style léger 3 - Accentuation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Style léger 3 - Accentuation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Style léger 2 - Accentuation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Style léger 2 - Accentuation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Style léger 2 - Accentuation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46F890A9-2807-4EBB-B81D-B2AA78EC7F39}" styleName="Style foncé 2 - Accentuation 5/Accentuation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Style foncé 2 - Accentuation 3/Accentuation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Style foncé 2 - Accentuation 1/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AF606853-7671-496A-8E4F-DF71F8EC918B}" styleName="Style foncé 1 - Accentuation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Style foncé 1 - Accentuation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Style foncé 1 - Accentuation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CAF9ED-07DC-4A11-8D7F-57B35C25682E}" styleName="Style moyen 1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B9631B5-78F2-41C9-869B-9F39066F8104}" styleName="Style moyen 3 - Accentuation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Style moyen 3 - Accentuation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Style moyen 3 - Accentuation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2838BEF-8BB2-4498-84A7-C5851F593DF1}" styleName="Style moyen 4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Style moyen 4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22" autoAdjust="0"/>
    <p:restoredTop sz="92009" autoAdjust="0"/>
  </p:normalViewPr>
  <p:slideViewPr>
    <p:cSldViewPr snapToGrid="0" snapToObjects="1">
      <p:cViewPr varScale="1">
        <p:scale>
          <a:sx n="82" d="100"/>
          <a:sy n="82" d="100"/>
        </p:scale>
        <p:origin x="1517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4CCF17EA-0750-734A-AB11-C6BE1C8AAC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F0DFD55-BF47-FF46-B218-E7875DE3F9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47F726-697A-44D7-82CE-E417D31DFDAB}" type="datetime1">
              <a:rPr lang="fr-FR" smtClean="0"/>
              <a:t>02/03/2026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A1EE19C-D9E5-DB44-B446-8FDAA5BDC8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2F731E4-1D5B-314A-B092-D1F67DB42BB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ED4A2-F628-8E49-B2EA-02C47A6111C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4669659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45CB05-50CD-4A3A-A163-9590CC578EA9}" type="datetime1">
              <a:rPr lang="fr-FR" smtClean="0"/>
              <a:t>02/03/2026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9F9A8-5C53-684F-A7CC-57EADD1FE40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7405859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À demander à Emmanuel de m’envoyer les éléments contractuels pour unifier le </a:t>
            </a:r>
            <a:r>
              <a:rPr lang="fr-FR" dirty="0" err="1"/>
              <a:t>wording</a:t>
            </a: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i="1" dirty="0"/>
              <a:t>Conditions à boucler avec les équipes télécom sur les prestations</a:t>
            </a:r>
          </a:p>
          <a:p>
            <a:r>
              <a:rPr lang="fr-FR" sz="1200" i="1" dirty="0"/>
              <a:t>+ affichage des SLA</a:t>
            </a:r>
          </a:p>
          <a:p>
            <a:r>
              <a:rPr lang="fr-FR" sz="1200" i="1" dirty="0"/>
              <a:t>Services managés (slide à part ?)</a:t>
            </a:r>
          </a:p>
          <a:p>
            <a:r>
              <a:rPr lang="fr-FR" sz="1200" i="1" dirty="0"/>
              <a:t>Horaires standards</a:t>
            </a:r>
          </a:p>
          <a:p>
            <a:r>
              <a:rPr lang="fr-FR" sz="1200" i="1" dirty="0"/>
              <a:t>		étendus</a:t>
            </a:r>
          </a:p>
          <a:p>
            <a:r>
              <a:rPr lang="fr-FR" sz="1200" i="1" dirty="0"/>
              <a:t>		24/7 (que sur certains éléments)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0EF67D-F771-43F2-9BC9-8E012AD24F8E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9738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1358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8032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U 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31">
            <a:extLst>
              <a:ext uri="{FF2B5EF4-FFF2-40B4-BE49-F238E27FC236}">
                <a16:creationId xmlns:a16="http://schemas.microsoft.com/office/drawing/2014/main" id="{01D4BEEE-C528-26A8-8441-EC58C49F22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5593" y="683268"/>
            <a:ext cx="3948447" cy="6029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71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votre titre</a:t>
            </a:r>
          </a:p>
        </p:txBody>
      </p:sp>
      <p:sp>
        <p:nvSpPr>
          <p:cNvPr id="2" name="Espace réservé du texte 6">
            <a:extLst>
              <a:ext uri="{FF2B5EF4-FFF2-40B4-BE49-F238E27FC236}">
                <a16:creationId xmlns:a16="http://schemas.microsoft.com/office/drawing/2014/main" id="{C75EC255-9E3E-FDA9-8664-14249714B5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5594" y="1524004"/>
            <a:ext cx="4421233" cy="4670605"/>
          </a:xfrm>
          <a:prstGeom prst="rect">
            <a:avLst/>
          </a:prstGeom>
        </p:spPr>
        <p:txBody>
          <a:bodyPr/>
          <a:lstStyle>
            <a:lvl1pPr marL="136408" indent="-136408">
              <a:buClr>
                <a:schemeClr val="bg2"/>
              </a:buClr>
              <a:buFont typeface="Arial Nova" panose="020B0504020202020204" pitchFamily="34" charset="0"/>
              <a:buChar char="&gt;"/>
              <a:defRPr sz="1432">
                <a:latin typeface="+mn-lt"/>
              </a:defRPr>
            </a:lvl1pPr>
            <a:lvl2pPr marL="409224" indent="-136408">
              <a:buClr>
                <a:schemeClr val="bg2"/>
              </a:buClr>
              <a:buFont typeface="Arial Nova" panose="020B0504020202020204" pitchFamily="34" charset="0"/>
              <a:buChar char="&gt;"/>
              <a:defRPr sz="1194">
                <a:latin typeface="+mn-lt"/>
              </a:defRPr>
            </a:lvl2pPr>
            <a:lvl3pPr marL="682040" indent="-136408">
              <a:buClr>
                <a:schemeClr val="bg2"/>
              </a:buClr>
              <a:buFont typeface="Arial Nova" panose="020B0504020202020204" pitchFamily="34" charset="0"/>
              <a:buChar char="&gt;"/>
              <a:defRPr sz="1074">
                <a:latin typeface="+mn-lt"/>
              </a:defRPr>
            </a:lvl3pPr>
            <a:lvl4pPr marL="954857" indent="-136408">
              <a:buClr>
                <a:schemeClr val="bg2"/>
              </a:buClr>
              <a:buFont typeface="Arial Nova" panose="020B0504020202020204" pitchFamily="34" charset="0"/>
              <a:buChar char="&gt;"/>
              <a:defRPr sz="836">
                <a:latin typeface="+mn-lt"/>
              </a:defRPr>
            </a:lvl4pPr>
            <a:lvl5pPr marL="1227673" indent="-136408">
              <a:buClr>
                <a:schemeClr val="bg2"/>
              </a:buClr>
              <a:buFont typeface="Arial Nova" panose="020B0504020202020204" pitchFamily="34" charset="0"/>
              <a:buChar char="&gt;"/>
              <a:defRPr sz="836">
                <a:latin typeface="+mn-lt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pour une image  4">
            <a:extLst>
              <a:ext uri="{FF2B5EF4-FFF2-40B4-BE49-F238E27FC236}">
                <a16:creationId xmlns:a16="http://schemas.microsoft.com/office/drawing/2014/main" id="{874A3F1B-998C-6FEB-BC1D-019E6E18139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730496" y="1524004"/>
            <a:ext cx="3304657" cy="391636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marL="0" marR="0" lvl="0" indent="0" algn="l" defTabSz="545633" rtl="0" eaLnBrk="1" fontAlgn="auto" latinLnBrk="0" hangingPunct="1">
              <a:lnSpc>
                <a:spcPct val="90000"/>
              </a:lnSpc>
              <a:spcBef>
                <a:spcPts val="59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une image si vous le souhaitez</a:t>
            </a:r>
          </a:p>
        </p:txBody>
      </p:sp>
    </p:spTree>
    <p:extLst>
      <p:ext uri="{BB962C8B-B14F-4D97-AF65-F5344CB8AC3E}">
        <p14:creationId xmlns:p14="http://schemas.microsoft.com/office/powerpoint/2010/main" val="3557983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10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FE09E2-9F57-A6A4-944D-D29F2D0666C2}"/>
              </a:ext>
            </a:extLst>
          </p:cNvPr>
          <p:cNvSpPr/>
          <p:nvPr userDrawn="1"/>
        </p:nvSpPr>
        <p:spPr>
          <a:xfrm>
            <a:off x="1" y="-11430"/>
            <a:ext cx="161818" cy="686943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63" dirty="0"/>
          </a:p>
        </p:txBody>
      </p:sp>
    </p:spTree>
    <p:extLst>
      <p:ext uri="{BB962C8B-B14F-4D97-AF65-F5344CB8AC3E}">
        <p14:creationId xmlns:p14="http://schemas.microsoft.com/office/powerpoint/2010/main" val="957534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42" r:id="rId1"/>
    <p:sldLayoutId id="2147484643" r:id="rId2"/>
    <p:sldLayoutId id="2147484644" r:id="rId3"/>
  </p:sldLayoutIdLst>
  <p:hf hdr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2925" b="1" i="0" kern="1200">
          <a:solidFill>
            <a:schemeClr val="tx1"/>
          </a:solidFill>
          <a:latin typeface="+mj-lt"/>
          <a:ea typeface="Microsoft YaHei UI" panose="020B0400000000000000" pitchFamily="34" charset="-122"/>
          <a:cs typeface="Arial" panose="020B0604020202020204" pitchFamily="34" charset="0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Clr>
          <a:schemeClr val="tx2"/>
        </a:buClr>
        <a:buFont typeface="Arial" panose="020B0604020202020204" pitchFamily="34" charset="0"/>
        <a:buChar char="•"/>
        <a:defRPr sz="2113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788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625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463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300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4B2D1-1D4C-E4DF-BC76-A8665B738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538D3C9-4009-71B1-AB23-7B238D380B58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>
              <a:defRPr/>
            </a:pPr>
            <a:endParaRPr lang="fr-F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A9DE743-FBE7-7DE6-D94A-E737B0397E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3" r="6072" b="6495"/>
          <a:stretch/>
        </p:blipFill>
        <p:spPr>
          <a:xfrm>
            <a:off x="8950338" y="6001442"/>
            <a:ext cx="707670" cy="70767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72550CD-BD70-C2B4-BE56-5F62CDA9CB4C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rgbClr val="E94B5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>
              <a:defRPr/>
            </a:pPr>
            <a:endParaRPr lang="fr-FR" sz="1633" kern="0" dirty="0">
              <a:solidFill>
                <a:srgbClr val="F7A823"/>
              </a:solidFill>
              <a:latin typeface="Calibri" panose="020F0502020204030204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273145C-9520-BDA5-7554-FF48D65B7412}"/>
              </a:ext>
            </a:extLst>
          </p:cNvPr>
          <p:cNvSpPr txBox="1"/>
          <p:nvPr/>
        </p:nvSpPr>
        <p:spPr>
          <a:xfrm>
            <a:off x="7397885" y="37983"/>
            <a:ext cx="2404826" cy="231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414772">
              <a:defRPr/>
            </a:pPr>
            <a:r>
              <a:rPr lang="fr-FR" sz="907" dirty="0">
                <a:solidFill>
                  <a:srgbClr val="434341"/>
                </a:solidFill>
                <a:latin typeface="Arial Nova" panose="020B0504020202020204" pitchFamily="34" charset="0"/>
              </a:rPr>
              <a:t>| Notre solution technique – Téléphonie fixe</a:t>
            </a:r>
          </a:p>
        </p:txBody>
      </p:sp>
      <p:sp>
        <p:nvSpPr>
          <p:cNvPr id="18" name="ZoneTexte 61">
            <a:extLst>
              <a:ext uri="{FF2B5EF4-FFF2-40B4-BE49-F238E27FC236}">
                <a16:creationId xmlns:a16="http://schemas.microsoft.com/office/drawing/2014/main" id="{B9131FC0-7C40-3C8B-D8B6-F03ABB6E7CFC}"/>
              </a:ext>
            </a:extLst>
          </p:cNvPr>
          <p:cNvSpPr txBox="1"/>
          <p:nvPr/>
        </p:nvSpPr>
        <p:spPr>
          <a:xfrm>
            <a:off x="674485" y="1076188"/>
            <a:ext cx="8393884" cy="315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buClr>
                <a:srgbClr val="F7A823"/>
              </a:buClr>
              <a:defRPr/>
            </a:pPr>
            <a:r>
              <a:rPr lang="fr-FR" sz="1452" b="1" dirty="0">
                <a:solidFill>
                  <a:srgbClr val="6E398E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Service Maintenance Premium Utilisateur </a:t>
            </a:r>
            <a:r>
              <a:rPr lang="fr-FR" sz="1452" b="1" dirty="0">
                <a:solidFill>
                  <a:srgbClr val="6E398E"/>
                </a:solidFill>
                <a:highlight>
                  <a:srgbClr val="FFFF00"/>
                </a:highlight>
                <a:latin typeface="Arial Nova" panose="020B0504020202020204" pitchFamily="34" charset="0"/>
                <a:cs typeface="Arial" panose="020B0604020202020204" pitchFamily="34" charset="0"/>
              </a:rPr>
              <a:t>(Achat)</a:t>
            </a:r>
          </a:p>
        </p:txBody>
      </p:sp>
      <p:sp>
        <p:nvSpPr>
          <p:cNvPr id="19" name="Espace réservé du contenu 2">
            <a:extLst>
              <a:ext uri="{FF2B5EF4-FFF2-40B4-BE49-F238E27FC236}">
                <a16:creationId xmlns:a16="http://schemas.microsoft.com/office/drawing/2014/main" id="{A7A12248-D472-166B-6AE0-BF9C6F320101}"/>
              </a:ext>
            </a:extLst>
          </p:cNvPr>
          <p:cNvSpPr>
            <a:spLocks noGrp="1"/>
          </p:cNvSpPr>
          <p:nvPr/>
        </p:nvSpPr>
        <p:spPr>
          <a:xfrm>
            <a:off x="674485" y="1436752"/>
            <a:ext cx="5225962" cy="1559558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600" b="1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0" i="1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829544">
              <a:spcBef>
                <a:spcPts val="907"/>
              </a:spcBef>
              <a:buClr>
                <a:srgbClr val="F7A823"/>
              </a:buClr>
              <a:buNone/>
              <a:defRPr/>
            </a:pP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</a:rPr>
              <a:t>Ayez l’esprit tranquille</a:t>
            </a:r>
            <a:r>
              <a:rPr lang="fr-FR" sz="1089" b="0" dirty="0">
                <a:solidFill>
                  <a:srgbClr val="434341"/>
                </a:solidFill>
                <a:latin typeface="Arial Nova" panose="020B0504020202020204" pitchFamily="34" charset="0"/>
              </a:rPr>
              <a:t>, Koesio vous offre un service exclusif, de qualité, clé en main. Ce service vous garantit de vous référer à un seul interlocuteur en matière de téléphonie et de trouver une réponse rapide à vos problématiques grâce à des équipes dédiées à votre structure. </a:t>
            </a:r>
          </a:p>
          <a:p>
            <a:pPr marL="0" indent="0" defTabSz="829544">
              <a:spcBef>
                <a:spcPts val="907"/>
              </a:spcBef>
              <a:buClr>
                <a:srgbClr val="F7A823"/>
              </a:buClr>
              <a:buNone/>
              <a:defRPr/>
            </a:pPr>
            <a:br>
              <a:rPr lang="fr-FR" sz="1089" b="0" dirty="0">
                <a:solidFill>
                  <a:srgbClr val="434341"/>
                </a:solidFill>
                <a:latin typeface="Arial Nova" panose="020B0504020202020204" pitchFamily="34" charset="0"/>
              </a:rPr>
            </a:br>
            <a:r>
              <a:rPr lang="fr-FR" sz="1089" b="0" dirty="0">
                <a:solidFill>
                  <a:srgbClr val="434341"/>
                </a:solidFill>
                <a:latin typeface="Arial Nova" panose="020B0504020202020204" pitchFamily="34" charset="0"/>
              </a:rPr>
              <a:t>Ce service </a:t>
            </a: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</a:rPr>
              <a:t>est inclus dans votre offre </a:t>
            </a:r>
            <a:r>
              <a:rPr lang="fr-FR" sz="1089" b="0" dirty="0">
                <a:solidFill>
                  <a:srgbClr val="434341"/>
                </a:solidFill>
                <a:latin typeface="Arial Nova" panose="020B0504020202020204" pitchFamily="34" charset="0"/>
              </a:rPr>
              <a:t>et n’est pas optionnel, soyez tranquille, Koesio se charge de votre système.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3A76875C-00B9-50CE-3B48-BEB8C269FC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2099" y="2125804"/>
            <a:ext cx="3445531" cy="5166805"/>
          </a:xfrm>
          <a:prstGeom prst="rect">
            <a:avLst/>
          </a:prstGeom>
        </p:spPr>
      </p:pic>
      <p:sp>
        <p:nvSpPr>
          <p:cNvPr id="21" name="Espace réservé du texte 26">
            <a:extLst>
              <a:ext uri="{FF2B5EF4-FFF2-40B4-BE49-F238E27FC236}">
                <a16:creationId xmlns:a16="http://schemas.microsoft.com/office/drawing/2014/main" id="{88A3E137-A1B8-534D-C84E-BFBC6FAA7CC7}"/>
              </a:ext>
            </a:extLst>
          </p:cNvPr>
          <p:cNvSpPr txBox="1">
            <a:spLocks/>
          </p:cNvSpPr>
          <p:nvPr/>
        </p:nvSpPr>
        <p:spPr>
          <a:xfrm>
            <a:off x="674484" y="169908"/>
            <a:ext cx="7854254" cy="723254"/>
          </a:xfrm>
          <a:prstGeom prst="rect">
            <a:avLst/>
          </a:prstGeom>
        </p:spPr>
        <p:txBody>
          <a:bodyPr vert="horz" lIns="82953" tIns="41476" rIns="82953" bIns="41476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905" dirty="0">
                <a:solidFill>
                  <a:srgbClr val="434341"/>
                </a:solidFill>
                <a:latin typeface="Century Gothic" panose="020B0502020202020204" pitchFamily="34" charset="0"/>
              </a:rPr>
              <a:t>La solution</a:t>
            </a:r>
          </a:p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633" b="0" dirty="0">
                <a:solidFill>
                  <a:srgbClr val="434341"/>
                </a:solidFill>
                <a:latin typeface="Century Gothic" panose="020B0502020202020204" pitchFamily="34" charset="0"/>
              </a:rPr>
              <a:t>NOS SERVICES DE MAINTIEN EN CONDITIONS OPÉRATIONNELLES</a:t>
            </a:r>
          </a:p>
        </p:txBody>
      </p:sp>
      <p:pic>
        <p:nvPicPr>
          <p:cNvPr id="22" name="Image 21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CD01D238-A94C-4262-FCCF-23B974F790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0824" y="208235"/>
            <a:ext cx="975983" cy="24399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F3BAA7BB-D2E5-D033-5E8D-330B126B3552}"/>
              </a:ext>
            </a:extLst>
          </p:cNvPr>
          <p:cNvSpPr/>
          <p:nvPr/>
        </p:nvSpPr>
        <p:spPr>
          <a:xfrm>
            <a:off x="1415899" y="3669139"/>
            <a:ext cx="1608645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srgbClr val="FFFFFF"/>
                </a:solidFill>
                <a:latin typeface="Arial Nova" panose="020B0504020202020204" pitchFamily="34" charset="0"/>
              </a:rPr>
              <a:t>Maitrise des coûts</a:t>
            </a:r>
          </a:p>
        </p:txBody>
      </p:sp>
      <p:sp>
        <p:nvSpPr>
          <p:cNvPr id="25" name="ZoneTexte 59">
            <a:extLst>
              <a:ext uri="{FF2B5EF4-FFF2-40B4-BE49-F238E27FC236}">
                <a16:creationId xmlns:a16="http://schemas.microsoft.com/office/drawing/2014/main" id="{E8A23022-7732-BEC4-6D2E-436D3AC4896B}"/>
              </a:ext>
            </a:extLst>
          </p:cNvPr>
          <p:cNvSpPr txBox="1"/>
          <p:nvPr/>
        </p:nvSpPr>
        <p:spPr>
          <a:xfrm>
            <a:off x="1358692" y="3984101"/>
            <a:ext cx="2203104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Prestation incluant une prise en charge de la main d’œuvre et des déplacements.</a:t>
            </a:r>
          </a:p>
        </p:txBody>
      </p:sp>
      <p:sp>
        <p:nvSpPr>
          <p:cNvPr id="31" name="ZoneTexte 60">
            <a:extLst>
              <a:ext uri="{FF2B5EF4-FFF2-40B4-BE49-F238E27FC236}">
                <a16:creationId xmlns:a16="http://schemas.microsoft.com/office/drawing/2014/main" id="{C0C28FD8-C2C9-BD69-A196-2757F9725EBA}"/>
              </a:ext>
            </a:extLst>
          </p:cNvPr>
          <p:cNvSpPr txBox="1"/>
          <p:nvPr/>
        </p:nvSpPr>
        <p:spPr>
          <a:xfrm>
            <a:off x="4325080" y="3972330"/>
            <a:ext cx="2093232" cy="7627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Des équipes dédiées à votre entreprise prêtes à vous répondre dans les meilleurs délais pour vos télégestions</a:t>
            </a:r>
          </a:p>
        </p:txBody>
      </p:sp>
      <p:sp>
        <p:nvSpPr>
          <p:cNvPr id="32" name="ZoneTexte 65">
            <a:extLst>
              <a:ext uri="{FF2B5EF4-FFF2-40B4-BE49-F238E27FC236}">
                <a16:creationId xmlns:a16="http://schemas.microsoft.com/office/drawing/2014/main" id="{B264E8CE-5EBF-A318-2BA2-6A647634F2A5}"/>
              </a:ext>
            </a:extLst>
          </p:cNvPr>
          <p:cNvSpPr txBox="1"/>
          <p:nvPr/>
        </p:nvSpPr>
        <p:spPr>
          <a:xfrm>
            <a:off x="4325081" y="5612240"/>
            <a:ext cx="1865827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Vous avez une demande ?</a:t>
            </a:r>
          </a:p>
          <a:p>
            <a:pPr defTabSz="414772">
              <a:defRPr/>
            </a:pPr>
            <a:r>
              <a:rPr lang="fr-FR" sz="1089" dirty="0" err="1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Koesio</a:t>
            </a: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 est votre seul interlocuteur</a:t>
            </a:r>
          </a:p>
        </p:txBody>
      </p:sp>
      <p:sp>
        <p:nvSpPr>
          <p:cNvPr id="40" name="ZoneTexte 68">
            <a:extLst>
              <a:ext uri="{FF2B5EF4-FFF2-40B4-BE49-F238E27FC236}">
                <a16:creationId xmlns:a16="http://schemas.microsoft.com/office/drawing/2014/main" id="{7951DBC5-EB38-4124-F9BD-B0A0196FF3E2}"/>
              </a:ext>
            </a:extLst>
          </p:cNvPr>
          <p:cNvSpPr txBox="1"/>
          <p:nvPr/>
        </p:nvSpPr>
        <p:spPr>
          <a:xfrm>
            <a:off x="1358693" y="5618873"/>
            <a:ext cx="1951639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Une gestion de tous vos incidents pour vous apporter une meilleure disponibilité</a:t>
            </a:r>
          </a:p>
        </p:txBody>
      </p:sp>
      <p:sp>
        <p:nvSpPr>
          <p:cNvPr id="41" name="Espace réservé du contenu 2">
            <a:extLst>
              <a:ext uri="{FF2B5EF4-FFF2-40B4-BE49-F238E27FC236}">
                <a16:creationId xmlns:a16="http://schemas.microsoft.com/office/drawing/2014/main" id="{AA4593D0-D1E8-E0B9-FAF1-B973D558E2B4}"/>
              </a:ext>
            </a:extLst>
          </p:cNvPr>
          <p:cNvSpPr txBox="1">
            <a:spLocks/>
          </p:cNvSpPr>
          <p:nvPr/>
        </p:nvSpPr>
        <p:spPr>
          <a:xfrm>
            <a:off x="674485" y="3145633"/>
            <a:ext cx="2683471" cy="187092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14772">
              <a:defRPr/>
            </a:pPr>
            <a:r>
              <a:rPr lang="fr-FR" sz="1270" u="sng" dirty="0">
                <a:solidFill>
                  <a:srgbClr val="E84957"/>
                </a:solidFill>
                <a:latin typeface="Arial Nova" panose="020B0504020202020204" pitchFamily="34" charset="0"/>
              </a:rPr>
              <a:t>Ce qui est inclus dans votre offre :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ED13BF8-5673-D124-6008-FAE4C3C9E609}"/>
              </a:ext>
            </a:extLst>
          </p:cNvPr>
          <p:cNvSpPr/>
          <p:nvPr/>
        </p:nvSpPr>
        <p:spPr>
          <a:xfrm>
            <a:off x="4399255" y="3664442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srgbClr val="FFFFFF"/>
                </a:solidFill>
                <a:latin typeface="Arial Nova" panose="020B0504020202020204" pitchFamily="34" charset="0"/>
              </a:rPr>
              <a:t>Réactivité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8711CCC-2382-A43D-E204-CE6A171B06EF}"/>
              </a:ext>
            </a:extLst>
          </p:cNvPr>
          <p:cNvSpPr/>
          <p:nvPr/>
        </p:nvSpPr>
        <p:spPr>
          <a:xfrm>
            <a:off x="1415899" y="5287444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srgbClr val="FFFFFF"/>
                </a:solidFill>
                <a:latin typeface="Arial Nova" panose="020B0504020202020204" pitchFamily="34" charset="0"/>
              </a:rPr>
              <a:t>Satisfaction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A07BB14-D266-F08E-CA13-C4C8D3198B13}"/>
              </a:ext>
            </a:extLst>
          </p:cNvPr>
          <p:cNvSpPr/>
          <p:nvPr/>
        </p:nvSpPr>
        <p:spPr>
          <a:xfrm>
            <a:off x="4399255" y="5282747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srgbClr val="FFFFFF"/>
                </a:solidFill>
                <a:latin typeface="Arial Nova" panose="020B0504020202020204" pitchFamily="34" charset="0"/>
              </a:rPr>
              <a:t>Simplicité</a:t>
            </a:r>
          </a:p>
        </p:txBody>
      </p:sp>
      <p:pic>
        <p:nvPicPr>
          <p:cNvPr id="48" name="Image 47">
            <a:extLst>
              <a:ext uri="{FF2B5EF4-FFF2-40B4-BE49-F238E27FC236}">
                <a16:creationId xmlns:a16="http://schemas.microsoft.com/office/drawing/2014/main" id="{31663BB9-6E29-E7FF-7EC3-EB716047061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7332" y="5304720"/>
            <a:ext cx="494368" cy="494368"/>
          </a:xfrm>
          <a:prstGeom prst="rect">
            <a:avLst/>
          </a:prstGeom>
        </p:spPr>
      </p:pic>
      <p:pic>
        <p:nvPicPr>
          <p:cNvPr id="49" name="Image 48">
            <a:extLst>
              <a:ext uri="{FF2B5EF4-FFF2-40B4-BE49-F238E27FC236}">
                <a16:creationId xmlns:a16="http://schemas.microsoft.com/office/drawing/2014/main" id="{3F87007B-D466-EA4A-73FA-56FC5932E27B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488" y="3647510"/>
            <a:ext cx="494367" cy="494367"/>
          </a:xfrm>
          <a:prstGeom prst="rect">
            <a:avLst/>
          </a:prstGeom>
        </p:spPr>
      </p:pic>
      <p:pic>
        <p:nvPicPr>
          <p:cNvPr id="50" name="Image 49">
            <a:extLst>
              <a:ext uri="{FF2B5EF4-FFF2-40B4-BE49-F238E27FC236}">
                <a16:creationId xmlns:a16="http://schemas.microsoft.com/office/drawing/2014/main" id="{0FD18B0E-0807-A947-91FA-ED556A01D70D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2761" y="3652722"/>
            <a:ext cx="494367" cy="494367"/>
          </a:xfrm>
          <a:prstGeom prst="rect">
            <a:avLst/>
          </a:prstGeom>
        </p:spPr>
      </p:pic>
      <p:pic>
        <p:nvPicPr>
          <p:cNvPr id="51" name="Image 50">
            <a:extLst>
              <a:ext uri="{FF2B5EF4-FFF2-40B4-BE49-F238E27FC236}">
                <a16:creationId xmlns:a16="http://schemas.microsoft.com/office/drawing/2014/main" id="{77FE6E5C-8D7D-DAE8-AF55-6996B7F06489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5143" y="5280956"/>
            <a:ext cx="494367" cy="494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05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806D6-60C8-FB31-1267-F3787CAA6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ED0E1FC-1DEC-E430-8380-7D9182652D32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>
              <a:defRPr/>
            </a:pPr>
            <a:endParaRPr lang="fr-F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39DD619-275F-48B0-7D9D-098080DE38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3" r="6072" b="6495"/>
          <a:stretch/>
        </p:blipFill>
        <p:spPr>
          <a:xfrm>
            <a:off x="8950338" y="6001442"/>
            <a:ext cx="707670" cy="70767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7FF1C4C-70C0-A57E-E7AD-7F2480D3373A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rgbClr val="E94B5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>
              <a:defRPr/>
            </a:pPr>
            <a:endParaRPr lang="fr-FR" sz="1633" kern="0" dirty="0">
              <a:solidFill>
                <a:srgbClr val="F7A823"/>
              </a:solidFill>
              <a:latin typeface="Calibri" panose="020F0502020204030204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B86B4E3-CB46-4FBF-B09F-769C14CFD768}"/>
              </a:ext>
            </a:extLst>
          </p:cNvPr>
          <p:cNvSpPr txBox="1"/>
          <p:nvPr/>
        </p:nvSpPr>
        <p:spPr>
          <a:xfrm>
            <a:off x="7397885" y="37983"/>
            <a:ext cx="2404826" cy="231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414772">
              <a:defRPr/>
            </a:pPr>
            <a:r>
              <a:rPr lang="fr-FR" sz="907" dirty="0">
                <a:solidFill>
                  <a:srgbClr val="434341"/>
                </a:solidFill>
                <a:latin typeface="Arial Nova" panose="020B0504020202020204" pitchFamily="34" charset="0"/>
              </a:rPr>
              <a:t>| Notre solution technique – Téléphonie fixe</a:t>
            </a:r>
          </a:p>
        </p:txBody>
      </p:sp>
      <p:sp>
        <p:nvSpPr>
          <p:cNvPr id="18" name="ZoneTexte 61">
            <a:extLst>
              <a:ext uri="{FF2B5EF4-FFF2-40B4-BE49-F238E27FC236}">
                <a16:creationId xmlns:a16="http://schemas.microsoft.com/office/drawing/2014/main" id="{A6DA6E18-087D-7889-920C-C0FE2B13B989}"/>
              </a:ext>
            </a:extLst>
          </p:cNvPr>
          <p:cNvSpPr txBox="1"/>
          <p:nvPr/>
        </p:nvSpPr>
        <p:spPr>
          <a:xfrm>
            <a:off x="674485" y="1076188"/>
            <a:ext cx="8393884" cy="315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buClr>
                <a:srgbClr val="F7A823"/>
              </a:buClr>
              <a:defRPr/>
            </a:pPr>
            <a:r>
              <a:rPr lang="fr-FR" sz="1452" b="1" dirty="0">
                <a:solidFill>
                  <a:srgbClr val="6E398E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Service Maintenance Hotline </a:t>
            </a:r>
            <a:r>
              <a:rPr lang="fr-FR" sz="1452" b="1" dirty="0">
                <a:solidFill>
                  <a:srgbClr val="6E398E"/>
                </a:solidFill>
                <a:highlight>
                  <a:srgbClr val="FFFF00"/>
                </a:highlight>
                <a:latin typeface="Arial Nova" panose="020B0504020202020204" pitchFamily="34" charset="0"/>
                <a:cs typeface="Arial" panose="020B0604020202020204" pitchFamily="34" charset="0"/>
              </a:rPr>
              <a:t>(Achat)</a:t>
            </a:r>
          </a:p>
        </p:txBody>
      </p:sp>
      <p:sp>
        <p:nvSpPr>
          <p:cNvPr id="19" name="Espace réservé du contenu 2">
            <a:extLst>
              <a:ext uri="{FF2B5EF4-FFF2-40B4-BE49-F238E27FC236}">
                <a16:creationId xmlns:a16="http://schemas.microsoft.com/office/drawing/2014/main" id="{DBBF2017-E843-A392-AFCF-CAFBD2F6BB35}"/>
              </a:ext>
            </a:extLst>
          </p:cNvPr>
          <p:cNvSpPr>
            <a:spLocks noGrp="1"/>
          </p:cNvSpPr>
          <p:nvPr/>
        </p:nvSpPr>
        <p:spPr>
          <a:xfrm>
            <a:off x="674485" y="1436752"/>
            <a:ext cx="5743827" cy="1559558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600" b="1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0" i="1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829544">
              <a:spcBef>
                <a:spcPts val="907"/>
              </a:spcBef>
              <a:buClr>
                <a:srgbClr val="F7A823"/>
              </a:buClr>
              <a:buNone/>
              <a:defRPr/>
            </a:pP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</a:rPr>
              <a:t>Bénéficiez d’un service client.</a:t>
            </a:r>
            <a:r>
              <a:rPr lang="fr-FR" sz="1089" b="0" dirty="0">
                <a:solidFill>
                  <a:srgbClr val="434341"/>
                </a:solidFill>
                <a:latin typeface="Arial Nova" panose="020B0504020202020204" pitchFamily="34" charset="0"/>
              </a:rPr>
              <a:t> Koesio vous offre une couverture minimale qui permet d’avoir un accès à notre service client. </a:t>
            </a:r>
          </a:p>
          <a:p>
            <a:pPr marL="0" indent="0" defTabSz="829544">
              <a:spcBef>
                <a:spcPts val="907"/>
              </a:spcBef>
              <a:buClr>
                <a:srgbClr val="F7A823"/>
              </a:buClr>
              <a:buNone/>
              <a:defRPr/>
            </a:pPr>
            <a:br>
              <a:rPr lang="fr-FR" sz="1089" b="0" dirty="0">
                <a:solidFill>
                  <a:srgbClr val="434341"/>
                </a:solidFill>
                <a:latin typeface="Arial Nova" panose="020B0504020202020204" pitchFamily="34" charset="0"/>
              </a:rPr>
            </a:br>
            <a:r>
              <a:rPr lang="fr-FR" sz="1089" b="0" dirty="0">
                <a:solidFill>
                  <a:srgbClr val="434341"/>
                </a:solidFill>
                <a:latin typeface="Arial Nova" panose="020B0504020202020204" pitchFamily="34" charset="0"/>
              </a:rPr>
              <a:t>Ce service </a:t>
            </a: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</a:rPr>
              <a:t>est inclus dans votre offre </a:t>
            </a:r>
            <a:r>
              <a:rPr lang="fr-FR" sz="1089" b="0" dirty="0">
                <a:solidFill>
                  <a:srgbClr val="434341"/>
                </a:solidFill>
                <a:latin typeface="Arial Nova" panose="020B0504020202020204" pitchFamily="34" charset="0"/>
              </a:rPr>
              <a:t>et n’est pas optionnel, et vous fait bénéficier d’un service client de proximité.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B9AC216F-1759-AE7A-FF21-E1863B5E76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2099" y="2125804"/>
            <a:ext cx="3445531" cy="5166805"/>
          </a:xfrm>
          <a:prstGeom prst="rect">
            <a:avLst/>
          </a:prstGeom>
        </p:spPr>
      </p:pic>
      <p:sp>
        <p:nvSpPr>
          <p:cNvPr id="21" name="Espace réservé du texte 26">
            <a:extLst>
              <a:ext uri="{FF2B5EF4-FFF2-40B4-BE49-F238E27FC236}">
                <a16:creationId xmlns:a16="http://schemas.microsoft.com/office/drawing/2014/main" id="{1E90F995-DFD4-CBFD-69C4-02E2758017F9}"/>
              </a:ext>
            </a:extLst>
          </p:cNvPr>
          <p:cNvSpPr txBox="1">
            <a:spLocks/>
          </p:cNvSpPr>
          <p:nvPr/>
        </p:nvSpPr>
        <p:spPr>
          <a:xfrm>
            <a:off x="674484" y="169908"/>
            <a:ext cx="7854254" cy="723254"/>
          </a:xfrm>
          <a:prstGeom prst="rect">
            <a:avLst/>
          </a:prstGeom>
        </p:spPr>
        <p:txBody>
          <a:bodyPr vert="horz" lIns="82953" tIns="41476" rIns="82953" bIns="41476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905" dirty="0">
                <a:solidFill>
                  <a:srgbClr val="434341"/>
                </a:solidFill>
                <a:latin typeface="Century Gothic" panose="020B0502020202020204" pitchFamily="34" charset="0"/>
              </a:rPr>
              <a:t>La solution</a:t>
            </a:r>
          </a:p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633" b="0" dirty="0">
                <a:solidFill>
                  <a:srgbClr val="434341"/>
                </a:solidFill>
                <a:latin typeface="Century Gothic" panose="020B0502020202020204" pitchFamily="34" charset="0"/>
              </a:rPr>
              <a:t>NOS SERVICES DE MAINTIEN EN CONDITIONS OPÉRATIONNELLES</a:t>
            </a:r>
          </a:p>
        </p:txBody>
      </p:sp>
      <p:pic>
        <p:nvPicPr>
          <p:cNvPr id="22" name="Image 21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16AD0129-6095-2D16-C266-85F831BC8E7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0824" y="208235"/>
            <a:ext cx="975983" cy="243996"/>
          </a:xfrm>
          <a:prstGeom prst="rect">
            <a:avLst/>
          </a:prstGeom>
        </p:spPr>
      </p:pic>
      <p:sp>
        <p:nvSpPr>
          <p:cNvPr id="31" name="ZoneTexte 60">
            <a:extLst>
              <a:ext uri="{FF2B5EF4-FFF2-40B4-BE49-F238E27FC236}">
                <a16:creationId xmlns:a16="http://schemas.microsoft.com/office/drawing/2014/main" id="{BDCDD899-7B0B-34DB-5010-62F9E828EA77}"/>
              </a:ext>
            </a:extLst>
          </p:cNvPr>
          <p:cNvSpPr txBox="1"/>
          <p:nvPr/>
        </p:nvSpPr>
        <p:spPr>
          <a:xfrm>
            <a:off x="1373794" y="3812751"/>
            <a:ext cx="2093232" cy="7627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Des équipes dédiées à votre entreprise prêtes à vous répondre au téléphone dans les meilleurs délais.</a:t>
            </a:r>
          </a:p>
        </p:txBody>
      </p:sp>
      <p:sp>
        <p:nvSpPr>
          <p:cNvPr id="32" name="ZoneTexte 65">
            <a:extLst>
              <a:ext uri="{FF2B5EF4-FFF2-40B4-BE49-F238E27FC236}">
                <a16:creationId xmlns:a16="http://schemas.microsoft.com/office/drawing/2014/main" id="{338BDAC0-5E35-95AA-E1D8-FAE47A05EB28}"/>
              </a:ext>
            </a:extLst>
          </p:cNvPr>
          <p:cNvSpPr txBox="1"/>
          <p:nvPr/>
        </p:nvSpPr>
        <p:spPr>
          <a:xfrm>
            <a:off x="1383728" y="5133444"/>
            <a:ext cx="1865827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Vous avez une demande ?</a:t>
            </a:r>
          </a:p>
          <a:p>
            <a:pPr defTabSz="414772">
              <a:defRPr/>
            </a:pPr>
            <a:r>
              <a:rPr lang="fr-FR" sz="1089" dirty="0" err="1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Koesio</a:t>
            </a: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 est votre seul interlocuteur</a:t>
            </a:r>
          </a:p>
        </p:txBody>
      </p:sp>
      <p:sp>
        <p:nvSpPr>
          <p:cNvPr id="41" name="Espace réservé du contenu 2">
            <a:extLst>
              <a:ext uri="{FF2B5EF4-FFF2-40B4-BE49-F238E27FC236}">
                <a16:creationId xmlns:a16="http://schemas.microsoft.com/office/drawing/2014/main" id="{875B7D91-6F0F-9346-0457-224972B2F900}"/>
              </a:ext>
            </a:extLst>
          </p:cNvPr>
          <p:cNvSpPr txBox="1">
            <a:spLocks/>
          </p:cNvSpPr>
          <p:nvPr/>
        </p:nvSpPr>
        <p:spPr>
          <a:xfrm>
            <a:off x="668603" y="2862651"/>
            <a:ext cx="2683471" cy="187092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14772">
              <a:defRPr/>
            </a:pPr>
            <a:r>
              <a:rPr lang="fr-FR" sz="1270" u="sng" dirty="0">
                <a:solidFill>
                  <a:srgbClr val="E84957"/>
                </a:solidFill>
                <a:latin typeface="Arial Nova" panose="020B0504020202020204" pitchFamily="34" charset="0"/>
              </a:rPr>
              <a:t>Ce qui est inclus dans votre offre :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51103D1-CF0A-3015-1BF4-CB49E70EFC89}"/>
              </a:ext>
            </a:extLst>
          </p:cNvPr>
          <p:cNvSpPr/>
          <p:nvPr/>
        </p:nvSpPr>
        <p:spPr>
          <a:xfrm>
            <a:off x="1447969" y="3504863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srgbClr val="FFFFFF"/>
                </a:solidFill>
                <a:latin typeface="Arial Nova" panose="020B0504020202020204" pitchFamily="34" charset="0"/>
              </a:rPr>
              <a:t>Réactivité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C9533F8-1E5D-9B0C-1AD1-56BB162B449C}"/>
              </a:ext>
            </a:extLst>
          </p:cNvPr>
          <p:cNvSpPr/>
          <p:nvPr/>
        </p:nvSpPr>
        <p:spPr>
          <a:xfrm>
            <a:off x="1457902" y="4803951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srgbClr val="FFFFFF"/>
                </a:solidFill>
                <a:latin typeface="Arial Nova" panose="020B0504020202020204" pitchFamily="34" charset="0"/>
              </a:rPr>
              <a:t>Simplicité</a:t>
            </a:r>
          </a:p>
        </p:txBody>
      </p:sp>
      <p:pic>
        <p:nvPicPr>
          <p:cNvPr id="50" name="Image 49">
            <a:extLst>
              <a:ext uri="{FF2B5EF4-FFF2-40B4-BE49-F238E27FC236}">
                <a16:creationId xmlns:a16="http://schemas.microsoft.com/office/drawing/2014/main" id="{F8DD1191-D966-03A1-74C5-397184ED5DA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476" y="3493143"/>
            <a:ext cx="494367" cy="494367"/>
          </a:xfrm>
          <a:prstGeom prst="rect">
            <a:avLst/>
          </a:prstGeom>
        </p:spPr>
      </p:pic>
      <p:pic>
        <p:nvPicPr>
          <p:cNvPr id="51" name="Image 50">
            <a:extLst>
              <a:ext uri="{FF2B5EF4-FFF2-40B4-BE49-F238E27FC236}">
                <a16:creationId xmlns:a16="http://schemas.microsoft.com/office/drawing/2014/main" id="{CCB56419-2D4F-F933-B2BB-A5365B48EAB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3790" y="4802160"/>
            <a:ext cx="494367" cy="494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258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384C7F8-BD38-6BA5-53F8-F38947F15A34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>
              <a:defRPr/>
            </a:pPr>
            <a:endParaRPr lang="fr-F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CA5A156-13B0-0AE1-FA63-6342E1FFAC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3" r="6072" b="6495"/>
          <a:stretch/>
        </p:blipFill>
        <p:spPr>
          <a:xfrm>
            <a:off x="8950338" y="6001442"/>
            <a:ext cx="707670" cy="70767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E921333-BA1C-FC90-685C-1210FB8ABB59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rgbClr val="E94B5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>
              <a:defRPr/>
            </a:pPr>
            <a:endParaRPr lang="fr-FR" sz="1633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ZoneTexte 61">
            <a:extLst>
              <a:ext uri="{FF2B5EF4-FFF2-40B4-BE49-F238E27FC236}">
                <a16:creationId xmlns:a16="http://schemas.microsoft.com/office/drawing/2014/main" id="{80BC83B7-0D53-AF5D-66B8-D0D5FBC5234B}"/>
              </a:ext>
            </a:extLst>
          </p:cNvPr>
          <p:cNvSpPr txBox="1"/>
          <p:nvPr/>
        </p:nvSpPr>
        <p:spPr>
          <a:xfrm>
            <a:off x="674485" y="1076188"/>
            <a:ext cx="8393884" cy="315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buClr>
                <a:srgbClr val="ED7D31"/>
              </a:buClr>
              <a:defRPr/>
            </a:pPr>
            <a:r>
              <a:rPr lang="fr-FR" sz="1452" b="1" dirty="0">
                <a:solidFill>
                  <a:srgbClr val="6E398E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Service Tranquillité </a:t>
            </a:r>
            <a:r>
              <a:rPr lang="fr-FR" sz="1452" b="1" dirty="0">
                <a:solidFill>
                  <a:srgbClr val="6E398E"/>
                </a:solidFill>
                <a:highlight>
                  <a:srgbClr val="FFFF00"/>
                </a:highlight>
                <a:latin typeface="Arial Nova" panose="020B0504020202020204" pitchFamily="34" charset="0"/>
                <a:cs typeface="Arial" panose="020B0604020202020204" pitchFamily="34" charset="0"/>
              </a:rPr>
              <a:t>(location)</a:t>
            </a:r>
          </a:p>
        </p:txBody>
      </p:sp>
      <p:sp>
        <p:nvSpPr>
          <p:cNvPr id="16" name="Espace réservé du contenu 2">
            <a:extLst>
              <a:ext uri="{FF2B5EF4-FFF2-40B4-BE49-F238E27FC236}">
                <a16:creationId xmlns:a16="http://schemas.microsoft.com/office/drawing/2014/main" id="{EEFDECD3-1E68-9116-4208-121FF5E0B4D5}"/>
              </a:ext>
            </a:extLst>
          </p:cNvPr>
          <p:cNvSpPr>
            <a:spLocks noGrp="1"/>
          </p:cNvSpPr>
          <p:nvPr/>
        </p:nvSpPr>
        <p:spPr>
          <a:xfrm>
            <a:off x="674485" y="1436752"/>
            <a:ext cx="5225962" cy="618715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600" b="1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0" i="1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829544">
              <a:spcBef>
                <a:spcPts val="907"/>
              </a:spcBef>
              <a:buClr>
                <a:srgbClr val="ED7D31"/>
              </a:buClr>
              <a:buNone/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Ayez l’esprit tranquille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, </a:t>
            </a:r>
            <a:r>
              <a:rPr lang="fr-FR" sz="1089" b="0" dirty="0" err="1">
                <a:solidFill>
                  <a:prstClr val="black"/>
                </a:solidFill>
                <a:latin typeface="Arial Nova" panose="020B0504020202020204" pitchFamily="34" charset="0"/>
              </a:rPr>
              <a:t>Koesio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 vous offre un service exclusif, de qualité, clé en main. Ce service vous garantit de vous référer à un seul interlocuteur en matière de téléphonie et de trouver une réponse rapide à vos problématiques grâce à des équipes dédiées à votre structure. </a:t>
            </a:r>
          </a:p>
          <a:p>
            <a:pPr marL="0" indent="0" defTabSz="829544">
              <a:spcBef>
                <a:spcPts val="907"/>
              </a:spcBef>
              <a:buClr>
                <a:srgbClr val="ED7D31"/>
              </a:buClr>
              <a:buNone/>
              <a:defRPr/>
            </a:pPr>
            <a:b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</a:b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Ce service 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est inclus dans votre offre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 et n’est pas optionnel, soyez tranquille, </a:t>
            </a:r>
            <a:r>
              <a:rPr lang="fr-FR" sz="1089" b="0" dirty="0" err="1">
                <a:solidFill>
                  <a:prstClr val="black"/>
                </a:solidFill>
                <a:latin typeface="Arial Nova" panose="020B0504020202020204" pitchFamily="34" charset="0"/>
              </a:rPr>
              <a:t>Koesio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 se charge de votre système.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93891D9D-851E-123E-7A43-BB8E0BCBBE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2099" y="2125804"/>
            <a:ext cx="3445531" cy="5166805"/>
          </a:xfrm>
          <a:prstGeom prst="rect">
            <a:avLst/>
          </a:prstGeom>
        </p:spPr>
      </p:pic>
      <p:sp>
        <p:nvSpPr>
          <p:cNvPr id="19" name="Espace réservé du texte 26">
            <a:extLst>
              <a:ext uri="{FF2B5EF4-FFF2-40B4-BE49-F238E27FC236}">
                <a16:creationId xmlns:a16="http://schemas.microsoft.com/office/drawing/2014/main" id="{A060108F-A3C3-C873-3BBD-45176532E2FA}"/>
              </a:ext>
            </a:extLst>
          </p:cNvPr>
          <p:cNvSpPr txBox="1">
            <a:spLocks/>
          </p:cNvSpPr>
          <p:nvPr/>
        </p:nvSpPr>
        <p:spPr>
          <a:xfrm>
            <a:off x="674484" y="169908"/>
            <a:ext cx="7854254" cy="723254"/>
          </a:xfrm>
          <a:prstGeom prst="rect">
            <a:avLst/>
          </a:prstGeom>
        </p:spPr>
        <p:txBody>
          <a:bodyPr vert="horz" lIns="82953" tIns="41476" rIns="82953" bIns="41476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905" dirty="0">
                <a:solidFill>
                  <a:prstClr val="black"/>
                </a:solidFill>
                <a:latin typeface="Century Gothic" panose="020B0502020202020204" pitchFamily="34" charset="0"/>
              </a:rPr>
              <a:t>La solution</a:t>
            </a:r>
          </a:p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633" b="0" dirty="0">
                <a:solidFill>
                  <a:prstClr val="black"/>
                </a:solidFill>
                <a:latin typeface="Century Gothic" panose="020B0502020202020204" pitchFamily="34" charset="0"/>
              </a:rPr>
              <a:t>NOS SERVICES DE MAINTIEN EN CONDITIONS OPÉRATIONNELLES</a:t>
            </a:r>
          </a:p>
        </p:txBody>
      </p:sp>
      <p:pic>
        <p:nvPicPr>
          <p:cNvPr id="20" name="Image 19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3B47BA0A-2E8B-D1E9-1EC8-1159A9409E7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0824" y="208235"/>
            <a:ext cx="975983" cy="243996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CE038BC-DD13-4B9D-2541-B0F431302079}"/>
              </a:ext>
            </a:extLst>
          </p:cNvPr>
          <p:cNvSpPr/>
          <p:nvPr/>
        </p:nvSpPr>
        <p:spPr>
          <a:xfrm>
            <a:off x="1415899" y="3669139"/>
            <a:ext cx="1608645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Aucun surcoût</a:t>
            </a:r>
          </a:p>
        </p:txBody>
      </p:sp>
      <p:sp>
        <p:nvSpPr>
          <p:cNvPr id="22" name="ZoneTexte 59">
            <a:extLst>
              <a:ext uri="{FF2B5EF4-FFF2-40B4-BE49-F238E27FC236}">
                <a16:creationId xmlns:a16="http://schemas.microsoft.com/office/drawing/2014/main" id="{13F6CC72-7AE1-4687-38AD-A3795FB41018}"/>
              </a:ext>
            </a:extLst>
          </p:cNvPr>
          <p:cNvSpPr txBox="1"/>
          <p:nvPr/>
        </p:nvSpPr>
        <p:spPr>
          <a:xfrm>
            <a:off x="1358692" y="3984101"/>
            <a:ext cx="2203104" cy="93038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Prestation « tout inclus » pour une prise en charge totale de vos équipements, main d’œuvre et déplacement (inclus : casse, foudre, surtension électrique)</a:t>
            </a:r>
          </a:p>
        </p:txBody>
      </p:sp>
      <p:sp>
        <p:nvSpPr>
          <p:cNvPr id="23" name="ZoneTexte 60">
            <a:extLst>
              <a:ext uri="{FF2B5EF4-FFF2-40B4-BE49-F238E27FC236}">
                <a16:creationId xmlns:a16="http://schemas.microsoft.com/office/drawing/2014/main" id="{339459C4-E872-56EE-60B6-531467FACF87}"/>
              </a:ext>
            </a:extLst>
          </p:cNvPr>
          <p:cNvSpPr txBox="1"/>
          <p:nvPr/>
        </p:nvSpPr>
        <p:spPr>
          <a:xfrm>
            <a:off x="4325080" y="3972330"/>
            <a:ext cx="2093232" cy="7627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Des équipes dédiées à votre entreprise prêtes à vous répondre dans les meilleurs délais pour vos télégestions</a:t>
            </a:r>
          </a:p>
        </p:txBody>
      </p:sp>
      <p:sp>
        <p:nvSpPr>
          <p:cNvPr id="31" name="ZoneTexte 65">
            <a:extLst>
              <a:ext uri="{FF2B5EF4-FFF2-40B4-BE49-F238E27FC236}">
                <a16:creationId xmlns:a16="http://schemas.microsoft.com/office/drawing/2014/main" id="{B1C95922-A0C2-97B2-74FF-97DBF1BAC79C}"/>
              </a:ext>
            </a:extLst>
          </p:cNvPr>
          <p:cNvSpPr txBox="1"/>
          <p:nvPr/>
        </p:nvSpPr>
        <p:spPr>
          <a:xfrm>
            <a:off x="4325081" y="5612240"/>
            <a:ext cx="1865827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Vous avez une demande ?</a:t>
            </a:r>
          </a:p>
          <a:p>
            <a:pPr defTabSz="414772">
              <a:defRPr/>
            </a:pPr>
            <a:r>
              <a:rPr lang="fr-FR" sz="1089" dirty="0" err="1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Koesio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 est votre seul interlocuteur</a:t>
            </a:r>
          </a:p>
        </p:txBody>
      </p:sp>
      <p:sp>
        <p:nvSpPr>
          <p:cNvPr id="32" name="ZoneTexte 68">
            <a:extLst>
              <a:ext uri="{FF2B5EF4-FFF2-40B4-BE49-F238E27FC236}">
                <a16:creationId xmlns:a16="http://schemas.microsoft.com/office/drawing/2014/main" id="{F366C202-8239-06DB-B6C0-264C6E9B9E70}"/>
              </a:ext>
            </a:extLst>
          </p:cNvPr>
          <p:cNvSpPr txBox="1"/>
          <p:nvPr/>
        </p:nvSpPr>
        <p:spPr>
          <a:xfrm>
            <a:off x="1358693" y="5618873"/>
            <a:ext cx="1951639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Une gestion de tous vos incidents pour vous apporter une meilleure disponibilité</a:t>
            </a:r>
          </a:p>
        </p:txBody>
      </p:sp>
      <p:sp>
        <p:nvSpPr>
          <p:cNvPr id="40" name="Espace réservé du contenu 2">
            <a:extLst>
              <a:ext uri="{FF2B5EF4-FFF2-40B4-BE49-F238E27FC236}">
                <a16:creationId xmlns:a16="http://schemas.microsoft.com/office/drawing/2014/main" id="{EDE7C4F5-803B-A3DD-B144-375EEB499C0E}"/>
              </a:ext>
            </a:extLst>
          </p:cNvPr>
          <p:cNvSpPr txBox="1">
            <a:spLocks/>
          </p:cNvSpPr>
          <p:nvPr/>
        </p:nvSpPr>
        <p:spPr>
          <a:xfrm>
            <a:off x="674485" y="3145633"/>
            <a:ext cx="2683471" cy="187092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14772">
              <a:defRPr/>
            </a:pPr>
            <a:r>
              <a:rPr lang="fr-FR" sz="1270" u="sng" dirty="0">
                <a:solidFill>
                  <a:srgbClr val="E84957"/>
                </a:solidFill>
                <a:latin typeface="Arial Nova" panose="020B0504020202020204" pitchFamily="34" charset="0"/>
              </a:rPr>
              <a:t>Ce qui est inclus dans votre offre :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405FC70-5CA0-D6F7-6254-7D67682DA206}"/>
              </a:ext>
            </a:extLst>
          </p:cNvPr>
          <p:cNvSpPr/>
          <p:nvPr/>
        </p:nvSpPr>
        <p:spPr>
          <a:xfrm>
            <a:off x="4399255" y="3664442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Réactivité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CD91F76-0594-AFC0-FE5D-FC3B432490C8}"/>
              </a:ext>
            </a:extLst>
          </p:cNvPr>
          <p:cNvSpPr/>
          <p:nvPr/>
        </p:nvSpPr>
        <p:spPr>
          <a:xfrm>
            <a:off x="1415899" y="5287444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Satisfaction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EE5E57E-4A08-421A-D9B3-83C10957025B}"/>
              </a:ext>
            </a:extLst>
          </p:cNvPr>
          <p:cNvSpPr/>
          <p:nvPr/>
        </p:nvSpPr>
        <p:spPr>
          <a:xfrm>
            <a:off x="4399255" y="5282747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Simplicité</a:t>
            </a:r>
          </a:p>
        </p:txBody>
      </p:sp>
      <p:pic>
        <p:nvPicPr>
          <p:cNvPr id="47" name="Image 46">
            <a:extLst>
              <a:ext uri="{FF2B5EF4-FFF2-40B4-BE49-F238E27FC236}">
                <a16:creationId xmlns:a16="http://schemas.microsoft.com/office/drawing/2014/main" id="{B7E9AC59-BD34-8FC0-1DEC-4B4EA6BD58B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7332" y="5304720"/>
            <a:ext cx="494368" cy="494368"/>
          </a:xfrm>
          <a:prstGeom prst="rect">
            <a:avLst/>
          </a:prstGeom>
        </p:spPr>
      </p:pic>
      <p:pic>
        <p:nvPicPr>
          <p:cNvPr id="48" name="Image 47">
            <a:extLst>
              <a:ext uri="{FF2B5EF4-FFF2-40B4-BE49-F238E27FC236}">
                <a16:creationId xmlns:a16="http://schemas.microsoft.com/office/drawing/2014/main" id="{DD7BFC7A-A347-8327-2443-1B25E11F6563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488" y="3647510"/>
            <a:ext cx="494367" cy="494367"/>
          </a:xfrm>
          <a:prstGeom prst="rect">
            <a:avLst/>
          </a:prstGeom>
        </p:spPr>
      </p:pic>
      <p:pic>
        <p:nvPicPr>
          <p:cNvPr id="49" name="Image 48">
            <a:extLst>
              <a:ext uri="{FF2B5EF4-FFF2-40B4-BE49-F238E27FC236}">
                <a16:creationId xmlns:a16="http://schemas.microsoft.com/office/drawing/2014/main" id="{2F5398BF-E623-7C51-19B8-F88B024069C8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2761" y="3652722"/>
            <a:ext cx="494367" cy="494367"/>
          </a:xfrm>
          <a:prstGeom prst="rect">
            <a:avLst/>
          </a:prstGeom>
        </p:spPr>
      </p:pic>
      <p:pic>
        <p:nvPicPr>
          <p:cNvPr id="50" name="Image 49">
            <a:extLst>
              <a:ext uri="{FF2B5EF4-FFF2-40B4-BE49-F238E27FC236}">
                <a16:creationId xmlns:a16="http://schemas.microsoft.com/office/drawing/2014/main" id="{F41EF7D4-9D0B-896B-B2F6-936676AC20A6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5143" y="5280956"/>
            <a:ext cx="494367" cy="49436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958BF228-6056-BFFB-E3F5-CDF14B9DCA8B}"/>
              </a:ext>
            </a:extLst>
          </p:cNvPr>
          <p:cNvSpPr txBox="1"/>
          <p:nvPr/>
        </p:nvSpPr>
        <p:spPr>
          <a:xfrm>
            <a:off x="7908000" y="37206"/>
            <a:ext cx="1832553" cy="231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414772">
              <a:defRPr/>
            </a:pPr>
            <a:r>
              <a:rPr lang="fr-FR" sz="907" dirty="0">
                <a:solidFill>
                  <a:prstClr val="black"/>
                </a:solidFill>
                <a:latin typeface="Arial Nova" panose="020B0504020202020204" pitchFamily="34" charset="0"/>
              </a:rPr>
              <a:t>| Notre solution technique - WIFI</a:t>
            </a:r>
          </a:p>
        </p:txBody>
      </p:sp>
    </p:spTree>
    <p:extLst>
      <p:ext uri="{BB962C8B-B14F-4D97-AF65-F5344CB8AC3E}">
        <p14:creationId xmlns:p14="http://schemas.microsoft.com/office/powerpoint/2010/main" val="1829443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E0EFF8E-E322-4A4A-9D25-AE88475C372D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>
              <a:defRPr/>
            </a:pPr>
            <a:endParaRPr lang="fr-F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B7D49B6-7DB7-4397-ED82-77D10D959C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3" r="6072" b="6495"/>
          <a:stretch/>
        </p:blipFill>
        <p:spPr>
          <a:xfrm>
            <a:off x="8950338" y="6001442"/>
            <a:ext cx="707670" cy="70767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0C9B0C6-060E-2DA0-77D5-85DCB4235B3E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rgbClr val="E94B5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>
              <a:defRPr/>
            </a:pPr>
            <a:endParaRPr lang="fr-FR" sz="1633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ZoneTexte 61">
            <a:extLst>
              <a:ext uri="{FF2B5EF4-FFF2-40B4-BE49-F238E27FC236}">
                <a16:creationId xmlns:a16="http://schemas.microsoft.com/office/drawing/2014/main" id="{6CAB56D1-5FA7-A0A2-A725-D8CDA3E7EB6B}"/>
              </a:ext>
            </a:extLst>
          </p:cNvPr>
          <p:cNvSpPr txBox="1"/>
          <p:nvPr/>
        </p:nvSpPr>
        <p:spPr>
          <a:xfrm>
            <a:off x="674485" y="1076188"/>
            <a:ext cx="8393884" cy="315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buClr>
                <a:srgbClr val="ED7D31"/>
              </a:buClr>
              <a:defRPr/>
            </a:pPr>
            <a:r>
              <a:rPr lang="fr-FR" sz="1452" b="1" dirty="0">
                <a:solidFill>
                  <a:srgbClr val="6E398E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Service Maintenance Premium </a:t>
            </a:r>
            <a:r>
              <a:rPr lang="fr-FR" sz="1452" b="1" dirty="0">
                <a:solidFill>
                  <a:srgbClr val="6E398E"/>
                </a:solidFill>
                <a:highlight>
                  <a:srgbClr val="FFFF00"/>
                </a:highlight>
                <a:latin typeface="Arial Nova" panose="020B0504020202020204" pitchFamily="34" charset="0"/>
                <a:cs typeface="Arial" panose="020B0604020202020204" pitchFamily="34" charset="0"/>
              </a:rPr>
              <a:t>(Achat)</a:t>
            </a:r>
          </a:p>
        </p:txBody>
      </p:sp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7C802A2B-72DF-0F0B-91E0-135098EC2A42}"/>
              </a:ext>
            </a:extLst>
          </p:cNvPr>
          <p:cNvSpPr>
            <a:spLocks noGrp="1"/>
          </p:cNvSpPr>
          <p:nvPr/>
        </p:nvSpPr>
        <p:spPr>
          <a:xfrm>
            <a:off x="674485" y="1436752"/>
            <a:ext cx="5225962" cy="1559558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600" b="1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0" i="1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829544">
              <a:spcBef>
                <a:spcPts val="907"/>
              </a:spcBef>
              <a:buClr>
                <a:srgbClr val="ED7D31"/>
              </a:buClr>
              <a:buNone/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Ayez l’esprit tranquille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, Koesio vous offre un service exclusif, de qualité, clé en main. Ce service vous garantit de vous référer à un seul interlocuteur en matière de téléphonie et de trouver une réponse rapide à vos problématiques grâce à des équipes dédiées à votre structure. </a:t>
            </a:r>
          </a:p>
          <a:p>
            <a:pPr marL="0" indent="0" defTabSz="829544">
              <a:spcBef>
                <a:spcPts val="907"/>
              </a:spcBef>
              <a:buClr>
                <a:srgbClr val="ED7D31"/>
              </a:buClr>
              <a:buNone/>
              <a:defRPr/>
            </a:pPr>
            <a:b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</a:b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Ce service 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est inclus dans votre offre 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et n’est pas optionnel, soyez tranquille, Koesio se charge de votre système.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8F7F5E1E-66D6-D5B7-6D26-052B03E5D5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2099" y="2125804"/>
            <a:ext cx="3445531" cy="5166805"/>
          </a:xfrm>
          <a:prstGeom prst="rect">
            <a:avLst/>
          </a:prstGeom>
        </p:spPr>
      </p:pic>
      <p:sp>
        <p:nvSpPr>
          <p:cNvPr id="20" name="Espace réservé du texte 26">
            <a:extLst>
              <a:ext uri="{FF2B5EF4-FFF2-40B4-BE49-F238E27FC236}">
                <a16:creationId xmlns:a16="http://schemas.microsoft.com/office/drawing/2014/main" id="{CB9B2C63-91D1-E39A-9AAB-BD04553B4FAA}"/>
              </a:ext>
            </a:extLst>
          </p:cNvPr>
          <p:cNvSpPr txBox="1">
            <a:spLocks/>
          </p:cNvSpPr>
          <p:nvPr/>
        </p:nvSpPr>
        <p:spPr>
          <a:xfrm>
            <a:off x="674484" y="169908"/>
            <a:ext cx="7854254" cy="723254"/>
          </a:xfrm>
          <a:prstGeom prst="rect">
            <a:avLst/>
          </a:prstGeom>
        </p:spPr>
        <p:txBody>
          <a:bodyPr vert="horz" lIns="82953" tIns="41476" rIns="82953" bIns="41476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905" dirty="0">
                <a:solidFill>
                  <a:prstClr val="black"/>
                </a:solidFill>
                <a:latin typeface="Century Gothic" panose="020B0502020202020204" pitchFamily="34" charset="0"/>
              </a:rPr>
              <a:t>La solution</a:t>
            </a:r>
          </a:p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633" b="0" dirty="0">
                <a:solidFill>
                  <a:prstClr val="black"/>
                </a:solidFill>
                <a:latin typeface="Century Gothic" panose="020B0502020202020204" pitchFamily="34" charset="0"/>
              </a:rPr>
              <a:t>NOS SERVICES DE MAINTIEN EN CONDITIONS OPÉRATIONNELLES</a:t>
            </a:r>
          </a:p>
        </p:txBody>
      </p:sp>
      <p:pic>
        <p:nvPicPr>
          <p:cNvPr id="21" name="Image 20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64005D5E-5597-6B52-C3AF-5864C86AE1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0824" y="208235"/>
            <a:ext cx="975983" cy="24399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3377AFC-ECEF-9593-1B21-2C7C9F624AF5}"/>
              </a:ext>
            </a:extLst>
          </p:cNvPr>
          <p:cNvSpPr/>
          <p:nvPr/>
        </p:nvSpPr>
        <p:spPr>
          <a:xfrm>
            <a:off x="1415899" y="3669139"/>
            <a:ext cx="1608645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Maitrise des coûts</a:t>
            </a:r>
          </a:p>
        </p:txBody>
      </p:sp>
      <p:sp>
        <p:nvSpPr>
          <p:cNvPr id="23" name="ZoneTexte 59">
            <a:extLst>
              <a:ext uri="{FF2B5EF4-FFF2-40B4-BE49-F238E27FC236}">
                <a16:creationId xmlns:a16="http://schemas.microsoft.com/office/drawing/2014/main" id="{9911A280-91C5-DBC9-C589-303B7C1ADD7D}"/>
              </a:ext>
            </a:extLst>
          </p:cNvPr>
          <p:cNvSpPr txBox="1"/>
          <p:nvPr/>
        </p:nvSpPr>
        <p:spPr>
          <a:xfrm>
            <a:off x="1358692" y="3984101"/>
            <a:ext cx="2203104" cy="109799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Prestation incluant une prise en charge de vos équipements, main d’œuvre et déplacement inclus (hors : postes sans fil, casques, écrans, casse, foudre, surtension électrique)</a:t>
            </a:r>
          </a:p>
        </p:txBody>
      </p:sp>
      <p:sp>
        <p:nvSpPr>
          <p:cNvPr id="25" name="ZoneTexte 60">
            <a:extLst>
              <a:ext uri="{FF2B5EF4-FFF2-40B4-BE49-F238E27FC236}">
                <a16:creationId xmlns:a16="http://schemas.microsoft.com/office/drawing/2014/main" id="{990E4559-0AE1-BB55-D82B-D1B1DA41B368}"/>
              </a:ext>
            </a:extLst>
          </p:cNvPr>
          <p:cNvSpPr txBox="1"/>
          <p:nvPr/>
        </p:nvSpPr>
        <p:spPr>
          <a:xfrm>
            <a:off x="4325080" y="3972330"/>
            <a:ext cx="2093232" cy="7627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Des équipes dédiées à votre entreprise prêtes à vous répondre dans les meilleurs délais pour vos télégestions</a:t>
            </a:r>
          </a:p>
        </p:txBody>
      </p:sp>
      <p:sp>
        <p:nvSpPr>
          <p:cNvPr id="31" name="ZoneTexte 65">
            <a:extLst>
              <a:ext uri="{FF2B5EF4-FFF2-40B4-BE49-F238E27FC236}">
                <a16:creationId xmlns:a16="http://schemas.microsoft.com/office/drawing/2014/main" id="{CF8102E4-90B6-16F1-8DC3-FFE4F1A6E8FB}"/>
              </a:ext>
            </a:extLst>
          </p:cNvPr>
          <p:cNvSpPr txBox="1"/>
          <p:nvPr/>
        </p:nvSpPr>
        <p:spPr>
          <a:xfrm>
            <a:off x="4325081" y="5612240"/>
            <a:ext cx="1865827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Vous avez une demande ?</a:t>
            </a:r>
          </a:p>
          <a:p>
            <a:pPr defTabSz="414772">
              <a:defRPr/>
            </a:pPr>
            <a:r>
              <a:rPr lang="fr-FR" sz="1089" dirty="0" err="1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Koesio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 est votre seul interlocuteur</a:t>
            </a:r>
          </a:p>
        </p:txBody>
      </p:sp>
      <p:sp>
        <p:nvSpPr>
          <p:cNvPr id="32" name="ZoneTexte 68">
            <a:extLst>
              <a:ext uri="{FF2B5EF4-FFF2-40B4-BE49-F238E27FC236}">
                <a16:creationId xmlns:a16="http://schemas.microsoft.com/office/drawing/2014/main" id="{8ACD4FA8-3A7C-DE90-9522-7A4E9A08E319}"/>
              </a:ext>
            </a:extLst>
          </p:cNvPr>
          <p:cNvSpPr txBox="1"/>
          <p:nvPr/>
        </p:nvSpPr>
        <p:spPr>
          <a:xfrm>
            <a:off x="1358693" y="5618873"/>
            <a:ext cx="1951639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Une gestion de tous vos incidents pour vous apporter une meilleure disponibilité</a:t>
            </a:r>
          </a:p>
        </p:txBody>
      </p:sp>
      <p:sp>
        <p:nvSpPr>
          <p:cNvPr id="40" name="Espace réservé du contenu 2">
            <a:extLst>
              <a:ext uri="{FF2B5EF4-FFF2-40B4-BE49-F238E27FC236}">
                <a16:creationId xmlns:a16="http://schemas.microsoft.com/office/drawing/2014/main" id="{824C1BB6-7AE8-B5C9-C5BD-DC5F2A90E562}"/>
              </a:ext>
            </a:extLst>
          </p:cNvPr>
          <p:cNvSpPr txBox="1">
            <a:spLocks/>
          </p:cNvSpPr>
          <p:nvPr/>
        </p:nvSpPr>
        <p:spPr>
          <a:xfrm>
            <a:off x="674485" y="3145633"/>
            <a:ext cx="2683471" cy="187092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14772">
              <a:defRPr/>
            </a:pPr>
            <a:r>
              <a:rPr lang="fr-FR" sz="1270" u="sng" dirty="0">
                <a:solidFill>
                  <a:srgbClr val="E84957"/>
                </a:solidFill>
                <a:latin typeface="Arial Nova" panose="020B0504020202020204" pitchFamily="34" charset="0"/>
              </a:rPr>
              <a:t>Ce qui est inclus dans votre offre :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2163F98-4FD9-59F8-27F5-90EE1364B144}"/>
              </a:ext>
            </a:extLst>
          </p:cNvPr>
          <p:cNvSpPr/>
          <p:nvPr/>
        </p:nvSpPr>
        <p:spPr>
          <a:xfrm>
            <a:off x="4399255" y="3664442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Réactivité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F133F7E-54EE-DBD7-C60D-738F04C3F9BB}"/>
              </a:ext>
            </a:extLst>
          </p:cNvPr>
          <p:cNvSpPr/>
          <p:nvPr/>
        </p:nvSpPr>
        <p:spPr>
          <a:xfrm>
            <a:off x="1415899" y="5287444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Satisfaction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0ACA58B-A76B-CB52-775B-CBE8ABECE3F4}"/>
              </a:ext>
            </a:extLst>
          </p:cNvPr>
          <p:cNvSpPr/>
          <p:nvPr/>
        </p:nvSpPr>
        <p:spPr>
          <a:xfrm>
            <a:off x="4399255" y="5282747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Simplicité</a:t>
            </a:r>
          </a:p>
        </p:txBody>
      </p:sp>
      <p:pic>
        <p:nvPicPr>
          <p:cNvPr id="47" name="Image 46">
            <a:extLst>
              <a:ext uri="{FF2B5EF4-FFF2-40B4-BE49-F238E27FC236}">
                <a16:creationId xmlns:a16="http://schemas.microsoft.com/office/drawing/2014/main" id="{CDB3DA1A-60A5-855F-7351-A5F4973D066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7332" y="5304720"/>
            <a:ext cx="494368" cy="494368"/>
          </a:xfrm>
          <a:prstGeom prst="rect">
            <a:avLst/>
          </a:prstGeom>
        </p:spPr>
      </p:pic>
      <p:pic>
        <p:nvPicPr>
          <p:cNvPr id="48" name="Image 47">
            <a:extLst>
              <a:ext uri="{FF2B5EF4-FFF2-40B4-BE49-F238E27FC236}">
                <a16:creationId xmlns:a16="http://schemas.microsoft.com/office/drawing/2014/main" id="{8FBD8DB5-1795-37D2-1FE2-D224A0945D8F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488" y="3647510"/>
            <a:ext cx="494367" cy="494367"/>
          </a:xfrm>
          <a:prstGeom prst="rect">
            <a:avLst/>
          </a:prstGeom>
        </p:spPr>
      </p:pic>
      <p:pic>
        <p:nvPicPr>
          <p:cNvPr id="49" name="Image 48">
            <a:extLst>
              <a:ext uri="{FF2B5EF4-FFF2-40B4-BE49-F238E27FC236}">
                <a16:creationId xmlns:a16="http://schemas.microsoft.com/office/drawing/2014/main" id="{6348B9A8-DD06-A697-10EC-59371C78C145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2761" y="3652722"/>
            <a:ext cx="494367" cy="494367"/>
          </a:xfrm>
          <a:prstGeom prst="rect">
            <a:avLst/>
          </a:prstGeom>
        </p:spPr>
      </p:pic>
      <p:pic>
        <p:nvPicPr>
          <p:cNvPr id="50" name="Image 49">
            <a:extLst>
              <a:ext uri="{FF2B5EF4-FFF2-40B4-BE49-F238E27FC236}">
                <a16:creationId xmlns:a16="http://schemas.microsoft.com/office/drawing/2014/main" id="{F5C89F00-DD9C-12BC-A82A-5ACD9A0BC4F8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5143" y="5280956"/>
            <a:ext cx="494367" cy="49436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945A3D58-7FC8-0DA7-2D47-900EEC9DD405}"/>
              </a:ext>
            </a:extLst>
          </p:cNvPr>
          <p:cNvSpPr txBox="1"/>
          <p:nvPr/>
        </p:nvSpPr>
        <p:spPr>
          <a:xfrm>
            <a:off x="7908000" y="37206"/>
            <a:ext cx="1832553" cy="231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414772">
              <a:defRPr/>
            </a:pPr>
            <a:r>
              <a:rPr lang="fr-FR" sz="907" dirty="0">
                <a:solidFill>
                  <a:prstClr val="black"/>
                </a:solidFill>
                <a:latin typeface="Arial Nova" panose="020B0504020202020204" pitchFamily="34" charset="0"/>
              </a:rPr>
              <a:t>| Notre solution technique - WIFI</a:t>
            </a:r>
          </a:p>
        </p:txBody>
      </p:sp>
    </p:spTree>
    <p:extLst>
      <p:ext uri="{BB962C8B-B14F-4D97-AF65-F5344CB8AC3E}">
        <p14:creationId xmlns:p14="http://schemas.microsoft.com/office/powerpoint/2010/main" val="328234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F17C677-4897-F661-F503-07F8A8ED7D02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>
              <a:defRPr/>
            </a:pPr>
            <a:endParaRPr lang="fr-F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351C9CF-BDEC-94AE-2D2C-2E5BA981FF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3" r="6072" b="6495"/>
          <a:stretch/>
        </p:blipFill>
        <p:spPr>
          <a:xfrm>
            <a:off x="8950338" y="6001442"/>
            <a:ext cx="707670" cy="70767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61330AF-C0CA-9411-5BC5-CCB667F2F348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rgbClr val="E94B5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>
              <a:defRPr/>
            </a:pPr>
            <a:endParaRPr lang="fr-FR" sz="1633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ZoneTexte 61">
            <a:extLst>
              <a:ext uri="{FF2B5EF4-FFF2-40B4-BE49-F238E27FC236}">
                <a16:creationId xmlns:a16="http://schemas.microsoft.com/office/drawing/2014/main" id="{CC72E5A7-2F62-17DB-D89A-D07DBFCF3988}"/>
              </a:ext>
            </a:extLst>
          </p:cNvPr>
          <p:cNvSpPr txBox="1"/>
          <p:nvPr/>
        </p:nvSpPr>
        <p:spPr>
          <a:xfrm>
            <a:off x="674485" y="1076188"/>
            <a:ext cx="8393884" cy="315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buClr>
                <a:srgbClr val="ED7D31"/>
              </a:buClr>
              <a:defRPr/>
            </a:pPr>
            <a:r>
              <a:rPr lang="fr-FR" sz="1452" b="1" dirty="0">
                <a:solidFill>
                  <a:srgbClr val="6E398E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Service Maintenance Privilège </a:t>
            </a:r>
            <a:r>
              <a:rPr lang="fr-FR" sz="1452" b="1" dirty="0">
                <a:solidFill>
                  <a:srgbClr val="6E398E"/>
                </a:solidFill>
                <a:highlight>
                  <a:srgbClr val="FFFF00"/>
                </a:highlight>
                <a:latin typeface="Arial Nova" panose="020B0504020202020204" pitchFamily="34" charset="0"/>
                <a:cs typeface="Arial" panose="020B0604020202020204" pitchFamily="34" charset="0"/>
              </a:rPr>
              <a:t>(Achat)</a:t>
            </a:r>
          </a:p>
        </p:txBody>
      </p:sp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4BA93E19-0F6B-536E-CBA6-8A332ED2D938}"/>
              </a:ext>
            </a:extLst>
          </p:cNvPr>
          <p:cNvSpPr>
            <a:spLocks noGrp="1"/>
          </p:cNvSpPr>
          <p:nvPr/>
        </p:nvSpPr>
        <p:spPr>
          <a:xfrm>
            <a:off x="674485" y="1436752"/>
            <a:ext cx="5225962" cy="1559558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600" b="1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0" i="1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829544">
              <a:spcBef>
                <a:spcPts val="907"/>
              </a:spcBef>
              <a:buClr>
                <a:srgbClr val="ED7D31"/>
              </a:buClr>
              <a:buNone/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Ayez l’esprit serein, 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Koesio vous offre un service exclusif, de qualité, clé en main. Ce service vous garantit de vous référer à un seul interlocuteur en matière de téléphonie et de trouver une réponse rapide à vos problématiques grâce à des équipes dédiées à votre structure. </a:t>
            </a:r>
          </a:p>
          <a:p>
            <a:pPr marL="0" indent="0" defTabSz="829544">
              <a:spcBef>
                <a:spcPts val="907"/>
              </a:spcBef>
              <a:buClr>
                <a:srgbClr val="ED7D31"/>
              </a:buClr>
              <a:buNone/>
              <a:defRPr/>
            </a:pP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Ce service 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est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 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inclus dans votre offre 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et n’est pas optionnel, soyez serein, Koesio se charge de votre système.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AD7A3CDA-AF5D-AD67-64D6-C59E0DB6EE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2099" y="2125804"/>
            <a:ext cx="3445531" cy="5166805"/>
          </a:xfrm>
          <a:prstGeom prst="rect">
            <a:avLst/>
          </a:prstGeom>
        </p:spPr>
      </p:pic>
      <p:sp>
        <p:nvSpPr>
          <p:cNvPr id="20" name="Espace réservé du texte 26">
            <a:extLst>
              <a:ext uri="{FF2B5EF4-FFF2-40B4-BE49-F238E27FC236}">
                <a16:creationId xmlns:a16="http://schemas.microsoft.com/office/drawing/2014/main" id="{B651B2A1-A353-F45A-13AB-E9A6A6886D61}"/>
              </a:ext>
            </a:extLst>
          </p:cNvPr>
          <p:cNvSpPr txBox="1">
            <a:spLocks/>
          </p:cNvSpPr>
          <p:nvPr/>
        </p:nvSpPr>
        <p:spPr>
          <a:xfrm>
            <a:off x="674484" y="169908"/>
            <a:ext cx="7854254" cy="723254"/>
          </a:xfrm>
          <a:prstGeom prst="rect">
            <a:avLst/>
          </a:prstGeom>
        </p:spPr>
        <p:txBody>
          <a:bodyPr vert="horz" lIns="82953" tIns="41476" rIns="82953" bIns="41476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905" dirty="0">
                <a:solidFill>
                  <a:prstClr val="black"/>
                </a:solidFill>
                <a:latin typeface="Century Gothic" panose="020B0502020202020204" pitchFamily="34" charset="0"/>
              </a:rPr>
              <a:t>La solution</a:t>
            </a:r>
          </a:p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633" b="0" dirty="0">
                <a:solidFill>
                  <a:prstClr val="black"/>
                </a:solidFill>
                <a:latin typeface="Century Gothic" panose="020B0502020202020204" pitchFamily="34" charset="0"/>
              </a:rPr>
              <a:t>NOS SERVICES DE MAINTIEN EN CONDITIONS OPÉRATIONNELLES</a:t>
            </a:r>
          </a:p>
        </p:txBody>
      </p:sp>
      <p:pic>
        <p:nvPicPr>
          <p:cNvPr id="21" name="Image 20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6661BE0D-2C10-BAD6-74CE-118BAB00BA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0824" y="208235"/>
            <a:ext cx="975983" cy="24399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88CCD6C-9CF4-D10F-48C7-97E0D42F219E}"/>
              </a:ext>
            </a:extLst>
          </p:cNvPr>
          <p:cNvSpPr/>
          <p:nvPr/>
        </p:nvSpPr>
        <p:spPr>
          <a:xfrm>
            <a:off x="1415899" y="3669139"/>
            <a:ext cx="1608645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Maitrise des coûts</a:t>
            </a:r>
          </a:p>
        </p:txBody>
      </p:sp>
      <p:sp>
        <p:nvSpPr>
          <p:cNvPr id="23" name="ZoneTexte 59">
            <a:extLst>
              <a:ext uri="{FF2B5EF4-FFF2-40B4-BE49-F238E27FC236}">
                <a16:creationId xmlns:a16="http://schemas.microsoft.com/office/drawing/2014/main" id="{66E07AC2-F80E-1307-E3F1-0E5D202A6F55}"/>
              </a:ext>
            </a:extLst>
          </p:cNvPr>
          <p:cNvSpPr txBox="1"/>
          <p:nvPr/>
        </p:nvSpPr>
        <p:spPr>
          <a:xfrm>
            <a:off x="1358692" y="3984102"/>
            <a:ext cx="2203104" cy="126560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Prestation incluant une prise en charge de votre serveur de communication et  du poste de votre standard, main d’œuvre et déplacement inclus (hors : casse, foudre, surtension électrique)</a:t>
            </a:r>
          </a:p>
        </p:txBody>
      </p:sp>
      <p:sp>
        <p:nvSpPr>
          <p:cNvPr id="25" name="ZoneTexte 60">
            <a:extLst>
              <a:ext uri="{FF2B5EF4-FFF2-40B4-BE49-F238E27FC236}">
                <a16:creationId xmlns:a16="http://schemas.microsoft.com/office/drawing/2014/main" id="{F0A41952-054D-F461-73CF-FB66FF5895E0}"/>
              </a:ext>
            </a:extLst>
          </p:cNvPr>
          <p:cNvSpPr txBox="1"/>
          <p:nvPr/>
        </p:nvSpPr>
        <p:spPr>
          <a:xfrm>
            <a:off x="4325080" y="3972330"/>
            <a:ext cx="2093232" cy="7627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Des équipes dédiées à votre entreprise prêtes à vous répondre dans les meilleurs délais pour vos télégestions</a:t>
            </a:r>
          </a:p>
        </p:txBody>
      </p:sp>
      <p:sp>
        <p:nvSpPr>
          <p:cNvPr id="31" name="ZoneTexte 65">
            <a:extLst>
              <a:ext uri="{FF2B5EF4-FFF2-40B4-BE49-F238E27FC236}">
                <a16:creationId xmlns:a16="http://schemas.microsoft.com/office/drawing/2014/main" id="{18438C4A-FE6F-36F8-DB6D-E1090426F6D9}"/>
              </a:ext>
            </a:extLst>
          </p:cNvPr>
          <p:cNvSpPr txBox="1"/>
          <p:nvPr/>
        </p:nvSpPr>
        <p:spPr>
          <a:xfrm>
            <a:off x="4325081" y="5612240"/>
            <a:ext cx="1865827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Vous avez une demande ?</a:t>
            </a:r>
          </a:p>
          <a:p>
            <a:pPr defTabSz="414772">
              <a:defRPr/>
            </a:pPr>
            <a:r>
              <a:rPr lang="fr-FR" sz="1089" dirty="0" err="1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Koesio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 est votre seul interlocuteur</a:t>
            </a:r>
          </a:p>
        </p:txBody>
      </p:sp>
      <p:sp>
        <p:nvSpPr>
          <p:cNvPr id="32" name="ZoneTexte 68">
            <a:extLst>
              <a:ext uri="{FF2B5EF4-FFF2-40B4-BE49-F238E27FC236}">
                <a16:creationId xmlns:a16="http://schemas.microsoft.com/office/drawing/2014/main" id="{624CC9B9-069C-FDCA-AF31-38CFC8ECF295}"/>
              </a:ext>
            </a:extLst>
          </p:cNvPr>
          <p:cNvSpPr txBox="1"/>
          <p:nvPr/>
        </p:nvSpPr>
        <p:spPr>
          <a:xfrm>
            <a:off x="1358693" y="5618873"/>
            <a:ext cx="1951639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Une gestion de tous vos incidents pour vous apporter une meilleure disponibilité</a:t>
            </a:r>
          </a:p>
        </p:txBody>
      </p:sp>
      <p:sp>
        <p:nvSpPr>
          <p:cNvPr id="40" name="Espace réservé du contenu 2">
            <a:extLst>
              <a:ext uri="{FF2B5EF4-FFF2-40B4-BE49-F238E27FC236}">
                <a16:creationId xmlns:a16="http://schemas.microsoft.com/office/drawing/2014/main" id="{A0455AA2-8537-D68B-A8AE-02B4B01F2410}"/>
              </a:ext>
            </a:extLst>
          </p:cNvPr>
          <p:cNvSpPr txBox="1">
            <a:spLocks/>
          </p:cNvSpPr>
          <p:nvPr/>
        </p:nvSpPr>
        <p:spPr>
          <a:xfrm>
            <a:off x="674485" y="3145633"/>
            <a:ext cx="2683471" cy="187092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14772">
              <a:defRPr/>
            </a:pPr>
            <a:r>
              <a:rPr lang="fr-FR" sz="1270" u="sng" dirty="0">
                <a:solidFill>
                  <a:srgbClr val="E84957"/>
                </a:solidFill>
                <a:latin typeface="Arial Nova" panose="020B0504020202020204" pitchFamily="34" charset="0"/>
              </a:rPr>
              <a:t>Ce qui est inclus dans votre offre :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CB28811-9C62-DE8D-2F16-54C658877CED}"/>
              </a:ext>
            </a:extLst>
          </p:cNvPr>
          <p:cNvSpPr/>
          <p:nvPr/>
        </p:nvSpPr>
        <p:spPr>
          <a:xfrm>
            <a:off x="4399255" y="3664442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Réactivité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78B4176-2DE7-8D5F-C3E0-9449D440956A}"/>
              </a:ext>
            </a:extLst>
          </p:cNvPr>
          <p:cNvSpPr/>
          <p:nvPr/>
        </p:nvSpPr>
        <p:spPr>
          <a:xfrm>
            <a:off x="1415899" y="5287444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Satisfaction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6D65B9C-991B-B99A-BEF6-FCB0BA993548}"/>
              </a:ext>
            </a:extLst>
          </p:cNvPr>
          <p:cNvSpPr/>
          <p:nvPr/>
        </p:nvSpPr>
        <p:spPr>
          <a:xfrm>
            <a:off x="4399255" y="5282747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Simplicité</a:t>
            </a:r>
          </a:p>
        </p:txBody>
      </p:sp>
      <p:pic>
        <p:nvPicPr>
          <p:cNvPr id="47" name="Image 46">
            <a:extLst>
              <a:ext uri="{FF2B5EF4-FFF2-40B4-BE49-F238E27FC236}">
                <a16:creationId xmlns:a16="http://schemas.microsoft.com/office/drawing/2014/main" id="{060C1E6F-9F37-5A1F-6BC2-9CDA05C641C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7332" y="5304720"/>
            <a:ext cx="494368" cy="494368"/>
          </a:xfrm>
          <a:prstGeom prst="rect">
            <a:avLst/>
          </a:prstGeom>
        </p:spPr>
      </p:pic>
      <p:pic>
        <p:nvPicPr>
          <p:cNvPr id="48" name="Image 47">
            <a:extLst>
              <a:ext uri="{FF2B5EF4-FFF2-40B4-BE49-F238E27FC236}">
                <a16:creationId xmlns:a16="http://schemas.microsoft.com/office/drawing/2014/main" id="{D318BFC2-1F6B-AD32-181D-B2D572AFD9D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488" y="3647510"/>
            <a:ext cx="494367" cy="494367"/>
          </a:xfrm>
          <a:prstGeom prst="rect">
            <a:avLst/>
          </a:prstGeom>
        </p:spPr>
      </p:pic>
      <p:pic>
        <p:nvPicPr>
          <p:cNvPr id="49" name="Image 48">
            <a:extLst>
              <a:ext uri="{FF2B5EF4-FFF2-40B4-BE49-F238E27FC236}">
                <a16:creationId xmlns:a16="http://schemas.microsoft.com/office/drawing/2014/main" id="{8C356D3A-FB96-B8C3-E1C0-36E6D6D46AEE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2761" y="3652722"/>
            <a:ext cx="494367" cy="494367"/>
          </a:xfrm>
          <a:prstGeom prst="rect">
            <a:avLst/>
          </a:prstGeom>
        </p:spPr>
      </p:pic>
      <p:pic>
        <p:nvPicPr>
          <p:cNvPr id="50" name="Image 49">
            <a:extLst>
              <a:ext uri="{FF2B5EF4-FFF2-40B4-BE49-F238E27FC236}">
                <a16:creationId xmlns:a16="http://schemas.microsoft.com/office/drawing/2014/main" id="{97285767-6E3C-6D2F-F1CB-E8C22C6BE4B8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5143" y="5280956"/>
            <a:ext cx="494367" cy="49436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C909EB7E-95E3-D988-F987-3BE36A3B78B1}"/>
              </a:ext>
            </a:extLst>
          </p:cNvPr>
          <p:cNvSpPr txBox="1"/>
          <p:nvPr/>
        </p:nvSpPr>
        <p:spPr>
          <a:xfrm>
            <a:off x="7908000" y="37206"/>
            <a:ext cx="1832553" cy="231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414772">
              <a:defRPr/>
            </a:pPr>
            <a:r>
              <a:rPr lang="fr-FR" sz="907" dirty="0">
                <a:solidFill>
                  <a:prstClr val="black"/>
                </a:solidFill>
                <a:latin typeface="Arial Nova" panose="020B0504020202020204" pitchFamily="34" charset="0"/>
              </a:rPr>
              <a:t>| Notre solution technique - WIFI</a:t>
            </a:r>
          </a:p>
        </p:txBody>
      </p:sp>
    </p:spTree>
    <p:extLst>
      <p:ext uri="{BB962C8B-B14F-4D97-AF65-F5344CB8AC3E}">
        <p14:creationId xmlns:p14="http://schemas.microsoft.com/office/powerpoint/2010/main" val="3696682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3D32696-0A68-AEA4-3E2F-5AEE178D18AD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>
              <a:defRPr/>
            </a:pPr>
            <a:endParaRPr lang="fr-F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958E678-64DC-92B3-2455-501F67E359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3" r="6072" b="6495"/>
          <a:stretch/>
        </p:blipFill>
        <p:spPr>
          <a:xfrm>
            <a:off x="8950338" y="6001442"/>
            <a:ext cx="707670" cy="70767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51F1DC3-E846-2096-4658-24D4F33AE03C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rgbClr val="E94B5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>
              <a:defRPr/>
            </a:pPr>
            <a:endParaRPr lang="fr-FR" sz="1633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C45E1F-68DB-6D8E-EBB9-AB8333DAAB37}"/>
              </a:ext>
            </a:extLst>
          </p:cNvPr>
          <p:cNvSpPr/>
          <p:nvPr/>
        </p:nvSpPr>
        <p:spPr>
          <a:xfrm>
            <a:off x="1415899" y="3669139"/>
            <a:ext cx="1608645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Maitrise des coûts</a:t>
            </a:r>
          </a:p>
        </p:txBody>
      </p:sp>
      <p:sp>
        <p:nvSpPr>
          <p:cNvPr id="18" name="ZoneTexte 59">
            <a:extLst>
              <a:ext uri="{FF2B5EF4-FFF2-40B4-BE49-F238E27FC236}">
                <a16:creationId xmlns:a16="http://schemas.microsoft.com/office/drawing/2014/main" id="{044B1AA7-1FD1-5AB7-EEB2-3C007CF0F92C}"/>
              </a:ext>
            </a:extLst>
          </p:cNvPr>
          <p:cNvSpPr txBox="1"/>
          <p:nvPr/>
        </p:nvSpPr>
        <p:spPr>
          <a:xfrm>
            <a:off x="1358692" y="3984101"/>
            <a:ext cx="2203104" cy="93038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Prestation incluant uniquement  la main d’œuvre et déplacement concernant vos équipements</a:t>
            </a:r>
          </a:p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(hors : pièces, casse, foudre, surtension électrique)</a:t>
            </a:r>
          </a:p>
        </p:txBody>
      </p:sp>
      <p:sp>
        <p:nvSpPr>
          <p:cNvPr id="19" name="ZoneTexte 60">
            <a:extLst>
              <a:ext uri="{FF2B5EF4-FFF2-40B4-BE49-F238E27FC236}">
                <a16:creationId xmlns:a16="http://schemas.microsoft.com/office/drawing/2014/main" id="{D60956E8-4627-42D1-FE99-21BBF6C366BB}"/>
              </a:ext>
            </a:extLst>
          </p:cNvPr>
          <p:cNvSpPr txBox="1"/>
          <p:nvPr/>
        </p:nvSpPr>
        <p:spPr>
          <a:xfrm>
            <a:off x="4325080" y="3972330"/>
            <a:ext cx="2093232" cy="7627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Des équipes dédiées à votre entreprise prêtes à vous répondre dans les meilleurs délais pour vos télégestions</a:t>
            </a:r>
          </a:p>
        </p:txBody>
      </p:sp>
      <p:sp>
        <p:nvSpPr>
          <p:cNvPr id="20" name="ZoneTexte 61">
            <a:extLst>
              <a:ext uri="{FF2B5EF4-FFF2-40B4-BE49-F238E27FC236}">
                <a16:creationId xmlns:a16="http://schemas.microsoft.com/office/drawing/2014/main" id="{2BF7149C-8A0A-D27A-A12D-E2CC2F03F171}"/>
              </a:ext>
            </a:extLst>
          </p:cNvPr>
          <p:cNvSpPr txBox="1"/>
          <p:nvPr/>
        </p:nvSpPr>
        <p:spPr>
          <a:xfrm>
            <a:off x="674485" y="1076188"/>
            <a:ext cx="8393884" cy="315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buClr>
                <a:srgbClr val="ED7D31"/>
              </a:buClr>
              <a:defRPr/>
            </a:pPr>
            <a:r>
              <a:rPr lang="fr-FR" sz="1452" b="1" dirty="0">
                <a:solidFill>
                  <a:srgbClr val="6E398E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Service Maintenance Base </a:t>
            </a:r>
            <a:r>
              <a:rPr lang="fr-FR" sz="1452" b="1" dirty="0">
                <a:solidFill>
                  <a:srgbClr val="6E398E"/>
                </a:solidFill>
                <a:highlight>
                  <a:srgbClr val="FFFF00"/>
                </a:highlight>
                <a:latin typeface="Arial Nova" panose="020B0504020202020204" pitchFamily="34" charset="0"/>
                <a:cs typeface="Arial" panose="020B0604020202020204" pitchFamily="34" charset="0"/>
              </a:rPr>
              <a:t>(Achat)</a:t>
            </a:r>
          </a:p>
        </p:txBody>
      </p:sp>
      <p:sp>
        <p:nvSpPr>
          <p:cNvPr id="21" name="Espace réservé du contenu 2">
            <a:extLst>
              <a:ext uri="{FF2B5EF4-FFF2-40B4-BE49-F238E27FC236}">
                <a16:creationId xmlns:a16="http://schemas.microsoft.com/office/drawing/2014/main" id="{5BC3592B-574C-EC58-5B6E-91D8E9F7FD1F}"/>
              </a:ext>
            </a:extLst>
          </p:cNvPr>
          <p:cNvSpPr>
            <a:spLocks noGrp="1"/>
          </p:cNvSpPr>
          <p:nvPr/>
        </p:nvSpPr>
        <p:spPr>
          <a:xfrm>
            <a:off x="674485" y="1436752"/>
            <a:ext cx="5225962" cy="1559558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600" b="1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0" i="1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829544">
              <a:spcBef>
                <a:spcPts val="907"/>
              </a:spcBef>
              <a:buClr>
                <a:srgbClr val="ED7D31"/>
              </a:buClr>
              <a:buNone/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Ayez l’esprit serein, 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Koesio vous offre un service exclusif, de qualité, clé en main. Ce service vous garantit de vous référer à un seul interlocuteur en matière de téléphonie et de trouver une réponse rapide à vos problématiques grâce à des équipes dédiées à votre structure. </a:t>
            </a:r>
          </a:p>
          <a:p>
            <a:pPr marL="0" indent="0" defTabSz="829544">
              <a:spcBef>
                <a:spcPts val="907"/>
              </a:spcBef>
              <a:buClr>
                <a:srgbClr val="ED7D31"/>
              </a:buClr>
              <a:buNone/>
              <a:defRPr/>
            </a:pP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Ce service 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est inclus dans votre offre 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et n’est pas optionnel, soyez serein, Koesio se charge de votre système.</a:t>
            </a:r>
          </a:p>
        </p:txBody>
      </p:sp>
      <p:sp>
        <p:nvSpPr>
          <p:cNvPr id="22" name="ZoneTexte 65">
            <a:extLst>
              <a:ext uri="{FF2B5EF4-FFF2-40B4-BE49-F238E27FC236}">
                <a16:creationId xmlns:a16="http://schemas.microsoft.com/office/drawing/2014/main" id="{9D500CC1-EC8A-795F-F8A4-233C023CB1C2}"/>
              </a:ext>
            </a:extLst>
          </p:cNvPr>
          <p:cNvSpPr txBox="1"/>
          <p:nvPr/>
        </p:nvSpPr>
        <p:spPr>
          <a:xfrm>
            <a:off x="4325081" y="5612240"/>
            <a:ext cx="1865827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Vous avez une demande ?</a:t>
            </a:r>
          </a:p>
          <a:p>
            <a:pPr defTabSz="414772">
              <a:defRPr/>
            </a:pPr>
            <a:r>
              <a:rPr lang="fr-FR" sz="1089" dirty="0" err="1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Koesio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 est votre seul interlocuteur</a:t>
            </a:r>
          </a:p>
        </p:txBody>
      </p:sp>
      <p:sp>
        <p:nvSpPr>
          <p:cNvPr id="23" name="ZoneTexte 68">
            <a:extLst>
              <a:ext uri="{FF2B5EF4-FFF2-40B4-BE49-F238E27FC236}">
                <a16:creationId xmlns:a16="http://schemas.microsoft.com/office/drawing/2014/main" id="{E7332DA2-6DE5-7486-702F-D3C2DDFA8DCD}"/>
              </a:ext>
            </a:extLst>
          </p:cNvPr>
          <p:cNvSpPr txBox="1"/>
          <p:nvPr/>
        </p:nvSpPr>
        <p:spPr>
          <a:xfrm>
            <a:off x="1358693" y="5618873"/>
            <a:ext cx="1951639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Une gestion de tous vos incidents pour vous apporter une meilleure disponibilité</a:t>
            </a:r>
          </a:p>
        </p:txBody>
      </p:sp>
      <p:sp>
        <p:nvSpPr>
          <p:cNvPr id="25" name="Espace réservé du contenu 2">
            <a:extLst>
              <a:ext uri="{FF2B5EF4-FFF2-40B4-BE49-F238E27FC236}">
                <a16:creationId xmlns:a16="http://schemas.microsoft.com/office/drawing/2014/main" id="{A3992385-4171-433B-200D-4B4C915B15D0}"/>
              </a:ext>
            </a:extLst>
          </p:cNvPr>
          <p:cNvSpPr txBox="1">
            <a:spLocks/>
          </p:cNvSpPr>
          <p:nvPr/>
        </p:nvSpPr>
        <p:spPr>
          <a:xfrm>
            <a:off x="674485" y="3145633"/>
            <a:ext cx="2683471" cy="187092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14772">
              <a:defRPr/>
            </a:pPr>
            <a:r>
              <a:rPr lang="fr-FR" sz="1270" u="sng" dirty="0">
                <a:solidFill>
                  <a:srgbClr val="E84957"/>
                </a:solidFill>
                <a:latin typeface="Arial Nova" panose="020B0504020202020204" pitchFamily="34" charset="0"/>
              </a:rPr>
              <a:t>Ce qui est inclus dans votre offre :</a:t>
            </a: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AC23A736-3887-89F9-2AF8-185ED1DED2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2099" y="2125804"/>
            <a:ext cx="3445531" cy="5166805"/>
          </a:xfrm>
          <a:prstGeom prst="rect">
            <a:avLst/>
          </a:prstGeom>
        </p:spPr>
      </p:pic>
      <p:sp>
        <p:nvSpPr>
          <p:cNvPr id="32" name="Espace réservé du texte 26">
            <a:extLst>
              <a:ext uri="{FF2B5EF4-FFF2-40B4-BE49-F238E27FC236}">
                <a16:creationId xmlns:a16="http://schemas.microsoft.com/office/drawing/2014/main" id="{37B5614A-BD7D-C1B6-05D5-20CD467DB235}"/>
              </a:ext>
            </a:extLst>
          </p:cNvPr>
          <p:cNvSpPr txBox="1">
            <a:spLocks/>
          </p:cNvSpPr>
          <p:nvPr/>
        </p:nvSpPr>
        <p:spPr>
          <a:xfrm>
            <a:off x="674484" y="169908"/>
            <a:ext cx="7854254" cy="723254"/>
          </a:xfrm>
          <a:prstGeom prst="rect">
            <a:avLst/>
          </a:prstGeom>
        </p:spPr>
        <p:txBody>
          <a:bodyPr vert="horz" lIns="82953" tIns="41476" rIns="82953" bIns="41476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905" dirty="0">
                <a:solidFill>
                  <a:prstClr val="black"/>
                </a:solidFill>
                <a:latin typeface="Century Gothic" panose="020B0502020202020204" pitchFamily="34" charset="0"/>
              </a:rPr>
              <a:t>La solution</a:t>
            </a:r>
          </a:p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633" b="0" dirty="0">
                <a:solidFill>
                  <a:prstClr val="black"/>
                </a:solidFill>
                <a:latin typeface="Century Gothic" panose="020B0502020202020204" pitchFamily="34" charset="0"/>
              </a:rPr>
              <a:t>NOS SERVICES DE MAINTIEN EN CONDITIONS OPÉRATIONNELLES</a:t>
            </a:r>
          </a:p>
        </p:txBody>
      </p:sp>
      <p:pic>
        <p:nvPicPr>
          <p:cNvPr id="40" name="Image 39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57594EA1-B0DA-0170-75CB-C1ABDAB6499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0824" y="208235"/>
            <a:ext cx="975983" cy="243996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2FFC1881-651B-AF70-76E1-1AB963D0BC24}"/>
              </a:ext>
            </a:extLst>
          </p:cNvPr>
          <p:cNvSpPr/>
          <p:nvPr/>
        </p:nvSpPr>
        <p:spPr>
          <a:xfrm>
            <a:off x="4399255" y="3664442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Réactivité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3B32082-52DC-521D-8C75-D9C991FF4940}"/>
              </a:ext>
            </a:extLst>
          </p:cNvPr>
          <p:cNvSpPr/>
          <p:nvPr/>
        </p:nvSpPr>
        <p:spPr>
          <a:xfrm>
            <a:off x="1415899" y="5287444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Satisfaction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A4A5432-E26D-744F-1E2F-06B86A415739}"/>
              </a:ext>
            </a:extLst>
          </p:cNvPr>
          <p:cNvSpPr/>
          <p:nvPr/>
        </p:nvSpPr>
        <p:spPr>
          <a:xfrm>
            <a:off x="4399255" y="5282747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Simplicité</a:t>
            </a:r>
          </a:p>
        </p:txBody>
      </p:sp>
      <p:pic>
        <p:nvPicPr>
          <p:cNvPr id="47" name="Image 46">
            <a:extLst>
              <a:ext uri="{FF2B5EF4-FFF2-40B4-BE49-F238E27FC236}">
                <a16:creationId xmlns:a16="http://schemas.microsoft.com/office/drawing/2014/main" id="{BEF6D422-B57F-F2D6-C0C8-6D931122671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7332" y="5304720"/>
            <a:ext cx="494368" cy="494368"/>
          </a:xfrm>
          <a:prstGeom prst="rect">
            <a:avLst/>
          </a:prstGeom>
        </p:spPr>
      </p:pic>
      <p:pic>
        <p:nvPicPr>
          <p:cNvPr id="48" name="Image 47">
            <a:extLst>
              <a:ext uri="{FF2B5EF4-FFF2-40B4-BE49-F238E27FC236}">
                <a16:creationId xmlns:a16="http://schemas.microsoft.com/office/drawing/2014/main" id="{3579446B-0E80-F228-4A04-C5DB762873A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488" y="3647510"/>
            <a:ext cx="494367" cy="494367"/>
          </a:xfrm>
          <a:prstGeom prst="rect">
            <a:avLst/>
          </a:prstGeom>
        </p:spPr>
      </p:pic>
      <p:pic>
        <p:nvPicPr>
          <p:cNvPr id="49" name="Image 48">
            <a:extLst>
              <a:ext uri="{FF2B5EF4-FFF2-40B4-BE49-F238E27FC236}">
                <a16:creationId xmlns:a16="http://schemas.microsoft.com/office/drawing/2014/main" id="{95D4C8B9-42CE-3B84-6DDE-5AE95B31D046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2761" y="3652722"/>
            <a:ext cx="494367" cy="494367"/>
          </a:xfrm>
          <a:prstGeom prst="rect">
            <a:avLst/>
          </a:prstGeom>
        </p:spPr>
      </p:pic>
      <p:pic>
        <p:nvPicPr>
          <p:cNvPr id="50" name="Image 49">
            <a:extLst>
              <a:ext uri="{FF2B5EF4-FFF2-40B4-BE49-F238E27FC236}">
                <a16:creationId xmlns:a16="http://schemas.microsoft.com/office/drawing/2014/main" id="{EDD269FD-AA4E-ED84-EBB7-9A7FD53BDE46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5143" y="5280956"/>
            <a:ext cx="494367" cy="49436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FBEAD982-1F53-40C5-EFCA-C62A5C4B030A}"/>
              </a:ext>
            </a:extLst>
          </p:cNvPr>
          <p:cNvSpPr txBox="1"/>
          <p:nvPr/>
        </p:nvSpPr>
        <p:spPr>
          <a:xfrm>
            <a:off x="7908000" y="37206"/>
            <a:ext cx="1832553" cy="231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414772">
              <a:defRPr/>
            </a:pPr>
            <a:r>
              <a:rPr lang="fr-FR" sz="907" dirty="0">
                <a:solidFill>
                  <a:prstClr val="black"/>
                </a:solidFill>
                <a:latin typeface="Arial Nova" panose="020B0504020202020204" pitchFamily="34" charset="0"/>
              </a:rPr>
              <a:t>| Notre solution technique - WIFI</a:t>
            </a:r>
          </a:p>
        </p:txBody>
      </p:sp>
    </p:spTree>
    <p:extLst>
      <p:ext uri="{BB962C8B-B14F-4D97-AF65-F5344CB8AC3E}">
        <p14:creationId xmlns:p14="http://schemas.microsoft.com/office/powerpoint/2010/main" val="1821696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4C73A-951D-07E4-F708-96C567D7E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F97E76D-86BE-924B-5A68-1FB400BFEFE3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>
              <a:defRPr/>
            </a:pPr>
            <a:endParaRPr lang="fr-F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8819A0C-7039-D301-F9AC-6F8C191DB1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63" r="6072" b="6495"/>
          <a:stretch/>
        </p:blipFill>
        <p:spPr>
          <a:xfrm>
            <a:off x="8950338" y="6001442"/>
            <a:ext cx="707670" cy="70767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BA1F2B7-4BE9-37AC-B8C3-F9ED6472244A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rgbClr val="E94B5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>
              <a:defRPr/>
            </a:pPr>
            <a:endParaRPr lang="fr-FR" sz="1633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BA67EE2-C7FD-39B3-5F34-3393405813F2}"/>
              </a:ext>
            </a:extLst>
          </p:cNvPr>
          <p:cNvSpPr txBox="1"/>
          <p:nvPr/>
        </p:nvSpPr>
        <p:spPr>
          <a:xfrm>
            <a:off x="664738" y="1551168"/>
            <a:ext cx="5922773" cy="87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14772">
              <a:defRPr/>
            </a:pPr>
            <a:r>
              <a:rPr lang="fr-FR" sz="1270" dirty="0">
                <a:solidFill>
                  <a:prstClr val="black"/>
                </a:solidFill>
                <a:latin typeface="Arial Nova" panose="020B0504020202020204" pitchFamily="34" charset="0"/>
              </a:rPr>
              <a:t>Le matériel installé est garanti pièces, main d’œuvre et déplacement sur toute la durée du contrat sans franchise, ni formalités, ni vétusté. Avec </a:t>
            </a:r>
            <a:r>
              <a:rPr lang="fr-FR" sz="1270" dirty="0" err="1">
                <a:solidFill>
                  <a:prstClr val="black"/>
                </a:solidFill>
                <a:latin typeface="Arial Nova" panose="020B0504020202020204" pitchFamily="34" charset="0"/>
              </a:rPr>
              <a:t>Koesio</a:t>
            </a:r>
            <a:r>
              <a:rPr lang="fr-FR" sz="1270" dirty="0">
                <a:solidFill>
                  <a:prstClr val="black"/>
                </a:solidFill>
                <a:latin typeface="Arial Nova" panose="020B0504020202020204" pitchFamily="34" charset="0"/>
              </a:rPr>
              <a:t> vous êtes assurés de bénéficier des interventions techniques suivantes gratuitement et dans les délais suivants :</a:t>
            </a:r>
            <a:endParaRPr lang="fr-FR" sz="1114" dirty="0">
              <a:solidFill>
                <a:prstClr val="black"/>
              </a:solidFill>
              <a:latin typeface="Arial Nova" panose="020B0504020202020204" pitchFamily="34" charset="0"/>
            </a:endParaRP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FACA3D3A-6A40-2FF3-7E0A-0AD7235C9880}"/>
              </a:ext>
            </a:extLst>
          </p:cNvPr>
          <p:cNvGraphicFramePr>
            <a:graphicFrameLocks noGrp="1"/>
          </p:cNvGraphicFramePr>
          <p:nvPr/>
        </p:nvGraphicFramePr>
        <p:xfrm>
          <a:off x="1679477" y="2861999"/>
          <a:ext cx="6195263" cy="2653429"/>
        </p:xfrm>
        <a:graphic>
          <a:graphicData uri="http://schemas.openxmlformats.org/drawingml/2006/table">
            <a:tbl>
              <a:tblPr firstRow="1" firstCol="1" bandRow="1">
                <a:effectLst>
                  <a:outerShdw blurRad="152400" algn="ctr" rotWithShape="0">
                    <a:prstClr val="black">
                      <a:alpha val="15000"/>
                    </a:prstClr>
                  </a:outerShdw>
                </a:effectLst>
              </a:tblPr>
              <a:tblGrid>
                <a:gridCol w="586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0511">
                  <a:extLst>
                    <a:ext uri="{9D8B030D-6E8A-4147-A177-3AD203B41FA5}">
                      <a16:colId xmlns:a16="http://schemas.microsoft.com/office/drawing/2014/main" val="2768563407"/>
                    </a:ext>
                  </a:extLst>
                </a:gridCol>
                <a:gridCol w="1594104">
                  <a:extLst>
                    <a:ext uri="{9D8B030D-6E8A-4147-A177-3AD203B41FA5}">
                      <a16:colId xmlns:a16="http://schemas.microsoft.com/office/drawing/2014/main" val="746220966"/>
                    </a:ext>
                  </a:extLst>
                </a:gridCol>
                <a:gridCol w="1594104">
                  <a:extLst>
                    <a:ext uri="{9D8B030D-6E8A-4147-A177-3AD203B41FA5}">
                      <a16:colId xmlns:a16="http://schemas.microsoft.com/office/drawing/2014/main" val="1463734406"/>
                    </a:ext>
                  </a:extLst>
                </a:gridCol>
              </a:tblGrid>
              <a:tr h="67844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1" kern="12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SLA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1" kern="12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Criticité</a:t>
                      </a:r>
                    </a:p>
                  </a:txBody>
                  <a:tcPr marL="26065" marR="25332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C0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1" kern="12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Description de l’anomalie</a:t>
                      </a:r>
                    </a:p>
                  </a:txBody>
                  <a:tcPr marL="25332" marR="2533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C0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1" kern="12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Délai maximum d’intervention / anomalie </a:t>
                      </a:r>
                      <a:r>
                        <a:rPr lang="fr-FR" sz="1000" b="0" i="1" kern="12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(heures ouvrées)</a:t>
                      </a:r>
                    </a:p>
                  </a:txBody>
                  <a:tcPr marL="25332" marR="2533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C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1" i="1" kern="12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Garantie de Temps de Rétablissement (GTR)</a:t>
                      </a:r>
                    </a:p>
                  </a:txBody>
                  <a:tcPr marL="25332" marR="2533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C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4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Niveau 1</a:t>
                      </a:r>
                    </a:p>
                  </a:txBody>
                  <a:tcPr marL="26065" marR="25332" marT="0" marB="0" vert="vert27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46AAB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0" i="1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48981"/>
                  </a:ext>
                </a:extLst>
              </a:tr>
              <a:tr h="7240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Niveau 2</a:t>
                      </a:r>
                    </a:p>
                  </a:txBody>
                  <a:tcPr marL="26065" marR="25332" marT="0" marB="0" vert="vert27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46AAB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0" i="1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055581"/>
                  </a:ext>
                </a:extLst>
              </a:tr>
              <a:tr h="6254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Niveau 3</a:t>
                      </a:r>
                    </a:p>
                  </a:txBody>
                  <a:tcPr marL="26065" marR="25332" marT="0" marB="0" vert="vert27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46A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0" i="1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ZoneTexte 61">
            <a:extLst>
              <a:ext uri="{FF2B5EF4-FFF2-40B4-BE49-F238E27FC236}">
                <a16:creationId xmlns:a16="http://schemas.microsoft.com/office/drawing/2014/main" id="{D8425DA6-2B89-A039-9A52-613120856D41}"/>
              </a:ext>
            </a:extLst>
          </p:cNvPr>
          <p:cNvSpPr txBox="1"/>
          <p:nvPr/>
        </p:nvSpPr>
        <p:spPr>
          <a:xfrm>
            <a:off x="674485" y="1169937"/>
            <a:ext cx="8393884" cy="315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buClr>
                <a:srgbClr val="ED7D31"/>
              </a:buClr>
              <a:defRPr/>
            </a:pPr>
            <a:r>
              <a:rPr lang="fr-FR" sz="1452" b="1" dirty="0">
                <a:solidFill>
                  <a:srgbClr val="6E398E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Services et délais d’intervention</a:t>
            </a:r>
          </a:p>
        </p:txBody>
      </p:sp>
      <p:sp>
        <p:nvSpPr>
          <p:cNvPr id="15" name="Espace réservé du texte 26">
            <a:extLst>
              <a:ext uri="{FF2B5EF4-FFF2-40B4-BE49-F238E27FC236}">
                <a16:creationId xmlns:a16="http://schemas.microsoft.com/office/drawing/2014/main" id="{EF393205-D70A-FD4C-C2DC-A14F9144B38E}"/>
              </a:ext>
            </a:extLst>
          </p:cNvPr>
          <p:cNvSpPr txBox="1">
            <a:spLocks/>
          </p:cNvSpPr>
          <p:nvPr/>
        </p:nvSpPr>
        <p:spPr>
          <a:xfrm>
            <a:off x="674484" y="169908"/>
            <a:ext cx="7854254" cy="723254"/>
          </a:xfrm>
          <a:prstGeom prst="rect">
            <a:avLst/>
          </a:prstGeom>
        </p:spPr>
        <p:txBody>
          <a:bodyPr vert="horz" lIns="82953" tIns="41476" rIns="82953" bIns="41476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905" dirty="0">
                <a:solidFill>
                  <a:prstClr val="black"/>
                </a:solidFill>
                <a:latin typeface="Century Gothic" panose="020B0502020202020204" pitchFamily="34" charset="0"/>
              </a:rPr>
              <a:t>La solution</a:t>
            </a:r>
          </a:p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633" b="0" dirty="0">
                <a:solidFill>
                  <a:prstClr val="black"/>
                </a:solidFill>
                <a:latin typeface="Century Gothic" panose="020B0502020202020204" pitchFamily="34" charset="0"/>
              </a:rPr>
              <a:t>Nos garanties de services (SLA)</a:t>
            </a:r>
          </a:p>
        </p:txBody>
      </p:sp>
      <p:pic>
        <p:nvPicPr>
          <p:cNvPr id="16" name="Image 15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BF797334-FC74-E4FB-3504-BA3E04BB51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0824" y="208235"/>
            <a:ext cx="975983" cy="24399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6F183137-14D9-7554-A18A-AEEEF93C619A}"/>
              </a:ext>
            </a:extLst>
          </p:cNvPr>
          <p:cNvSpPr txBox="1"/>
          <p:nvPr/>
        </p:nvSpPr>
        <p:spPr>
          <a:xfrm>
            <a:off x="7597314" y="3828927"/>
            <a:ext cx="1587390" cy="5949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14772">
              <a:defRPr/>
            </a:pPr>
            <a:r>
              <a:rPr lang="fr-FR" sz="1633" dirty="0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</a:rPr>
              <a:t>A COMPLETER</a:t>
            </a:r>
          </a:p>
          <a:p>
            <a:pPr defTabSz="414772">
              <a:defRPr/>
            </a:pPr>
            <a:r>
              <a:rPr lang="fr-FR" sz="1633" dirty="0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</a:rPr>
              <a:t>EN REGION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AB5A51D-A648-7C13-D630-9E3B28433975}"/>
              </a:ext>
            </a:extLst>
          </p:cNvPr>
          <p:cNvSpPr txBox="1"/>
          <p:nvPr/>
        </p:nvSpPr>
        <p:spPr>
          <a:xfrm>
            <a:off x="7908000" y="37206"/>
            <a:ext cx="1832553" cy="231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414772">
              <a:defRPr/>
            </a:pPr>
            <a:r>
              <a:rPr lang="fr-FR" sz="907" dirty="0">
                <a:solidFill>
                  <a:prstClr val="black"/>
                </a:solidFill>
                <a:latin typeface="Arial Nova" panose="020B0504020202020204" pitchFamily="34" charset="0"/>
              </a:rPr>
              <a:t>| Notre solution technique - WIFI</a:t>
            </a:r>
          </a:p>
        </p:txBody>
      </p:sp>
    </p:spTree>
    <p:extLst>
      <p:ext uri="{BB962C8B-B14F-4D97-AF65-F5344CB8AC3E}">
        <p14:creationId xmlns:p14="http://schemas.microsoft.com/office/powerpoint/2010/main" val="14879880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PRINTFACINGPAGESLAYOUT" val="PAGE DE GARDE 1"/>
  <p:tag name="UPSLIDETOCALGOID" val="Standard"/>
  <p:tag name="UPSLIDEPRINTFACINGPAGESDESIGN" val="CONTENU"/>
  <p:tag name="TEMPLATESHORTNAMETAG" val="Finance"/>
  <p:tag name="TEMPLATEFULLNAMETAG" val="Finance"/>
  <p:tag name="UPSLIDE" val="KOE02942_Finance_02-09-2024"/>
  <p:tag name="UPSLIDEVERSION" val="6.8.47.2"/>
  <p:tag name="FOOTERSCRIPT" val="&lt;%Titre%&gt;  |  &lt;%Date%&gt;"/>
  <p:tag name="UPSLIDETOCOPTIONS" val="&lt;?xml version=&quot;1.0&quot; encoding=&quot;utf-16&quot;?&gt;&#10;&lt;TocContentOptions xmlns:xsd=&quot;http://www.w3.org/2001/XMLSchema&quot; xmlns:xsi=&quot;http://www.w3.org/2001/XMLSchema-instance&quot;&gt;&#10;  &lt;TocSlidesOptions&gt;&#10;    &lt;ContainsSubSectionTitles&gt;true&lt;/ContainsSubSectionTitles&gt;&#10;    &lt;ContainsSlideTitles&gt;false&lt;/ContainsSlideTitles&gt;&#10;    &lt;ContainsParentLessSlidesTitles&gt;false&lt;/ContainsParentLessSlidesTitles&gt;&#10;    &lt;ContainsPrentLessSubsections&gt;true&lt;/ContainsPrentLessSubsections&gt;&#10;    &lt;ContainsAppendix&gt;true&lt;/ContainsAppendix&gt;&#10;    &lt;ContainsUnNumberedSections&gt;true&lt;/ContainsUnNumberedSections&gt;&#10;    &lt;SlideTitle&gt;Table des matières&lt;/SlideTitle&gt;&#10;  &lt;/TocSlidesOptions&gt;&#10;  &lt;SectionSlideOptions&gt;&#10;    &lt;ContainsOwnSubSection&gt;false&lt;/ContainsOwnSubSection&gt;&#10;    &lt;ContainsOwnSlide&gt;true&lt;/ContainsOwnSlide&gt;&#10;    &lt;ContainsOtherSections&gt;false&lt;/ContainsOtherSections&gt;&#10;    &lt;ContainsOthersSubsection&gt;false&lt;/ContainsOthersSubsection&gt;&#10;    &lt;containsAppendix&gt;true&lt;/containsAppendix&gt;&#10;    &lt;containsUnnumberedSections&gt;true&lt;/containsUnnumberedSections&gt;&#10;    &lt;SlideTitle /&gt;&#10;  &lt;/SectionSlideOptions&gt;&#10;  &lt;SubSectionSlideOptions&gt;&#10;    &lt;ContainsOtherSubsections&gt;false&lt;/ContainsOtherSubsections&gt;&#10;    &lt;ContainsOwnSlides&gt;true&lt;/ContainsOwnSlides&gt;&#10;    &lt;ContainsParentSection&gt;true&lt;/ContainsParentSection&gt;&#10;    &lt;ContainsOtherSections&gt;false&lt;/ContainsOtherSections&gt;&#10;    &lt;containsAppendix&gt;true&lt;/containsAppendix&gt;&#10;    &lt;containsUnnumberedSections&gt;false&lt;/containsUnnumberedSections&gt;&#10;    &lt;SlideTitle /&gt;&#10;  &lt;/SubSectionSlideOptions&gt;&#10;  &lt;UsedSlideLayouts&gt;&#10;    &lt;TocSlidesLayout&gt;&#10;      &lt;DesignName&gt;CONTENU&lt;/DesignName&gt;&#10;      &lt;LayoutName&gt;TABLE DES MATIERES&lt;/LayoutName&gt;&#10;    &lt;/TocSlidesLayout&gt;&#10;    &lt;SectionLayout&gt;&#10;      &lt;DesignName&gt;CONTENU&lt;/DesignName&gt;&#10;      &lt;LayoutName&gt;SECTION&lt;/LayoutName&gt;&#10;    &lt;/SectionLayout&gt;&#10;    &lt;SubsectionLayout&gt;&#10;      &lt;DesignName&gt;CONTENU&lt;/DesignName&gt;&#10;      &lt;LayoutName&gt;SECTION&lt;/LayoutName&gt;&#10;    &lt;/SubsectionLayout&gt;&#10;    &lt;AppendixLayout&gt;&#10;      &lt;DesignName /&gt;&#10;      &lt;LayoutName /&gt;&#10;    &lt;/AppendixLayout&gt;&#10;    &lt;TitleSliLayout&gt;&#10;      &lt;DesignName&gt;CONTENU&lt;/DesignName&gt;&#10;      &lt;LayoutName&gt;PAGE DE GARDE&lt;/LayoutName&gt;&#10;    &lt;/TitleSliLayout&gt;&#10;  &lt;/UsedSlideLayouts&gt;&#10;  &lt;ActiveReminders&gt;&#10;    &lt;ReminderScriptList&gt;&#10;      &lt;ReminderScript&gt;&#10;        &lt;Key xsi:type=&quot;xsd:string&quot;&gt;Reminder09/02/2024 17:01:54350154534&lt;/Key&gt;&#10;        &lt;Value xsi:type=&quot;xsd:string&quot;&gt;&amp;lt;%SectionNum%&amp;gt;. &amp;lt;%SectionName%&amp;gt; | &amp;lt;%SubSectionNum%&amp;gt; &amp;lt;%DotIfSubSecNum%&amp;gt;  &amp;lt;%SubSectionName%&amp;gt;&lt;/Value&gt;&#10;      &lt;/ReminderScript&gt;&#10;    &lt;/ReminderScriptList&gt;&#10;    &lt;MigrationVersion&gt;6.8.47.2&lt;/MigrationVersion&gt;&#10;  &lt;/ActiveReminders&gt;&#10;  &lt;HardRefreshRequired&gt;true&lt;/HardRefreshRequired&gt;&#10;  &lt;CustomAlgoOptions&gt;&#10;    &lt;CustomBaseAlgoOptions&gt;&#10;      &lt;UseSlideTitleAsSubSectionMarker&gt;false&lt;/UseSlideTitleAsSubSectionMarker&gt;&#10;      &lt;SlideTitleAsSectionMarker&gt;&#10;        &lt;UseTitleAsReminder&gt;false&lt;/UseTitleAsReminder&gt;&#10;      &lt;/SlideTitleAsSectionMarker&gt;&#10;      &lt;ShowSectionNums&gt;true&lt;/ShowSectionNums&gt;&#10;      &lt;ShowSlideIndex&gt;true&lt;/ShowSlideIndex&gt;&#10;      &lt;myColorOfNonCurrentItems&gt;&#10;        &lt;UseFixedColor&gt;false&lt;/UseFixedColor&gt;&#10;        &lt;R&gt;0&lt;/R&gt;&#10;        &lt;G&gt;0&lt;/G&gt;&#10;        &lt;B&gt;0&lt;/B&gt;&#10;      &lt;/myColorOfNonCurrentItems&gt;&#10;      &lt;currentItemFormat&gt;&#10;        &lt;UseBanner&gt;false&lt;/UseBanner&gt;&#10;        &lt;BannerFillR&gt;0&lt;/BannerFillR&gt;&#10;        &lt;BannerFillG&gt;0&lt;/BannerFillG&gt;&#10;        &lt;BannerFillB&gt;0&lt;/BannerFillB&gt;&#10;        &lt;ForceBold&gt;false&lt;/ForceBold&gt;&#10;        &lt;ApplyToSubSections&gt;false&lt;/ApplyToSubSections&gt;&#10;        &lt;ApplyToSectionsOnSubSectionDividers&gt;false&lt;/ApplyToSectionsOnSubSectionDividers&gt;&#10;        &lt;UseSubSecSpecificBanner&gt;false&lt;/UseSubSecSpecificBanner&gt;&#10;        &lt;SubSecBannerFillR&gt;0&lt;/SubSecBannerFillR&gt;&#10;        &lt;SubSecBannerFillG&gt;0&lt;/SubSecBannerFillG&gt;&#10;        &lt;SubSecBannerFillB&gt;0&lt;/SubSecBannerFillB&gt;&#10;      &lt;/currentItemFormat&gt;&#10;      &lt;nonCurrentItemAttenuation&gt;&#10;        &lt;Shading&gt;1&lt;/Shading&gt;&#10;      &lt;/nonCurrentItemAttenuation&gt;&#10;      &lt;ForceDisplayTOCOnTwocolumns&gt;false&lt;/ForceDisplayTOCOnTwocolumns&gt;&#10;      &lt;DisplayTOCOnTwocolumns&gt;true&lt;/DisplayTOCOnTwocolumns&gt;&#10;      &lt;Scripts&gt;&#10;        &lt;BeforeSubSecTitle /&gt;&#10;        &lt;BeforeSlideIndex&gt;p.&lt;/BeforeSlideIndex&gt;&#10;        &lt;AfterSecNum&gt;.&lt;/AfterSecNum&gt;&#10;        &lt;BeforeSecNum /&gt;&#10;        &lt;ZeroBeforeSecNum&gt;false&lt;/ZeroBeforeSecNum&gt;&#10;        &lt;AfterSubSecNum&gt;.&lt;/AfterSubSecNum&gt;&#10;        &lt;BeforeSubSecNum /&gt;&#10;      &lt;/Scripts&gt;&#10;      &lt;Lines&gt;&#10;        &lt;UseLineBelowSections&gt;false&lt;/UseLineBelowSections&gt;&#10;        &lt;LineBelowSection&gt;&#10;          &lt;XOffset&gt;0&lt;/XOffset&gt;&#10;          &lt;YOffset&gt;0&lt;/YOffset&gt;&#10;          &lt;Weight&gt;0&lt;/Weight&gt;&#10;          &lt;R&gt;0&lt;/R&gt;&#10;          &lt;G&gt;0&lt;/G&gt;&#10;          &lt;B&gt;0&lt;/B&gt;&#10;          &lt;LineStyle&gt;1&lt;/LineStyle&gt;&#10;        &lt;/LineBelowSection&gt;&#10;      &lt;/Lines&gt;&#10;      &lt;ManVerticalSpacing&gt;&#10;        &lt;UseManualSpacing&gt;true&lt;/UseManualSpacing&gt;&#10;        &lt;ManualSpacing&gt;&#10;          &lt;SpaceBeforeSections&gt;5&lt;/SpaceBeforeSections&gt;&#10;          &lt;SpaceBeforeSubSections&gt;4&lt;/SpaceBeforeSubSections&gt;&#10;          &lt;SpaceBeforeSlides&gt;0&lt;/SpaceBeforeSlides&gt;&#10;        &lt;/ManualSpacing&gt;&#10;        &lt;ManualSpacingSections&gt;&#10;          &lt;SpaceBeforeSections&gt;0&lt;/SpaceBeforeSections&gt;&#10;          &lt;SpaceBeforeSubSections&gt;2&lt;/SpaceBeforeSubSections&gt;&#10;          &lt;SpaceBeforeSlides&gt;1&lt;/SpaceBeforeSlides&gt;&#10;        &lt;/ManualSpacingSections&gt;&#10;        &lt;ManualSpacingSubSections&gt;&#10;          &lt;SpaceBeforeSections&gt;0&lt;/SpaceBeforeSections&gt;&#10;          &lt;SpaceBeforeSubSections&gt;0&lt;/SpaceBeforeSubSections&gt;&#10;          &lt;SpaceBeforeSlides&gt;2&lt;/SpaceBeforeSlides&gt;&#10;        &lt;/ManualSpacingSubSections&gt;&#10;        &lt;UseSpecificSpacingForSecDivider&gt;true&lt;/UseSpecificSpacingForSecDivider&gt;&#10;        &lt;UseSpecificSpacingForSubSecDivider&gt;true&lt;/UseSpecificSpacingForSubSecDivider&gt;&#10;      &lt;/ManVerticalSpacing&gt;&#10;    &lt;/CustomBaseAlgoOptions&gt;&#10;  &lt;/CustomAlgoOptions&gt;&#10;  &lt;UserPresentationOptions&gt;&#10;    &lt;SubSectionsHaveSlide xsi:nil=&quot;true&quot; /&gt;&#10;    &lt;SectionDividersContainOwnSubSections xsi:nil=&quot;true&quot; /&gt;&#10;    &lt;SectionDividersContainOwnSlideTitles&gt;false&lt;/SectionDividersContainOwnSlideTitles&gt;&#10;    &lt;SubSectionDividersContainOwnSlideTitles xsi:nil=&quot;true&quot; /&gt;&#10;    &lt;TOCSlidesContainSubsectionTitles xsi:nil=&quot;true&quot; /&gt;&#10;    &lt;TOCSlidesContainSlideTitles xsi:nil=&quot;true&quot; /&gt;&#10;    &lt;DisplayRemindersOnSlides&gt;true&lt;/DisplayRemindersOnSlides&gt;&#10;    &lt;SectionsHaveSlide&gt;true&lt;/SectionsHaveSlide&gt;&#10;    &lt;DoNotCountHiddenSlidesInPagination&gt;false&lt;/DoNotCountHiddenSlidesInPagination&gt;&#10;  &lt;/UserPresentationOptions&gt;&#10;  &lt;XmlSubSectionsHaveSlide&gt;true&lt;/XmlSubSectionsHaveSlide&gt;&#10;  &lt;AllowDuplicateTitleSlides&gt;true&lt;/AllowDuplicateTitleSlides&gt;&#10;  &lt;ShowEmptySlideTitles&gt;false&lt;/ShowEmptySlideTitles&gt;&#10;  &lt;NumberingOption&gt;&#10;    &lt;NumType&gt;FullArabic&lt;/NumType&gt;&#10;  &lt;/NumberingOption&gt;&#10;  &lt;NumberingOptionForAppendix&gt;&#10;    &lt;NumType&gt;FullArabic&lt;/NumType&gt;&#10;  &lt;/NumberingOptionForAppendix&gt;&#10;&lt;/TocContentOptions&gt;"/>
</p:tagLst>
</file>

<file path=ppt/theme/theme1.xml><?xml version="1.0" encoding="utf-8"?>
<a:theme xmlns:a="http://schemas.openxmlformats.org/drawingml/2006/main" name="PAGE VIERGE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6FCBF3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946AAB"/>
      </a:accent6>
      <a:hlink>
        <a:srgbClr val="6E398E"/>
      </a:hlink>
      <a:folHlink>
        <a:srgbClr val="946AAB"/>
      </a:folHlink>
    </a:clrScheme>
    <a:fontScheme name="Koesio">
      <a:majorFont>
        <a:latin typeface="Century Gothic"/>
        <a:ea typeface=""/>
        <a:cs typeface=""/>
      </a:majorFont>
      <a:minorFont>
        <a:latin typeface="Arial Nova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 w="12700" cap="flat" cmpd="sng" algn="ctr">
          <a:noFill/>
          <a:prstDash val="solid"/>
          <a:miter lim="800000"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FFFFFF"/>
            </a:solidFill>
            <a:effectLst/>
            <a:uLnTx/>
            <a:uFillTx/>
            <a:ea typeface="+mn-ea"/>
            <a:cs typeface="+mn-cs"/>
          </a:defRPr>
        </a:defPPr>
      </a:lstStyle>
    </a:spDef>
    <a:lnDef>
      <a:spPr>
        <a:ln w="19050">
          <a:solidFill>
            <a:schemeClr val="tx2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UpSlideTemplate" id="{39FC29B6-D606-4BC9-9B8E-2B47243BCF26}" vid="{BC59CD51-AC56-4933-BD83-259F19D31E0B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414B5A0CDB1A4F92F60DB93384A30A" ma:contentTypeVersion="16" ma:contentTypeDescription="Crée un document." ma:contentTypeScope="" ma:versionID="609214881e4f3f8740e3c070a8d720ea">
  <xsd:schema xmlns:xsd="http://www.w3.org/2001/XMLSchema" xmlns:xs="http://www.w3.org/2001/XMLSchema" xmlns:p="http://schemas.microsoft.com/office/2006/metadata/properties" xmlns:ns2="c57e4748-b4be-4712-b5f7-3821262dd9ef" xmlns:ns3="834a401e-6025-4840-ab01-94c3ee29c08d" targetNamespace="http://schemas.microsoft.com/office/2006/metadata/properties" ma:root="true" ma:fieldsID="2507b1b3effccabb5a92121b78c895e5" ns2:_="" ns3:_="">
    <xsd:import namespace="c57e4748-b4be-4712-b5f7-3821262dd9ef"/>
    <xsd:import namespace="834a401e-6025-4840-ab01-94c3ee29c0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7e4748-b4be-4712-b5f7-3821262dd9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Balises d’images" ma:readOnly="false" ma:fieldId="{5cf76f15-5ced-4ddc-b409-7134ff3c332f}" ma:taxonomyMulti="true" ma:sspId="c7f24229-f875-4422-9699-0c85aaf9fea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4a401e-6025-4840-ab01-94c3ee29c08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01054e7a-b831-4ce0-ae97-3db8823617b9}" ma:internalName="TaxCatchAll" ma:showField="CatchAllData" ma:web="834a401e-6025-4840-ab01-94c3ee29c0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57e4748-b4be-4712-b5f7-3821262dd9ef">
      <Terms xmlns="http://schemas.microsoft.com/office/infopath/2007/PartnerControls"/>
    </lcf76f155ced4ddcb4097134ff3c332f>
    <TaxCatchAll xmlns="834a401e-6025-4840-ab01-94c3ee29c08d" xsi:nil="true"/>
    <SharedWithUsers xmlns="834a401e-6025-4840-ab01-94c3ee29c08d">
      <UserInfo>
        <DisplayName/>
        <AccountId xsi:nil="true"/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4AC27131-CD93-41DC-B29F-8F0D82F7005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AD994B2-4E79-425B-B29F-9D88D84E43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7e4748-b4be-4712-b5f7-3821262dd9ef"/>
    <ds:schemaRef ds:uri="834a401e-6025-4840-ab01-94c3ee29c0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CA889CF-47FE-431B-A87A-A1640F9B5A5F}">
  <ds:schemaRefs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terms/"/>
    <ds:schemaRef ds:uri="http://purl.org/dc/elements/1.1/"/>
    <ds:schemaRef ds:uri="http://www.w3.org/XML/1998/namespace"/>
    <ds:schemaRef ds:uri="http://schemas.openxmlformats.org/package/2006/metadata/core-properties"/>
    <ds:schemaRef ds:uri="216e2b9e-0941-4f39-ad78-54f7f7dc5e95"/>
    <ds:schemaRef ds:uri="b056d838-330f-47e6-8fb0-765c3d4b8b26"/>
    <ds:schemaRef ds:uri="http://schemas.microsoft.com/office/2006/metadata/properties"/>
    <ds:schemaRef ds:uri="c57e4748-b4be-4712-b5f7-3821262dd9ef"/>
    <ds:schemaRef ds:uri="834a401e-6025-4840-ab01-94c3ee29c08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UpSlideTemplate</Template>
  <TotalTime>966</TotalTime>
  <Words>1117</Words>
  <Application>Microsoft Office PowerPoint</Application>
  <PresentationFormat>Format A4 (210 x 297 mm)</PresentationFormat>
  <Paragraphs>116</Paragraphs>
  <Slides>7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PAGE VIERGE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</dc:creator>
  <cp:lastModifiedBy>Bruno GRANJON</cp:lastModifiedBy>
  <cp:revision>8</cp:revision>
  <dcterms:created xsi:type="dcterms:W3CDTF">2025-03-14T08:10:21Z</dcterms:created>
  <dcterms:modified xsi:type="dcterms:W3CDTF">2026-03-02T18:09:31Z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0x010100DD414B5A0CDB1A4F92F60DB93384A30A</vt:lpwstr>
  </property>
  <property fmtid="{D5CDD505-2E9C-101B-9397-08002B2CF9AE}" pid="3" name="MediaServiceImageTags">
    <vt:lpwstr/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</Properties>
</file>