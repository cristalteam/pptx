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3470" y="254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18" Type="http://schemas.openxmlformats.org/officeDocument/2006/relationships/viewProps" Target="viewProps.xml"/><Relationship Id="rId19" Type="http://schemas.microsoft.com/office/2015/10/relationships/revisionInfo" Target="revisionInfo.xml"/><Relationship Id="rId20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2" Type="http://schemas.openxmlformats.org/officeDocument/2006/relationships/tableStyles" Target="tableStyles.xml"/><Relationship Id="rId23" Type="http://schemas.openxmlformats.org/officeDocument/2006/relationships/theme" Target="theme/theme1.xml"/><Relationship Id="rId24" Type="http://schemas.openxmlformats.org/officeDocument/2006/relationships/image" Target="media/image7.png"/><Relationship Id="rId25" Type="http://schemas.openxmlformats.org/officeDocument/2006/relationships/notesSlide" Target="notesSlides/notesSlide2.xml"/><Relationship Id="rId26" Type="http://schemas.openxmlformats.org/officeDocument/2006/relationships/slideLayout" Target="slideLayouts/slideLayout2.xml"/><Relationship Id="rId27" Type="http://schemas.openxmlformats.org/officeDocument/2006/relationships/notesSlide" Target="notesSlides/notesSlide3.xml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6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Nbe</a:t>
            </a:r>
            <a:r>
              <a:rPr lang="fr-FR" dirty="0"/>
              <a:t> bpa</a:t>
            </a:r>
          </a:p>
          <a:p>
            <a:r>
              <a:rPr lang="fr-FR" dirty="0" err="1"/>
              <a:t>Nbe</a:t>
            </a:r>
            <a:r>
              <a:rPr lang="fr-FR" dirty="0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Nbe</a:t>
            </a:r>
            <a:r>
              <a:rPr lang="fr-FR" dirty="0"/>
              <a:t> bpa</a:t>
            </a:r>
          </a:p>
          <a:p>
            <a:r>
              <a:rPr lang="fr-FR" dirty="0" err="1"/>
              <a:t>Nbe</a:t>
            </a:r>
            <a:r>
              <a:rPr lang="fr-FR" dirty="0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9.jpeg"/><Relationship Id="rId21" Type="http://schemas.openxmlformats.org/officeDocument/2006/relationships/image" Target="../media/image46.sv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" Type="http://schemas.openxmlformats.org/officeDocument/2006/relationships/image" Target="../media/image28.jpe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31.jpeg"/><Relationship Id="rId15" Type="http://schemas.openxmlformats.org/officeDocument/2006/relationships/image" Target="../media/image40.svg"/><Relationship Id="rId10" Type="http://schemas.openxmlformats.org/officeDocument/2006/relationships/image" Target="../media/image35.svg"/><Relationship Id="rId19" Type="http://schemas.openxmlformats.org/officeDocument/2006/relationships/image" Target="../media/image44.svg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7.pn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svg"/><Relationship Id="rId4" Type="http://schemas.openxmlformats.org/officeDocument/2006/relationships/image" Target="../media/image7.pn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5.sv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7.png"/><Relationship Id="rId21" Type="http://schemas.openxmlformats.org/officeDocument/2006/relationships/image" Target="../media/image91.svg"/><Relationship Id="rId7" Type="http://schemas.openxmlformats.org/officeDocument/2006/relationships/image" Target="../media/image81.svg"/><Relationship Id="rId12" Type="http://schemas.openxmlformats.org/officeDocument/2006/relationships/image" Target="../media/image84.png"/><Relationship Id="rId17" Type="http://schemas.openxmlformats.org/officeDocument/2006/relationships/image" Target="../media/image89.svg"/><Relationship Id="rId25" Type="http://schemas.openxmlformats.org/officeDocument/2006/relationships/image" Target="../media/image95.svg"/><Relationship Id="rId2" Type="http://schemas.openxmlformats.org/officeDocument/2006/relationships/image" Target="../media/image38.pn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44.svg"/><Relationship Id="rId24" Type="http://schemas.openxmlformats.org/officeDocument/2006/relationships/image" Target="../media/image94.png"/><Relationship Id="rId5" Type="http://schemas.openxmlformats.org/officeDocument/2006/relationships/image" Target="../media/image79.svg"/><Relationship Id="rId15" Type="http://schemas.openxmlformats.org/officeDocument/2006/relationships/image" Target="../media/image87.svg"/><Relationship Id="rId23" Type="http://schemas.openxmlformats.org/officeDocument/2006/relationships/image" Target="../media/image93.svg"/><Relationship Id="rId28" Type="http://schemas.openxmlformats.org/officeDocument/2006/relationships/image" Target="../media/image96.png"/><Relationship Id="rId10" Type="http://schemas.openxmlformats.org/officeDocument/2006/relationships/image" Target="../media/image43.png"/><Relationship Id="rId19" Type="http://schemas.openxmlformats.org/officeDocument/2006/relationships/image" Target="../media/image59.svg"/><Relationship Id="rId4" Type="http://schemas.openxmlformats.org/officeDocument/2006/relationships/image" Target="../media/image78.png"/><Relationship Id="rId9" Type="http://schemas.openxmlformats.org/officeDocument/2006/relationships/image" Target="../media/image83.svg"/><Relationship Id="rId14" Type="http://schemas.openxmlformats.org/officeDocument/2006/relationships/image" Target="../media/image86.png"/><Relationship Id="rId22" Type="http://schemas.openxmlformats.org/officeDocument/2006/relationships/image" Target="../media/image92.png"/><Relationship Id="rId27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423666" y="2346268"/>
            <a:ext cx="4494243" cy="407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2051" b="1" dirty="0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448623" y="2678793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962840" y="2676435"/>
            <a:ext cx="1822969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423666" y="3120070"/>
            <a:ext cx="4204061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90987"/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448624" y="4694949"/>
            <a:ext cx="3237127" cy="355482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448623" y="4504243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937653" y="4021122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423665" y="3496330"/>
            <a:ext cx="3751674" cy="836229"/>
            <a:chOff x="5995758" y="4151449"/>
            <a:chExt cx="3777415" cy="977781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51449"/>
              <a:ext cx="3777415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90987"/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b="1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1"/>
              <a:ext cx="3676747" cy="7233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448624" y="5353713"/>
            <a:ext cx="2954907" cy="618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448623" y="5162697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937653" y="2998776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335" y="1218121"/>
            <a:ext cx="1558505" cy="679594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7582055" y="1157020"/>
            <a:ext cx="1705562" cy="851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90987"/>
            <a:endParaRPr lang="fr-FR" sz="153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448623" y="2800546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195634" y="0"/>
            <a:ext cx="4597175" cy="7559675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775683" y="2769466"/>
            <a:ext cx="3270471" cy="3270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9046154" y="1123807"/>
            <a:ext cx="1645659" cy="16456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0599" y="137901"/>
            <a:ext cx="4384621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716041" y="2572158"/>
            <a:ext cx="3203210" cy="222833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90987"/>
              <a:endParaRPr lang="fr-FR" sz="1539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85830" y="1990383"/>
            <a:ext cx="210167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7231722" y="1659226"/>
            <a:ext cx="2401293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27096" y="5796408"/>
            <a:ext cx="2264271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21977" y="5075889"/>
            <a:ext cx="223360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809098" y="5072638"/>
            <a:ext cx="2356104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806438" y="4201292"/>
            <a:ext cx="24816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6243" y="2481337"/>
            <a:ext cx="706592" cy="706592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6244" y="2113993"/>
            <a:ext cx="367343" cy="367343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5797" y="5482611"/>
            <a:ext cx="352103" cy="352103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4280" y="5158561"/>
            <a:ext cx="709053" cy="709053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2036" y="2137753"/>
            <a:ext cx="704729" cy="704729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9653" y="4768575"/>
            <a:ext cx="720262" cy="720262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12000" y="4795080"/>
            <a:ext cx="360319" cy="36031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7231722" y="1013934"/>
            <a:ext cx="2090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25275" y="4302959"/>
            <a:ext cx="2856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806438" y="3411676"/>
            <a:ext cx="2816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64010" y="2834635"/>
            <a:ext cx="360319" cy="36031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12707" y="1678335"/>
            <a:ext cx="2856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62906" y="265328"/>
            <a:ext cx="5442188" cy="10346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62BAE92-6D50-6E60-8CC4-715E8217BBD2}"/>
              </a:ext>
            </a:extLst>
          </p:cNvPr>
          <p:cNvSpPr/>
          <p:nvPr/>
        </p:nvSpPr>
        <p:spPr>
          <a:xfrm>
            <a:off x="6168735" y="2643545"/>
            <a:ext cx="3270471" cy="32704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personne, tenant&#10;&#10;Description générée automatiquement">
            <a:extLst>
              <a:ext uri="{FF2B5EF4-FFF2-40B4-BE49-F238E27FC236}">
                <a16:creationId xmlns:a16="http://schemas.microsoft.com/office/drawing/2014/main" id="{54DBD9CE-4A24-6EC9-DEEA-BD2A6077D3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5788" y="1047175"/>
            <a:ext cx="3244561" cy="486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568E65-D154-D9FF-3386-93810A658E1B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Espace réservé du texte 1">
            <a:extLst>
              <a:ext uri="{FF2B5EF4-FFF2-40B4-BE49-F238E27FC236}">
                <a16:creationId xmlns:a16="http://schemas.microsoft.com/office/drawing/2014/main" id="{72CB8F02-B1F9-29E2-2D8E-6099559496B3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Votre situation actuelle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B4D3B-E882-DE4C-A26D-5B70AE18AC70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34BD31-3248-02B5-0E8D-1FB22A2F68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5CEE07-328E-33B9-2317-97F33D1C5F87}"/>
              </a:ext>
            </a:extLst>
          </p:cNvPr>
          <p:cNvSpPr/>
          <p:nvPr/>
        </p:nvSpPr>
        <p:spPr>
          <a:xfrm>
            <a:off x="4523076" y="5914016"/>
            <a:ext cx="1645659" cy="1645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04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E3FA-1FD9-05F7-6252-0EBB52B2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1502AEFA-0A3A-3CA3-9DDB-0E859E909B08}"/>
              </a:ext>
            </a:extLst>
          </p:cNvPr>
          <p:cNvSpPr/>
          <p:nvPr/>
        </p:nvSpPr>
        <p:spPr>
          <a:xfrm>
            <a:off x="890220" y="4116605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B8487119-284A-5EC0-096D-B1B40DADDC04}"/>
              </a:ext>
            </a:extLst>
          </p:cNvPr>
          <p:cNvGrpSpPr/>
          <p:nvPr/>
        </p:nvGrpSpPr>
        <p:grpSpPr>
          <a:xfrm>
            <a:off x="4842332" y="4929761"/>
            <a:ext cx="888317" cy="887861"/>
            <a:chOff x="5404049" y="3343576"/>
            <a:chExt cx="1619752" cy="1618921"/>
          </a:xfrm>
        </p:grpSpPr>
        <p:pic>
          <p:nvPicPr>
            <p:cNvPr id="52" name="Image 51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8F697BE2-4A66-EE7E-4389-E47043819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04049" y="3343576"/>
              <a:ext cx="901499" cy="942467"/>
            </a:xfrm>
            <a:prstGeom prst="rect">
              <a:avLst/>
            </a:prstGeom>
          </p:spPr>
        </p:pic>
        <p:pic>
          <p:nvPicPr>
            <p:cNvPr id="53" name="Image 52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6A805120-94A2-C4B3-9D03-A862CFFD2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2302" y="3550962"/>
              <a:ext cx="901499" cy="942467"/>
            </a:xfrm>
            <a:prstGeom prst="rect">
              <a:avLst/>
            </a:prstGeom>
          </p:spPr>
        </p:pic>
        <p:pic>
          <p:nvPicPr>
            <p:cNvPr id="54" name="Image 53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A56BCF8B-DB2A-418A-84AA-79798BF64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22422" y="4160378"/>
              <a:ext cx="767252" cy="802119"/>
            </a:xfrm>
            <a:prstGeom prst="rect">
              <a:avLst/>
            </a:prstGeom>
          </p:spPr>
        </p:pic>
        <p:pic>
          <p:nvPicPr>
            <p:cNvPr id="55" name="Image 54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9298B7B0-CC59-30E2-2FEA-0EBFA0FE5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54770" y="4157261"/>
              <a:ext cx="767252" cy="802119"/>
            </a:xfrm>
            <a:prstGeom prst="rect">
              <a:avLst/>
            </a:prstGeom>
          </p:spPr>
        </p:pic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6E371717-4BBE-3598-B963-A89C2ED4DBB9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B5D52E-F6E1-48CB-4769-710C57D4B8C0}"/>
              </a:ext>
            </a:extLst>
          </p:cNvPr>
          <p:cNvSpPr/>
          <p:nvPr/>
        </p:nvSpPr>
        <p:spPr>
          <a:xfrm>
            <a:off x="881216" y="1358736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7C2F80-B3A7-968B-61B8-758DF256117C}"/>
              </a:ext>
            </a:extLst>
          </p:cNvPr>
          <p:cNvSpPr txBox="1"/>
          <p:nvPr/>
        </p:nvSpPr>
        <p:spPr>
          <a:xfrm>
            <a:off x="4291807" y="6865048"/>
            <a:ext cx="9239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BA53CF4-BC7D-4B1A-C34F-DDE5451C2BB9}"/>
              </a:ext>
            </a:extLst>
          </p:cNvPr>
          <p:cNvSpPr txBox="1"/>
          <p:nvPr/>
        </p:nvSpPr>
        <p:spPr>
          <a:xfrm>
            <a:off x="2146531" y="6845631"/>
            <a:ext cx="779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4BBBC59-6B1C-460E-36E4-3A6A8DA84F50}"/>
              </a:ext>
            </a:extLst>
          </p:cNvPr>
          <p:cNvSpPr txBox="1"/>
          <p:nvPr/>
        </p:nvSpPr>
        <p:spPr>
          <a:xfrm>
            <a:off x="1296407" y="6830934"/>
            <a:ext cx="504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B794909-BFBC-EF21-DD70-B1A56F5E2CB9}"/>
              </a:ext>
            </a:extLst>
          </p:cNvPr>
          <p:cNvSpPr txBox="1"/>
          <p:nvPr/>
        </p:nvSpPr>
        <p:spPr>
          <a:xfrm>
            <a:off x="3130435" y="6838765"/>
            <a:ext cx="971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27413DF-85A3-45A6-A50F-4641BD61D057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B81ABB7-90FE-F35D-0547-ABBFE936099F}"/>
              </a:ext>
            </a:extLst>
          </p:cNvPr>
          <p:cNvSpPr txBox="1"/>
          <p:nvPr/>
        </p:nvSpPr>
        <p:spPr>
          <a:xfrm>
            <a:off x="1947574" y="4247312"/>
            <a:ext cx="2259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types de wifi existants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7B06A27-9D62-E4A3-7CD9-0FD9AD92CEEA}"/>
              </a:ext>
            </a:extLst>
          </p:cNvPr>
          <p:cNvSpPr txBox="1"/>
          <p:nvPr/>
        </p:nvSpPr>
        <p:spPr>
          <a:xfrm>
            <a:off x="1390220" y="6020241"/>
            <a:ext cx="369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usages principaux de wifi collaborateurs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D26BEB4-8AD0-6FC6-6948-2DEDB79C6EF7}"/>
              </a:ext>
            </a:extLst>
          </p:cNvPr>
          <p:cNvSpPr txBox="1"/>
          <p:nvPr/>
        </p:nvSpPr>
        <p:spPr>
          <a:xfrm>
            <a:off x="1491645" y="236835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02254C2-D0DB-E7AC-A962-5B6C44553AE8}"/>
              </a:ext>
            </a:extLst>
          </p:cNvPr>
          <p:cNvSpPr txBox="1"/>
          <p:nvPr/>
        </p:nvSpPr>
        <p:spPr>
          <a:xfrm>
            <a:off x="2696000" y="236869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11F8B5-DAE3-FD7B-359B-C4FA9E445EB4}"/>
              </a:ext>
            </a:extLst>
          </p:cNvPr>
          <p:cNvSpPr/>
          <p:nvPr/>
        </p:nvSpPr>
        <p:spPr>
          <a:xfrm>
            <a:off x="2931547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61F243-9439-75CC-1899-06240F4708C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C56F24-D031-4507-D52B-36692A7BC30D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AD872467-0FF2-3791-F8C6-D773245F9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1191" t="20986"/>
          <a:stretch/>
        </p:blipFill>
        <p:spPr>
          <a:xfrm>
            <a:off x="873420" y="5026469"/>
            <a:ext cx="1124562" cy="860891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02F49F87-1F43-CA12-D79F-16B0877E8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9199" y="4914047"/>
            <a:ext cx="875736" cy="97634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B10A752-A08C-1849-18CB-3F04C880DD23}"/>
              </a:ext>
            </a:extLst>
          </p:cNvPr>
          <p:cNvGrpSpPr/>
          <p:nvPr/>
        </p:nvGrpSpPr>
        <p:grpSpPr>
          <a:xfrm>
            <a:off x="3545283" y="4898308"/>
            <a:ext cx="1036036" cy="1019036"/>
            <a:chOff x="8897781" y="2137780"/>
            <a:chExt cx="2391271" cy="2478706"/>
          </a:xfrm>
        </p:grpSpPr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04B70162-9F6E-46EA-0F57-BCAF89C946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8897781" y="2137780"/>
              <a:ext cx="1805205" cy="1552866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AECC5CD7-F77F-3A31-C1AD-C3EEAC9BC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6" y="2328209"/>
              <a:ext cx="1805205" cy="1552866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0FCDCE72-7F9E-FAFB-40B2-654F439E99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7" y="3063620"/>
              <a:ext cx="1805205" cy="1552866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21B9D23B-4C8F-41AF-D9A2-BEBF2A412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044650" y="3027567"/>
              <a:ext cx="1805205" cy="1552866"/>
            </a:xfrm>
            <a:prstGeom prst="rect">
              <a:avLst/>
            </a:prstGeom>
          </p:spPr>
        </p:pic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C818CD00-DF20-B158-F12A-CC46412C6E8E}"/>
              </a:ext>
            </a:extLst>
          </p:cNvPr>
          <p:cNvSpPr txBox="1"/>
          <p:nvPr/>
        </p:nvSpPr>
        <p:spPr>
          <a:xfrm>
            <a:off x="785491" y="4544169"/>
            <a:ext cx="1339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D’ENTREPRISE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E106059-3AD8-C069-9FC1-1F7BD4F43131}"/>
              </a:ext>
            </a:extLst>
          </p:cNvPr>
          <p:cNvSpPr txBox="1"/>
          <p:nvPr/>
        </p:nvSpPr>
        <p:spPr>
          <a:xfrm>
            <a:off x="2417864" y="4544169"/>
            <a:ext cx="734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INVITÉ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E227632-13DA-0F21-0ED7-572391A49C6C}"/>
              </a:ext>
            </a:extLst>
          </p:cNvPr>
          <p:cNvSpPr txBox="1"/>
          <p:nvPr/>
        </p:nvSpPr>
        <p:spPr>
          <a:xfrm>
            <a:off x="3799114" y="4557219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CAPTIF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A86E46B-511F-AAFA-DFED-CCA0530881F3}"/>
              </a:ext>
            </a:extLst>
          </p:cNvPr>
          <p:cNvSpPr txBox="1"/>
          <p:nvPr/>
        </p:nvSpPr>
        <p:spPr>
          <a:xfrm>
            <a:off x="780922" y="12254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ABA2B9-F2BB-CB19-36BF-94EBF04554E0}"/>
              </a:ext>
            </a:extLst>
          </p:cNvPr>
          <p:cNvSpPr/>
          <p:nvPr/>
        </p:nvSpPr>
        <p:spPr>
          <a:xfrm>
            <a:off x="1705630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326CAEA-9115-8DAE-4BC5-4E7CEA42E092}"/>
              </a:ext>
            </a:extLst>
          </p:cNvPr>
          <p:cNvSpPr txBox="1"/>
          <p:nvPr/>
        </p:nvSpPr>
        <p:spPr>
          <a:xfrm>
            <a:off x="1034174" y="155544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2FA5E38-F29F-5318-70DF-AD284905564A}"/>
              </a:ext>
            </a:extLst>
          </p:cNvPr>
          <p:cNvSpPr txBox="1"/>
          <p:nvPr/>
        </p:nvSpPr>
        <p:spPr>
          <a:xfrm>
            <a:off x="4096369" y="2358046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86CED2-8D0C-02CD-AA0C-0D037FB2D159}"/>
              </a:ext>
            </a:extLst>
          </p:cNvPr>
          <p:cNvSpPr/>
          <p:nvPr/>
        </p:nvSpPr>
        <p:spPr>
          <a:xfrm>
            <a:off x="4207232" y="2838697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263A21-B944-17D0-95C9-EB479C875335}"/>
              </a:ext>
            </a:extLst>
          </p:cNvPr>
          <p:cNvSpPr txBox="1"/>
          <p:nvPr/>
        </p:nvSpPr>
        <p:spPr>
          <a:xfrm>
            <a:off x="4983178" y="4575410"/>
            <a:ext cx="519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IOT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80A3B4F-34FF-02DF-1C6D-3497E0C8426F}"/>
              </a:ext>
            </a:extLst>
          </p:cNvPr>
          <p:cNvSpPr/>
          <p:nvPr/>
        </p:nvSpPr>
        <p:spPr>
          <a:xfrm>
            <a:off x="6576059" y="1190019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CFF79C-0979-9299-920B-DE5546A1AD1E}"/>
              </a:ext>
            </a:extLst>
          </p:cNvPr>
          <p:cNvSpPr txBox="1"/>
          <p:nvPr/>
        </p:nvSpPr>
        <p:spPr>
          <a:xfrm>
            <a:off x="6572821" y="963854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FB72DA-6293-BD2D-F9B0-8CA7E2829C46}"/>
              </a:ext>
            </a:extLst>
          </p:cNvPr>
          <p:cNvSpPr/>
          <p:nvPr/>
        </p:nvSpPr>
        <p:spPr>
          <a:xfrm>
            <a:off x="6572821" y="3134063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D77A3A7-5830-C0AD-CFF2-DD9325617867}"/>
              </a:ext>
            </a:extLst>
          </p:cNvPr>
          <p:cNvSpPr txBox="1"/>
          <p:nvPr/>
        </p:nvSpPr>
        <p:spPr>
          <a:xfrm>
            <a:off x="6572821" y="2907898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7EC2186-5798-43B1-80FC-25FE242A2139}"/>
              </a:ext>
            </a:extLst>
          </p:cNvPr>
          <p:cNvSpPr/>
          <p:nvPr/>
        </p:nvSpPr>
        <p:spPr>
          <a:xfrm>
            <a:off x="6572821" y="5192106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7D8FDF86-F7B9-3CF7-5534-E9261B309036}"/>
              </a:ext>
            </a:extLst>
          </p:cNvPr>
          <p:cNvSpPr txBox="1"/>
          <p:nvPr/>
        </p:nvSpPr>
        <p:spPr>
          <a:xfrm>
            <a:off x="6572821" y="4965941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E570A2D-9395-5D19-1A8F-B03517922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1239560"/>
            <a:ext cx="321273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insuffisante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Déconnexions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performances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Est-ce que mon réseau est sécurisé ?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donne mon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mdp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à des personnes externes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ne suis pas satisfait de mon prestataire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46C0C85-5662-250C-1ED2-46E6BFF8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3305696"/>
            <a:ext cx="296587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Extension de la couverture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WiFi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réseau invité sécurisé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 service plus réactif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Une disponibilité du service client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Gestion d’un portail captif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68C5C9BC-2CDA-CD41-9C7E-23FE145E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575" y="5611756"/>
            <a:ext cx="281679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accès privés et invités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de wifi adapté à l’entreprise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14B853D-0644-1641-12E4-64E23AA65A56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FDB2426-1CE6-79E7-BC9E-F74A0C82AF5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38" name="Graphique 37">
            <a:extLst>
              <a:ext uri="{FF2B5EF4-FFF2-40B4-BE49-F238E27FC236}">
                <a16:creationId xmlns:a16="http://schemas.microsoft.com/office/drawing/2014/main" id="{9A46BD0E-4BFF-858A-CBF3-4558C069C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31059" y="6389664"/>
            <a:ext cx="435386" cy="413737"/>
          </a:xfrm>
          <a:prstGeom prst="rect">
            <a:avLst/>
          </a:prstGeom>
        </p:spPr>
      </p:pic>
      <p:pic>
        <p:nvPicPr>
          <p:cNvPr id="45" name="Graphique 44">
            <a:extLst>
              <a:ext uri="{FF2B5EF4-FFF2-40B4-BE49-F238E27FC236}">
                <a16:creationId xmlns:a16="http://schemas.microsoft.com/office/drawing/2014/main" id="{084CCAAB-4B9F-868E-1A68-257C48D9D7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79429" y="6438538"/>
            <a:ext cx="427376" cy="42432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A89ADC91-906B-349C-91E7-3056B5149D6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08874" y="6420039"/>
            <a:ext cx="508956" cy="441988"/>
          </a:xfrm>
          <a:prstGeom prst="rect">
            <a:avLst/>
          </a:prstGeom>
        </p:spPr>
      </p:pic>
      <p:pic>
        <p:nvPicPr>
          <p:cNvPr id="69" name="Graphique 68">
            <a:extLst>
              <a:ext uri="{FF2B5EF4-FFF2-40B4-BE49-F238E27FC236}">
                <a16:creationId xmlns:a16="http://schemas.microsoft.com/office/drawing/2014/main" id="{01EB024C-9E39-5AFD-3BC1-FBD6184A9F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24974" y="6408984"/>
            <a:ext cx="333539" cy="416924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74D9F4E3-D3A9-45F2-5C31-9ED46563EAF7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A6EEB1-4386-4347-35D0-1ABAB6295322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6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1712-08E0-8880-9400-3A1D9619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A4A3DA8-5EC6-E99D-0AB6-B377F3284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35556"/>
              </p:ext>
            </p:extLst>
          </p:nvPr>
        </p:nvGraphicFramePr>
        <p:xfrm>
          <a:off x="878640" y="1687810"/>
          <a:ext cx="9306325" cy="2967317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228879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42207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191384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705901280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1544762168"/>
                    </a:ext>
                  </a:extLst>
                </a:gridCol>
                <a:gridCol w="837738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776927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invité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Usagers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</a:t>
                      </a:r>
                    </a:p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34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4FB87D-CB1A-8225-0EAD-F16EBBB5E00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FAA3AF1-1C87-2C0F-0FCB-04ED3CD7CDFD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43526DB-7AA0-631E-8C0E-6884FA1479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B154605-CE31-859C-DD8E-DA894C16EE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8C62-3977-4E0B-E530-BBB17CA2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2DB1DC38-48D7-2FB2-503B-4F53F51ABB7D}"/>
              </a:ext>
            </a:extLst>
          </p:cNvPr>
          <p:cNvSpPr/>
          <p:nvPr/>
        </p:nvSpPr>
        <p:spPr>
          <a:xfrm>
            <a:off x="562409" y="4308022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172A34D-0646-A014-E7FE-42E3078DD626}"/>
              </a:ext>
            </a:extLst>
          </p:cNvPr>
          <p:cNvSpPr txBox="1"/>
          <p:nvPr/>
        </p:nvSpPr>
        <p:spPr>
          <a:xfrm>
            <a:off x="607339" y="4162601"/>
            <a:ext cx="2959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BESOINS SPÉCIFIQUES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C57CC5-7E60-9BF1-802F-28E137C983DE}"/>
              </a:ext>
            </a:extLst>
          </p:cNvPr>
          <p:cNvSpPr/>
          <p:nvPr/>
        </p:nvSpPr>
        <p:spPr>
          <a:xfrm>
            <a:off x="569903" y="134417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4A056AF-C63C-1ADF-549C-CD7C60503265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8361402-B5FD-9703-8861-630AADBC8E7D}"/>
              </a:ext>
            </a:extLst>
          </p:cNvPr>
          <p:cNvSpPr txBox="1"/>
          <p:nvPr/>
        </p:nvSpPr>
        <p:spPr>
          <a:xfrm>
            <a:off x="3517571" y="4162601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1C5D882-E7CF-3BDC-B730-055138A12383}"/>
              </a:ext>
            </a:extLst>
          </p:cNvPr>
          <p:cNvSpPr txBox="1"/>
          <p:nvPr/>
        </p:nvSpPr>
        <p:spPr>
          <a:xfrm>
            <a:off x="1211950" y="2318326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14FFA49-E00C-C9CD-2383-C8A4CB77EA94}"/>
              </a:ext>
            </a:extLst>
          </p:cNvPr>
          <p:cNvSpPr txBox="1"/>
          <p:nvPr/>
        </p:nvSpPr>
        <p:spPr>
          <a:xfrm>
            <a:off x="2470007" y="231866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appels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 simultanées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6E9981-EDCA-9DE4-501A-497EAD65A44B}"/>
              </a:ext>
            </a:extLst>
          </p:cNvPr>
          <p:cNvSpPr/>
          <p:nvPr/>
        </p:nvSpPr>
        <p:spPr>
          <a:xfrm>
            <a:off x="2627132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A2A03-816D-34BF-CF78-591DC001EA6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C706208D-748E-2B4F-79DC-FE2878927310}"/>
              </a:ext>
            </a:extLst>
          </p:cNvPr>
          <p:cNvSpPr txBox="1"/>
          <p:nvPr/>
        </p:nvSpPr>
        <p:spPr>
          <a:xfrm>
            <a:off x="643962" y="12199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E0EF15-75AE-E884-C098-8902EC4C20E4}"/>
              </a:ext>
            </a:extLst>
          </p:cNvPr>
          <p:cNvSpPr/>
          <p:nvPr/>
        </p:nvSpPr>
        <p:spPr>
          <a:xfrm>
            <a:off x="1401215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940EAD81-AC29-4767-34DD-DF99B81B710F}"/>
              </a:ext>
            </a:extLst>
          </p:cNvPr>
          <p:cNvSpPr txBox="1"/>
          <p:nvPr/>
        </p:nvSpPr>
        <p:spPr>
          <a:xfrm>
            <a:off x="722861" y="1540881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Type de téléphonie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0EB1F28-A808-EAF3-5B38-8651E5AD5EAD}"/>
              </a:ext>
            </a:extLst>
          </p:cNvPr>
          <p:cNvSpPr txBox="1"/>
          <p:nvPr/>
        </p:nvSpPr>
        <p:spPr>
          <a:xfrm>
            <a:off x="3887624" y="2308021"/>
            <a:ext cx="750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Volume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d’appels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E86C8E-EA0B-5237-CB27-4D61E0B1AD6C}"/>
              </a:ext>
            </a:extLst>
          </p:cNvPr>
          <p:cNvSpPr/>
          <p:nvPr/>
        </p:nvSpPr>
        <p:spPr>
          <a:xfrm>
            <a:off x="3902817" y="278867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550CB5-6801-122C-F399-60053AC9CE8C}"/>
              </a:ext>
            </a:extLst>
          </p:cNvPr>
          <p:cNvSpPr/>
          <p:nvPr/>
        </p:nvSpPr>
        <p:spPr>
          <a:xfrm>
            <a:off x="6067454" y="1014716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07812E0-BB36-FBEE-C3EC-738A5D999107}"/>
              </a:ext>
            </a:extLst>
          </p:cNvPr>
          <p:cNvSpPr txBox="1"/>
          <p:nvPr/>
        </p:nvSpPr>
        <p:spPr>
          <a:xfrm>
            <a:off x="6064216" y="788551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74CABB-B955-9EDD-4C79-F659B318A6C6}"/>
              </a:ext>
            </a:extLst>
          </p:cNvPr>
          <p:cNvSpPr/>
          <p:nvPr/>
        </p:nvSpPr>
        <p:spPr>
          <a:xfrm>
            <a:off x="6064216" y="2958760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86A47B4A-ACAE-CC50-9C3A-97D78C80A1A9}"/>
              </a:ext>
            </a:extLst>
          </p:cNvPr>
          <p:cNvSpPr txBox="1"/>
          <p:nvPr/>
        </p:nvSpPr>
        <p:spPr>
          <a:xfrm>
            <a:off x="6064216" y="2732595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A24A22-E015-E8AA-B764-0AB35D47F6B0}"/>
              </a:ext>
            </a:extLst>
          </p:cNvPr>
          <p:cNvSpPr/>
          <p:nvPr/>
        </p:nvSpPr>
        <p:spPr>
          <a:xfrm>
            <a:off x="6064216" y="5016803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0406AA3B-7663-2AAB-920F-63AD968FF68B}"/>
              </a:ext>
            </a:extLst>
          </p:cNvPr>
          <p:cNvSpPr txBox="1"/>
          <p:nvPr/>
        </p:nvSpPr>
        <p:spPr>
          <a:xfrm>
            <a:off x="6064216" y="4790638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0D2B6955-6E52-1385-8550-B6197267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1233535"/>
            <a:ext cx="425949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Qualité d’appel médiocre (écho, latence, coupures)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Insuffisance de lignes simultanées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fonctionnalités (standard, messagerie, supervision)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Difficulté d’intégration avec d’autres outils (CRM, Teams, ERP)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trop élevé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D14B022A-E5D9-DFA8-E8FA-1912CC9A1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3130393"/>
            <a:ext cx="412164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Augmentation du nombre de lignes / extensions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Migration vers une solution Cloud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Centrex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hébergée)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Microsoft Teams / CRM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fonctionnalités avancées (SVI, messagerie unifiée)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Amélioration de la redondance et de la continuité de service 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56E41BC6-A1A4-1AAA-0FD0-39411C78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70" y="5267176"/>
            <a:ext cx="315823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 hacking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Fiabilité du service pour les appels critiques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Confidentialité des communications internes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Plan de secours en cas de panne </a:t>
            </a:r>
          </a:p>
        </p:txBody>
      </p:sp>
      <p:pic>
        <p:nvPicPr>
          <p:cNvPr id="6" name="Image 5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E353188E-2682-5EE3-30E7-51EC9912B7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D08E882-38DD-70AC-23D0-9A04ED92980B}"/>
              </a:ext>
            </a:extLst>
          </p:cNvPr>
          <p:cNvSpPr txBox="1"/>
          <p:nvPr/>
        </p:nvSpPr>
        <p:spPr>
          <a:xfrm>
            <a:off x="951189" y="5149827"/>
            <a:ext cx="10056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Messagerie vocale et répondeur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2EC5D3-3A72-CE42-5F4B-9DAA018A278F}"/>
              </a:ext>
            </a:extLst>
          </p:cNvPr>
          <p:cNvSpPr txBox="1"/>
          <p:nvPr/>
        </p:nvSpPr>
        <p:spPr>
          <a:xfrm>
            <a:off x="1916277" y="5167256"/>
            <a:ext cx="15322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automatique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SVI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B0E09AF-0251-9F50-55FF-A15857DB9261}"/>
              </a:ext>
            </a:extLst>
          </p:cNvPr>
          <p:cNvSpPr txBox="1"/>
          <p:nvPr/>
        </p:nvSpPr>
        <p:spPr>
          <a:xfrm>
            <a:off x="2033977" y="6581503"/>
            <a:ext cx="13019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Call Center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(supervision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&amp; statistiques)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3413A75-D286-8154-8717-26D816336DA4}"/>
              </a:ext>
            </a:extLst>
          </p:cNvPr>
          <p:cNvSpPr txBox="1"/>
          <p:nvPr/>
        </p:nvSpPr>
        <p:spPr>
          <a:xfrm>
            <a:off x="813083" y="6566453"/>
            <a:ext cx="13019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Groupes d’appels et files d’attente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A5B762B-3EEF-E63B-D706-B8D8B178C382}"/>
              </a:ext>
            </a:extLst>
          </p:cNvPr>
          <p:cNvSpPr txBox="1"/>
          <p:nvPr/>
        </p:nvSpPr>
        <p:spPr>
          <a:xfrm>
            <a:off x="3404263" y="5164877"/>
            <a:ext cx="10093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téléphonique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redirection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FCE8FED-D11B-74B5-2977-7F0FCA69663F}"/>
              </a:ext>
            </a:extLst>
          </p:cNvPr>
          <p:cNvSpPr txBox="1"/>
          <p:nvPr/>
        </p:nvSpPr>
        <p:spPr>
          <a:xfrm>
            <a:off x="3267691" y="6581503"/>
            <a:ext cx="1239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Visio &amp; Audio conférence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3C144F6-5F84-6236-BB25-989462F06E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6D6F5BC-6C8C-F233-7264-095027E56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6187" y="4659231"/>
            <a:ext cx="478932" cy="391728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3898342C-BF83-0951-7006-64C3DE79C3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9848" y="5986698"/>
            <a:ext cx="648909" cy="461272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BEFFBC4A-B748-AA31-53B0-762E12ED38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5303" y="5986698"/>
            <a:ext cx="567414" cy="466367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EBA7FDE4-B1A7-E342-71E3-C0C4DA6D1A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8473" y="4622020"/>
            <a:ext cx="478932" cy="48957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80D484E1-487A-5FC6-1D17-E5431A863D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9936" y="4610307"/>
            <a:ext cx="504639" cy="48957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AC788C2D-01B7-6AA9-CCA4-E1FCA1F57E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37800" y="5891055"/>
            <a:ext cx="648909" cy="61073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836527A-7A15-19C8-8FDF-9C326CBDA478}"/>
              </a:ext>
            </a:extLst>
          </p:cNvPr>
          <p:cNvSpPr/>
          <p:nvPr/>
        </p:nvSpPr>
        <p:spPr>
          <a:xfrm>
            <a:off x="582522" y="1227276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262827-01EA-28C7-A4C0-808FBB006339}"/>
              </a:ext>
            </a:extLst>
          </p:cNvPr>
          <p:cNvSpPr/>
          <p:nvPr/>
        </p:nvSpPr>
        <p:spPr>
          <a:xfrm>
            <a:off x="533700" y="4169189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20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AF177D2-C4AA-E1F5-6FB9-EA231809E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1834"/>
              </p:ext>
            </p:extLst>
          </p:nvPr>
        </p:nvGraphicFramePr>
        <p:xfrm>
          <a:off x="594095" y="1595061"/>
          <a:ext cx="9551948" cy="312222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41959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757535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96310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097486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455850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478247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270531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téléphonie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postes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lignes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d’appels simultanés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37856B-54BF-0410-324B-EC1C78A89C5E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7C19675-9670-1C67-E200-D5648CE17CD2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pic>
        <p:nvPicPr>
          <p:cNvPr id="22" name="Image 21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A8F6571C-DD98-5E68-262C-E72D4FCDEE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68F7125-E9E6-1A0B-6FBA-4943B51C88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3D03-324A-EB69-516C-F27EC1D3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726D0B2-84C0-3383-4B96-2D4563017F88}"/>
              </a:ext>
            </a:extLst>
          </p:cNvPr>
          <p:cNvSpPr/>
          <p:nvPr/>
        </p:nvSpPr>
        <p:spPr>
          <a:xfrm>
            <a:off x="796049" y="4395138"/>
            <a:ext cx="4776797" cy="2853891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F6AE4C0C-C9B6-15ED-9456-070269C0A7E3}"/>
              </a:ext>
            </a:extLst>
          </p:cNvPr>
          <p:cNvSpPr txBox="1"/>
          <p:nvPr/>
        </p:nvSpPr>
        <p:spPr>
          <a:xfrm>
            <a:off x="825052" y="4259082"/>
            <a:ext cx="2548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TYPES DE FORFAIT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7E01D3-FD7C-CF3C-DFC3-89A351F806E3}"/>
              </a:ext>
            </a:extLst>
          </p:cNvPr>
          <p:cNvSpPr/>
          <p:nvPr/>
        </p:nvSpPr>
        <p:spPr>
          <a:xfrm>
            <a:off x="729959" y="1481839"/>
            <a:ext cx="4776797" cy="2550699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B5434B3-6522-61D5-797D-70F31ACB297F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3EF6521-34C7-0A27-0EC9-E6441E0A8A17}"/>
              </a:ext>
            </a:extLst>
          </p:cNvPr>
          <p:cNvSpPr txBox="1"/>
          <p:nvPr/>
        </p:nvSpPr>
        <p:spPr>
          <a:xfrm>
            <a:off x="3678421" y="4267637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A9BE1F1-A0B3-4DBF-1349-D7F6B54BC229}"/>
              </a:ext>
            </a:extLst>
          </p:cNvPr>
          <p:cNvSpPr txBox="1"/>
          <p:nvPr/>
        </p:nvSpPr>
        <p:spPr>
          <a:xfrm>
            <a:off x="1326024" y="2446239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5C0B7CC-C794-A271-D7C3-23874383D3ED}"/>
              </a:ext>
            </a:extLst>
          </p:cNvPr>
          <p:cNvSpPr txBox="1"/>
          <p:nvPr/>
        </p:nvSpPr>
        <p:spPr>
          <a:xfrm>
            <a:off x="2633775" y="2446579"/>
            <a:ext cx="934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téléphones</a:t>
            </a:r>
          </a:p>
          <a:p>
            <a:pPr algn="ctr"/>
            <a:endParaRPr lang="fr-FR" sz="1200" dirty="0">
              <a:latin typeface="Arial Nova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9BE3DF-BD38-6176-FCEF-E5ECF8F08709}"/>
              </a:ext>
            </a:extLst>
          </p:cNvPr>
          <p:cNvSpPr/>
          <p:nvPr/>
        </p:nvSpPr>
        <p:spPr>
          <a:xfrm>
            <a:off x="2741206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18DD6-6887-5C51-CCED-A6E6E178C9B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504EC06-7582-E74E-EC66-EEF9E5BCFFA7}"/>
              </a:ext>
            </a:extLst>
          </p:cNvPr>
          <p:cNvSpPr txBox="1"/>
          <p:nvPr/>
        </p:nvSpPr>
        <p:spPr>
          <a:xfrm>
            <a:off x="789738" y="1307519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1FB7DC9-0189-97C8-D1BB-A5B5F707896A}"/>
              </a:ext>
            </a:extLst>
          </p:cNvPr>
          <p:cNvSpPr/>
          <p:nvPr/>
        </p:nvSpPr>
        <p:spPr>
          <a:xfrm>
            <a:off x="1515289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A5D5CA26-5BC5-E3A9-6C66-68419E2EB0D3}"/>
              </a:ext>
            </a:extLst>
          </p:cNvPr>
          <p:cNvSpPr txBox="1"/>
          <p:nvPr/>
        </p:nvSpPr>
        <p:spPr>
          <a:xfrm>
            <a:off x="882917" y="1802157"/>
            <a:ext cx="961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Opérateur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8158C70-C460-0F0B-C031-9E36D9B13B75}"/>
              </a:ext>
            </a:extLst>
          </p:cNvPr>
          <p:cNvSpPr txBox="1"/>
          <p:nvPr/>
        </p:nvSpPr>
        <p:spPr>
          <a:xfrm>
            <a:off x="3892405" y="2435934"/>
            <a:ext cx="968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Indice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A2A18D-2A69-D096-DA08-F08790027625}"/>
              </a:ext>
            </a:extLst>
          </p:cNvPr>
          <p:cNvSpPr/>
          <p:nvPr/>
        </p:nvSpPr>
        <p:spPr>
          <a:xfrm>
            <a:off x="4016891" y="2916585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7B1CE4-909D-BA6C-C531-C12BD8474650}"/>
              </a:ext>
            </a:extLst>
          </p:cNvPr>
          <p:cNvSpPr/>
          <p:nvPr/>
        </p:nvSpPr>
        <p:spPr>
          <a:xfrm>
            <a:off x="6330613" y="852394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940858D-43AE-7D2C-9B2A-DF415BE14420}"/>
              </a:ext>
            </a:extLst>
          </p:cNvPr>
          <p:cNvSpPr txBox="1"/>
          <p:nvPr/>
        </p:nvSpPr>
        <p:spPr>
          <a:xfrm>
            <a:off x="6327375" y="626229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F7A28D-C7CF-4E38-DB4E-A3D4999963FE}"/>
              </a:ext>
            </a:extLst>
          </p:cNvPr>
          <p:cNvSpPr/>
          <p:nvPr/>
        </p:nvSpPr>
        <p:spPr>
          <a:xfrm>
            <a:off x="6327375" y="2796438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5CE104D-F511-2FA2-1702-24539A00AFD3}"/>
              </a:ext>
            </a:extLst>
          </p:cNvPr>
          <p:cNvSpPr txBox="1"/>
          <p:nvPr/>
        </p:nvSpPr>
        <p:spPr>
          <a:xfrm>
            <a:off x="6327375" y="2570273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98F1690-25B7-C5E7-57B7-1B6B299629DB}"/>
              </a:ext>
            </a:extLst>
          </p:cNvPr>
          <p:cNvSpPr/>
          <p:nvPr/>
        </p:nvSpPr>
        <p:spPr>
          <a:xfrm>
            <a:off x="6327375" y="4854481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6404A23-CAD4-9004-23E7-F1E72F8CD738}"/>
              </a:ext>
            </a:extLst>
          </p:cNvPr>
          <p:cNvSpPr txBox="1"/>
          <p:nvPr/>
        </p:nvSpPr>
        <p:spPr>
          <a:xfrm>
            <a:off x="6327375" y="4628316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A2BE4A62-93CA-18DA-4F90-379A86EE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853" y="1071213"/>
            <a:ext cx="282962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couverture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4G/5G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Mauvaise gestion des forfaits / surcoûts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solutions de sécurité MDM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trop coûteux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546BFF0-9CA9-872D-0D09-CC4523C47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432" y="2964351"/>
            <a:ext cx="3887692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Forfaits adaptés à l’usage pro (illimité,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inclus)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gestion MDM (Mobile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Device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Management)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échanges mobiles (VPN, chiffrement)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la 5G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Consolidation des lignes mobiles sous un même contrat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815EA19A-0EAD-6E6B-ABBB-5C3001B78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30" y="5020217"/>
            <a:ext cx="383817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Risques liés aux appareils perdus ou volés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chiffrement des communications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des accès aux données professionnelles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et contrôle des usages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accès non autorisés)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2" name="Image 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E93AF81-39C6-6AF3-4918-0DCF0CC9E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BD032A-2CA0-4212-80E1-18BEC957AC55}"/>
              </a:ext>
            </a:extLst>
          </p:cNvPr>
          <p:cNvSpPr/>
          <p:nvPr/>
        </p:nvSpPr>
        <p:spPr>
          <a:xfrm>
            <a:off x="1002296" y="5395427"/>
            <a:ext cx="1248709" cy="230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73D74277-A541-E4F8-62A3-1E1510F32C0C}"/>
              </a:ext>
            </a:extLst>
          </p:cNvPr>
          <p:cNvSpPr txBox="1">
            <a:spLocks/>
          </p:cNvSpPr>
          <p:nvPr/>
        </p:nvSpPr>
        <p:spPr>
          <a:xfrm>
            <a:off x="1090224" y="5342501"/>
            <a:ext cx="931454" cy="556764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fr-FR" sz="1200" b="1" dirty="0">
                <a:latin typeface="Arial Nova" panose="020B0504020202020204" pitchFamily="34" charset="0"/>
              </a:rPr>
              <a:t>Forfaits Premium</a:t>
            </a:r>
          </a:p>
          <a:p>
            <a:pPr marL="400955" lvl="1" indent="0" algn="ctr">
              <a:lnSpc>
                <a:spcPct val="120000"/>
              </a:lnSpc>
              <a:buNone/>
            </a:pPr>
            <a:endParaRPr lang="fr-FR" sz="1400" b="1" dirty="0">
              <a:latin typeface="Arial Nova" panose="020B05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99D608-0E7E-B0E5-9903-E6B0803D5FB5}"/>
              </a:ext>
            </a:extLst>
          </p:cNvPr>
          <p:cNvSpPr txBox="1"/>
          <p:nvPr/>
        </p:nvSpPr>
        <p:spPr>
          <a:xfrm>
            <a:off x="851450" y="5939255"/>
            <a:ext cx="179405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fort en datas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Option internationale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importante d’appels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Besoin d’options régulièrement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1C6CBC3-6358-8D78-7A21-1DCD2E1F0758}"/>
              </a:ext>
            </a:extLst>
          </p:cNvPr>
          <p:cNvGrpSpPr/>
          <p:nvPr/>
        </p:nvGrpSpPr>
        <p:grpSpPr>
          <a:xfrm>
            <a:off x="2375824" y="5196517"/>
            <a:ext cx="1362300" cy="505960"/>
            <a:chOff x="2127600" y="4053919"/>
            <a:chExt cx="4485355" cy="525521"/>
          </a:xfrm>
          <a:noFill/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62C7E1-513C-C52A-7218-DA45EBF58AE4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8" name="Espace réservé du texte 5">
              <a:extLst>
                <a:ext uri="{FF2B5EF4-FFF2-40B4-BE49-F238E27FC236}">
                  <a16:creationId xmlns:a16="http://schemas.microsoft.com/office/drawing/2014/main" id="{3133FD4F-1568-3050-5838-811B06D2FBF2}"/>
                </a:ext>
              </a:extLst>
            </p:cNvPr>
            <p:cNvSpPr txBox="1">
              <a:spLocks/>
            </p:cNvSpPr>
            <p:nvPr/>
          </p:nvSpPr>
          <p:spPr>
            <a:xfrm>
              <a:off x="2328725" y="4198594"/>
              <a:ext cx="4284230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standard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033A8B-E5C3-874F-05BA-DB8A4553F0BB}"/>
              </a:ext>
            </a:extLst>
          </p:cNvPr>
          <p:cNvGrpSpPr/>
          <p:nvPr/>
        </p:nvGrpSpPr>
        <p:grpSpPr>
          <a:xfrm>
            <a:off x="4049359" y="5312581"/>
            <a:ext cx="1257954" cy="366670"/>
            <a:chOff x="2118480" y="4004321"/>
            <a:chExt cx="4141797" cy="380846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723B884-0E6C-415A-3B46-0F16603A5A87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21" name="Espace réservé du texte 5">
              <a:extLst>
                <a:ext uri="{FF2B5EF4-FFF2-40B4-BE49-F238E27FC236}">
                  <a16:creationId xmlns:a16="http://schemas.microsoft.com/office/drawing/2014/main" id="{72A02BBF-DEC0-4E11-8B11-F264BC2846D3}"/>
                </a:ext>
              </a:extLst>
            </p:cNvPr>
            <p:cNvSpPr txBox="1">
              <a:spLocks/>
            </p:cNvSpPr>
            <p:nvPr/>
          </p:nvSpPr>
          <p:spPr>
            <a:xfrm>
              <a:off x="2118480" y="4004321"/>
              <a:ext cx="4141797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basiques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18442890-66F5-7F74-46BF-A389B3306CEC}"/>
              </a:ext>
            </a:extLst>
          </p:cNvPr>
          <p:cNvSpPr txBox="1"/>
          <p:nvPr/>
        </p:nvSpPr>
        <p:spPr>
          <a:xfrm>
            <a:off x="2487378" y="5988938"/>
            <a:ext cx="179405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classiques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normal d’appels, majoritairement en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D204C56-1A06-5E19-21F6-974F555734F8}"/>
              </a:ext>
            </a:extLst>
          </p:cNvPr>
          <p:cNvSpPr txBox="1"/>
          <p:nvPr/>
        </p:nvSpPr>
        <p:spPr>
          <a:xfrm>
            <a:off x="4107056" y="5988938"/>
            <a:ext cx="147672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Faible en data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d’appels que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Ne sert que de téléphone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BD86C6-4C19-0EE5-4F19-0DAC83237E2B}"/>
              </a:ext>
            </a:extLst>
          </p:cNvPr>
          <p:cNvSpPr/>
          <p:nvPr/>
        </p:nvSpPr>
        <p:spPr>
          <a:xfrm>
            <a:off x="1322676" y="4861102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217CA6-EE88-7461-192C-B345D3E3B9C4}"/>
              </a:ext>
            </a:extLst>
          </p:cNvPr>
          <p:cNvSpPr/>
          <p:nvPr/>
        </p:nvSpPr>
        <p:spPr>
          <a:xfrm>
            <a:off x="2898978" y="4859644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B61BEB-3432-3310-7AD9-E551E8C2B2B0}"/>
              </a:ext>
            </a:extLst>
          </p:cNvPr>
          <p:cNvSpPr/>
          <p:nvPr/>
        </p:nvSpPr>
        <p:spPr>
          <a:xfrm>
            <a:off x="4475281" y="4859643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2" name="Picture 2" descr="Opérateur mobile : notre comparateur forfait mobile ...">
            <a:extLst>
              <a:ext uri="{FF2B5EF4-FFF2-40B4-BE49-F238E27FC236}">
                <a16:creationId xmlns:a16="http://schemas.microsoft.com/office/drawing/2014/main" id="{88C8D169-F1B8-992D-F67A-CCB5DAAA9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28"/>
          <a:stretch/>
        </p:blipFill>
        <p:spPr bwMode="auto">
          <a:xfrm>
            <a:off x="4028581" y="1682535"/>
            <a:ext cx="567305" cy="54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E8C2976C-FEF5-9B65-DAC0-BECE5F23F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39111" y="1677034"/>
            <a:ext cx="1149663" cy="5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9A5C7E74-91F8-C66C-0D17-B072E9584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43194" y="1687515"/>
            <a:ext cx="512135" cy="5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1CB098BC-1643-0AD6-686D-07B3C26D9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63085" y="1672228"/>
            <a:ext cx="856657" cy="4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7ADCB0A-8C8B-28AC-497D-553F6E9811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818BB7-90ED-0A8D-4079-83677D566C82}"/>
              </a:ext>
            </a:extLst>
          </p:cNvPr>
          <p:cNvSpPr/>
          <p:nvPr/>
        </p:nvSpPr>
        <p:spPr>
          <a:xfrm>
            <a:off x="706462" y="1312978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A9CB9-C273-1020-6892-666C5547CE5D}"/>
              </a:ext>
            </a:extLst>
          </p:cNvPr>
          <p:cNvSpPr/>
          <p:nvPr/>
        </p:nvSpPr>
        <p:spPr>
          <a:xfrm>
            <a:off x="698406" y="423952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68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7DB2-D475-4835-402E-CC238A8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AD9AD6A-7344-3151-5E84-B6C0A783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07012"/>
              </p:ext>
            </p:extLst>
          </p:nvPr>
        </p:nvGraphicFramePr>
        <p:xfrm>
          <a:off x="983707" y="1736678"/>
          <a:ext cx="8930450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35378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56188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273996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03769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613042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232899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062855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Numéros / Flotte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Téléphone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Opérateur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forfait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28449E7-94F1-B97A-4039-741CAA2892B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22C15C4-968C-5EC3-D888-4FFC87132EA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pic>
        <p:nvPicPr>
          <p:cNvPr id="22" name="Image 2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238EBDE-5CF2-E2F7-67FD-85366FCC77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EC9E242-54EC-BF6C-B547-968B12417B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9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">
            <a:extLst>
              <a:ext uri="{FF2B5EF4-FFF2-40B4-BE49-F238E27FC236}">
                <a16:creationId xmlns:a16="http://schemas.microsoft.com/office/drawing/2014/main" id="{717C764F-72BF-24A0-BABF-272EE83644B3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57BD0-7045-865D-D13F-DCAE3E90875F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9" name="Image 1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6036DD5-DC1F-C823-B0D6-B4A72921E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5CE39DD-0326-8B5D-188E-74C4EBD5BF12}"/>
              </a:ext>
            </a:extLst>
          </p:cNvPr>
          <p:cNvSpPr/>
          <p:nvPr/>
        </p:nvSpPr>
        <p:spPr>
          <a:xfrm>
            <a:off x="770463" y="4457969"/>
            <a:ext cx="4776797" cy="286875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1FE506-E87F-A46B-C660-075DC2AE06E3}"/>
              </a:ext>
            </a:extLst>
          </p:cNvPr>
          <p:cNvSpPr txBox="1"/>
          <p:nvPr/>
        </p:nvSpPr>
        <p:spPr>
          <a:xfrm>
            <a:off x="647431" y="4311654"/>
            <a:ext cx="5290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SOURCES D’ACCÈS VERS LE RÉSEAU EXTERNE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1EFAF7-2230-7519-2554-7B321CAC337C}"/>
              </a:ext>
            </a:extLst>
          </p:cNvPr>
          <p:cNvSpPr/>
          <p:nvPr/>
        </p:nvSpPr>
        <p:spPr>
          <a:xfrm>
            <a:off x="705167" y="1512044"/>
            <a:ext cx="4776797" cy="2583056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A7D8D14-3729-14D4-0FD5-E684F849CBB6}"/>
              </a:ext>
            </a:extLst>
          </p:cNvPr>
          <p:cNvSpPr txBox="1"/>
          <p:nvPr/>
        </p:nvSpPr>
        <p:spPr>
          <a:xfrm>
            <a:off x="3652835" y="4330468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0E5994C-6DB7-593A-BB4B-1189BF6AC824}"/>
              </a:ext>
            </a:extLst>
          </p:cNvPr>
          <p:cNvSpPr txBox="1"/>
          <p:nvPr/>
        </p:nvSpPr>
        <p:spPr>
          <a:xfrm>
            <a:off x="1874577" y="2582571"/>
            <a:ext cx="1147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collaborateurs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7AA373A-1BDD-3CAF-48B5-82A02FABB08C}"/>
              </a:ext>
            </a:extLst>
          </p:cNvPr>
          <p:cNvSpPr txBox="1"/>
          <p:nvPr/>
        </p:nvSpPr>
        <p:spPr>
          <a:xfrm>
            <a:off x="3252169" y="2582820"/>
            <a:ext cx="798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 de mobilité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C84FE2-C496-4DB9-AF4E-786EF7A83839}"/>
              </a:ext>
            </a:extLst>
          </p:cNvPr>
          <p:cNvSpPr/>
          <p:nvPr/>
        </p:nvSpPr>
        <p:spPr>
          <a:xfrm>
            <a:off x="3292835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A70C91-FD33-3649-1241-349ACE1670EE}"/>
              </a:ext>
            </a:extLst>
          </p:cNvPr>
          <p:cNvSpPr txBox="1"/>
          <p:nvPr/>
        </p:nvSpPr>
        <p:spPr>
          <a:xfrm>
            <a:off x="647431" y="130592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7DE0D3-5191-3445-99F6-0CF00372A6FA}"/>
              </a:ext>
            </a:extLst>
          </p:cNvPr>
          <p:cNvSpPr/>
          <p:nvPr/>
        </p:nvSpPr>
        <p:spPr>
          <a:xfrm>
            <a:off x="2066918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93437C7-8584-9534-22A9-A9E69543DF44}"/>
              </a:ext>
            </a:extLst>
          </p:cNvPr>
          <p:cNvSpPr txBox="1"/>
          <p:nvPr/>
        </p:nvSpPr>
        <p:spPr>
          <a:xfrm>
            <a:off x="858125" y="1708748"/>
            <a:ext cx="1857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Présence d’un pare-feu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09BEA1-3C31-EE49-FE70-434AF194B48D}"/>
              </a:ext>
            </a:extLst>
          </p:cNvPr>
          <p:cNvSpPr/>
          <p:nvPr/>
        </p:nvSpPr>
        <p:spPr>
          <a:xfrm>
            <a:off x="6358198" y="1058601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D433E26-0823-44E6-BA76-1780F864952E}"/>
              </a:ext>
            </a:extLst>
          </p:cNvPr>
          <p:cNvSpPr txBox="1"/>
          <p:nvPr/>
        </p:nvSpPr>
        <p:spPr>
          <a:xfrm>
            <a:off x="6354960" y="832436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F3A05-D12C-4B1A-97B0-76CD0E1294C4}"/>
              </a:ext>
            </a:extLst>
          </p:cNvPr>
          <p:cNvSpPr/>
          <p:nvPr/>
        </p:nvSpPr>
        <p:spPr>
          <a:xfrm>
            <a:off x="6354960" y="3002645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FDFC87A-CCF1-C9B7-84BB-3FC237F673BC}"/>
              </a:ext>
            </a:extLst>
          </p:cNvPr>
          <p:cNvSpPr txBox="1"/>
          <p:nvPr/>
        </p:nvSpPr>
        <p:spPr>
          <a:xfrm>
            <a:off x="6354960" y="2776480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184990-8941-F6E6-7E23-2EAFD069831C}"/>
              </a:ext>
            </a:extLst>
          </p:cNvPr>
          <p:cNvSpPr/>
          <p:nvPr/>
        </p:nvSpPr>
        <p:spPr>
          <a:xfrm>
            <a:off x="6354960" y="5060688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3954F1C-6A7F-79C4-697E-408238FF3B1A}"/>
              </a:ext>
            </a:extLst>
          </p:cNvPr>
          <p:cNvSpPr txBox="1"/>
          <p:nvPr/>
        </p:nvSpPr>
        <p:spPr>
          <a:xfrm>
            <a:off x="6354960" y="4834523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337457AB-C441-E236-C871-A07EC54BA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1108144"/>
            <a:ext cx="401470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Capacité de filtrage insuffisante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protection avancée (antivirus, IDS/IPS,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sandboxing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VPN sécurisé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supervision et d’alertes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Pare-feu vieillissant / non compatible avec les besoins actuels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5AA96EBE-7CF0-4491-5CC5-2573A059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8" y="3174279"/>
            <a:ext cx="292900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pare-feu Next-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Gen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(NGFW)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protection avancée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VPN sécurisé pour le télétravail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Surveillance et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reporting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Redondance et haute disponibilité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58BDEC43-0A97-BD90-161C-A51065BFB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5100134"/>
            <a:ext cx="388626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les cyberattaques (ransomware, phishing, DDoS)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Conformité réglementaire (RGPD, ISO 27001, PCI-DSS)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d’un monitoring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des accès et des droits utilisateurs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B573EB-E01D-27B2-15AC-81DB44082F43}"/>
              </a:ext>
            </a:extLst>
          </p:cNvPr>
          <p:cNvSpPr/>
          <p:nvPr/>
        </p:nvSpPr>
        <p:spPr>
          <a:xfrm>
            <a:off x="3823185" y="5549404"/>
            <a:ext cx="1033940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CAMERA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181C2A-EA8E-8A4F-EA7D-89A5AD087FD0}"/>
              </a:ext>
            </a:extLst>
          </p:cNvPr>
          <p:cNvSpPr/>
          <p:nvPr/>
        </p:nvSpPr>
        <p:spPr>
          <a:xfrm>
            <a:off x="2227160" y="6711856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E163F2B-E6AD-BF9E-90C9-6EA17716E573}"/>
              </a:ext>
            </a:extLst>
          </p:cNvPr>
          <p:cNvSpPr/>
          <p:nvPr/>
        </p:nvSpPr>
        <p:spPr>
          <a:xfrm>
            <a:off x="987907" y="5568082"/>
            <a:ext cx="1242235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SOFTPHONIE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754323-2D95-99A5-A6F7-8E4FE4072CC8}"/>
              </a:ext>
            </a:extLst>
          </p:cNvPr>
          <p:cNvSpPr/>
          <p:nvPr/>
        </p:nvSpPr>
        <p:spPr>
          <a:xfrm>
            <a:off x="2401274" y="5549404"/>
            <a:ext cx="1242234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ORDINATEUR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DEFBD09-D56A-EFC7-580E-4AB9CFF58EDD}"/>
              </a:ext>
            </a:extLst>
          </p:cNvPr>
          <p:cNvSpPr/>
          <p:nvPr/>
        </p:nvSpPr>
        <p:spPr>
          <a:xfrm>
            <a:off x="813793" y="6726903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SERVEURS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E35F19-CE82-9A51-F202-CE10BCB83D55}"/>
              </a:ext>
            </a:extLst>
          </p:cNvPr>
          <p:cNvSpPr/>
          <p:nvPr/>
        </p:nvSpPr>
        <p:spPr>
          <a:xfrm>
            <a:off x="3544924" y="6658163"/>
            <a:ext cx="1590463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CONNEXION LOGICIELLE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2EB4F7-859F-1074-149B-E9127E080B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0A38BD89-7A57-4058-1A8D-9B36D4CD7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6628" y="4912839"/>
            <a:ext cx="527054" cy="508004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28F01290-97CC-5ADD-0732-311C28A564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7705" y="6096757"/>
            <a:ext cx="553779" cy="553779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5822A904-514D-B24B-B5B8-3309DC9D9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7705" y="4973534"/>
            <a:ext cx="527054" cy="51241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92942DB1-2CD3-67FF-7F05-7B306B15DA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08499" y="4984957"/>
            <a:ext cx="684336" cy="473279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C4B6C757-64D8-6B5A-F7CC-03251A9D81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53050" y="6014542"/>
            <a:ext cx="687483" cy="648198"/>
          </a:xfrm>
          <a:prstGeom prst="rect">
            <a:avLst/>
          </a:prstGeom>
        </p:spPr>
      </p:pic>
      <p:pic>
        <p:nvPicPr>
          <p:cNvPr id="57" name="Graphique 56">
            <a:extLst>
              <a:ext uri="{FF2B5EF4-FFF2-40B4-BE49-F238E27FC236}">
                <a16:creationId xmlns:a16="http://schemas.microsoft.com/office/drawing/2014/main" id="{100CD1F4-2644-572F-AB2E-E7C67881C1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72478" y="6075452"/>
            <a:ext cx="620357" cy="570729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19E57F6E-CC8D-DF19-093E-C2ACD9AF3426}"/>
              </a:ext>
            </a:extLst>
          </p:cNvPr>
          <p:cNvSpPr/>
          <p:nvPr/>
        </p:nvSpPr>
        <p:spPr>
          <a:xfrm>
            <a:off x="541607" y="1315577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31B1EF-A586-72D6-75CD-8885DA918449}"/>
              </a:ext>
            </a:extLst>
          </p:cNvPr>
          <p:cNvSpPr/>
          <p:nvPr/>
        </p:nvSpPr>
        <p:spPr>
          <a:xfrm>
            <a:off x="549008" y="432099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9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FB48-743F-23E4-626C-FA3EBE4C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2871D27-8B1E-27FE-C527-2B250F8A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01537"/>
              </p:ext>
            </p:extLst>
          </p:nvPr>
        </p:nvGraphicFramePr>
        <p:xfrm>
          <a:off x="1271709" y="1830547"/>
          <a:ext cx="8370185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598767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6163987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685435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711363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470890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Pare-feu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FF9E9E-32DB-5E70-4E03-8E21B6EF8563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D21768F-437D-5312-EA5F-A2E05A319F6B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pic>
        <p:nvPicPr>
          <p:cNvPr id="9" name="Image 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010E3C5-1BD4-181B-8499-B43D82528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0EBA55F-DB71-2856-1425-34C9B13185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F1A9-CF6B-2FD9-0E3C-A1004E46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F3977A3-71DE-1589-7E7C-32E68598D16D}"/>
              </a:ext>
            </a:extLst>
          </p:cNvPr>
          <p:cNvSpPr/>
          <p:nvPr/>
        </p:nvSpPr>
        <p:spPr>
          <a:xfrm>
            <a:off x="890220" y="134418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B02DBEB-8B37-9E3C-A954-E0A46812D21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F7C3016-4007-ECDF-1D6D-56ACC0E184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FD220C01-7241-09A8-BFB2-46B202294372}"/>
              </a:ext>
            </a:extLst>
          </p:cNvPr>
          <p:cNvSpPr txBox="1"/>
          <p:nvPr/>
        </p:nvSpPr>
        <p:spPr>
          <a:xfrm>
            <a:off x="1457713" y="238547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813A7C0-7AAA-A564-E7C7-1C26989175D9}"/>
              </a:ext>
            </a:extLst>
          </p:cNvPr>
          <p:cNvSpPr txBox="1"/>
          <p:nvPr/>
        </p:nvSpPr>
        <p:spPr>
          <a:xfrm>
            <a:off x="2662068" y="238581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920C81-72D3-1CF2-088F-597AC1E10C01}"/>
              </a:ext>
            </a:extLst>
          </p:cNvPr>
          <p:cNvSpPr/>
          <p:nvPr/>
        </p:nvSpPr>
        <p:spPr>
          <a:xfrm>
            <a:off x="2897615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95BB5-F1B1-3FD7-46B8-43062D591FE1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0A24B76-2848-0A86-627F-1BDEC22B81A7}"/>
              </a:ext>
            </a:extLst>
          </p:cNvPr>
          <p:cNvSpPr txBox="1"/>
          <p:nvPr/>
        </p:nvSpPr>
        <p:spPr>
          <a:xfrm>
            <a:off x="789926" y="121086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95A010-2563-31CE-9451-3E098058E75F}"/>
              </a:ext>
            </a:extLst>
          </p:cNvPr>
          <p:cNvSpPr/>
          <p:nvPr/>
        </p:nvSpPr>
        <p:spPr>
          <a:xfrm>
            <a:off x="1671698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345C55C-DEF0-4A20-88AC-571DFDBF8DC1}"/>
              </a:ext>
            </a:extLst>
          </p:cNvPr>
          <p:cNvSpPr txBox="1"/>
          <p:nvPr/>
        </p:nvSpPr>
        <p:spPr>
          <a:xfrm>
            <a:off x="1117360" y="162536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C7617FC-5A1E-E6D4-7459-6F78AA51D7CD}"/>
              </a:ext>
            </a:extLst>
          </p:cNvPr>
          <p:cNvSpPr txBox="1"/>
          <p:nvPr/>
        </p:nvSpPr>
        <p:spPr>
          <a:xfrm>
            <a:off x="4062437" y="2375172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FBEC17-0C22-5B65-9481-5C399A8D9764}"/>
              </a:ext>
            </a:extLst>
          </p:cNvPr>
          <p:cNvSpPr/>
          <p:nvPr/>
        </p:nvSpPr>
        <p:spPr>
          <a:xfrm>
            <a:off x="4173300" y="2855823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7F81795-874F-4057-4C60-131857A1A685}"/>
              </a:ext>
            </a:extLst>
          </p:cNvPr>
          <p:cNvSpPr/>
          <p:nvPr/>
        </p:nvSpPr>
        <p:spPr>
          <a:xfrm>
            <a:off x="6366321" y="1106867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061FEB0-56AF-27B5-5ED0-B09D859D439B}"/>
              </a:ext>
            </a:extLst>
          </p:cNvPr>
          <p:cNvSpPr txBox="1"/>
          <p:nvPr/>
        </p:nvSpPr>
        <p:spPr>
          <a:xfrm>
            <a:off x="6363083" y="880702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6CE51D-5019-37BA-561C-870919FE4163}"/>
              </a:ext>
            </a:extLst>
          </p:cNvPr>
          <p:cNvSpPr/>
          <p:nvPr/>
        </p:nvSpPr>
        <p:spPr>
          <a:xfrm>
            <a:off x="6363083" y="3050911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62BE72A4-1E0F-752C-85CC-CCEB51F32E82}"/>
              </a:ext>
            </a:extLst>
          </p:cNvPr>
          <p:cNvSpPr txBox="1"/>
          <p:nvPr/>
        </p:nvSpPr>
        <p:spPr>
          <a:xfrm>
            <a:off x="6363083" y="2824746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F667C0-5AC5-4DD5-F3EC-8971EDB34826}"/>
              </a:ext>
            </a:extLst>
          </p:cNvPr>
          <p:cNvSpPr/>
          <p:nvPr/>
        </p:nvSpPr>
        <p:spPr>
          <a:xfrm>
            <a:off x="6363083" y="5108954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23E2EAD-0806-EFCF-438B-1BCCBDF1ED51}"/>
              </a:ext>
            </a:extLst>
          </p:cNvPr>
          <p:cNvSpPr txBox="1"/>
          <p:nvPr/>
        </p:nvSpPr>
        <p:spPr>
          <a:xfrm>
            <a:off x="6363083" y="4882789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AA6F202-4614-B922-FE1A-493084164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1156410"/>
            <a:ext cx="386035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Coupures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Latence élevée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redondance / backup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QoS (priorisation des flux)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Non évolutif (limite technique de l’infrastructure actuelle)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élevé par rapport aux besoins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8E06D6F6-214B-80FE-820D-979A51ACF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3222545"/>
            <a:ext cx="373852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débit supérieur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lien de backup (4G/5G, autre fibre)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Priorisation des flux (QoS)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Optimisation des coûts et flexibilité des abonnements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SD-WAN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F6DB03E9-6C8B-C10D-112D-8A995AC8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37" y="5359328"/>
            <a:ext cx="3578224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 d’interruption impactant la productivité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Données sensibles circulant sur le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garantie de service (SLA, GTR)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Nécessité de redondance pour assurer la continuité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E807018-3382-1D07-F2BC-39548C9B03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DD7AEFFC-29AA-CB00-1DDF-906A3B73B4F0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85F58F9-2117-973E-BF6E-6A2D13C8F632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71A82A-A4FB-DF40-A257-6801447426B2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C25D8F1-80BC-BD8B-82F0-30C4A34FFA67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08BA73-F175-CA67-2896-148E9E38ACCB}"/>
              </a:ext>
            </a:extLst>
          </p:cNvPr>
          <p:cNvSpPr txBox="1"/>
          <p:nvPr/>
        </p:nvSpPr>
        <p:spPr>
          <a:xfrm>
            <a:off x="1574101" y="4992689"/>
            <a:ext cx="849913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C1E20D-BFA8-5A44-6C48-53835F260BB3}"/>
              </a:ext>
            </a:extLst>
          </p:cNvPr>
          <p:cNvSpPr txBox="1"/>
          <p:nvPr/>
        </p:nvSpPr>
        <p:spPr>
          <a:xfrm>
            <a:off x="564282" y="5033190"/>
            <a:ext cx="71205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4F1701-047C-DBAD-1921-8A9B5D0B12C0}"/>
              </a:ext>
            </a:extLst>
          </p:cNvPr>
          <p:cNvSpPr txBox="1"/>
          <p:nvPr/>
        </p:nvSpPr>
        <p:spPr>
          <a:xfrm>
            <a:off x="2696022" y="4972266"/>
            <a:ext cx="872355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Messagerie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73CB78A-8EBE-862C-39A0-0B473AD3C6D5}"/>
              </a:ext>
            </a:extLst>
          </p:cNvPr>
          <p:cNvSpPr txBox="1"/>
          <p:nvPr/>
        </p:nvSpPr>
        <p:spPr>
          <a:xfrm>
            <a:off x="3873160" y="5036621"/>
            <a:ext cx="946093" cy="41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Sauvegarde externe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1B4B79-98FB-4043-F761-08E270336B7C}"/>
              </a:ext>
            </a:extLst>
          </p:cNvPr>
          <p:cNvSpPr txBox="1"/>
          <p:nvPr/>
        </p:nvSpPr>
        <p:spPr>
          <a:xfrm>
            <a:off x="1433385" y="2585388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260A06E7-6087-E358-FFD2-854C24D1F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5930" y="1862145"/>
            <a:ext cx="581025" cy="638175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50639633-B337-D603-F73E-B7D1DDC4D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5214" y="4499162"/>
            <a:ext cx="473555" cy="45601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8CF39EAC-B7FB-A65F-F337-4BCC1319E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569" y="4497335"/>
            <a:ext cx="351717" cy="440196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C0F144F5-5A11-FAE8-34D4-26187C3A2E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525" y="4502140"/>
            <a:ext cx="545849" cy="474027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7BF94158-EBF0-5EB6-F72D-ECBA5980C4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36657" y="4528720"/>
            <a:ext cx="419100" cy="4191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929DBE4-F609-8B0C-D7E5-C4BC77033A5D}"/>
              </a:ext>
            </a:extLst>
          </p:cNvPr>
          <p:cNvSpPr txBox="1"/>
          <p:nvPr/>
        </p:nvSpPr>
        <p:spPr>
          <a:xfrm>
            <a:off x="1819414" y="6160303"/>
            <a:ext cx="40748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Wifi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1DCEDAD-D0D4-91A7-D5A1-C4C78181CDF1}"/>
              </a:ext>
            </a:extLst>
          </p:cNvPr>
          <p:cNvSpPr txBox="1"/>
          <p:nvPr/>
        </p:nvSpPr>
        <p:spPr>
          <a:xfrm>
            <a:off x="740729" y="7261896"/>
            <a:ext cx="68320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Sécurité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0D0F2-37CB-DA5D-DDDF-3609C49E8AB7}"/>
              </a:ext>
            </a:extLst>
          </p:cNvPr>
          <p:cNvSpPr txBox="1"/>
          <p:nvPr/>
        </p:nvSpPr>
        <p:spPr>
          <a:xfrm>
            <a:off x="4079672" y="6136313"/>
            <a:ext cx="47160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C481F6-C57E-FF1A-B5BE-C0D16FE39E05}"/>
              </a:ext>
            </a:extLst>
          </p:cNvPr>
          <p:cNvSpPr txBox="1"/>
          <p:nvPr/>
        </p:nvSpPr>
        <p:spPr>
          <a:xfrm>
            <a:off x="2791958" y="6085189"/>
            <a:ext cx="870751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7AF18F6-7A83-90E9-E5F8-367713B1AB21}"/>
              </a:ext>
            </a:extLst>
          </p:cNvPr>
          <p:cNvSpPr txBox="1"/>
          <p:nvPr/>
        </p:nvSpPr>
        <p:spPr>
          <a:xfrm>
            <a:off x="756107" y="6226897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5D7F89E2-BCF3-02DD-90C6-B6BF1CE478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26293" y="5564768"/>
            <a:ext cx="584890" cy="47355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26454014-47B4-B41E-73FE-EDE811D56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2" y="5503654"/>
            <a:ext cx="581025" cy="638175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A93E9760-BEA2-EACF-4D6F-B2AE4F58E8C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42499" y="5563078"/>
            <a:ext cx="545952" cy="41198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5B348A7B-78C8-DB48-2F02-8730E6C4A7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46061" y="5557931"/>
            <a:ext cx="570379" cy="536827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A4457351-2C22-6870-E2D0-A17FAAD5D7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46044" y="5778433"/>
            <a:ext cx="146942" cy="224735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592DF008-FBE7-6EF2-C714-E68C7BB885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4471" y="6639854"/>
            <a:ext cx="504825" cy="55245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BD984F06-2250-0A93-B441-26F106434DDB}"/>
              </a:ext>
            </a:extLst>
          </p:cNvPr>
          <p:cNvSpPr txBox="1"/>
          <p:nvPr/>
        </p:nvSpPr>
        <p:spPr>
          <a:xfrm>
            <a:off x="1582760" y="7182348"/>
            <a:ext cx="94609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Caméras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surveillance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3F6069-0673-2714-3964-706D5B8F503D}"/>
              </a:ext>
            </a:extLst>
          </p:cNvPr>
          <p:cNvSpPr txBox="1"/>
          <p:nvPr/>
        </p:nvSpPr>
        <p:spPr>
          <a:xfrm>
            <a:off x="2617962" y="7217049"/>
            <a:ext cx="116891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Domotique / IOT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BD15BCE-716D-F669-F6B6-9156F62427E8}"/>
              </a:ext>
            </a:extLst>
          </p:cNvPr>
          <p:cNvSpPr txBox="1"/>
          <p:nvPr/>
        </p:nvSpPr>
        <p:spPr>
          <a:xfrm>
            <a:off x="4046061" y="7097368"/>
            <a:ext cx="84510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Affichage </a:t>
            </a:r>
          </a:p>
          <a:p>
            <a:r>
              <a:rPr lang="fr-FR" sz="1052" dirty="0">
                <a:latin typeface="Arial Nova" panose="020B0504020202020204" pitchFamily="34" charset="0"/>
              </a:rPr>
              <a:t>dynamique</a:t>
            </a:r>
          </a:p>
        </p:txBody>
      </p:sp>
      <p:pic>
        <p:nvPicPr>
          <p:cNvPr id="53" name="Graphique 52">
            <a:extLst>
              <a:ext uri="{FF2B5EF4-FFF2-40B4-BE49-F238E27FC236}">
                <a16:creationId xmlns:a16="http://schemas.microsoft.com/office/drawing/2014/main" id="{6CA8D62E-C0D6-ADD5-0228-FA5210F32EF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56309" y="6608134"/>
            <a:ext cx="417407" cy="416140"/>
          </a:xfrm>
          <a:prstGeom prst="rect">
            <a:avLst/>
          </a:prstGeom>
        </p:spPr>
      </p:pic>
      <p:pic>
        <p:nvPicPr>
          <p:cNvPr id="54" name="Graphique 53">
            <a:extLst>
              <a:ext uri="{FF2B5EF4-FFF2-40B4-BE49-F238E27FC236}">
                <a16:creationId xmlns:a16="http://schemas.microsoft.com/office/drawing/2014/main" id="{AF9985E0-41D0-115D-E32C-EAD588FCC41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18195" y="6679227"/>
            <a:ext cx="431745" cy="416140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44629EEC-95E9-B8A9-61C8-FBB77624570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71493" y="6631202"/>
            <a:ext cx="527655" cy="52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1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7DDF-B395-351A-B3D7-36D2BA17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094E691-1A27-8720-25F1-C663067B2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582628"/>
              </p:ext>
            </p:extLst>
          </p:nvPr>
        </p:nvGraphicFramePr>
        <p:xfrm>
          <a:off x="684893" y="1810517"/>
          <a:ext cx="9611678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766386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929283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712491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882603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204162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116753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principal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de secours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débit /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C433A22-6B3C-B44A-31C4-5C6E9F51A26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9DE8F63-1F71-1DC7-E572-5936B541BDF0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B66D54-4FFD-DB90-43EF-B41505012F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F949B8C-BD38-47F6-586D-1366AA2020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7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485670" y="2911256"/>
            <a:ext cx="4307221" cy="3187283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 dirty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82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59" cy="568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650" b="1" kern="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5"/>
                <a:ext cx="1336021" cy="416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30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3"/>
                <a:ext cx="1336020" cy="3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750" kern="0" dirty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5" y="3785565"/>
                <a:ext cx="1320798" cy="447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5"/>
                <a:ext cx="1336020" cy="682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68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650" b="1" kern="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5"/>
                <a:ext cx="1336020" cy="57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750" kern="0" dirty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47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692906" y="191723"/>
            <a:ext cx="7151005" cy="655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51" dirty="0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2051" dirty="0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2051" dirty="0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692906" y="1364836"/>
            <a:ext cx="78195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400" dirty="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400" b="1" dirty="0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30677" y="2696364"/>
            <a:ext cx="4249632" cy="372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999" b="1" dirty="0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999" b="1" dirty="0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400" b="1" dirty="0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400" dirty="0">
                <a:latin typeface="Arial Nova" panose="020B0504020202020204" pitchFamily="34" charset="0"/>
              </a:rPr>
              <a:t>, à distance avec un service illimité.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400" b="1" dirty="0">
                <a:latin typeface="Arial Nova" panose="020B0504020202020204" pitchFamily="34" charset="0"/>
              </a:rPr>
              <a:t>plus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b="1" dirty="0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400" dirty="0">
                <a:latin typeface="Arial Nova" panose="020B0504020202020204" pitchFamily="34" charset="0"/>
              </a:rPr>
              <a:t>.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400" b="1" dirty="0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564328" y="2877540"/>
            <a:ext cx="4324570" cy="3217089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 dirty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82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6"/>
                <a:ext cx="1729159" cy="568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650" b="1" kern="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1"/>
              <a:ext cx="1116354" cy="961351"/>
              <a:chOff x="4644036" y="3412813"/>
              <a:chExt cx="1567391" cy="134976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8"/>
                <a:ext cx="1336021" cy="947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7"/>
                <a:ext cx="1567391" cy="530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2"/>
                <a:ext cx="1336020" cy="57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750" kern="0" dirty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5" y="3656965"/>
                <a:ext cx="1320798" cy="447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 dirty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4"/>
                <a:ext cx="1336020" cy="682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buClr>
                    <a:srgbClr val="3799E8"/>
                  </a:buClr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5"/>
                <a:ext cx="1325618" cy="568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650" b="1" kern="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81976">
                <a:defRPr/>
              </a:pPr>
              <a:endParaRPr lang="fr-FR" sz="1350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81976">
                  <a:defRPr/>
                </a:pPr>
                <a:endParaRPr lang="fr-FR" sz="1350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2" y="4117651"/>
                <a:ext cx="1336020" cy="57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81976">
                  <a:defRPr/>
                </a:pPr>
                <a:r>
                  <a:rPr lang="fr-FR" sz="1050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750" kern="0" dirty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66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81976">
                  <a:defRPr/>
                </a:pPr>
                <a:r>
                  <a:rPr lang="fr-FR" sz="1500" b="1" kern="0" dirty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582087" y="201777"/>
            <a:ext cx="7713285" cy="655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51" dirty="0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2051" dirty="0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2051" dirty="0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582087" y="1205966"/>
            <a:ext cx="78195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400" dirty="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400" b="1" dirty="0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400" dirty="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400" b="1" dirty="0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400" dirty="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400" b="1" dirty="0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17325" y="2495276"/>
            <a:ext cx="4430015" cy="480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999" b="1" dirty="0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999" b="1" dirty="0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Fort de </a:t>
            </a:r>
            <a:r>
              <a:rPr lang="fr-FR" sz="1400" b="1" dirty="0">
                <a:latin typeface="Arial Nova" panose="020B0504020202020204" pitchFamily="34" charset="0"/>
              </a:rPr>
              <a:t>notre propre fibre </a:t>
            </a:r>
            <a:r>
              <a:rPr lang="fr-FR" sz="1400" b="1" dirty="0" err="1">
                <a:latin typeface="Arial Nova" panose="020B0504020202020204" pitchFamily="34" charset="0"/>
              </a:rPr>
              <a:t>Koesio</a:t>
            </a:r>
            <a:r>
              <a:rPr lang="fr-FR" sz="1400" dirty="0">
                <a:latin typeface="Arial Nova" panose="020B0504020202020204" pitchFamily="34" charset="0"/>
              </a:rPr>
              <a:t>, nous avons mis en place une </a:t>
            </a:r>
            <a:r>
              <a:rPr lang="fr-FR" sz="1400" b="1" dirty="0">
                <a:latin typeface="Arial Nova" panose="020B0504020202020204" pitchFamily="34" charset="0"/>
              </a:rPr>
              <a:t>infrastructure Télécom puissante </a:t>
            </a:r>
            <a:r>
              <a:rPr lang="fr-FR" sz="1400" dirty="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Parmi les rares titulaires d’une </a:t>
            </a:r>
            <a:r>
              <a:rPr lang="fr-FR" sz="1400" b="1" dirty="0">
                <a:latin typeface="Arial Nova" panose="020B0504020202020204" pitchFamily="34" charset="0"/>
              </a:rPr>
              <a:t>MVNO avec Orange</a:t>
            </a:r>
            <a:r>
              <a:rPr lang="fr-FR" sz="1400" dirty="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400" b="1" dirty="0">
                <a:latin typeface="Arial Nova" panose="020B0504020202020204" pitchFamily="34" charset="0"/>
              </a:rPr>
              <a:t>forfaits mobiles</a:t>
            </a:r>
            <a:r>
              <a:rPr lang="fr-FR" sz="1400" dirty="0">
                <a:latin typeface="Arial Nova" panose="020B0504020202020204" pitchFamily="34" charset="0"/>
              </a:rPr>
              <a:t>.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Grâce à nos </a:t>
            </a:r>
            <a:r>
              <a:rPr lang="fr-FR" sz="1400" b="1" dirty="0">
                <a:latin typeface="Arial Nova" panose="020B0504020202020204" pitchFamily="34" charset="0"/>
              </a:rPr>
              <a:t>offres informatiques</a:t>
            </a:r>
            <a:r>
              <a:rPr lang="fr-FR" sz="1400" dirty="0">
                <a:latin typeface="Arial Nova" panose="020B0504020202020204" pitchFamily="34" charset="0"/>
              </a:rPr>
              <a:t>, nous complétons nos propositions de </a:t>
            </a:r>
            <a:r>
              <a:rPr lang="fr-FR" sz="1400" b="1" dirty="0">
                <a:latin typeface="Arial Nova" panose="020B0504020202020204" pitchFamily="34" charset="0"/>
              </a:rPr>
              <a:t>solutions de sécurité </a:t>
            </a:r>
            <a:r>
              <a:rPr lang="fr-FR" sz="1400" dirty="0">
                <a:latin typeface="Arial Nova" panose="020B0504020202020204" pitchFamily="34" charset="0"/>
              </a:rPr>
              <a:t>essentielles pour vous protéger.</a:t>
            </a:r>
          </a:p>
          <a:p>
            <a:pPr marL="244367" indent="-244367"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44367" indent="-244367">
              <a:buFont typeface="Arial" panose="020B0604020202020204" pitchFamily="34" charset="0"/>
              <a:buChar char="•"/>
            </a:pPr>
            <a:r>
              <a:rPr lang="fr-FR" sz="1400" dirty="0">
                <a:latin typeface="Arial Nova" panose="020B0504020202020204" pitchFamily="34" charset="0"/>
              </a:rPr>
              <a:t>Nos </a:t>
            </a:r>
            <a:r>
              <a:rPr lang="fr-FR" sz="1400" b="1" dirty="0">
                <a:latin typeface="Arial Nova" panose="020B0504020202020204" pitchFamily="34" charset="0"/>
              </a:rPr>
              <a:t>contrats de maintenance </a:t>
            </a:r>
            <a:r>
              <a:rPr lang="fr-FR" sz="1400" dirty="0">
                <a:latin typeface="Arial Nova" panose="020B0504020202020204" pitchFamily="34" charset="0"/>
              </a:rPr>
              <a:t>vous permettent une </a:t>
            </a:r>
            <a:r>
              <a:rPr lang="fr-FR" sz="1400" b="1" dirty="0">
                <a:latin typeface="Arial Nova" panose="020B0504020202020204" pitchFamily="34" charset="0"/>
              </a:rPr>
              <a:t>garantie de votre matériel de téléphonie</a:t>
            </a:r>
            <a:r>
              <a:rPr lang="fr-FR" sz="1400" dirty="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1177</Words>
  <Application>Microsoft Office PowerPoint</Application>
  <PresentationFormat>Personnalisé</PresentationFormat>
  <Paragraphs>326</Paragraphs>
  <Slides>16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Nova</vt:lpstr>
      <vt:lpstr>Calibri</vt:lpstr>
      <vt:lpstr>Calibri Light</vt:lpstr>
      <vt:lpstr>Century Gothic</vt:lpstr>
      <vt:lpstr>2_Thème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Jeremy TREDANT</cp:lastModifiedBy>
  <cp:revision>72</cp:revision>
  <dcterms:created xsi:type="dcterms:W3CDTF">2024-10-29T15:06:39Z</dcterms:created>
  <dcterms:modified xsi:type="dcterms:W3CDTF">2026-01-08T20:21:29Z</dcterms:modified>
</cp:coreProperties>
</file>