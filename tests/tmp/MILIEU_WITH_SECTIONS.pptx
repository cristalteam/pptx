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1"/>
  </p:notesMasterIdLst>
  <p:sldIdLst>
    <p:sldId id="291" r:id="rId2"/>
    <p:sldId id="785" r:id="rId3"/>
    <p:sldId id="793" r:id="rId4"/>
    <p:sldId id="769" r:id="rId5"/>
    <p:sldId id="771" r:id="rId6"/>
    <p:sldId id="754" r:id="rId7"/>
    <p:sldId id="275" r:id="rId8"/>
    <p:sldId id="306" r:id="rId9"/>
    <p:sldId id="304" r:id="rId10"/>
  </p:sldIdLst>
  <p:sldSz cx="10691813" cy="7559675"/>
  <p:notesSz cx="6858000" cy="9144000"/>
  <p:defaultTextStyle>
    <a:defPPr>
      <a:defRPr lang="en-US"/>
    </a:defPPr>
    <a:lvl1pPr marL="0" algn="l" defTabSz="521437" rtl="0" eaLnBrk="1" latinLnBrk="0" hangingPunct="1">
      <a:defRPr sz="2053" kern="1200">
        <a:solidFill>
          <a:schemeClr val="tx1"/>
        </a:solidFill>
        <a:latin typeface="+mn-lt"/>
        <a:ea typeface="+mn-ea"/>
        <a:cs typeface="+mn-cs"/>
      </a:defRPr>
    </a:lvl1pPr>
    <a:lvl2pPr marL="521437" algn="l" defTabSz="521437" rtl="0" eaLnBrk="1" latinLnBrk="0" hangingPunct="1">
      <a:defRPr sz="2053" kern="1200">
        <a:solidFill>
          <a:schemeClr val="tx1"/>
        </a:solidFill>
        <a:latin typeface="+mn-lt"/>
        <a:ea typeface="+mn-ea"/>
        <a:cs typeface="+mn-cs"/>
      </a:defRPr>
    </a:lvl2pPr>
    <a:lvl3pPr marL="1042873" algn="l" defTabSz="521437" rtl="0" eaLnBrk="1" latinLnBrk="0" hangingPunct="1">
      <a:defRPr sz="2053" kern="1200">
        <a:solidFill>
          <a:schemeClr val="tx1"/>
        </a:solidFill>
        <a:latin typeface="+mn-lt"/>
        <a:ea typeface="+mn-ea"/>
        <a:cs typeface="+mn-cs"/>
      </a:defRPr>
    </a:lvl3pPr>
    <a:lvl4pPr marL="1564310" algn="l" defTabSz="521437" rtl="0" eaLnBrk="1" latinLnBrk="0" hangingPunct="1">
      <a:defRPr sz="2053" kern="1200">
        <a:solidFill>
          <a:schemeClr val="tx1"/>
        </a:solidFill>
        <a:latin typeface="+mn-lt"/>
        <a:ea typeface="+mn-ea"/>
        <a:cs typeface="+mn-cs"/>
      </a:defRPr>
    </a:lvl4pPr>
    <a:lvl5pPr marL="2085746" algn="l" defTabSz="521437" rtl="0" eaLnBrk="1" latinLnBrk="0" hangingPunct="1">
      <a:defRPr sz="2053" kern="1200">
        <a:solidFill>
          <a:schemeClr val="tx1"/>
        </a:solidFill>
        <a:latin typeface="+mn-lt"/>
        <a:ea typeface="+mn-ea"/>
        <a:cs typeface="+mn-cs"/>
      </a:defRPr>
    </a:lvl5pPr>
    <a:lvl6pPr marL="2607183" algn="l" defTabSz="521437" rtl="0" eaLnBrk="1" latinLnBrk="0" hangingPunct="1">
      <a:defRPr sz="2053" kern="1200">
        <a:solidFill>
          <a:schemeClr val="tx1"/>
        </a:solidFill>
        <a:latin typeface="+mn-lt"/>
        <a:ea typeface="+mn-ea"/>
        <a:cs typeface="+mn-cs"/>
      </a:defRPr>
    </a:lvl6pPr>
    <a:lvl7pPr marL="3128620" algn="l" defTabSz="521437" rtl="0" eaLnBrk="1" latinLnBrk="0" hangingPunct="1">
      <a:defRPr sz="2053" kern="1200">
        <a:solidFill>
          <a:schemeClr val="tx1"/>
        </a:solidFill>
        <a:latin typeface="+mn-lt"/>
        <a:ea typeface="+mn-ea"/>
        <a:cs typeface="+mn-cs"/>
      </a:defRPr>
    </a:lvl7pPr>
    <a:lvl8pPr marL="3650056" algn="l" defTabSz="521437" rtl="0" eaLnBrk="1" latinLnBrk="0" hangingPunct="1">
      <a:defRPr sz="2053" kern="1200">
        <a:solidFill>
          <a:schemeClr val="tx1"/>
        </a:solidFill>
        <a:latin typeface="+mn-lt"/>
        <a:ea typeface="+mn-ea"/>
        <a:cs typeface="+mn-cs"/>
      </a:defRPr>
    </a:lvl8pPr>
    <a:lvl9pPr marL="4171493" algn="l" defTabSz="521437" rtl="0" eaLnBrk="1" latinLnBrk="0" hangingPunct="1">
      <a:defRPr sz="2053" kern="1200">
        <a:solidFill>
          <a:schemeClr val="tx1"/>
        </a:solidFill>
        <a:latin typeface="+mn-lt"/>
        <a:ea typeface="+mn-ea"/>
        <a:cs typeface="+mn-cs"/>
      </a:defRPr>
    </a:lvl9pPr>
  </p:defaultTextStyle>
  <p:extLst>
    <p:ext uri="{521415D9-36F7-43E2-AB2F-B90AF26B5E84}">
      <p14:sectionLst xmlns:p14="http://schemas.microsoft.com/office/powerpoint/2010/main">
        <p14:section name="Extra Content" id="{44444444-4444-4444-4444-444444444444}">
          <p14:sldIdLst>
            <p14:sldId id="291"/>
            <p14:sldId id="785"/>
            <p14:sldId id="793"/>
            <p14:sldId id="769"/>
            <p14:sldId id="771"/>
          </p14:sldIdLst>
        </p14:section>
        <p14:section name="Appendix" id="{55555555-5555-5555-5555-555555555555}">
          <p14:sldIdLst>
            <p14:sldId id="754"/>
            <p14:sldId id="275"/>
            <p14:sldId id="306"/>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D618"/>
    <a:srgbClr val="2F52A0"/>
    <a:srgbClr val="EE730D"/>
    <a:srgbClr val="F29FC4"/>
    <a:srgbClr val="FBFBFB"/>
    <a:srgbClr val="946AAB"/>
    <a:srgbClr val="6D378B"/>
    <a:srgbClr val="6FCB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4682A-0780-4E8B-8D98-0D280E4D050C}" v="154" dt="2025-03-19T10:51:42.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660"/>
  </p:normalViewPr>
  <p:slideViewPr>
    <p:cSldViewPr snapToGrid="0" showGuides="1">
      <p:cViewPr varScale="1">
        <p:scale>
          <a:sx n="93" d="100"/>
          <a:sy n="93" d="100"/>
        </p:scale>
        <p:origin x="1464" y="78"/>
      </p:cViewPr>
      <p:guideLst>
        <p:guide orient="horz" pos="2268"/>
        <p:guide pos="3277"/>
        <p:guide pos="981"/>
        <p:guide pos="2519"/>
        <p:guide pos="6285"/>
        <p:guide pos="533"/>
        <p:guide orient="horz" pos="32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B330D-6C84-4A98-BFF1-626FD29DE139}" type="datetimeFigureOut">
              <a:rPr lang="fr-FR" smtClean="0"/>
              <a:t>01/04/2025</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2FD6F-AB77-4C7E-891F-50C789B4267C}" type="slidenum">
              <a:rPr lang="fr-FR" smtClean="0"/>
              <a:t>‹N°›</a:t>
            </a:fld>
            <a:endParaRPr lang="fr-FR"/>
          </a:p>
        </p:txBody>
      </p:sp>
    </p:spTree>
    <p:extLst>
      <p:ext uri="{BB962C8B-B14F-4D97-AF65-F5344CB8AC3E}">
        <p14:creationId xmlns:p14="http://schemas.microsoft.com/office/powerpoint/2010/main" val="319217210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4848-5D7E-EB15-2916-BE91DDE09E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245EB0-FD40-8534-96F1-A54319C2321D}"/>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FC88B573-57D3-65CD-763C-BD850794443D}"/>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39D65547-95F8-17DE-32D7-1912157C44AC}"/>
              </a:ext>
            </a:extLst>
          </p:cNvPr>
          <p:cNvSpPr>
            <a:spLocks noGrp="1"/>
          </p:cNvSpPr>
          <p:nvPr>
            <p:ph type="sldNum" sz="quarter" idx="5"/>
          </p:nvPr>
        </p:nvSpPr>
        <p:spPr/>
        <p:txBody>
          <a:bodyPr/>
          <a:lstStyle/>
          <a:p>
            <a:fld id="{9512FD6F-AB77-4C7E-891F-50C789B4267C}" type="slidenum">
              <a:rPr lang="fr-FR" smtClean="0"/>
              <a:t>6</a:t>
            </a:fld>
            <a:endParaRPr lang="fr-FR"/>
          </a:p>
        </p:txBody>
      </p:sp>
    </p:spTree>
    <p:extLst>
      <p:ext uri="{BB962C8B-B14F-4D97-AF65-F5344CB8AC3E}">
        <p14:creationId xmlns:p14="http://schemas.microsoft.com/office/powerpoint/2010/main" val="2933480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038B-00F9-4E7B-FA47-C0F9F66FA0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7D49CC-9B53-DAB6-A2FD-160708460706}"/>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C20DB7DE-29B4-A64F-7100-7D095FC61C4E}"/>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B84CDB7A-E823-90DB-86FE-FBAFAE20D4AF}"/>
              </a:ext>
            </a:extLst>
          </p:cNvPr>
          <p:cNvSpPr>
            <a:spLocks noGrp="1"/>
          </p:cNvSpPr>
          <p:nvPr>
            <p:ph type="sldNum" sz="quarter" idx="5"/>
          </p:nvPr>
        </p:nvSpPr>
        <p:spPr/>
        <p:txBody>
          <a:bodyPr/>
          <a:lstStyle/>
          <a:p>
            <a:fld id="{9512FD6F-AB77-4C7E-891F-50C789B4267C}" type="slidenum">
              <a:rPr lang="fr-FR" smtClean="0"/>
              <a:t>7</a:t>
            </a:fld>
            <a:endParaRPr lang="fr-FR"/>
          </a:p>
        </p:txBody>
      </p:sp>
    </p:spTree>
    <p:extLst>
      <p:ext uri="{BB962C8B-B14F-4D97-AF65-F5344CB8AC3E}">
        <p14:creationId xmlns:p14="http://schemas.microsoft.com/office/powerpoint/2010/main" val="81713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fr-FR"/>
              <a:t>Modifiez le style du titre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dirty="0"/>
          </a:p>
        </p:txBody>
      </p:sp>
    </p:spTree>
    <p:extLst>
      <p:ext uri="{BB962C8B-B14F-4D97-AF65-F5344CB8AC3E}">
        <p14:creationId xmlns:p14="http://schemas.microsoft.com/office/powerpoint/2010/main" val="385661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61803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fr-FR"/>
              <a:t>Modifiez le style du titre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1763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71478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4" name="Content Placeholder 3"/>
          <p:cNvSpPr>
            <a:spLocks noGrp="1"/>
          </p:cNvSpPr>
          <p:nvPr>
            <p:ph sz="half" idx="2"/>
          </p:nvPr>
        </p:nvSpPr>
        <p:spPr>
          <a:xfrm>
            <a:off x="736456" y="2761381"/>
            <a:ext cx="4523137"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6" name="Content Placeholder 5"/>
          <p:cNvSpPr>
            <a:spLocks noGrp="1"/>
          </p:cNvSpPr>
          <p:nvPr>
            <p:ph sz="quarter" idx="4"/>
          </p:nvPr>
        </p:nvSpPr>
        <p:spPr>
          <a:xfrm>
            <a:off x="5412731" y="2761381"/>
            <a:ext cx="4545413"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FE3C962-9C9D-46DF-A443-FF18222A4B08}" type="datetimeFigureOut">
              <a:rPr lang="fr-FR" smtClean="0"/>
              <a:t>01/04/2025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44152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FE3C962-9C9D-46DF-A443-FF18222A4B08}" type="datetimeFigureOut">
              <a:rPr lang="fr-FR" smtClean="0"/>
              <a:t>01/04/2025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19070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E3C962-9C9D-46DF-A443-FF18222A4B08}" type="datetimeFigureOut">
              <a:rPr lang="fr-FR" smtClean="0"/>
              <a:t>01/04/2025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779205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51703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88037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2610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82030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FE3C962-9C9D-46DF-A443-FF18222A4B08}" type="datetimeFigureOut">
              <a:rPr lang="fr-FR" smtClean="0"/>
              <a:t>01/04/2025</a:t>
            </a:fld>
            <a:endParaRPr lang="fr-FR"/>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5D775FE0-13D7-4BC4-85BA-C41BB144B18E}" type="slidenum">
              <a:rPr lang="fr-FR" smtClean="0"/>
              <a:t>‹N°›</a:t>
            </a:fld>
            <a:endParaRPr lang="fr-FR"/>
          </a:p>
        </p:txBody>
      </p:sp>
    </p:spTree>
    <p:extLst>
      <p:ext uri="{BB962C8B-B14F-4D97-AF65-F5344CB8AC3E}">
        <p14:creationId xmlns:p14="http://schemas.microsoft.com/office/powerpoint/2010/main" val="82909054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3.png"/><Relationship Id="rId3" Type="http://schemas.openxmlformats.org/officeDocument/2006/relationships/image" Target="../media/image5.svg"/><Relationship Id="rId7" Type="http://schemas.openxmlformats.org/officeDocument/2006/relationships/image" Target="../media/image8.svg"/><Relationship Id="rId12"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svg"/><Relationship Id="rId4" Type="http://schemas.openxmlformats.org/officeDocument/2006/relationships/image" Target="../media/image3.pn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9.jpe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9E00-270A-43C5-7F38-150108F6F6E3}"/>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02C836B-2E17-5070-9D49-9CD6E3227760}"/>
              </a:ext>
            </a:extLst>
          </p:cNvPr>
          <p:cNvSpPr txBox="1">
            <a:spLocks/>
          </p:cNvSpPr>
          <p:nvPr/>
        </p:nvSpPr>
        <p:spPr>
          <a:xfrm>
            <a:off x="1416202" y="2985622"/>
            <a:ext cx="4374681"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Notre synthèse </a:t>
            </a:r>
          </a:p>
          <a:p>
            <a:r>
              <a:rPr lang="fr-FR" sz="3600" b="1" dirty="0">
                <a:solidFill>
                  <a:schemeClr val="tx1"/>
                </a:solidFill>
                <a:latin typeface="Century Gothic" panose="020B0502020202020204" pitchFamily="34" charset="0"/>
              </a:rPr>
              <a:t>financière</a:t>
            </a:r>
          </a:p>
        </p:txBody>
      </p:sp>
      <p:sp>
        <p:nvSpPr>
          <p:cNvPr id="6" name="Rectangle 5">
            <a:extLst>
              <a:ext uri="{FF2B5EF4-FFF2-40B4-BE49-F238E27FC236}">
                <a16:creationId xmlns:a16="http://schemas.microsoft.com/office/drawing/2014/main" id="{9FAFEEBD-6640-29D5-F737-8F2AFC8A991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2" name="Image 1">
            <a:extLst>
              <a:ext uri="{FF2B5EF4-FFF2-40B4-BE49-F238E27FC236}">
                <a16:creationId xmlns:a16="http://schemas.microsoft.com/office/drawing/2014/main" id="{71E5702E-04FC-447B-CF80-DEA7596691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7" name="Rectangle 6">
            <a:extLst>
              <a:ext uri="{FF2B5EF4-FFF2-40B4-BE49-F238E27FC236}">
                <a16:creationId xmlns:a16="http://schemas.microsoft.com/office/drawing/2014/main" id="{98531BA4-3EB2-CFB8-2962-DAD6C406A28D}"/>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0832908A-78AD-88CD-28BA-B77ACF777AD1}"/>
              </a:ext>
            </a:extLst>
          </p:cNvPr>
          <p:cNvSpPr/>
          <p:nvPr/>
        </p:nvSpPr>
        <p:spPr>
          <a:xfrm>
            <a:off x="5775683" y="2769466"/>
            <a:ext cx="3270471" cy="3270471"/>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D8605C1-4C0E-6AA5-2FEF-C8A4E9DA9884}"/>
              </a:ext>
            </a:extLst>
          </p:cNvPr>
          <p:cNvSpPr/>
          <p:nvPr/>
        </p:nvSpPr>
        <p:spPr>
          <a:xfrm>
            <a:off x="9046154" y="1123807"/>
            <a:ext cx="1645659" cy="16456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Une image contenant ordinateur portable, personne, habits, ordinateur&#10;&#10;Le contenu généré par l’IA peut être incorrect.">
            <a:extLst>
              <a:ext uri="{FF2B5EF4-FFF2-40B4-BE49-F238E27FC236}">
                <a16:creationId xmlns:a16="http://schemas.microsoft.com/office/drawing/2014/main" id="{6BE4015A-8E4E-E6E5-8A4D-D881991DC4F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26916" y="536141"/>
            <a:ext cx="8254008" cy="5503796"/>
          </a:xfrm>
          <a:prstGeom prst="rect">
            <a:avLst/>
          </a:prstGeom>
        </p:spPr>
      </p:pic>
    </p:spTree>
    <p:extLst>
      <p:ext uri="{BB962C8B-B14F-4D97-AF65-F5344CB8AC3E}">
        <p14:creationId xmlns:p14="http://schemas.microsoft.com/office/powerpoint/2010/main" val="3951442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03BA-A23B-E50F-BEB6-43D90F3482EE}"/>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C2F2CD77-A901-16D7-5500-E5050549097E}"/>
              </a:ext>
            </a:extLst>
          </p:cNvPr>
          <p:cNvSpPr>
            <a:spLocks noGrp="1"/>
          </p:cNvSpPr>
          <p:nvPr>
            <p:ph type="body" sz="quarter" idx="11"/>
          </p:nvPr>
        </p:nvSpPr>
        <p:spPr>
          <a:xfrm>
            <a:off x="628575" y="193325"/>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LA SYNTHÈSE FINANCIÈRE GLOBALE</a:t>
            </a:r>
          </a:p>
        </p:txBody>
      </p:sp>
      <p:pic>
        <p:nvPicPr>
          <p:cNvPr id="30" name="Image 29" descr="Une image contenant Police, Graphique, logo, texte&#10;&#10;Description générée automatiquement">
            <a:extLst>
              <a:ext uri="{FF2B5EF4-FFF2-40B4-BE49-F238E27FC236}">
                <a16:creationId xmlns:a16="http://schemas.microsoft.com/office/drawing/2014/main" id="{5A99E0BF-CDE8-1CED-8CC1-903C9BC862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144334" y="235574"/>
            <a:ext cx="1075840" cy="268960"/>
          </a:xfrm>
          <a:prstGeom prst="rect">
            <a:avLst/>
          </a:prstGeom>
        </p:spPr>
      </p:pic>
      <p:sp>
        <p:nvSpPr>
          <p:cNvPr id="67" name="Rectangle 66">
            <a:extLst>
              <a:ext uri="{FF2B5EF4-FFF2-40B4-BE49-F238E27FC236}">
                <a16:creationId xmlns:a16="http://schemas.microsoft.com/office/drawing/2014/main" id="{7463085B-453F-B018-7D0F-4493762B5D94}"/>
              </a:ext>
            </a:extLst>
          </p:cNvPr>
          <p:cNvSpPr/>
          <p:nvPr/>
        </p:nvSpPr>
        <p:spPr>
          <a:xfrm>
            <a:off x="6180852" y="4993461"/>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contenu 2">
            <a:extLst>
              <a:ext uri="{FF2B5EF4-FFF2-40B4-BE49-F238E27FC236}">
                <a16:creationId xmlns:a16="http://schemas.microsoft.com/office/drawing/2014/main" id="{F544A846-D9A6-341C-A6B7-CDD14A6EF514}"/>
              </a:ext>
            </a:extLst>
          </p:cNvPr>
          <p:cNvSpPr txBox="1">
            <a:spLocks/>
          </p:cNvSpPr>
          <p:nvPr/>
        </p:nvSpPr>
        <p:spPr>
          <a:xfrm>
            <a:off x="773045" y="1386560"/>
            <a:ext cx="6282382"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trouver ci-après une proposition personnalisée, étudiée pour répondre à vos attentes :</a:t>
            </a:r>
          </a:p>
        </p:txBody>
      </p:sp>
      <p:cxnSp>
        <p:nvCxnSpPr>
          <p:cNvPr id="26" name="Connecteur droit 25">
            <a:extLst>
              <a:ext uri="{FF2B5EF4-FFF2-40B4-BE49-F238E27FC236}">
                <a16:creationId xmlns:a16="http://schemas.microsoft.com/office/drawing/2014/main" id="{C71E685D-0FF5-5C48-826C-FF835A60FACC}"/>
              </a:ext>
            </a:extLst>
          </p:cNvPr>
          <p:cNvCxnSpPr>
            <a:cxnSpLocks/>
          </p:cNvCxnSpPr>
          <p:nvPr/>
        </p:nvCxnSpPr>
        <p:spPr>
          <a:xfrm>
            <a:off x="738203" y="1379579"/>
            <a:ext cx="0" cy="682115"/>
          </a:xfrm>
          <a:prstGeom prst="line">
            <a:avLst/>
          </a:prstGeom>
          <a:noFill/>
          <a:ln w="25400" cap="flat" cmpd="sng" algn="ctr">
            <a:solidFill>
              <a:srgbClr val="7030A0"/>
            </a:solidFill>
            <a:prstDash val="solid"/>
            <a:miter lim="800000"/>
          </a:ln>
          <a:effectLst/>
        </p:spPr>
      </p:cxnSp>
      <p:sp>
        <p:nvSpPr>
          <p:cNvPr id="6" name="Titre 10">
            <a:extLst>
              <a:ext uri="{FF2B5EF4-FFF2-40B4-BE49-F238E27FC236}">
                <a16:creationId xmlns:a16="http://schemas.microsoft.com/office/drawing/2014/main" id="{286F3856-D677-E87D-ADE0-F19E154E4D11}"/>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graphicFrame>
        <p:nvGraphicFramePr>
          <p:cNvPr id="16" name="tableau_recap_telecom">
            <a:extLst>
              <a:ext uri="{FF2B5EF4-FFF2-40B4-BE49-F238E27FC236}">
                <a16:creationId xmlns:a16="http://schemas.microsoft.com/office/drawing/2014/main" id="{C03D1603-D5F4-674C-CFE3-AF5FC6F252C9}"/>
              </a:ext>
            </a:extLst>
          </p:cNvPr>
          <p:cNvGraphicFramePr>
            <a:graphicFrameLocks noGrp="1"/>
          </p:cNvGraphicFramePr>
          <p:nvPr>
            <p:extLst>
              <p:ext uri="{D42A27DB-BD31-4B8C-83A1-F6EECF244321}">
                <p14:modId xmlns:p14="http://schemas.microsoft.com/office/powerpoint/2010/main" val="480161390"/>
              </p:ext>
            </p:extLst>
          </p:nvPr>
        </p:nvGraphicFramePr>
        <p:xfrm>
          <a:off x="1066488" y="3112654"/>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1250 €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graphicFrame>
        <p:nvGraphicFramePr>
          <p:cNvPr id="2" name="tableau_recap_telecom">
            <a:extLst>
              <a:ext uri="{FF2B5EF4-FFF2-40B4-BE49-F238E27FC236}">
                <a16:creationId xmlns:a16="http://schemas.microsoft.com/office/drawing/2014/main" id="{B14968AA-BF3E-F19C-1C0B-970AAC0BB9D2}"/>
              </a:ext>
            </a:extLst>
          </p:cNvPr>
          <p:cNvGraphicFramePr>
            <a:graphicFrameLocks noGrp="1"/>
          </p:cNvGraphicFramePr>
          <p:nvPr>
            <p:extLst>
              <p:ext uri="{D42A27DB-BD31-4B8C-83A1-F6EECF244321}">
                <p14:modId xmlns:p14="http://schemas.microsoft.com/office/powerpoint/2010/main" val="489820442"/>
              </p:ext>
            </p:extLst>
          </p:nvPr>
        </p:nvGraphicFramePr>
        <p:xfrm>
          <a:off x="5456932" y="3121492"/>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1500 €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sp>
        <p:nvSpPr>
          <p:cNvPr id="5" name="Rectangle 4">
            <a:extLst>
              <a:ext uri="{FF2B5EF4-FFF2-40B4-BE49-F238E27FC236}">
                <a16:creationId xmlns:a16="http://schemas.microsoft.com/office/drawing/2014/main" id="{4C0A0F56-B0ED-9E34-E133-DD99C779B02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2CB9E32D-EE3F-4390-EB47-7224364884D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9" name="Rectangle 8">
            <a:extLst>
              <a:ext uri="{FF2B5EF4-FFF2-40B4-BE49-F238E27FC236}">
                <a16:creationId xmlns:a16="http://schemas.microsoft.com/office/drawing/2014/main" id="{A63F8EA7-3AB1-DEBD-3EA0-BF574384245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94123837-4E58-BC14-4F1B-72F2DB319288}"/>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11" name="Rectangle 10">
            <a:extLst>
              <a:ext uri="{FF2B5EF4-FFF2-40B4-BE49-F238E27FC236}">
                <a16:creationId xmlns:a16="http://schemas.microsoft.com/office/drawing/2014/main" id="{46BFEE75-18A5-45B2-BA90-BD7AF3722EF8}"/>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Tree>
    <p:extLst>
      <p:ext uri="{BB962C8B-B14F-4D97-AF65-F5344CB8AC3E}">
        <p14:creationId xmlns:p14="http://schemas.microsoft.com/office/powerpoint/2010/main" val="1183321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B7B6-95E3-0574-64EE-2161E910EBA8}"/>
            </a:ext>
          </a:extLst>
        </p:cNvPr>
        <p:cNvGrpSpPr/>
        <p:nvPr/>
      </p:nvGrpSpPr>
      <p:grpSpPr>
        <a:xfrm>
          <a:off x="0" y="0"/>
          <a:ext cx="0" cy="0"/>
          <a:chOff x="0" y="0"/>
          <a:chExt cx="0" cy="0"/>
        </a:xfrm>
      </p:grpSpPr>
      <p:pic>
        <p:nvPicPr>
          <p:cNvPr id="36" name="Graphique 35">
            <a:extLst>
              <a:ext uri="{FF2B5EF4-FFF2-40B4-BE49-F238E27FC236}">
                <a16:creationId xmlns:a16="http://schemas.microsoft.com/office/drawing/2014/main" id="{778F7C06-9565-7EDD-9D41-E7E7906B4C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2159" y="4766046"/>
            <a:ext cx="372400" cy="372400"/>
          </a:xfrm>
          <a:prstGeom prst="rect">
            <a:avLst/>
          </a:prstGeom>
        </p:spPr>
      </p:pic>
      <p:sp>
        <p:nvSpPr>
          <p:cNvPr id="29" name="Espace réservé du texte 26">
            <a:extLst>
              <a:ext uri="{FF2B5EF4-FFF2-40B4-BE49-F238E27FC236}">
                <a16:creationId xmlns:a16="http://schemas.microsoft.com/office/drawing/2014/main" id="{BB37AE82-BFBA-A47B-FD4A-168E59C2D775}"/>
              </a:ext>
            </a:extLst>
          </p:cNvPr>
          <p:cNvSpPr>
            <a:spLocks noGrp="1"/>
          </p:cNvSpPr>
          <p:nvPr>
            <p:ph type="body" sz="quarter" idx="11"/>
          </p:nvPr>
        </p:nvSpPr>
        <p:spPr>
          <a:xfrm>
            <a:off x="629636" y="187291"/>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POUR REPONDRE A VOS ENJEUX</a:t>
            </a:r>
          </a:p>
        </p:txBody>
      </p:sp>
      <p:pic>
        <p:nvPicPr>
          <p:cNvPr id="30" name="Image 29" descr="Une image contenant Police, Graphique, logo, texte&#10;&#10;Description générée automatiquement">
            <a:extLst>
              <a:ext uri="{FF2B5EF4-FFF2-40B4-BE49-F238E27FC236}">
                <a16:creationId xmlns:a16="http://schemas.microsoft.com/office/drawing/2014/main" id="{5F45743F-F28A-DC02-DF13-7D4C3F907C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45395" y="229540"/>
            <a:ext cx="1075840" cy="268960"/>
          </a:xfrm>
          <a:prstGeom prst="rect">
            <a:avLst/>
          </a:prstGeom>
        </p:spPr>
      </p:pic>
      <p:sp>
        <p:nvSpPr>
          <p:cNvPr id="67" name="Rectangle 66">
            <a:extLst>
              <a:ext uri="{FF2B5EF4-FFF2-40B4-BE49-F238E27FC236}">
                <a16:creationId xmlns:a16="http://schemas.microsoft.com/office/drawing/2014/main" id="{B3859E4F-EBB4-4E29-86E7-4A6692A3973A}"/>
              </a:ext>
            </a:extLst>
          </p:cNvPr>
          <p:cNvSpPr/>
          <p:nvPr/>
        </p:nvSpPr>
        <p:spPr>
          <a:xfrm>
            <a:off x="5987409" y="3517733"/>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0">
            <a:extLst>
              <a:ext uri="{FF2B5EF4-FFF2-40B4-BE49-F238E27FC236}">
                <a16:creationId xmlns:a16="http://schemas.microsoft.com/office/drawing/2014/main" id="{3F2B2049-DE85-5CC1-364A-97BC7735ACC2}"/>
              </a:ext>
            </a:extLst>
          </p:cNvPr>
          <p:cNvSpPr txBox="1">
            <a:spLocks/>
          </p:cNvSpPr>
          <p:nvPr/>
        </p:nvSpPr>
        <p:spPr>
          <a:xfrm>
            <a:off x="1493045" y="257995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AVANT :</a:t>
            </a:r>
          </a:p>
        </p:txBody>
      </p:sp>
      <p:sp>
        <p:nvSpPr>
          <p:cNvPr id="25" name="Espace réservé du contenu 2">
            <a:extLst>
              <a:ext uri="{FF2B5EF4-FFF2-40B4-BE49-F238E27FC236}">
                <a16:creationId xmlns:a16="http://schemas.microsoft.com/office/drawing/2014/main" id="{3C07BC40-0925-98BC-50CD-725BE9A60F4E}"/>
              </a:ext>
            </a:extLst>
          </p:cNvPr>
          <p:cNvSpPr txBox="1">
            <a:spLocks/>
          </p:cNvSpPr>
          <p:nvPr/>
        </p:nvSpPr>
        <p:spPr>
          <a:xfrm>
            <a:off x="825083" y="1410511"/>
            <a:ext cx="7198055"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Nous avons cherché la solution la plus adaptée pour répondre à vos enjeux essentiels. Au travers de nos offres, vous allez pouvoir améliorer les points attendus et op</a:t>
            </a:r>
          </a:p>
        </p:txBody>
      </p:sp>
      <p:cxnSp>
        <p:nvCxnSpPr>
          <p:cNvPr id="26" name="Connecteur droit 25">
            <a:extLst>
              <a:ext uri="{FF2B5EF4-FFF2-40B4-BE49-F238E27FC236}">
                <a16:creationId xmlns:a16="http://schemas.microsoft.com/office/drawing/2014/main" id="{7ADD80ED-D913-4764-5875-6B6334EED656}"/>
              </a:ext>
            </a:extLst>
          </p:cNvPr>
          <p:cNvCxnSpPr>
            <a:cxnSpLocks/>
          </p:cNvCxnSpPr>
          <p:nvPr/>
        </p:nvCxnSpPr>
        <p:spPr>
          <a:xfrm>
            <a:off x="809363" y="1450664"/>
            <a:ext cx="0" cy="408610"/>
          </a:xfrm>
          <a:prstGeom prst="line">
            <a:avLst/>
          </a:prstGeom>
          <a:noFill/>
          <a:ln w="25400" cap="flat" cmpd="sng" algn="ctr">
            <a:solidFill>
              <a:srgbClr val="7030A0"/>
            </a:solidFill>
            <a:prstDash val="solid"/>
            <a:miter lim="800000"/>
          </a:ln>
          <a:effectLst/>
        </p:spPr>
      </p:cxnSp>
      <p:pic>
        <p:nvPicPr>
          <p:cNvPr id="27" name="Image 26">
            <a:extLst>
              <a:ext uri="{FF2B5EF4-FFF2-40B4-BE49-F238E27FC236}">
                <a16:creationId xmlns:a16="http://schemas.microsoft.com/office/drawing/2014/main" id="{9D4B16E9-94CD-8D92-247A-9584C6820A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91165" y="3199305"/>
            <a:ext cx="360979" cy="360979"/>
          </a:xfrm>
          <a:prstGeom prst="rect">
            <a:avLst/>
          </a:prstGeom>
        </p:spPr>
      </p:pic>
      <p:sp>
        <p:nvSpPr>
          <p:cNvPr id="33" name="ZoneTexte 32">
            <a:extLst>
              <a:ext uri="{FF2B5EF4-FFF2-40B4-BE49-F238E27FC236}">
                <a16:creationId xmlns:a16="http://schemas.microsoft.com/office/drawing/2014/main" id="{1494686B-88E9-85D6-680C-2A66FF95A61D}"/>
              </a:ext>
            </a:extLst>
          </p:cNvPr>
          <p:cNvSpPr txBox="1"/>
          <p:nvPr/>
        </p:nvSpPr>
        <p:spPr>
          <a:xfrm>
            <a:off x="6432264" y="3566455"/>
            <a:ext cx="2160420" cy="1061829"/>
          </a:xfrm>
          <a:prstGeom prst="rect">
            <a:avLst/>
          </a:prstGeom>
          <a:noFill/>
        </p:spPr>
        <p:txBody>
          <a:bodyPr wrap="square">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6" name="Titre 10">
            <a:extLst>
              <a:ext uri="{FF2B5EF4-FFF2-40B4-BE49-F238E27FC236}">
                <a16:creationId xmlns:a16="http://schemas.microsoft.com/office/drawing/2014/main" id="{4108FB63-49A6-B0BD-3668-2CB348910CEE}"/>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sp>
        <p:nvSpPr>
          <p:cNvPr id="10" name="Rectangle 9">
            <a:extLst>
              <a:ext uri="{FF2B5EF4-FFF2-40B4-BE49-F238E27FC236}">
                <a16:creationId xmlns:a16="http://schemas.microsoft.com/office/drawing/2014/main" id="{52195249-1186-858C-9A30-743E3DD65A06}"/>
              </a:ext>
            </a:extLst>
          </p:cNvPr>
          <p:cNvSpPr/>
          <p:nvPr/>
        </p:nvSpPr>
        <p:spPr>
          <a:xfrm>
            <a:off x="1808458" y="3187333"/>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Améliorations attendues :</a:t>
            </a:r>
          </a:p>
        </p:txBody>
      </p:sp>
      <p:sp>
        <p:nvSpPr>
          <p:cNvPr id="12" name="ZoneTexte 11">
            <a:extLst>
              <a:ext uri="{FF2B5EF4-FFF2-40B4-BE49-F238E27FC236}">
                <a16:creationId xmlns:a16="http://schemas.microsoft.com/office/drawing/2014/main" id="{6D5ED66A-C3CB-FCD6-0A0E-F0D6032617FD}"/>
              </a:ext>
            </a:extLst>
          </p:cNvPr>
          <p:cNvSpPr txBox="1"/>
          <p:nvPr/>
        </p:nvSpPr>
        <p:spPr>
          <a:xfrm>
            <a:off x="1559300" y="3596655"/>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grpSp>
        <p:nvGrpSpPr>
          <p:cNvPr id="13" name="Groupe 12">
            <a:extLst>
              <a:ext uri="{FF2B5EF4-FFF2-40B4-BE49-F238E27FC236}">
                <a16:creationId xmlns:a16="http://schemas.microsoft.com/office/drawing/2014/main" id="{F974D3CC-D9FD-1B63-0BEB-27AEFD2CA5BF}"/>
              </a:ext>
            </a:extLst>
          </p:cNvPr>
          <p:cNvGrpSpPr/>
          <p:nvPr/>
        </p:nvGrpSpPr>
        <p:grpSpPr>
          <a:xfrm>
            <a:off x="1299601" y="3186415"/>
            <a:ext cx="360000" cy="360000"/>
            <a:chOff x="3955774" y="3413099"/>
            <a:chExt cx="360000" cy="360000"/>
          </a:xfrm>
        </p:grpSpPr>
        <p:sp>
          <p:nvSpPr>
            <p:cNvPr id="8" name="Rectangle 7">
              <a:extLst>
                <a:ext uri="{FF2B5EF4-FFF2-40B4-BE49-F238E27FC236}">
                  <a16:creationId xmlns:a16="http://schemas.microsoft.com/office/drawing/2014/main" id="{98904387-903C-14ED-69DC-6F0E1F22660B}"/>
                </a:ext>
              </a:extLst>
            </p:cNvPr>
            <p:cNvSpPr/>
            <p:nvPr/>
          </p:nvSpPr>
          <p:spPr>
            <a:xfrm>
              <a:off x="3955774" y="3413099"/>
              <a:ext cx="36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Graphique 6" descr="Avertissement avec un remplissage uni">
              <a:extLst>
                <a:ext uri="{FF2B5EF4-FFF2-40B4-BE49-F238E27FC236}">
                  <a16:creationId xmlns:a16="http://schemas.microsoft.com/office/drawing/2014/main" id="{465640F5-F3BE-62D5-751E-04B3F7A4F9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7583" y="3434798"/>
              <a:ext cx="293254" cy="293254"/>
            </a:xfrm>
            <a:prstGeom prst="rect">
              <a:avLst/>
            </a:prstGeom>
          </p:spPr>
        </p:pic>
      </p:grpSp>
      <p:sp>
        <p:nvSpPr>
          <p:cNvPr id="3" name="ZoneTexte 2">
            <a:extLst>
              <a:ext uri="{FF2B5EF4-FFF2-40B4-BE49-F238E27FC236}">
                <a16:creationId xmlns:a16="http://schemas.microsoft.com/office/drawing/2014/main" id="{94F7F8EF-DE50-6C04-CDA7-548198A80C4D}"/>
              </a:ext>
            </a:extLst>
          </p:cNvPr>
          <p:cNvSpPr txBox="1"/>
          <p:nvPr/>
        </p:nvSpPr>
        <p:spPr>
          <a:xfrm>
            <a:off x="6432264" y="5272381"/>
            <a:ext cx="3790522" cy="630942"/>
          </a:xfrm>
          <a:prstGeom prst="rect">
            <a:avLst/>
          </a:prstGeom>
          <a:noFill/>
        </p:spPr>
        <p:txBody>
          <a:bodyPr wrap="square" rtlCol="0">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à toutes vos attentes.</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aux exigences de sécurité.</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 service client de proximité</a:t>
            </a:r>
            <a:r>
              <a:rPr lang="fr-FR" sz="1400" dirty="0">
                <a:solidFill>
                  <a:srgbClr val="434341"/>
                </a:solidFill>
                <a:latin typeface="Arial Nova" panose="020B0504020202020204" pitchFamily="34" charset="0"/>
              </a:rPr>
              <a:t>.</a:t>
            </a:r>
          </a:p>
        </p:txBody>
      </p:sp>
      <p:sp>
        <p:nvSpPr>
          <p:cNvPr id="17" name="ZoneTexte 16">
            <a:extLst>
              <a:ext uri="{FF2B5EF4-FFF2-40B4-BE49-F238E27FC236}">
                <a16:creationId xmlns:a16="http://schemas.microsoft.com/office/drawing/2014/main" id="{F31187D4-569B-0153-DBE1-4AC127C0598D}"/>
              </a:ext>
            </a:extLst>
          </p:cNvPr>
          <p:cNvSpPr txBox="1"/>
          <p:nvPr/>
        </p:nvSpPr>
        <p:spPr>
          <a:xfrm>
            <a:off x="1493045" y="5245626"/>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16" name="Rectangle 15">
            <a:extLst>
              <a:ext uri="{FF2B5EF4-FFF2-40B4-BE49-F238E27FC236}">
                <a16:creationId xmlns:a16="http://schemas.microsoft.com/office/drawing/2014/main" id="{32B3C7B9-17C6-2022-8130-264B7454F06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8" name="Image 17">
            <a:extLst>
              <a:ext uri="{FF2B5EF4-FFF2-40B4-BE49-F238E27FC236}">
                <a16:creationId xmlns:a16="http://schemas.microsoft.com/office/drawing/2014/main" id="{3318299E-2E6D-BE48-1295-C91B0CE597F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818FE28A-B9AB-CD5D-C77D-67A367941F9E}"/>
              </a:ext>
            </a:extLst>
          </p:cNvPr>
          <p:cNvSpPr/>
          <p:nvPr/>
        </p:nvSpPr>
        <p:spPr>
          <a:xfrm>
            <a:off x="6506861" y="3199305"/>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Avantages :</a:t>
            </a:r>
          </a:p>
        </p:txBody>
      </p:sp>
      <p:sp>
        <p:nvSpPr>
          <p:cNvPr id="22" name="Rectangle 21">
            <a:extLst>
              <a:ext uri="{FF2B5EF4-FFF2-40B4-BE49-F238E27FC236}">
                <a16:creationId xmlns:a16="http://schemas.microsoft.com/office/drawing/2014/main" id="{DD0FD39D-6B1B-ECDF-1BB9-EB4633B5C4DA}"/>
              </a:ext>
            </a:extLst>
          </p:cNvPr>
          <p:cNvSpPr/>
          <p:nvPr/>
        </p:nvSpPr>
        <p:spPr>
          <a:xfrm>
            <a:off x="1808458" y="4809316"/>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Nouveautés / évolutions :</a:t>
            </a:r>
          </a:p>
        </p:txBody>
      </p:sp>
      <p:pic>
        <p:nvPicPr>
          <p:cNvPr id="38" name="Graphique 37">
            <a:extLst>
              <a:ext uri="{FF2B5EF4-FFF2-40B4-BE49-F238E27FC236}">
                <a16:creationId xmlns:a16="http://schemas.microsoft.com/office/drawing/2014/main" id="{0A1A2F55-70F6-276C-046F-F6BDABADA4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5036" y="4968228"/>
            <a:ext cx="203515" cy="215924"/>
          </a:xfrm>
          <a:prstGeom prst="rect">
            <a:avLst/>
          </a:prstGeom>
        </p:spPr>
      </p:pic>
      <p:pic>
        <p:nvPicPr>
          <p:cNvPr id="39" name="Graphique 38">
            <a:extLst>
              <a:ext uri="{FF2B5EF4-FFF2-40B4-BE49-F238E27FC236}">
                <a16:creationId xmlns:a16="http://schemas.microsoft.com/office/drawing/2014/main" id="{9C81C322-660A-C3DD-66D1-DA090C13A53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01308" y="3354174"/>
            <a:ext cx="203515" cy="215924"/>
          </a:xfrm>
          <a:prstGeom prst="rect">
            <a:avLst/>
          </a:prstGeom>
        </p:spPr>
      </p:pic>
      <p:pic>
        <p:nvPicPr>
          <p:cNvPr id="40" name="Graphique 39">
            <a:extLst>
              <a:ext uri="{FF2B5EF4-FFF2-40B4-BE49-F238E27FC236}">
                <a16:creationId xmlns:a16="http://schemas.microsoft.com/office/drawing/2014/main" id="{EE6B72BD-6959-565B-881C-9527EE7891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3380731"/>
            <a:ext cx="203515" cy="215924"/>
          </a:xfrm>
          <a:prstGeom prst="rect">
            <a:avLst/>
          </a:prstGeom>
        </p:spPr>
      </p:pic>
      <p:sp>
        <p:nvSpPr>
          <p:cNvPr id="41" name="Rectangle 40">
            <a:extLst>
              <a:ext uri="{FF2B5EF4-FFF2-40B4-BE49-F238E27FC236}">
                <a16:creationId xmlns:a16="http://schemas.microsoft.com/office/drawing/2014/main" id="{FF69EAF5-DF51-2392-6E4D-0A5F1A109C02}"/>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2" name="Rectangle 41">
            <a:extLst>
              <a:ext uri="{FF2B5EF4-FFF2-40B4-BE49-F238E27FC236}">
                <a16:creationId xmlns:a16="http://schemas.microsoft.com/office/drawing/2014/main" id="{98028C3E-0EFD-C117-666B-77860DD15ED6}"/>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43" name="Rectangle 42">
            <a:extLst>
              <a:ext uri="{FF2B5EF4-FFF2-40B4-BE49-F238E27FC236}">
                <a16:creationId xmlns:a16="http://schemas.microsoft.com/office/drawing/2014/main" id="{FECB4141-64E2-7F2B-DF0A-EFFC48D4A4EE}"/>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
        <p:nvSpPr>
          <p:cNvPr id="9" name="Rectangle 8">
            <a:extLst>
              <a:ext uri="{FF2B5EF4-FFF2-40B4-BE49-F238E27FC236}">
                <a16:creationId xmlns:a16="http://schemas.microsoft.com/office/drawing/2014/main" id="{A9324E0C-A9AD-F782-5418-EC0D2B56C853}"/>
              </a:ext>
            </a:extLst>
          </p:cNvPr>
          <p:cNvSpPr/>
          <p:nvPr/>
        </p:nvSpPr>
        <p:spPr>
          <a:xfrm>
            <a:off x="6506861" y="4718859"/>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LES + </a:t>
            </a:r>
          </a:p>
        </p:txBody>
      </p:sp>
      <p:pic>
        <p:nvPicPr>
          <p:cNvPr id="11" name="Graphique 10">
            <a:extLst>
              <a:ext uri="{FF2B5EF4-FFF2-40B4-BE49-F238E27FC236}">
                <a16:creationId xmlns:a16="http://schemas.microsoft.com/office/drawing/2014/main" id="{F4FAD2F2-6840-EBF0-3D4B-4F9027A5C2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4900285"/>
            <a:ext cx="203515" cy="215924"/>
          </a:xfrm>
          <a:prstGeom prst="rect">
            <a:avLst/>
          </a:prstGeom>
        </p:spPr>
      </p:pic>
      <p:sp>
        <p:nvSpPr>
          <p:cNvPr id="14" name="Rectangle 13">
            <a:extLst>
              <a:ext uri="{FF2B5EF4-FFF2-40B4-BE49-F238E27FC236}">
                <a16:creationId xmlns:a16="http://schemas.microsoft.com/office/drawing/2014/main" id="{038BFA60-49B5-D303-1619-61B7A269A0DA}"/>
              </a:ext>
            </a:extLst>
          </p:cNvPr>
          <p:cNvSpPr/>
          <p:nvPr/>
        </p:nvSpPr>
        <p:spPr>
          <a:xfrm>
            <a:off x="5987409" y="4717700"/>
            <a:ext cx="360979" cy="338301"/>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Case cochée avec un remplissage uni">
            <a:extLst>
              <a:ext uri="{FF2B5EF4-FFF2-40B4-BE49-F238E27FC236}">
                <a16:creationId xmlns:a16="http://schemas.microsoft.com/office/drawing/2014/main" id="{399D42EE-E721-AD64-E472-99D8446119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87408" y="4713663"/>
            <a:ext cx="360979" cy="360979"/>
          </a:xfrm>
          <a:prstGeom prst="rect">
            <a:avLst/>
          </a:prstGeom>
        </p:spPr>
      </p:pic>
    </p:spTree>
    <p:extLst>
      <p:ext uri="{BB962C8B-B14F-4D97-AF65-F5344CB8AC3E}">
        <p14:creationId xmlns:p14="http://schemas.microsoft.com/office/powerpoint/2010/main" val="376075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A571A-844A-132B-AA68-979A9546873D}"/>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F1DC4789-5BE8-BC72-5E4A-BD107DBE4E7D}"/>
              </a:ext>
            </a:extLst>
          </p:cNvPr>
          <p:cNvSpPr>
            <a:spLocks noGrp="1"/>
          </p:cNvSpPr>
          <p:nvPr>
            <p:ph type="body" sz="quarter" idx="11"/>
          </p:nvPr>
        </p:nvSpPr>
        <p:spPr>
          <a:xfrm>
            <a:off x="584871" y="215746"/>
            <a:ext cx="4403526" cy="797254"/>
          </a:xfrm>
        </p:spPr>
        <p:txBody>
          <a:bodyPr>
            <a:normAutofit/>
          </a:bodyPr>
          <a:lstStyle/>
          <a:p>
            <a:pPr>
              <a:lnSpc>
                <a:spcPct val="100000"/>
              </a:lnSpc>
              <a:spcBef>
                <a:spcPts val="0"/>
              </a:spcBef>
            </a:pPr>
            <a:r>
              <a:rPr lang="fr-FR" dirty="0">
                <a:latin typeface="Century Gothic" panose="020B0502020202020204" pitchFamily="34" charset="0"/>
              </a:rPr>
              <a:t>COMMANDE</a:t>
            </a:r>
          </a:p>
          <a:p>
            <a:pPr>
              <a:lnSpc>
                <a:spcPct val="100000"/>
              </a:lnSpc>
              <a:spcBef>
                <a:spcPts val="0"/>
              </a:spcBef>
            </a:pPr>
            <a:r>
              <a:rPr lang="fr-FR" sz="1800" b="0" dirty="0">
                <a:latin typeface="Century Gothic" panose="020B0502020202020204" pitchFamily="34" charset="0"/>
              </a:rPr>
              <a:t>VOTRE PROPOSITION</a:t>
            </a:r>
          </a:p>
        </p:txBody>
      </p:sp>
      <p:sp>
        <p:nvSpPr>
          <p:cNvPr id="25" name="Espace réservé du contenu 2">
            <a:extLst>
              <a:ext uri="{FF2B5EF4-FFF2-40B4-BE49-F238E27FC236}">
                <a16:creationId xmlns:a16="http://schemas.microsoft.com/office/drawing/2014/main" id="{D4DD870D-99F6-9A75-44DA-C499C58E1F84}"/>
              </a:ext>
            </a:extLst>
          </p:cNvPr>
          <p:cNvSpPr txBox="1">
            <a:spLocks/>
          </p:cNvSpPr>
          <p:nvPr/>
        </p:nvSpPr>
        <p:spPr>
          <a:xfrm>
            <a:off x="726065" y="1301999"/>
            <a:ext cx="6643616"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confirmer votre accord pour cette proposition personnalisée, étudiée pour répondre à vos attentes :</a:t>
            </a:r>
          </a:p>
        </p:txBody>
      </p:sp>
      <p:cxnSp>
        <p:nvCxnSpPr>
          <p:cNvPr id="26" name="Connecteur droit 25">
            <a:extLst>
              <a:ext uri="{FF2B5EF4-FFF2-40B4-BE49-F238E27FC236}">
                <a16:creationId xmlns:a16="http://schemas.microsoft.com/office/drawing/2014/main" id="{F3F1D159-28A3-3043-76D3-09FC324472CC}"/>
              </a:ext>
            </a:extLst>
          </p:cNvPr>
          <p:cNvCxnSpPr>
            <a:cxnSpLocks/>
          </p:cNvCxnSpPr>
          <p:nvPr/>
        </p:nvCxnSpPr>
        <p:spPr>
          <a:xfrm>
            <a:off x="661771" y="1290721"/>
            <a:ext cx="0" cy="707194"/>
          </a:xfrm>
          <a:prstGeom prst="line">
            <a:avLst/>
          </a:prstGeom>
          <a:noFill/>
          <a:ln w="25400" cap="flat" cmpd="sng" algn="ctr">
            <a:solidFill>
              <a:srgbClr val="7030A0"/>
            </a:solidFill>
            <a:prstDash val="solid"/>
            <a:miter lim="800000"/>
          </a:ln>
          <a:effectLst/>
        </p:spPr>
      </p:cxnSp>
      <p:sp>
        <p:nvSpPr>
          <p:cNvPr id="5" name="Rectangle 4">
            <a:extLst>
              <a:ext uri="{FF2B5EF4-FFF2-40B4-BE49-F238E27FC236}">
                <a16:creationId xmlns:a16="http://schemas.microsoft.com/office/drawing/2014/main" id="{4619E384-CE6F-CC6B-DF28-9EEB164091A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graphicFrame>
        <p:nvGraphicFramePr>
          <p:cNvPr id="9" name="Tableau 8">
            <a:extLst>
              <a:ext uri="{FF2B5EF4-FFF2-40B4-BE49-F238E27FC236}">
                <a16:creationId xmlns:a16="http://schemas.microsoft.com/office/drawing/2014/main" id="{DF64DC74-4752-A33D-5A90-7A19C887DCD7}"/>
              </a:ext>
            </a:extLst>
          </p:cNvPr>
          <p:cNvGraphicFramePr>
            <a:graphicFrameLocks noGrp="1"/>
          </p:cNvGraphicFramePr>
          <p:nvPr>
            <p:extLst>
              <p:ext uri="{D42A27DB-BD31-4B8C-83A1-F6EECF244321}">
                <p14:modId xmlns:p14="http://schemas.microsoft.com/office/powerpoint/2010/main" val="2140372091"/>
              </p:ext>
            </p:extLst>
          </p:nvPr>
        </p:nvGraphicFramePr>
        <p:xfrm>
          <a:off x="846138" y="2350411"/>
          <a:ext cx="8462754" cy="1101700"/>
        </p:xfrm>
        <a:graphic>
          <a:graphicData uri="http://schemas.openxmlformats.org/drawingml/2006/table">
            <a:tbl>
              <a:tblPr firstRow="1" bandRow="1"/>
              <a:tblGrid>
                <a:gridCol w="6372750">
                  <a:extLst>
                    <a:ext uri="{9D8B030D-6E8A-4147-A177-3AD203B41FA5}">
                      <a16:colId xmlns:a16="http://schemas.microsoft.com/office/drawing/2014/main" val="1388680963"/>
                    </a:ext>
                  </a:extLst>
                </a:gridCol>
                <a:gridCol w="2090004">
                  <a:extLst>
                    <a:ext uri="{9D8B030D-6E8A-4147-A177-3AD203B41FA5}">
                      <a16:colId xmlns:a16="http://schemas.microsoft.com/office/drawing/2014/main" val="4262916439"/>
                    </a:ext>
                  </a:extLst>
                </a:gridCol>
              </a:tblGrid>
              <a:tr h="243840">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662008187"/>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NOM DES SOLUTIONS VENDUES</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985111899"/>
                  </a:ext>
                </a:extLst>
              </a:tr>
              <a:tr h="421310">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79854567"/>
                  </a:ext>
                </a:extLst>
              </a:tr>
            </a:tbl>
          </a:graphicData>
        </a:graphic>
      </p:graphicFrame>
      <p:sp>
        <p:nvSpPr>
          <p:cNvPr id="12" name="Rectangle 11">
            <a:extLst>
              <a:ext uri="{FF2B5EF4-FFF2-40B4-BE49-F238E27FC236}">
                <a16:creationId xmlns:a16="http://schemas.microsoft.com/office/drawing/2014/main" id="{0BE28793-D272-35E6-F639-7D2131EA7A49}"/>
              </a:ext>
            </a:extLst>
          </p:cNvPr>
          <p:cNvSpPr/>
          <p:nvPr/>
        </p:nvSpPr>
        <p:spPr>
          <a:xfrm>
            <a:off x="5545679" y="4107562"/>
            <a:ext cx="3763213" cy="2443139"/>
          </a:xfrm>
          <a:prstGeom prst="rect">
            <a:avLst/>
          </a:prstGeom>
          <a:solidFill>
            <a:schemeClr val="bg1"/>
          </a:solidFill>
          <a:ln>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3" name="ZoneTexte 12">
            <a:extLst>
              <a:ext uri="{FF2B5EF4-FFF2-40B4-BE49-F238E27FC236}">
                <a16:creationId xmlns:a16="http://schemas.microsoft.com/office/drawing/2014/main" id="{6CA8F299-EAD8-F44C-1AC0-C156C99BFE79}"/>
              </a:ext>
            </a:extLst>
          </p:cNvPr>
          <p:cNvSpPr txBox="1"/>
          <p:nvPr/>
        </p:nvSpPr>
        <p:spPr>
          <a:xfrm>
            <a:off x="5545679" y="4175430"/>
            <a:ext cx="2777299" cy="830997"/>
          </a:xfrm>
          <a:prstGeom prst="rect">
            <a:avLst/>
          </a:prstGeom>
          <a:noFill/>
        </p:spPr>
        <p:txBody>
          <a:bodyPr wrap="none" rtlCol="0">
            <a:spAutoFit/>
          </a:bodyPr>
          <a:lstStyle/>
          <a:p>
            <a:r>
              <a:rPr lang="fr-FR" sz="1200" b="1" dirty="0">
                <a:latin typeface="Arial Nova" panose="020B0504020202020204" pitchFamily="34" charset="0"/>
              </a:rPr>
              <a:t>Bon pour accord</a:t>
            </a:r>
          </a:p>
          <a:p>
            <a:r>
              <a:rPr lang="fr-FR" sz="1200" dirty="0">
                <a:latin typeface="Arial Nova" panose="020B0504020202020204" pitchFamily="34" charset="0"/>
              </a:rPr>
              <a:t>Date </a:t>
            </a:r>
          </a:p>
          <a:p>
            <a:r>
              <a:rPr lang="fr-FR" sz="1200" dirty="0">
                <a:latin typeface="Arial Nova" panose="020B0504020202020204" pitchFamily="34" charset="0"/>
              </a:rPr>
              <a:t>Nom, prénom et fonction du signataire</a:t>
            </a:r>
          </a:p>
          <a:p>
            <a:r>
              <a:rPr lang="fr-FR" sz="1200" dirty="0">
                <a:latin typeface="Arial Nova" panose="020B0504020202020204" pitchFamily="34" charset="0"/>
              </a:rPr>
              <a:t>Signature et cachet</a:t>
            </a:r>
          </a:p>
        </p:txBody>
      </p:sp>
      <p:sp>
        <p:nvSpPr>
          <p:cNvPr id="14" name="ZoneTexte 13">
            <a:extLst>
              <a:ext uri="{FF2B5EF4-FFF2-40B4-BE49-F238E27FC236}">
                <a16:creationId xmlns:a16="http://schemas.microsoft.com/office/drawing/2014/main" id="{09B4CB37-7983-FBF9-400D-1D0E67B08DD2}"/>
              </a:ext>
            </a:extLst>
          </p:cNvPr>
          <p:cNvSpPr txBox="1"/>
          <p:nvPr/>
        </p:nvSpPr>
        <p:spPr>
          <a:xfrm>
            <a:off x="753872" y="4077583"/>
            <a:ext cx="3159839" cy="261610"/>
          </a:xfrm>
          <a:prstGeom prst="rect">
            <a:avLst/>
          </a:prstGeom>
          <a:noFill/>
        </p:spPr>
        <p:txBody>
          <a:bodyPr wrap="none" rtlCol="0">
            <a:spAutoFit/>
          </a:bodyPr>
          <a:lstStyle/>
          <a:p>
            <a:r>
              <a:rPr lang="fr-FR" sz="1100" b="1" dirty="0">
                <a:latin typeface="Arial Nova" panose="020B0504020202020204" pitchFamily="34" charset="0"/>
              </a:rPr>
              <a:t>Frais d’accès aux service et mise en service :</a:t>
            </a:r>
          </a:p>
        </p:txBody>
      </p:sp>
      <p:sp>
        <p:nvSpPr>
          <p:cNvPr id="15" name="ZoneTexte 14">
            <a:extLst>
              <a:ext uri="{FF2B5EF4-FFF2-40B4-BE49-F238E27FC236}">
                <a16:creationId xmlns:a16="http://schemas.microsoft.com/office/drawing/2014/main" id="{ACAE46B7-D0B1-9C7E-16DD-B6EA9B68603B}"/>
              </a:ext>
            </a:extLst>
          </p:cNvPr>
          <p:cNvSpPr txBox="1"/>
          <p:nvPr/>
        </p:nvSpPr>
        <p:spPr>
          <a:xfrm>
            <a:off x="753872" y="4442385"/>
            <a:ext cx="1656223" cy="261610"/>
          </a:xfrm>
          <a:prstGeom prst="rect">
            <a:avLst/>
          </a:prstGeom>
          <a:noFill/>
        </p:spPr>
        <p:txBody>
          <a:bodyPr wrap="none" rtlCol="0">
            <a:spAutoFit/>
          </a:bodyPr>
          <a:lstStyle/>
          <a:p>
            <a:r>
              <a:rPr lang="fr-FR" sz="1100" b="1" dirty="0">
                <a:latin typeface="Arial Nova" panose="020B0504020202020204" pitchFamily="34" charset="0"/>
              </a:rPr>
              <a:t>Durée d’engagement :</a:t>
            </a:r>
          </a:p>
        </p:txBody>
      </p:sp>
      <p:sp>
        <p:nvSpPr>
          <p:cNvPr id="16" name="ZoneTexte 15">
            <a:extLst>
              <a:ext uri="{FF2B5EF4-FFF2-40B4-BE49-F238E27FC236}">
                <a16:creationId xmlns:a16="http://schemas.microsoft.com/office/drawing/2014/main" id="{18BF1AA4-8820-B18B-84B2-99DB334E0508}"/>
              </a:ext>
            </a:extLst>
          </p:cNvPr>
          <p:cNvSpPr txBox="1"/>
          <p:nvPr/>
        </p:nvSpPr>
        <p:spPr>
          <a:xfrm>
            <a:off x="753872" y="4845677"/>
            <a:ext cx="1023037" cy="261610"/>
          </a:xfrm>
          <a:prstGeom prst="rect">
            <a:avLst/>
          </a:prstGeom>
          <a:noFill/>
        </p:spPr>
        <p:txBody>
          <a:bodyPr wrap="none" rtlCol="0">
            <a:spAutoFit/>
          </a:bodyPr>
          <a:lstStyle/>
          <a:p>
            <a:r>
              <a:rPr lang="fr-FR" sz="1100" b="1" dirty="0">
                <a:latin typeface="Arial Nova" panose="020B0504020202020204" pitchFamily="34" charset="0"/>
              </a:rPr>
              <a:t>Facturation :</a:t>
            </a:r>
          </a:p>
        </p:txBody>
      </p:sp>
      <p:sp>
        <p:nvSpPr>
          <p:cNvPr id="19" name="ZoneTexte 18">
            <a:extLst>
              <a:ext uri="{FF2B5EF4-FFF2-40B4-BE49-F238E27FC236}">
                <a16:creationId xmlns:a16="http://schemas.microsoft.com/office/drawing/2014/main" id="{FA701CE2-97D5-B269-58DA-B84EDE213AC5}"/>
              </a:ext>
            </a:extLst>
          </p:cNvPr>
          <p:cNvSpPr txBox="1"/>
          <p:nvPr/>
        </p:nvSpPr>
        <p:spPr>
          <a:xfrm>
            <a:off x="732978" y="5494234"/>
            <a:ext cx="4369610" cy="1061829"/>
          </a:xfrm>
          <a:prstGeom prst="rect">
            <a:avLst/>
          </a:prstGeom>
          <a:noFill/>
        </p:spPr>
        <p:txBody>
          <a:bodyPr wrap="square" rtlCol="0">
            <a:spAutoFit/>
          </a:bodyPr>
          <a:lstStyle/>
          <a:p>
            <a:r>
              <a:rPr lang="fr-FR" sz="1050" dirty="0">
                <a:latin typeface="Arial Nova" panose="020B0504020202020204" pitchFamily="34" charset="0"/>
              </a:rPr>
              <a:t>Le Client reconnait avoir pris connaissance et accepter sans réserve les Conditions Générales et les Conditions spécifiques se rapportant aux produits et services visés dans ce Bon de commande. La signature de celui-ci vaut engagement ferme et définitif du Client sur l'ensemble des termes et conditions de l'offre. Le Client accepte un paiement par prélèvement bancaire et joins à cette fin un relevé d'identité bancaire.</a:t>
            </a:r>
          </a:p>
        </p:txBody>
      </p:sp>
      <p:pic>
        <p:nvPicPr>
          <p:cNvPr id="2" name="Image 1">
            <a:extLst>
              <a:ext uri="{FF2B5EF4-FFF2-40B4-BE49-F238E27FC236}">
                <a16:creationId xmlns:a16="http://schemas.microsoft.com/office/drawing/2014/main" id="{405F1643-7EA9-2771-BEB2-43589BBB9CA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3" name="Rectangle 2">
            <a:extLst>
              <a:ext uri="{FF2B5EF4-FFF2-40B4-BE49-F238E27FC236}">
                <a16:creationId xmlns:a16="http://schemas.microsoft.com/office/drawing/2014/main" id="{2AB92045-915F-C0ED-D303-4A28D03F8474}"/>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 name="ZoneTexte 3">
            <a:extLst>
              <a:ext uri="{FF2B5EF4-FFF2-40B4-BE49-F238E27FC236}">
                <a16:creationId xmlns:a16="http://schemas.microsoft.com/office/drawing/2014/main" id="{E390E96C-B70B-C1B1-9D66-55B2D5AB33CC}"/>
              </a:ext>
            </a:extLst>
          </p:cNvPr>
          <p:cNvSpPr txBox="1"/>
          <p:nvPr/>
        </p:nvSpPr>
        <p:spPr>
          <a:xfrm>
            <a:off x="753872" y="5223541"/>
            <a:ext cx="4299575" cy="261610"/>
          </a:xfrm>
          <a:prstGeom prst="rect">
            <a:avLst/>
          </a:prstGeom>
          <a:noFill/>
        </p:spPr>
        <p:txBody>
          <a:bodyPr wrap="none" rtlCol="0">
            <a:spAutoFit/>
          </a:bodyPr>
          <a:lstStyle/>
          <a:p>
            <a:r>
              <a:rPr lang="fr-FR" sz="1100" b="1" dirty="0">
                <a:latin typeface="Arial Nova" panose="020B0504020202020204" pitchFamily="34" charset="0"/>
              </a:rPr>
              <a:t>Échéance du prélèvement : </a:t>
            </a:r>
            <a:r>
              <a:rPr lang="fr-FR" sz="1000" dirty="0">
                <a:latin typeface="Arial Nova" panose="020B0504020202020204" pitchFamily="34" charset="0"/>
              </a:rPr>
              <a:t>Règlement par prélèvement </a:t>
            </a:r>
            <a:r>
              <a:rPr lang="fr-FR" sz="1000" dirty="0">
                <a:highlight>
                  <a:srgbClr val="FFFF00"/>
                </a:highlight>
                <a:latin typeface="Arial Nova" panose="020B0504020202020204" pitchFamily="34" charset="0"/>
              </a:rPr>
              <a:t>[périodicité]</a:t>
            </a:r>
            <a:endParaRPr lang="fr-FR" sz="1100" b="1" dirty="0">
              <a:highlight>
                <a:srgbClr val="FFFF00"/>
              </a:highlight>
              <a:latin typeface="Arial Nova" panose="020B0504020202020204" pitchFamily="34" charset="0"/>
            </a:endParaRPr>
          </a:p>
        </p:txBody>
      </p:sp>
      <p:sp>
        <p:nvSpPr>
          <p:cNvPr id="7" name="ZoneTexte 6">
            <a:extLst>
              <a:ext uri="{FF2B5EF4-FFF2-40B4-BE49-F238E27FC236}">
                <a16:creationId xmlns:a16="http://schemas.microsoft.com/office/drawing/2014/main" id="{0FF9AB31-BC16-B05D-02AA-4A4CCE040FCF}"/>
              </a:ext>
            </a:extLst>
          </p:cNvPr>
          <p:cNvSpPr txBox="1"/>
          <p:nvPr/>
        </p:nvSpPr>
        <p:spPr>
          <a:xfrm>
            <a:off x="753872" y="6692383"/>
            <a:ext cx="8555020" cy="830997"/>
          </a:xfrm>
          <a:prstGeom prst="rect">
            <a:avLst/>
          </a:prstGeom>
          <a:noFill/>
        </p:spPr>
        <p:txBody>
          <a:bodyPr wrap="square">
            <a:spAutoFit/>
          </a:bodyPr>
          <a:lstStyle/>
          <a:p>
            <a:pPr algn="just"/>
            <a:r>
              <a:rPr lang="fr-FR" sz="800" dirty="0"/>
              <a:t>Les données à caractère personnel collectées dans le cadre des présentes sont nécessaires pour l'exécution de la commande reçue du Client et font l'objet d'un usage strictement réservé à </a:t>
            </a:r>
            <a:r>
              <a:rPr lang="fr-FR" sz="800" dirty="0" err="1"/>
              <a:t>Koesio</a:t>
            </a:r>
            <a:r>
              <a:rPr lang="fr-FR" sz="800" dirty="0"/>
              <a:t>. Conformément à la loi "Informatique et Libertés" du 6 janvier 1978 modifiée et au Règlement Européen sur la Protection des Données n°2016/679, toute personne concernée dispose à tout moment d'un droit d'accès, d'opposition, de rectification, de copie et de suppression ainsi qu'un droit à la portabilité et à la limitation du traitement des données la concernant, y compris le droit de définir des directives, spécifiques ou générales, relatives au sort de mes données post-mortem, en adressant sa demande via le formulaire disponible sur koesio.com soit par voie postale (cf. adresse de </a:t>
            </a:r>
            <a:r>
              <a:rPr lang="fr-FR" sz="800" dirty="0" err="1"/>
              <a:t>koesio</a:t>
            </a:r>
            <a:r>
              <a:rPr lang="fr-FR" sz="800" dirty="0"/>
              <a:t> mentionnée en tête des présentes ou disponible sur koesio.com). Toute personne concernée peut introduire une réclamation auprès de la CNIL dans le cas où ses données personnelles ne seraient pas traitées de manière conforme à la réglementation. Pour plus d'information le Client est invité à consulter la Politique de protection des données personnelles de </a:t>
            </a:r>
            <a:r>
              <a:rPr lang="fr-FR" sz="800" dirty="0" err="1"/>
              <a:t>Koesio</a:t>
            </a:r>
            <a:r>
              <a:rPr lang="fr-FR" sz="800" dirty="0"/>
              <a:t> disponible sur koesio.com</a:t>
            </a:r>
          </a:p>
        </p:txBody>
      </p:sp>
    </p:spTree>
    <p:extLst>
      <p:ext uri="{BB962C8B-B14F-4D97-AF65-F5344CB8AC3E}">
        <p14:creationId xmlns:p14="http://schemas.microsoft.com/office/powerpoint/2010/main" val="341808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85E3-1601-D8DC-8AC7-08D5CC495291}"/>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97F1DEF5-6DBD-249C-6DAA-6482FF45E0B5}"/>
              </a:ext>
            </a:extLst>
          </p:cNvPr>
          <p:cNvSpPr txBox="1">
            <a:spLocks/>
          </p:cNvSpPr>
          <p:nvPr/>
        </p:nvSpPr>
        <p:spPr>
          <a:xfrm>
            <a:off x="1599902" y="2985622"/>
            <a:ext cx="4407198"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Koesio vous accompagne dans vos enjeux numériques</a:t>
            </a:r>
          </a:p>
        </p:txBody>
      </p:sp>
      <p:sp>
        <p:nvSpPr>
          <p:cNvPr id="4" name="Rectangle 3">
            <a:extLst>
              <a:ext uri="{FF2B5EF4-FFF2-40B4-BE49-F238E27FC236}">
                <a16:creationId xmlns:a16="http://schemas.microsoft.com/office/drawing/2014/main" id="{C13B1F5B-EF5C-A815-4A70-EAAD2C58C60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6" name="Image 5">
            <a:extLst>
              <a:ext uri="{FF2B5EF4-FFF2-40B4-BE49-F238E27FC236}">
                <a16:creationId xmlns:a16="http://schemas.microsoft.com/office/drawing/2014/main" id="{99EF226B-A24C-2CA4-CC2E-864560A78F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8B0887B9-58C9-CFDE-090C-F1A5388318C7}"/>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F58F9ECA-E043-339B-50A3-F6E77C631268}"/>
              </a:ext>
            </a:extLst>
          </p:cNvPr>
          <p:cNvSpPr/>
          <p:nvPr/>
        </p:nvSpPr>
        <p:spPr>
          <a:xfrm>
            <a:off x="6168735" y="2643545"/>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639C00F-3242-C77F-4C4F-559700418DC4}"/>
              </a:ext>
            </a:extLst>
          </p:cNvPr>
          <p:cNvSpPr/>
          <p:nvPr/>
        </p:nvSpPr>
        <p:spPr>
          <a:xfrm>
            <a:off x="4523076" y="5914016"/>
            <a:ext cx="1645659" cy="16456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descr="Une image contenant habits, Visage humain, personne, sourire&#10;&#10;Le contenu généré par l’IA peut être incorrect.">
            <a:extLst>
              <a:ext uri="{FF2B5EF4-FFF2-40B4-BE49-F238E27FC236}">
                <a16:creationId xmlns:a16="http://schemas.microsoft.com/office/drawing/2014/main" id="{8C352D7F-9452-0D70-EA05-0D7DB7FF352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52484" y="170777"/>
            <a:ext cx="5743239" cy="5743239"/>
          </a:xfrm>
          <a:prstGeom prst="rect">
            <a:avLst/>
          </a:prstGeom>
        </p:spPr>
      </p:pic>
    </p:spTree>
    <p:extLst>
      <p:ext uri="{BB962C8B-B14F-4D97-AF65-F5344CB8AC3E}">
        <p14:creationId xmlns:p14="http://schemas.microsoft.com/office/powerpoint/2010/main" val="216117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E9E1-A0B7-D0CD-7DDF-6762DC02B51E}"/>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49A2C608-42D2-07F9-BE93-86CB53397BA8}"/>
              </a:ext>
            </a:extLst>
          </p:cNvPr>
          <p:cNvGrpSpPr/>
          <p:nvPr/>
        </p:nvGrpSpPr>
        <p:grpSpPr>
          <a:xfrm>
            <a:off x="5485670" y="2911256"/>
            <a:ext cx="4307221" cy="3187283"/>
            <a:chOff x="218022" y="2103185"/>
            <a:chExt cx="5036307" cy="3726796"/>
          </a:xfrm>
        </p:grpSpPr>
        <p:sp>
          <p:nvSpPr>
            <p:cNvPr id="36" name="Rectangle 35">
              <a:extLst>
                <a:ext uri="{FF2B5EF4-FFF2-40B4-BE49-F238E27FC236}">
                  <a16:creationId xmlns:a16="http://schemas.microsoft.com/office/drawing/2014/main" id="{F5F4BA96-6E58-A28A-F14F-7EC9AEA7D7AF}"/>
                </a:ext>
              </a:extLst>
            </p:cNvPr>
            <p:cNvSpPr/>
            <p:nvPr/>
          </p:nvSpPr>
          <p:spPr>
            <a:xfrm>
              <a:off x="3525371" y="415195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3806B0D5-18B1-6FEE-E379-7684E47C8DEC}"/>
                </a:ext>
              </a:extLst>
            </p:cNvPr>
            <p:cNvSpPr/>
            <p:nvPr/>
          </p:nvSpPr>
          <p:spPr>
            <a:xfrm>
              <a:off x="2387803" y="3037306"/>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5DAEDF27-BCB3-3E5E-98CC-A281871DF7F6}"/>
                </a:ext>
              </a:extLst>
            </p:cNvPr>
            <p:cNvGrpSpPr/>
            <p:nvPr/>
          </p:nvGrpSpPr>
          <p:grpSpPr>
            <a:xfrm>
              <a:off x="218022" y="3609424"/>
              <a:ext cx="1291986" cy="1116353"/>
              <a:chOff x="3167259" y="4757935"/>
              <a:chExt cx="1813982" cy="1567390"/>
            </a:xfrm>
          </p:grpSpPr>
          <p:sp>
            <p:nvSpPr>
              <p:cNvPr id="59" name="Rectangle 58">
                <a:extLst>
                  <a:ext uri="{FF2B5EF4-FFF2-40B4-BE49-F238E27FC236}">
                    <a16:creationId xmlns:a16="http://schemas.microsoft.com/office/drawing/2014/main" id="{4B5CB016-F080-7A9A-5780-4C16B76502A9}"/>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C33A5FFB-0E95-53EF-C16A-B7EA22DD76BC}"/>
                  </a:ext>
                </a:extLst>
              </p:cNvPr>
              <p:cNvSpPr txBox="1"/>
              <p:nvPr/>
            </p:nvSpPr>
            <p:spPr>
              <a:xfrm>
                <a:off x="3167259" y="5422727"/>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collaborateurs</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informatiques</a:t>
                </a:r>
              </a:p>
            </p:txBody>
          </p:sp>
          <p:sp>
            <p:nvSpPr>
              <p:cNvPr id="61" name="ZoneTexte 60">
                <a:extLst>
                  <a:ext uri="{FF2B5EF4-FFF2-40B4-BE49-F238E27FC236}">
                    <a16:creationId xmlns:a16="http://schemas.microsoft.com/office/drawing/2014/main" id="{7B8A93F5-55A7-0E88-36A9-D9DAC92BF6D1}"/>
                  </a:ext>
                </a:extLst>
              </p:cNvPr>
              <p:cNvSpPr txBox="1"/>
              <p:nvPr/>
            </p:nvSpPr>
            <p:spPr>
              <a:xfrm>
                <a:off x="3209670" y="4979844"/>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1000</a:t>
                </a:r>
              </a:p>
            </p:txBody>
          </p:sp>
        </p:grpSp>
        <p:grpSp>
          <p:nvGrpSpPr>
            <p:cNvPr id="39" name="Groupe 38">
              <a:extLst>
                <a:ext uri="{FF2B5EF4-FFF2-40B4-BE49-F238E27FC236}">
                  <a16:creationId xmlns:a16="http://schemas.microsoft.com/office/drawing/2014/main" id="{B4016718-2106-C5B3-7B49-1E59251CA223}"/>
                </a:ext>
              </a:extLst>
            </p:cNvPr>
            <p:cNvGrpSpPr/>
            <p:nvPr/>
          </p:nvGrpSpPr>
          <p:grpSpPr>
            <a:xfrm>
              <a:off x="1371183" y="2649148"/>
              <a:ext cx="1116354" cy="940724"/>
              <a:chOff x="4644036" y="3412813"/>
              <a:chExt cx="1567391" cy="1320800"/>
            </a:xfrm>
          </p:grpSpPr>
          <p:sp>
            <p:nvSpPr>
              <p:cNvPr id="56" name="Rectangle 55">
                <a:extLst>
                  <a:ext uri="{FF2B5EF4-FFF2-40B4-BE49-F238E27FC236}">
                    <a16:creationId xmlns:a16="http://schemas.microsoft.com/office/drawing/2014/main" id="{A47A22B4-FEAF-2BA7-0BA4-919B92CE4ED7}"/>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2A4A9BB9-2C3F-0216-8704-421726358C52}"/>
                  </a:ext>
                </a:extLst>
              </p:cNvPr>
              <p:cNvSpPr txBox="1"/>
              <p:nvPr/>
            </p:nvSpPr>
            <p:spPr>
              <a:xfrm>
                <a:off x="4767333" y="4031855"/>
                <a:ext cx="1336021" cy="416850"/>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M€ de CA</a:t>
                </a:r>
              </a:p>
            </p:txBody>
          </p:sp>
          <p:sp>
            <p:nvSpPr>
              <p:cNvPr id="58" name="ZoneTexte 57">
                <a:extLst>
                  <a:ext uri="{FF2B5EF4-FFF2-40B4-BE49-F238E27FC236}">
                    <a16:creationId xmlns:a16="http://schemas.microsoft.com/office/drawing/2014/main" id="{B7A46F56-9831-5320-8930-A0BEC6B8AB44}"/>
                  </a:ext>
                </a:extLst>
              </p:cNvPr>
              <p:cNvSpPr txBox="1"/>
              <p:nvPr/>
            </p:nvSpPr>
            <p:spPr>
              <a:xfrm>
                <a:off x="4644036" y="3674683"/>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450 </a:t>
                </a:r>
              </a:p>
            </p:txBody>
          </p:sp>
        </p:grpSp>
        <p:grpSp>
          <p:nvGrpSpPr>
            <p:cNvPr id="40" name="Groupe 39">
              <a:extLst>
                <a:ext uri="{FF2B5EF4-FFF2-40B4-BE49-F238E27FC236}">
                  <a16:creationId xmlns:a16="http://schemas.microsoft.com/office/drawing/2014/main" id="{85A7B732-DD74-8789-F1E8-FE67E767234D}"/>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CBA2D50B-F592-922A-A5A3-2BA6DFF9ADA5}"/>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515B2F68-9863-0F45-200F-8EBF6C324C6E}"/>
                  </a:ext>
                </a:extLst>
              </p:cNvPr>
              <p:cNvSpPr txBox="1"/>
              <p:nvPr/>
            </p:nvSpPr>
            <p:spPr>
              <a:xfrm>
                <a:off x="2127764" y="4095113"/>
                <a:ext cx="1336020" cy="351269"/>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Datacenters</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CB79A269-69B9-0319-4AC2-5DB478D7387F}"/>
                  </a:ext>
                </a:extLst>
              </p:cNvPr>
              <p:cNvSpPr txBox="1"/>
              <p:nvPr/>
            </p:nvSpPr>
            <p:spPr>
              <a:xfrm>
                <a:off x="2127765" y="37855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a:t>
                </a:r>
              </a:p>
            </p:txBody>
          </p:sp>
        </p:grpSp>
        <p:grpSp>
          <p:nvGrpSpPr>
            <p:cNvPr id="41" name="Groupe 40">
              <a:extLst>
                <a:ext uri="{FF2B5EF4-FFF2-40B4-BE49-F238E27FC236}">
                  <a16:creationId xmlns:a16="http://schemas.microsoft.com/office/drawing/2014/main" id="{E65A0E00-6BA7-8865-B1DC-4EFD5CB8CC8E}"/>
                </a:ext>
              </a:extLst>
            </p:cNvPr>
            <p:cNvGrpSpPr/>
            <p:nvPr/>
          </p:nvGrpSpPr>
          <p:grpSpPr>
            <a:xfrm>
              <a:off x="3468034" y="2634496"/>
              <a:ext cx="1116354" cy="940723"/>
              <a:chOff x="3323236" y="4757935"/>
              <a:chExt cx="1567391" cy="1320800"/>
            </a:xfrm>
          </p:grpSpPr>
          <p:sp>
            <p:nvSpPr>
              <p:cNvPr id="50" name="Rectangle 49">
                <a:extLst>
                  <a:ext uri="{FF2B5EF4-FFF2-40B4-BE49-F238E27FC236}">
                    <a16:creationId xmlns:a16="http://schemas.microsoft.com/office/drawing/2014/main" id="{72161A86-0798-8F2D-0949-8279098BB7A2}"/>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2F87650E-C0AC-5E8A-7874-B0D6FCD00B2F}"/>
                  </a:ext>
                </a:extLst>
              </p:cNvPr>
              <p:cNvSpPr txBox="1"/>
              <p:nvPr/>
            </p:nvSpPr>
            <p:spPr>
              <a:xfrm>
                <a:off x="3446533" y="5295885"/>
                <a:ext cx="1336020" cy="682118"/>
              </a:xfrm>
              <a:prstGeom prst="rect">
                <a:avLst/>
              </a:prstGeom>
              <a:noFill/>
            </p:spPr>
            <p:txBody>
              <a:bodyPr wrap="square" rtlCol="0">
                <a:spAutoFit/>
              </a:bodyPr>
              <a:lstStyle/>
              <a:p>
                <a:pPr algn="ctr" defTabSz="781976">
                  <a:buClr>
                    <a:srgbClr val="3799E8"/>
                  </a:buClr>
                  <a:defRPr/>
                </a:pPr>
                <a:r>
                  <a:rPr lang="fr-FR" sz="1050" kern="0" dirty="0" err="1">
                    <a:solidFill>
                      <a:schemeClr val="bg1"/>
                    </a:solidFill>
                    <a:latin typeface="Arial Nova" panose="020B0504020202020204" pitchFamily="34" charset="0"/>
                    <a:cs typeface="Arial" panose="020B0604020202020204" pitchFamily="34" charset="0"/>
                  </a:rPr>
                  <a:t>Users</a:t>
                </a:r>
                <a:r>
                  <a:rPr lang="fr-FR" sz="1050" kern="0" dirty="0">
                    <a:solidFill>
                      <a:schemeClr val="bg1"/>
                    </a:solidFill>
                    <a:latin typeface="Arial Nova" panose="020B0504020202020204" pitchFamily="34" charset="0"/>
                    <a:cs typeface="Arial" panose="020B0604020202020204" pitchFamily="34" charset="0"/>
                  </a:rPr>
                  <a:t> managés</a:t>
                </a:r>
              </a:p>
            </p:txBody>
          </p:sp>
          <p:sp>
            <p:nvSpPr>
              <p:cNvPr id="52" name="ZoneTexte 51">
                <a:extLst>
                  <a:ext uri="{FF2B5EF4-FFF2-40B4-BE49-F238E27FC236}">
                    <a16:creationId xmlns:a16="http://schemas.microsoft.com/office/drawing/2014/main" id="{F593B589-3BB3-512C-AFA2-7DBB013EF365}"/>
                  </a:ext>
                </a:extLst>
              </p:cNvPr>
              <p:cNvSpPr txBox="1"/>
              <p:nvPr/>
            </p:nvSpPr>
            <p:spPr>
              <a:xfrm>
                <a:off x="3323236" y="4869214"/>
                <a:ext cx="1567391"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10 000</a:t>
                </a:r>
              </a:p>
            </p:txBody>
          </p:sp>
        </p:grpSp>
        <p:sp>
          <p:nvSpPr>
            <p:cNvPr id="42" name="Rectangle 41">
              <a:extLst>
                <a:ext uri="{FF2B5EF4-FFF2-40B4-BE49-F238E27FC236}">
                  <a16:creationId xmlns:a16="http://schemas.microsoft.com/office/drawing/2014/main" id="{5A2FCF93-CDDF-B380-D7D0-CA159CF90EE6}"/>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56A02A08-F783-E6CB-9FB1-2D49D93B35D8}"/>
                </a:ext>
              </a:extLst>
            </p:cNvPr>
            <p:cNvSpPr/>
            <p:nvPr/>
          </p:nvSpPr>
          <p:spPr>
            <a:xfrm>
              <a:off x="4507413" y="3575219"/>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78469E32-1AFF-99D2-A951-BA6D1E50B486}"/>
                </a:ext>
              </a:extLst>
            </p:cNvPr>
            <p:cNvSpPr/>
            <p:nvPr/>
          </p:nvSpPr>
          <p:spPr>
            <a:xfrm>
              <a:off x="905715" y="2103185"/>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DD1E1650-A894-1D8C-D43A-A0C5982D8318}"/>
                </a:ext>
              </a:extLst>
            </p:cNvPr>
            <p:cNvGrpSpPr/>
            <p:nvPr/>
          </p:nvGrpSpPr>
          <p:grpSpPr>
            <a:xfrm>
              <a:off x="4050849" y="4713627"/>
              <a:ext cx="1203480" cy="1116354"/>
              <a:chOff x="2076222" y="3424366"/>
              <a:chExt cx="1423882" cy="1320800"/>
            </a:xfrm>
          </p:grpSpPr>
          <p:sp>
            <p:nvSpPr>
              <p:cNvPr id="47" name="Rectangle 46">
                <a:extLst>
                  <a:ext uri="{FF2B5EF4-FFF2-40B4-BE49-F238E27FC236}">
                    <a16:creationId xmlns:a16="http://schemas.microsoft.com/office/drawing/2014/main" id="{D1CAB370-B70A-CE88-94E0-33457B496D01}"/>
                  </a:ext>
                </a:extLst>
              </p:cNvPr>
              <p:cNvSpPr/>
              <p:nvPr/>
            </p:nvSpPr>
            <p:spPr>
              <a:xfrm>
                <a:off x="2127764" y="3424366"/>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54D3E4F-6594-8459-8A64-C8E1CCA52047}"/>
                  </a:ext>
                </a:extLst>
              </p:cNvPr>
              <p:cNvSpPr txBox="1"/>
              <p:nvPr/>
            </p:nvSpPr>
            <p:spPr>
              <a:xfrm>
                <a:off x="2120153" y="3969505"/>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serveurs supervisés</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AD2F365A-764B-FB57-1045-3626ECE9D563}"/>
                  </a:ext>
                </a:extLst>
              </p:cNvPr>
              <p:cNvSpPr txBox="1"/>
              <p:nvPr/>
            </p:nvSpPr>
            <p:spPr>
              <a:xfrm>
                <a:off x="2076222" y="3693778"/>
                <a:ext cx="1423882"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5 000</a:t>
                </a:r>
              </a:p>
            </p:txBody>
          </p:sp>
        </p:grpSp>
      </p:grpSp>
      <p:sp>
        <p:nvSpPr>
          <p:cNvPr id="70" name="Espace réservé du texte 1">
            <a:extLst>
              <a:ext uri="{FF2B5EF4-FFF2-40B4-BE49-F238E27FC236}">
                <a16:creationId xmlns:a16="http://schemas.microsoft.com/office/drawing/2014/main" id="{29DEE302-95E6-A7F9-9B1E-603EA0F3637E}"/>
              </a:ext>
            </a:extLst>
          </p:cNvPr>
          <p:cNvSpPr txBox="1">
            <a:spLocks/>
          </p:cNvSpPr>
          <p:nvPr/>
        </p:nvSpPr>
        <p:spPr>
          <a:xfrm>
            <a:off x="692906" y="191723"/>
            <a:ext cx="715100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IT </a:t>
            </a:r>
            <a:r>
              <a:rPr lang="fr-FR" sz="2051" dirty="0">
                <a:solidFill>
                  <a:srgbClr val="E94B57"/>
                </a:solidFill>
                <a:latin typeface="Century Gothic" panose="020B0502020202020204" pitchFamily="34" charset="0"/>
              </a:rPr>
              <a:t>Informatique &amp; Sécurité</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90D5CBDF-8D76-F3BB-72F5-3F675EE8399B}"/>
              </a:ext>
            </a:extLst>
          </p:cNvPr>
          <p:cNvSpPr txBox="1"/>
          <p:nvPr/>
        </p:nvSpPr>
        <p:spPr>
          <a:xfrm>
            <a:off x="692906" y="1364836"/>
            <a:ext cx="7819508" cy="738664"/>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Notre croissance sur les métiers de l’informatique a démarré dès 2002, et s’est particulièrement accrue depuis 2018, pour nous permettre de devenir leader dans les métiers numériques en France, autour d’une mission. </a:t>
            </a:r>
            <a:r>
              <a:rPr lang="fr-FR" sz="1400" b="1" dirty="0">
                <a:latin typeface="Arial Nova" panose="020B0504020202020204" pitchFamily="34" charset="0"/>
                <a:sym typeface="Open Sans"/>
              </a:rPr>
              <a:t>Un seul guichet pour tous vos enjeux numériques !</a:t>
            </a:r>
          </a:p>
        </p:txBody>
      </p:sp>
      <p:sp>
        <p:nvSpPr>
          <p:cNvPr id="3" name="ZoneTexte 2">
            <a:extLst>
              <a:ext uri="{FF2B5EF4-FFF2-40B4-BE49-F238E27FC236}">
                <a16:creationId xmlns:a16="http://schemas.microsoft.com/office/drawing/2014/main" id="{775FB574-5E38-BACD-CC61-650F257AB3AC}"/>
              </a:ext>
            </a:extLst>
          </p:cNvPr>
          <p:cNvSpPr txBox="1"/>
          <p:nvPr/>
        </p:nvSpPr>
        <p:spPr>
          <a:xfrm>
            <a:off x="930677" y="2696364"/>
            <a:ext cx="4249632" cy="3723840"/>
          </a:xfrm>
          <a:prstGeom prst="rect">
            <a:avLst/>
          </a:prstGeom>
          <a:noFill/>
        </p:spPr>
        <p:txBody>
          <a:bodyPr wrap="square">
            <a:spAutoFit/>
          </a:bodyPr>
          <a:lstStyle/>
          <a:p>
            <a:r>
              <a:rPr lang="fr-FR" sz="1999" b="1" dirty="0" err="1">
                <a:latin typeface="Arial Nova" panose="020B0504020202020204" pitchFamily="34" charset="0"/>
                <a:sym typeface="Open Sans"/>
              </a:rPr>
              <a:t>Koesio</a:t>
            </a:r>
            <a:r>
              <a:rPr lang="fr-FR" sz="1999" b="1" dirty="0">
                <a:latin typeface="Arial Nova" panose="020B0504020202020204" pitchFamily="34" charset="0"/>
                <a:sym typeface="Open Sans"/>
              </a:rPr>
              <a:t>, une synergie parfaite des métiers informatiques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notre expertise en services managés, nous </a:t>
            </a:r>
            <a:r>
              <a:rPr lang="fr-FR" sz="1400" b="1" dirty="0">
                <a:latin typeface="Arial Nova" panose="020B0504020202020204" pitchFamily="34" charset="0"/>
              </a:rPr>
              <a:t>pilotons proactivement vos postes informatiques</a:t>
            </a:r>
            <a:r>
              <a:rPr lang="fr-FR" sz="1400" dirty="0">
                <a:latin typeface="Arial Nova" panose="020B0504020202020204" pitchFamily="34" charset="0"/>
              </a:rPr>
              <a:t>, à distance avec un service illimité.</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nos volumes d’achat, nous vous donnons accès au </a:t>
            </a:r>
            <a:r>
              <a:rPr lang="fr-FR" sz="1400" b="1" dirty="0">
                <a:latin typeface="Arial Nova" panose="020B0504020202020204" pitchFamily="34" charset="0"/>
              </a:rPr>
              <a:t>plus</a:t>
            </a:r>
            <a:r>
              <a:rPr lang="fr-FR" sz="1400" dirty="0">
                <a:latin typeface="Arial Nova" panose="020B0504020202020204" pitchFamily="34" charset="0"/>
              </a:rPr>
              <a:t> </a:t>
            </a:r>
            <a:r>
              <a:rPr lang="fr-FR" sz="1400" b="1" dirty="0">
                <a:latin typeface="Arial Nova" panose="020B0504020202020204" pitchFamily="34" charset="0"/>
              </a:rPr>
              <a:t>grand stock d’équipements informatiques et négocient au mieux les prix</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experts informatiques régionaux configurent, suivent et agissent pour vous </a:t>
            </a:r>
            <a:r>
              <a:rPr lang="fr-FR" sz="1400" b="1" dirty="0">
                <a:latin typeface="Arial Nova" panose="020B0504020202020204" pitchFamily="34" charset="0"/>
              </a:rPr>
              <a:t>garantir le maintien en conditions opérationnelles de votre IT</a:t>
            </a:r>
          </a:p>
        </p:txBody>
      </p:sp>
      <p:sp>
        <p:nvSpPr>
          <p:cNvPr id="4" name="Rectangle 3">
            <a:extLst>
              <a:ext uri="{FF2B5EF4-FFF2-40B4-BE49-F238E27FC236}">
                <a16:creationId xmlns:a16="http://schemas.microsoft.com/office/drawing/2014/main" id="{AC92B68D-89F1-FF68-EB4F-2C7B496D75E6}"/>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2F37630A-98EE-3171-2D25-62AAA36AEF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E01D55E8-F50B-AA6A-548F-7B881F3902C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430280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B6C7-ED8A-7600-7C10-556FD460198B}"/>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AC9BC1E2-44E6-0CDF-31A7-23E1976F48F5}"/>
              </a:ext>
            </a:extLst>
          </p:cNvPr>
          <p:cNvGrpSpPr/>
          <p:nvPr/>
        </p:nvGrpSpPr>
        <p:grpSpPr>
          <a:xfrm>
            <a:off x="5564328" y="2877540"/>
            <a:ext cx="4324570" cy="3217089"/>
            <a:chOff x="241299" y="2080487"/>
            <a:chExt cx="5056594" cy="3761648"/>
          </a:xfrm>
        </p:grpSpPr>
        <p:sp>
          <p:nvSpPr>
            <p:cNvPr id="36" name="Rectangle 35">
              <a:extLst>
                <a:ext uri="{FF2B5EF4-FFF2-40B4-BE49-F238E27FC236}">
                  <a16:creationId xmlns:a16="http://schemas.microsoft.com/office/drawing/2014/main" id="{E651D44A-28B2-C78F-223D-3A3C4922FB2A}"/>
                </a:ext>
              </a:extLst>
            </p:cNvPr>
            <p:cNvSpPr/>
            <p:nvPr/>
          </p:nvSpPr>
          <p:spPr>
            <a:xfrm>
              <a:off x="3525371" y="416410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D6E0867E-9EF5-8550-C89D-E05309A238F0}"/>
                </a:ext>
              </a:extLst>
            </p:cNvPr>
            <p:cNvSpPr/>
            <p:nvPr/>
          </p:nvSpPr>
          <p:spPr>
            <a:xfrm>
              <a:off x="2387803" y="303730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7350E52B-65CA-FD73-56C6-6BE35D9AE8A2}"/>
                </a:ext>
              </a:extLst>
            </p:cNvPr>
            <p:cNvGrpSpPr/>
            <p:nvPr/>
          </p:nvGrpSpPr>
          <p:grpSpPr>
            <a:xfrm>
              <a:off x="241299" y="3609424"/>
              <a:ext cx="1291986" cy="1116353"/>
              <a:chOff x="3199940" y="4757935"/>
              <a:chExt cx="1813982" cy="1567390"/>
            </a:xfrm>
          </p:grpSpPr>
          <p:sp>
            <p:nvSpPr>
              <p:cNvPr id="59" name="Rectangle 58">
                <a:extLst>
                  <a:ext uri="{FF2B5EF4-FFF2-40B4-BE49-F238E27FC236}">
                    <a16:creationId xmlns:a16="http://schemas.microsoft.com/office/drawing/2014/main" id="{4693DBCD-F75A-120D-EF6D-015CDD5AF598}"/>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2B25ECAC-60E0-B75D-85CA-BB8D2044D731}"/>
                  </a:ext>
                </a:extLst>
              </p:cNvPr>
              <p:cNvSpPr txBox="1"/>
              <p:nvPr/>
            </p:nvSpPr>
            <p:spPr>
              <a:xfrm>
                <a:off x="3199940" y="5441160"/>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Fibres </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dédiées</a:t>
                </a:r>
              </a:p>
            </p:txBody>
          </p:sp>
          <p:sp>
            <p:nvSpPr>
              <p:cNvPr id="61" name="ZoneTexte 60">
                <a:extLst>
                  <a:ext uri="{FF2B5EF4-FFF2-40B4-BE49-F238E27FC236}">
                    <a16:creationId xmlns:a16="http://schemas.microsoft.com/office/drawing/2014/main" id="{C71929E4-441C-0A9C-2AD2-D33E3CBD8EDB}"/>
                  </a:ext>
                </a:extLst>
              </p:cNvPr>
              <p:cNvSpPr txBox="1"/>
              <p:nvPr/>
            </p:nvSpPr>
            <p:spPr>
              <a:xfrm>
                <a:off x="3242351" y="4998276"/>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2000 km</a:t>
                </a:r>
              </a:p>
            </p:txBody>
          </p:sp>
        </p:grpSp>
        <p:grpSp>
          <p:nvGrpSpPr>
            <p:cNvPr id="39" name="Groupe 38">
              <a:extLst>
                <a:ext uri="{FF2B5EF4-FFF2-40B4-BE49-F238E27FC236}">
                  <a16:creationId xmlns:a16="http://schemas.microsoft.com/office/drawing/2014/main" id="{53E91CFA-6BD5-3A14-632F-5FB05E07E0AA}"/>
                </a:ext>
              </a:extLst>
            </p:cNvPr>
            <p:cNvGrpSpPr/>
            <p:nvPr/>
          </p:nvGrpSpPr>
          <p:grpSpPr>
            <a:xfrm>
              <a:off x="1371183" y="2649151"/>
              <a:ext cx="1116354" cy="961351"/>
              <a:chOff x="4644036" y="3412813"/>
              <a:chExt cx="1567391" cy="1349760"/>
            </a:xfrm>
          </p:grpSpPr>
          <p:sp>
            <p:nvSpPr>
              <p:cNvPr id="56" name="Rectangle 55">
                <a:extLst>
                  <a:ext uri="{FF2B5EF4-FFF2-40B4-BE49-F238E27FC236}">
                    <a16:creationId xmlns:a16="http://schemas.microsoft.com/office/drawing/2014/main" id="{3DB97B6E-6D66-3EBC-A438-43E4A3312D9A}"/>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19C0C794-2D0E-8E81-CEC4-C05E8E3545F6}"/>
                  </a:ext>
                </a:extLst>
              </p:cNvPr>
              <p:cNvSpPr txBox="1"/>
              <p:nvPr/>
            </p:nvSpPr>
            <p:spPr>
              <a:xfrm>
                <a:off x="4767333" y="3815188"/>
                <a:ext cx="1336021" cy="947385"/>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Points de présence opérateur</a:t>
                </a:r>
              </a:p>
            </p:txBody>
          </p:sp>
          <p:sp>
            <p:nvSpPr>
              <p:cNvPr id="58" name="ZoneTexte 57">
                <a:extLst>
                  <a:ext uri="{FF2B5EF4-FFF2-40B4-BE49-F238E27FC236}">
                    <a16:creationId xmlns:a16="http://schemas.microsoft.com/office/drawing/2014/main" id="{EF7744BF-AF26-FE83-39BC-38FED3780BC7}"/>
                  </a:ext>
                </a:extLst>
              </p:cNvPr>
              <p:cNvSpPr txBox="1"/>
              <p:nvPr/>
            </p:nvSpPr>
            <p:spPr>
              <a:xfrm>
                <a:off x="4644036" y="3458017"/>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70 </a:t>
                </a:r>
              </a:p>
            </p:txBody>
          </p:sp>
        </p:grpSp>
        <p:grpSp>
          <p:nvGrpSpPr>
            <p:cNvPr id="40" name="Groupe 39">
              <a:extLst>
                <a:ext uri="{FF2B5EF4-FFF2-40B4-BE49-F238E27FC236}">
                  <a16:creationId xmlns:a16="http://schemas.microsoft.com/office/drawing/2014/main" id="{F6E99939-A62A-4075-F01F-F32F1828742B}"/>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A9EB162F-876D-18F1-1B65-F0D55F7CF7FF}"/>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8D58FB5E-1059-D076-0970-02ACC55818E7}"/>
                  </a:ext>
                </a:extLst>
              </p:cNvPr>
              <p:cNvSpPr txBox="1"/>
              <p:nvPr/>
            </p:nvSpPr>
            <p:spPr>
              <a:xfrm>
                <a:off x="2127764" y="3966512"/>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Clients télécom</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395BFDC8-F485-E25A-7F9E-2898B9F52939}"/>
                  </a:ext>
                </a:extLst>
              </p:cNvPr>
              <p:cNvSpPr txBox="1"/>
              <p:nvPr/>
            </p:nvSpPr>
            <p:spPr>
              <a:xfrm>
                <a:off x="2127765" y="36569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10 000</a:t>
                </a:r>
              </a:p>
            </p:txBody>
          </p:sp>
        </p:grpSp>
        <p:grpSp>
          <p:nvGrpSpPr>
            <p:cNvPr id="41" name="Groupe 40">
              <a:extLst>
                <a:ext uri="{FF2B5EF4-FFF2-40B4-BE49-F238E27FC236}">
                  <a16:creationId xmlns:a16="http://schemas.microsoft.com/office/drawing/2014/main" id="{42EE1E27-C6C9-C00B-A3FB-A8EA3C966266}"/>
                </a:ext>
              </a:extLst>
            </p:cNvPr>
            <p:cNvGrpSpPr/>
            <p:nvPr/>
          </p:nvGrpSpPr>
          <p:grpSpPr>
            <a:xfrm>
              <a:off x="3555850" y="2634496"/>
              <a:ext cx="951563" cy="940723"/>
              <a:chOff x="3446532" y="4757935"/>
              <a:chExt cx="1336020" cy="1320800"/>
            </a:xfrm>
          </p:grpSpPr>
          <p:sp>
            <p:nvSpPr>
              <p:cNvPr id="50" name="Rectangle 49">
                <a:extLst>
                  <a:ext uri="{FF2B5EF4-FFF2-40B4-BE49-F238E27FC236}">
                    <a16:creationId xmlns:a16="http://schemas.microsoft.com/office/drawing/2014/main" id="{8696C3CF-095A-6591-81E6-94FFEE0A8929}"/>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0D7BB17E-7C71-90EE-39A7-4C136F2B9A75}"/>
                  </a:ext>
                </a:extLst>
              </p:cNvPr>
              <p:cNvSpPr txBox="1"/>
              <p:nvPr/>
            </p:nvSpPr>
            <p:spPr>
              <a:xfrm>
                <a:off x="3446532" y="5295884"/>
                <a:ext cx="1336020" cy="682117"/>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experts métier</a:t>
                </a:r>
              </a:p>
            </p:txBody>
          </p:sp>
          <p:sp>
            <p:nvSpPr>
              <p:cNvPr id="52" name="ZoneTexte 51">
                <a:extLst>
                  <a:ext uri="{FF2B5EF4-FFF2-40B4-BE49-F238E27FC236}">
                    <a16:creationId xmlns:a16="http://schemas.microsoft.com/office/drawing/2014/main" id="{52684A49-05E1-41F3-AA8D-FA111EEDD942}"/>
                  </a:ext>
                </a:extLst>
              </p:cNvPr>
              <p:cNvSpPr txBox="1"/>
              <p:nvPr/>
            </p:nvSpPr>
            <p:spPr>
              <a:xfrm>
                <a:off x="3446532" y="4871875"/>
                <a:ext cx="1325618"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400</a:t>
                </a:r>
              </a:p>
            </p:txBody>
          </p:sp>
        </p:grpSp>
        <p:sp>
          <p:nvSpPr>
            <p:cNvPr id="42" name="Rectangle 41">
              <a:extLst>
                <a:ext uri="{FF2B5EF4-FFF2-40B4-BE49-F238E27FC236}">
                  <a16:creationId xmlns:a16="http://schemas.microsoft.com/office/drawing/2014/main" id="{7E50550D-7F5F-978E-776A-653197341E65}"/>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EBD6C03B-65F1-4131-C31C-2AABAAF6C64F}"/>
                </a:ext>
              </a:extLst>
            </p:cNvPr>
            <p:cNvSpPr/>
            <p:nvPr/>
          </p:nvSpPr>
          <p:spPr>
            <a:xfrm>
              <a:off x="4500005" y="3562762"/>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4AC9910B-D0E5-163C-0A72-B8C31D39FC53}"/>
                </a:ext>
              </a:extLst>
            </p:cNvPr>
            <p:cNvSpPr/>
            <p:nvPr/>
          </p:nvSpPr>
          <p:spPr>
            <a:xfrm>
              <a:off x="924230" y="2080487"/>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45967717-1782-493E-5AD2-97EB8D5A5567}"/>
                </a:ext>
              </a:extLst>
            </p:cNvPr>
            <p:cNvGrpSpPr/>
            <p:nvPr/>
          </p:nvGrpSpPr>
          <p:grpSpPr>
            <a:xfrm>
              <a:off x="4094413" y="4725780"/>
              <a:ext cx="1203480" cy="1116355"/>
              <a:chOff x="2127764" y="3438741"/>
              <a:chExt cx="1423882" cy="1320800"/>
            </a:xfrm>
          </p:grpSpPr>
          <p:sp>
            <p:nvSpPr>
              <p:cNvPr id="47" name="Rectangle 46">
                <a:extLst>
                  <a:ext uri="{FF2B5EF4-FFF2-40B4-BE49-F238E27FC236}">
                    <a16:creationId xmlns:a16="http://schemas.microsoft.com/office/drawing/2014/main" id="{5D35C2A6-398E-1FAB-5215-C534210FFCA6}"/>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190B31A-D086-8F7E-A2C6-7BF2B9F8786E}"/>
                  </a:ext>
                </a:extLst>
              </p:cNvPr>
              <p:cNvSpPr txBox="1"/>
              <p:nvPr/>
            </p:nvSpPr>
            <p:spPr>
              <a:xfrm>
                <a:off x="2150302" y="4117651"/>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Minutes </a:t>
                </a:r>
              </a:p>
              <a:p>
                <a:pPr algn="ctr" defTabSz="781976">
                  <a:defRPr/>
                </a:pPr>
                <a:r>
                  <a:rPr lang="fr-FR" sz="1050" kern="0" dirty="0">
                    <a:solidFill>
                      <a:schemeClr val="bg1"/>
                    </a:solidFill>
                    <a:latin typeface="Arial Nova" panose="020B0504020202020204" pitchFamily="34" charset="0"/>
                    <a:cs typeface="Arial" panose="020B0604020202020204" pitchFamily="34" charset="0"/>
                  </a:rPr>
                  <a:t>voix</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DD274F41-3C42-9D5A-5343-C5EBE9840968}"/>
                  </a:ext>
                </a:extLst>
              </p:cNvPr>
              <p:cNvSpPr txBox="1"/>
              <p:nvPr/>
            </p:nvSpPr>
            <p:spPr>
              <a:xfrm>
                <a:off x="2127764" y="3480210"/>
                <a:ext cx="1423882" cy="76640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20</a:t>
                </a:r>
              </a:p>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Millions</a:t>
                </a:r>
              </a:p>
            </p:txBody>
          </p:sp>
        </p:grpSp>
      </p:grpSp>
      <p:sp>
        <p:nvSpPr>
          <p:cNvPr id="70" name="Espace réservé du texte 1">
            <a:extLst>
              <a:ext uri="{FF2B5EF4-FFF2-40B4-BE49-F238E27FC236}">
                <a16:creationId xmlns:a16="http://schemas.microsoft.com/office/drawing/2014/main" id="{CEA649CC-DF0B-674D-75C0-BAEDBAA37721}"/>
              </a:ext>
            </a:extLst>
          </p:cNvPr>
          <p:cNvSpPr txBox="1">
            <a:spLocks/>
          </p:cNvSpPr>
          <p:nvPr/>
        </p:nvSpPr>
        <p:spPr>
          <a:xfrm>
            <a:off x="582087" y="201777"/>
            <a:ext cx="771328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Télécom </a:t>
            </a:r>
            <a:r>
              <a:rPr lang="fr-FR" sz="2051" dirty="0">
                <a:solidFill>
                  <a:srgbClr val="E94B57"/>
                </a:solidFill>
                <a:latin typeface="Century Gothic" panose="020B0502020202020204" pitchFamily="34" charset="0"/>
              </a:rPr>
              <a:t>Opérateur &amp; Téléphonie</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8EAC1F59-2FF3-07F5-BBC0-570A06B4BF7B}"/>
              </a:ext>
            </a:extLst>
          </p:cNvPr>
          <p:cNvSpPr txBox="1"/>
          <p:nvPr/>
        </p:nvSpPr>
        <p:spPr>
          <a:xfrm>
            <a:off x="582087" y="1205966"/>
            <a:ext cx="7819508" cy="954107"/>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Nous avons créé dès 2012 </a:t>
            </a:r>
            <a:r>
              <a:rPr lang="fr-FR" sz="1400" b="1" dirty="0">
                <a:latin typeface="Arial Nova" panose="020B0504020202020204" pitchFamily="34" charset="0"/>
                <a:sym typeface="Open Sans"/>
              </a:rPr>
              <a:t>l’usine Télécom Koesio Networks</a:t>
            </a:r>
            <a:r>
              <a:rPr lang="fr-FR" sz="1400" dirty="0">
                <a:latin typeface="Arial Nova" panose="020B0504020202020204" pitchFamily="34" charset="0"/>
                <a:sym typeface="Open Sans"/>
              </a:rPr>
              <a:t> qui opère la mise en production des liens internet, de la voix et des forfaits mobiles, conscient des enjeux vitaux que représente la communication unifiée. Ainsi, nos </a:t>
            </a:r>
            <a:r>
              <a:rPr lang="fr-FR" sz="1400" b="1" dirty="0">
                <a:latin typeface="Arial Nova" panose="020B0504020202020204" pitchFamily="34" charset="0"/>
                <a:sym typeface="Open Sans"/>
              </a:rPr>
              <a:t>entités régionales </a:t>
            </a:r>
            <a:r>
              <a:rPr lang="fr-FR" sz="1400" dirty="0">
                <a:latin typeface="Arial Nova" panose="020B0504020202020204" pitchFamily="34" charset="0"/>
                <a:sym typeface="Open Sans"/>
              </a:rPr>
              <a:t>peuvent ainsi se concentrer sur leur cœur de métier : </a:t>
            </a:r>
            <a:r>
              <a:rPr lang="fr-FR" sz="1400" b="1" dirty="0">
                <a:latin typeface="Arial Nova" panose="020B0504020202020204" pitchFamily="34" charset="0"/>
                <a:sym typeface="Open Sans"/>
              </a:rPr>
              <a:t>le conseil et la satisfaction de nos clients.</a:t>
            </a:r>
          </a:p>
        </p:txBody>
      </p:sp>
      <p:sp>
        <p:nvSpPr>
          <p:cNvPr id="3" name="ZoneTexte 2">
            <a:extLst>
              <a:ext uri="{FF2B5EF4-FFF2-40B4-BE49-F238E27FC236}">
                <a16:creationId xmlns:a16="http://schemas.microsoft.com/office/drawing/2014/main" id="{7E4DE61D-6987-62A0-49DA-09EC796278EF}"/>
              </a:ext>
            </a:extLst>
          </p:cNvPr>
          <p:cNvSpPr txBox="1"/>
          <p:nvPr/>
        </p:nvSpPr>
        <p:spPr>
          <a:xfrm>
            <a:off x="717325" y="2495276"/>
            <a:ext cx="4430015" cy="4801058"/>
          </a:xfrm>
          <a:prstGeom prst="rect">
            <a:avLst/>
          </a:prstGeom>
          <a:noFill/>
        </p:spPr>
        <p:txBody>
          <a:bodyPr wrap="square">
            <a:spAutoFit/>
          </a:bodyPr>
          <a:lstStyle/>
          <a:p>
            <a:r>
              <a:rPr lang="fr-FR" sz="1999" b="1" dirty="0">
                <a:latin typeface="Arial Nova" panose="020B0504020202020204" pitchFamily="34" charset="0"/>
                <a:sym typeface="Open Sans"/>
              </a:rPr>
              <a:t>La force de notre offre </a:t>
            </a:r>
          </a:p>
          <a:p>
            <a:r>
              <a:rPr lang="fr-FR" sz="1999" b="1" dirty="0">
                <a:latin typeface="Arial Nova" panose="020B0504020202020204" pitchFamily="34" charset="0"/>
                <a:sym typeface="Open Sans"/>
              </a:rPr>
              <a:t>Opérateur &amp; Téléphonie</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Fort de </a:t>
            </a:r>
            <a:r>
              <a:rPr lang="fr-FR" sz="1400" b="1" dirty="0">
                <a:latin typeface="Arial Nova" panose="020B0504020202020204" pitchFamily="34" charset="0"/>
              </a:rPr>
              <a:t>notre propre fibre </a:t>
            </a:r>
            <a:r>
              <a:rPr lang="fr-FR" sz="1400" b="1" dirty="0" err="1">
                <a:latin typeface="Arial Nova" panose="020B0504020202020204" pitchFamily="34" charset="0"/>
              </a:rPr>
              <a:t>Koesio</a:t>
            </a:r>
            <a:r>
              <a:rPr lang="fr-FR" sz="1400" dirty="0">
                <a:latin typeface="Arial Nova" panose="020B0504020202020204" pitchFamily="34" charset="0"/>
              </a:rPr>
              <a:t>, nous avons mis en place une </a:t>
            </a:r>
            <a:r>
              <a:rPr lang="fr-FR" sz="1400" b="1" dirty="0">
                <a:latin typeface="Arial Nova" panose="020B0504020202020204" pitchFamily="34" charset="0"/>
              </a:rPr>
              <a:t>infrastructure Télécom puissante </a:t>
            </a:r>
            <a:r>
              <a:rPr lang="fr-FR" sz="1400" dirty="0">
                <a:latin typeface="Arial Nova" panose="020B0504020202020204" pitchFamily="34" charset="0"/>
              </a:rPr>
              <a:t>(70 points de présence POP) pour garantir la qualité et la résilience de nos liens.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Parmi les rares titulaires d’une </a:t>
            </a:r>
            <a:r>
              <a:rPr lang="fr-FR" sz="1400" b="1" dirty="0">
                <a:latin typeface="Arial Nova" panose="020B0504020202020204" pitchFamily="34" charset="0"/>
              </a:rPr>
              <a:t>MVNO avec Orange</a:t>
            </a:r>
            <a:r>
              <a:rPr lang="fr-FR" sz="1400" dirty="0">
                <a:latin typeface="Arial Nova" panose="020B0504020202020204" pitchFamily="34" charset="0"/>
              </a:rPr>
              <a:t>, nous apportons le service client dédié de proximité pour nos </a:t>
            </a:r>
            <a:r>
              <a:rPr lang="fr-FR" sz="1400" b="1" dirty="0">
                <a:latin typeface="Arial Nova" panose="020B0504020202020204" pitchFamily="34" charset="0"/>
              </a:rPr>
              <a:t>forfaits mobiles</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Grâce à nos </a:t>
            </a:r>
            <a:r>
              <a:rPr lang="fr-FR" sz="1400" b="1" dirty="0">
                <a:latin typeface="Arial Nova" panose="020B0504020202020204" pitchFamily="34" charset="0"/>
              </a:rPr>
              <a:t>offres informatiques</a:t>
            </a:r>
            <a:r>
              <a:rPr lang="fr-FR" sz="1400" dirty="0">
                <a:latin typeface="Arial Nova" panose="020B0504020202020204" pitchFamily="34" charset="0"/>
              </a:rPr>
              <a:t>, nous complétons nos propositions de </a:t>
            </a:r>
            <a:r>
              <a:rPr lang="fr-FR" sz="1400" b="1" dirty="0">
                <a:latin typeface="Arial Nova" panose="020B0504020202020204" pitchFamily="34" charset="0"/>
              </a:rPr>
              <a:t>solutions de sécurité </a:t>
            </a:r>
            <a:r>
              <a:rPr lang="fr-FR" sz="1400" dirty="0">
                <a:latin typeface="Arial Nova" panose="020B0504020202020204" pitchFamily="34" charset="0"/>
              </a:rPr>
              <a:t>essentielles pour vous protéger.</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a:t>
            </a:r>
            <a:r>
              <a:rPr lang="fr-FR" sz="1400" b="1" dirty="0">
                <a:latin typeface="Arial Nova" panose="020B0504020202020204" pitchFamily="34" charset="0"/>
              </a:rPr>
              <a:t>contrats de maintenance </a:t>
            </a:r>
            <a:r>
              <a:rPr lang="fr-FR" sz="1400" dirty="0">
                <a:latin typeface="Arial Nova" panose="020B0504020202020204" pitchFamily="34" charset="0"/>
              </a:rPr>
              <a:t>vous permettent une </a:t>
            </a:r>
            <a:r>
              <a:rPr lang="fr-FR" sz="1400" b="1" dirty="0">
                <a:latin typeface="Arial Nova" panose="020B0504020202020204" pitchFamily="34" charset="0"/>
              </a:rPr>
              <a:t>garantie de votre matériel de téléphonie</a:t>
            </a:r>
            <a:r>
              <a:rPr lang="fr-FR" sz="1400" dirty="0">
                <a:latin typeface="Arial Nova" panose="020B0504020202020204" pitchFamily="34" charset="0"/>
              </a:rPr>
              <a:t>, et nos offres de financement un renouvellement régulier de votre matériel, à la vitesse des innovations technologiques.</a:t>
            </a:r>
          </a:p>
        </p:txBody>
      </p:sp>
      <p:sp>
        <p:nvSpPr>
          <p:cNvPr id="4" name="Rectangle 3">
            <a:extLst>
              <a:ext uri="{FF2B5EF4-FFF2-40B4-BE49-F238E27FC236}">
                <a16:creationId xmlns:a16="http://schemas.microsoft.com/office/drawing/2014/main" id="{23193EF4-DB40-C246-53CE-00FC12D83A72}"/>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B9F55453-A8A3-CCED-1850-9F26E55902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81363B31-356C-8B60-0CAA-1663F46B97DA}"/>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367030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795F79-E10F-8CC4-179B-FEC73D03879E}"/>
              </a:ext>
            </a:extLst>
          </p:cNvPr>
          <p:cNvSpPr/>
          <p:nvPr/>
        </p:nvSpPr>
        <p:spPr>
          <a:xfrm>
            <a:off x="203745" y="3563937"/>
            <a:ext cx="10487838" cy="3995737"/>
          </a:xfrm>
          <a:prstGeom prst="rect">
            <a:avLst/>
          </a:prstGeom>
          <a:solidFill>
            <a:srgbClr val="E94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892C5C24-1C82-FEF1-BC0D-952984EB2FB1}"/>
              </a:ext>
            </a:extLst>
          </p:cNvPr>
          <p:cNvSpPr/>
          <p:nvPr/>
        </p:nvSpPr>
        <p:spPr>
          <a:xfrm>
            <a:off x="7342698" y="2152335"/>
            <a:ext cx="2419200" cy="2417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1">
            <a:extLst>
              <a:ext uri="{FF2B5EF4-FFF2-40B4-BE49-F238E27FC236}">
                <a16:creationId xmlns:a16="http://schemas.microsoft.com/office/drawing/2014/main" id="{384D4F7E-06D1-47E8-1A68-C21F8BF8AF2D}"/>
              </a:ext>
            </a:extLst>
          </p:cNvPr>
          <p:cNvSpPr txBox="1">
            <a:spLocks/>
          </p:cNvSpPr>
          <p:nvPr/>
        </p:nvSpPr>
        <p:spPr>
          <a:xfrm>
            <a:off x="755239" y="834857"/>
            <a:ext cx="7151005" cy="388572"/>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3600" dirty="0">
                <a:latin typeface="Century Gothic" panose="020B0502020202020204" pitchFamily="34" charset="0"/>
              </a:rPr>
              <a:t>          </a:t>
            </a:r>
            <a:r>
              <a:rPr lang="fr-FR" sz="3600" dirty="0" err="1">
                <a:latin typeface="Century Gothic" panose="020B0502020202020204" pitchFamily="34" charset="0"/>
              </a:rPr>
              <a:t>oi</a:t>
            </a:r>
            <a:r>
              <a:rPr lang="fr-FR" sz="3600" dirty="0">
                <a:latin typeface="Century Gothic" panose="020B0502020202020204" pitchFamily="34" charset="0"/>
              </a:rPr>
              <a:t> de neuf ?</a:t>
            </a:r>
          </a:p>
        </p:txBody>
      </p:sp>
      <p:sp>
        <p:nvSpPr>
          <p:cNvPr id="10" name="Espace réservé du texte 3">
            <a:extLst>
              <a:ext uri="{FF2B5EF4-FFF2-40B4-BE49-F238E27FC236}">
                <a16:creationId xmlns:a16="http://schemas.microsoft.com/office/drawing/2014/main" id="{49A9A943-31DC-0978-7867-40A7EAFA9D19}"/>
              </a:ext>
            </a:extLst>
          </p:cNvPr>
          <p:cNvSpPr txBox="1">
            <a:spLocks/>
          </p:cNvSpPr>
          <p:nvPr/>
        </p:nvSpPr>
        <p:spPr>
          <a:xfrm>
            <a:off x="1499858" y="5246754"/>
            <a:ext cx="1805371" cy="1239707"/>
          </a:xfrm>
          <a:prstGeom prst="rect">
            <a:avLst/>
          </a:prstGeom>
        </p:spPr>
        <p:txBody>
          <a:bodyPr vert="horz" lIns="91440" tIns="45720" rIns="91440" bIns="45720" rtlCol="0" anchor="t"/>
          <a:lstStyle>
            <a:defPPr>
              <a:defRPr lang="en-US"/>
            </a:defPPr>
            <a:lvl1pPr marL="0" algn="r" defTabSz="457200" rtl="0" eaLnBrk="1" latinLnBrk="0" hangingPunct="1">
              <a:defRPr sz="1131"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fr-FR" sz="1200" b="1" dirty="0">
                <a:solidFill>
                  <a:schemeClr val="bg1"/>
                </a:solidFill>
                <a:latin typeface="Arial Nova" panose="020B0504020202020204" pitchFamily="34" charset="0"/>
              </a:rPr>
              <a:t>L’informatique managée des TPE / PME pour apporter le service à vos utilisateurs.</a:t>
            </a:r>
          </a:p>
        </p:txBody>
      </p:sp>
      <p:sp>
        <p:nvSpPr>
          <p:cNvPr id="11" name="Espace réservé du texte 10">
            <a:extLst>
              <a:ext uri="{FF2B5EF4-FFF2-40B4-BE49-F238E27FC236}">
                <a16:creationId xmlns:a16="http://schemas.microsoft.com/office/drawing/2014/main" id="{95AF983E-8E2D-7DDE-99CB-9FD4810131E8}"/>
              </a:ext>
            </a:extLst>
          </p:cNvPr>
          <p:cNvSpPr txBox="1">
            <a:spLocks/>
          </p:cNvSpPr>
          <p:nvPr/>
        </p:nvSpPr>
        <p:spPr>
          <a:xfrm>
            <a:off x="1264561" y="4813316"/>
            <a:ext cx="2275967" cy="364159"/>
          </a:xfrm>
          <a:prstGeom prst="rect">
            <a:avLst/>
          </a:prstGeom>
        </p:spPr>
        <p:txBody>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Be </a:t>
            </a:r>
            <a:r>
              <a:rPr lang="fr-FR" b="1" dirty="0" err="1">
                <a:solidFill>
                  <a:schemeClr val="bg1"/>
                </a:solidFill>
                <a:latin typeface="Arial Nova" panose="020B0504020202020204" pitchFamily="34" charset="0"/>
              </a:rPr>
              <a:t>Proactiv</a:t>
            </a:r>
            <a:endParaRPr lang="fr-FR" b="1" dirty="0">
              <a:solidFill>
                <a:schemeClr val="bg1"/>
              </a:solidFill>
              <a:latin typeface="Arial Nova" panose="020B0504020202020204" pitchFamily="34" charset="0"/>
            </a:endParaRPr>
          </a:p>
        </p:txBody>
      </p:sp>
      <p:sp>
        <p:nvSpPr>
          <p:cNvPr id="14" name="Espace réservé du texte 6">
            <a:extLst>
              <a:ext uri="{FF2B5EF4-FFF2-40B4-BE49-F238E27FC236}">
                <a16:creationId xmlns:a16="http://schemas.microsoft.com/office/drawing/2014/main" id="{FBD3AFA6-D43E-DAA6-881D-908FABB59D7A}"/>
              </a:ext>
            </a:extLst>
          </p:cNvPr>
          <p:cNvSpPr txBox="1">
            <a:spLocks/>
          </p:cNvSpPr>
          <p:nvPr/>
        </p:nvSpPr>
        <p:spPr>
          <a:xfrm>
            <a:off x="4389246"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a:solidFill>
                  <a:schemeClr val="bg1"/>
                </a:solidFill>
                <a:latin typeface="Arial Nova" panose="020B0504020202020204" pitchFamily="34" charset="0"/>
              </a:rPr>
              <a:t>L’écran tactile </a:t>
            </a:r>
          </a:p>
          <a:p>
            <a:pPr marL="0" indent="0" algn="ctr" defTabSz="457189">
              <a:spcBef>
                <a:spcPts val="0"/>
              </a:spcBef>
              <a:buNone/>
            </a:pPr>
            <a:r>
              <a:rPr lang="fr-FR" sz="1200" b="1" dirty="0">
                <a:solidFill>
                  <a:schemeClr val="bg1"/>
                </a:solidFill>
                <a:latin typeface="Arial Nova" panose="020B0504020202020204" pitchFamily="34" charset="0"/>
              </a:rPr>
              <a:t>by </a:t>
            </a: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vous apporte design et efficacité pour vos salles de réunion.</a:t>
            </a:r>
          </a:p>
        </p:txBody>
      </p:sp>
      <p:sp>
        <p:nvSpPr>
          <p:cNvPr id="16" name="Espace réservé du texte 11">
            <a:extLst>
              <a:ext uri="{FF2B5EF4-FFF2-40B4-BE49-F238E27FC236}">
                <a16:creationId xmlns:a16="http://schemas.microsoft.com/office/drawing/2014/main" id="{4271D354-A69A-E584-B067-833413A2DC40}"/>
              </a:ext>
            </a:extLst>
          </p:cNvPr>
          <p:cNvSpPr txBox="1">
            <a:spLocks/>
          </p:cNvSpPr>
          <p:nvPr/>
        </p:nvSpPr>
        <p:spPr>
          <a:xfrm>
            <a:off x="4389247" y="4900231"/>
            <a:ext cx="2275967" cy="364159"/>
          </a:xfrm>
          <a:prstGeom prst="rect">
            <a:avLst/>
          </a:prstGeom>
        </p:spPr>
        <p:txBody>
          <a:bodyPr>
            <a:normAutofit fontScale="77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Screen ISI </a:t>
            </a:r>
            <a:r>
              <a:rPr lang="fr-FR" b="1" dirty="0" err="1">
                <a:solidFill>
                  <a:schemeClr val="bg1"/>
                </a:solidFill>
                <a:latin typeface="Arial Nova" panose="020B0504020202020204" pitchFamily="34" charset="0"/>
              </a:rPr>
              <a:t>Touch</a:t>
            </a:r>
            <a:endParaRPr lang="fr-FR" b="1" dirty="0">
              <a:solidFill>
                <a:schemeClr val="bg1"/>
              </a:solidFill>
              <a:latin typeface="Arial Nova" panose="020B0504020202020204" pitchFamily="34" charset="0"/>
            </a:endParaRPr>
          </a:p>
        </p:txBody>
      </p:sp>
      <p:sp>
        <p:nvSpPr>
          <p:cNvPr id="18" name="AutoShape 4">
            <a:extLst>
              <a:ext uri="{FF2B5EF4-FFF2-40B4-BE49-F238E27FC236}">
                <a16:creationId xmlns:a16="http://schemas.microsoft.com/office/drawing/2014/main" id="{E493F19E-5AFD-68D9-3007-64E3EBD5BF63}"/>
              </a:ext>
            </a:extLst>
          </p:cNvPr>
          <p:cNvSpPr>
            <a:spLocks noChangeAspect="1" noChangeArrowheads="1"/>
          </p:cNvSpPr>
          <p:nvPr/>
        </p:nvSpPr>
        <p:spPr bwMode="auto">
          <a:xfrm>
            <a:off x="4986592" y="377271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23" name="Groupe 22">
            <a:extLst>
              <a:ext uri="{FF2B5EF4-FFF2-40B4-BE49-F238E27FC236}">
                <a16:creationId xmlns:a16="http://schemas.microsoft.com/office/drawing/2014/main" id="{5B13BD93-36CA-8171-D01B-3A4E32F9C891}"/>
              </a:ext>
            </a:extLst>
          </p:cNvPr>
          <p:cNvGrpSpPr/>
          <p:nvPr/>
        </p:nvGrpSpPr>
        <p:grpSpPr>
          <a:xfrm>
            <a:off x="4346119" y="2155772"/>
            <a:ext cx="2512790" cy="2414081"/>
            <a:chOff x="3757905" y="1274211"/>
            <a:chExt cx="3179608" cy="3054705"/>
          </a:xfrm>
        </p:grpSpPr>
        <p:sp>
          <p:nvSpPr>
            <p:cNvPr id="21" name="Rectangle 20">
              <a:extLst>
                <a:ext uri="{FF2B5EF4-FFF2-40B4-BE49-F238E27FC236}">
                  <a16:creationId xmlns:a16="http://schemas.microsoft.com/office/drawing/2014/main" id="{49E6E69A-E393-4A74-57FA-FBF44080783B}"/>
                </a:ext>
              </a:extLst>
            </p:cNvPr>
            <p:cNvSpPr/>
            <p:nvPr/>
          </p:nvSpPr>
          <p:spPr>
            <a:xfrm>
              <a:off x="3757905" y="3703234"/>
              <a:ext cx="3179608" cy="625682"/>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3A48B5A-F878-2E02-492B-4D0D26433EED}"/>
                </a:ext>
              </a:extLst>
            </p:cNvPr>
            <p:cNvSpPr/>
            <p:nvPr/>
          </p:nvSpPr>
          <p:spPr>
            <a:xfrm>
              <a:off x="3757905" y="1274211"/>
              <a:ext cx="3179608" cy="670250"/>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descr="Une image contenant texte, capture d’écran, ligne, diagramme&#10;&#10;Description générée automatiquement">
              <a:extLst>
                <a:ext uri="{FF2B5EF4-FFF2-40B4-BE49-F238E27FC236}">
                  <a16:creationId xmlns:a16="http://schemas.microsoft.com/office/drawing/2014/main" id="{79360F83-745A-B43B-3A93-A62062C5B5F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57905" y="1870578"/>
              <a:ext cx="3179608" cy="2119739"/>
            </a:xfrm>
            <a:prstGeom prst="rect">
              <a:avLst/>
            </a:prstGeom>
          </p:spPr>
        </p:pic>
      </p:grpSp>
      <p:pic>
        <p:nvPicPr>
          <p:cNvPr id="12" name="Picture 2">
            <a:extLst>
              <a:ext uri="{FF2B5EF4-FFF2-40B4-BE49-F238E27FC236}">
                <a16:creationId xmlns:a16="http://schemas.microsoft.com/office/drawing/2014/main" id="{747737A9-EECA-4B39-0796-722649CD6DC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7469" y="2152335"/>
            <a:ext cx="2512790" cy="2417517"/>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 23">
            <a:extLst>
              <a:ext uri="{FF2B5EF4-FFF2-40B4-BE49-F238E27FC236}">
                <a16:creationId xmlns:a16="http://schemas.microsoft.com/office/drawing/2014/main" id="{7E4D33BB-F222-DDFB-03BC-64BFD22C51FF}"/>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486971">
            <a:off x="8146846" y="2318718"/>
            <a:ext cx="1047354" cy="2029961"/>
          </a:xfrm>
          <a:prstGeom prst="rect">
            <a:avLst/>
          </a:prstGeom>
          <a:effectLst>
            <a:outerShdw blurRad="50800" dist="38100" dir="2700000" algn="tl" rotWithShape="0">
              <a:prstClr val="black">
                <a:alpha val="40000"/>
              </a:prstClr>
            </a:outerShdw>
          </a:effectLst>
        </p:spPr>
      </p:pic>
      <p:sp>
        <p:nvSpPr>
          <p:cNvPr id="25" name="Espace réservé du texte 6">
            <a:extLst>
              <a:ext uri="{FF2B5EF4-FFF2-40B4-BE49-F238E27FC236}">
                <a16:creationId xmlns:a16="http://schemas.microsoft.com/office/drawing/2014/main" id="{FE283D48-32F8-2984-E61A-7F0F4236350D}"/>
              </a:ext>
            </a:extLst>
          </p:cNvPr>
          <p:cNvSpPr txBox="1">
            <a:spLocks/>
          </p:cNvSpPr>
          <p:nvPr/>
        </p:nvSpPr>
        <p:spPr>
          <a:xfrm>
            <a:off x="7481403"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est MVNO d’Orange pour vous apporter le meilleur des 2 mondes, le réseau n°1 et un service de proximité.</a:t>
            </a:r>
          </a:p>
        </p:txBody>
      </p:sp>
      <p:sp>
        <p:nvSpPr>
          <p:cNvPr id="26" name="Espace réservé du texte 11">
            <a:extLst>
              <a:ext uri="{FF2B5EF4-FFF2-40B4-BE49-F238E27FC236}">
                <a16:creationId xmlns:a16="http://schemas.microsoft.com/office/drawing/2014/main" id="{E98F62F7-C5A7-F6F0-2D09-002A4A71516F}"/>
              </a:ext>
            </a:extLst>
          </p:cNvPr>
          <p:cNvSpPr txBox="1">
            <a:spLocks/>
          </p:cNvSpPr>
          <p:nvPr/>
        </p:nvSpPr>
        <p:spPr>
          <a:xfrm>
            <a:off x="7481405" y="4881518"/>
            <a:ext cx="2275967" cy="364159"/>
          </a:xfrm>
          <a:prstGeom prst="rect">
            <a:avLst/>
          </a:prstGeom>
        </p:spPr>
        <p:txBody>
          <a:bodyPr>
            <a:normAutofit fontScale="92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Forfait Mobile</a:t>
            </a:r>
          </a:p>
        </p:txBody>
      </p:sp>
      <p:pic>
        <p:nvPicPr>
          <p:cNvPr id="29" name="Image 28" descr="Une image contenant logo, Graphique, graphisme, symbole&#10;&#10;Description générée automatiquement">
            <a:extLst>
              <a:ext uri="{FF2B5EF4-FFF2-40B4-BE49-F238E27FC236}">
                <a16:creationId xmlns:a16="http://schemas.microsoft.com/office/drawing/2014/main" id="{DD72E4F2-6585-CADC-1ED0-58CBF445ECD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rot="21347017">
            <a:off x="1521639" y="843210"/>
            <a:ext cx="605962" cy="614802"/>
          </a:xfrm>
          <a:prstGeom prst="rect">
            <a:avLst/>
          </a:prstGeom>
        </p:spPr>
      </p:pic>
      <p:sp>
        <p:nvSpPr>
          <p:cNvPr id="3" name="Rectangle 2">
            <a:extLst>
              <a:ext uri="{FF2B5EF4-FFF2-40B4-BE49-F238E27FC236}">
                <a16:creationId xmlns:a16="http://schemas.microsoft.com/office/drawing/2014/main" id="{818EF81A-63B5-BABA-7CF1-BB1AD1C1B46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4" name="Image 3">
            <a:extLst>
              <a:ext uri="{FF2B5EF4-FFF2-40B4-BE49-F238E27FC236}">
                <a16:creationId xmlns:a16="http://schemas.microsoft.com/office/drawing/2014/main" id="{D0C8D0F7-6FB0-EBB7-7BDB-CBF456AF5C0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617930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1886-A49A-AA3D-4946-36B5C15C5F3B}"/>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AB8152CB-2E8C-E636-DB1E-2CA0FA88AE74}"/>
              </a:ext>
            </a:extLst>
          </p:cNvPr>
          <p:cNvSpPr txBox="1">
            <a:spLocks/>
          </p:cNvSpPr>
          <p:nvPr/>
        </p:nvSpPr>
        <p:spPr>
          <a:xfrm>
            <a:off x="1555902" y="2985622"/>
            <a:ext cx="4578197"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ANNEXES</a:t>
            </a:r>
          </a:p>
          <a:p>
            <a:r>
              <a:rPr lang="fr-FR" sz="3600" b="1" dirty="0">
                <a:solidFill>
                  <a:schemeClr val="tx1"/>
                </a:solidFill>
                <a:latin typeface="Century Gothic" panose="020B0502020202020204" pitchFamily="34" charset="0"/>
              </a:rPr>
              <a:t>Fiches produits</a:t>
            </a:r>
          </a:p>
        </p:txBody>
      </p:sp>
      <p:sp>
        <p:nvSpPr>
          <p:cNvPr id="6" name="Rectangle 5">
            <a:extLst>
              <a:ext uri="{FF2B5EF4-FFF2-40B4-BE49-F238E27FC236}">
                <a16:creationId xmlns:a16="http://schemas.microsoft.com/office/drawing/2014/main" id="{83F885EF-70EF-A791-FAAF-96D85048FF1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77AD372B-65CF-BEAF-DC74-12D1848F3E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F1BA9365-C364-3C0E-E9EC-9E8728A7134F}"/>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24A05A93-14E1-DFFA-C02D-1FFCA446256D}"/>
              </a:ext>
            </a:extLst>
          </p:cNvPr>
          <p:cNvSpPr/>
          <p:nvPr/>
        </p:nvSpPr>
        <p:spPr>
          <a:xfrm>
            <a:off x="5775683" y="2769466"/>
            <a:ext cx="3270471" cy="3270471"/>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038C48B8-E826-7F1B-F554-45C7934D7F81}"/>
              </a:ext>
            </a:extLst>
          </p:cNvPr>
          <p:cNvSpPr/>
          <p:nvPr/>
        </p:nvSpPr>
        <p:spPr>
          <a:xfrm>
            <a:off x="9046154" y="1123807"/>
            <a:ext cx="1645659" cy="16456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descr="Une image contenant personne&#10;&#10;Description générée automatiquement">
            <a:extLst>
              <a:ext uri="{FF2B5EF4-FFF2-40B4-BE49-F238E27FC236}">
                <a16:creationId xmlns:a16="http://schemas.microsoft.com/office/drawing/2014/main" id="{D3134360-4ED5-C04E-7126-42E8ADB342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61683" y="1909262"/>
            <a:ext cx="3607601" cy="4130675"/>
          </a:xfrm>
          <a:prstGeom prst="rect">
            <a:avLst/>
          </a:prstGeom>
        </p:spPr>
      </p:pic>
    </p:spTree>
    <p:extLst>
      <p:ext uri="{BB962C8B-B14F-4D97-AF65-F5344CB8AC3E}">
        <p14:creationId xmlns:p14="http://schemas.microsoft.com/office/powerpoint/2010/main" val="1384154691"/>
      </p:ext>
    </p:extLst>
  </p:cSld>
  <p:clrMapOvr>
    <a:masterClrMapping/>
  </p:clrMapOvr>
</p:sld>
</file>

<file path=ppt/theme/theme1.xml><?xml version="1.0" encoding="utf-8"?>
<a:theme xmlns:a="http://schemas.openxmlformats.org/drawingml/2006/main" name="2_Thème Office 2013 – 2022">
  <a:themeElements>
    <a:clrScheme name="Koesio">
      <a:dk1>
        <a:srgbClr val="434341"/>
      </a:dk1>
      <a:lt1>
        <a:srgbClr val="FFFFFF"/>
      </a:lt1>
      <a:dk2>
        <a:srgbClr val="6E398E"/>
      </a:dk2>
      <a:lt2>
        <a:srgbClr val="E94B57"/>
      </a:lt2>
      <a:accent1>
        <a:srgbClr val="946AAB"/>
      </a:accent1>
      <a:accent2>
        <a:srgbClr val="F7A823"/>
      </a:accent2>
      <a:accent3>
        <a:srgbClr val="FFD618"/>
      </a:accent3>
      <a:accent4>
        <a:srgbClr val="95C11F"/>
      </a:accent4>
      <a:accent5>
        <a:srgbClr val="F7BFD9"/>
      </a:accent5>
      <a:accent6>
        <a:srgbClr val="6FCBF3"/>
      </a:accent6>
      <a:hlink>
        <a:srgbClr val="6E398E"/>
      </a:hlink>
      <a:folHlink>
        <a:srgbClr val="946AAB"/>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975</Words>
  <Application>Microsoft Office PowerPoint</Application>
  <PresentationFormat>Personnalisé</PresentationFormat>
  <Paragraphs>127</Paragraphs>
  <Slides>9</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Aptos</vt:lpstr>
      <vt:lpstr>Arial</vt:lpstr>
      <vt:lpstr>Arial Nova</vt:lpstr>
      <vt:lpstr>Calibri</vt:lpstr>
      <vt:lpstr>Calibri Light</vt:lpstr>
      <vt:lpstr>Century Gothic</vt:lpstr>
      <vt:lpstr>2_Thème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CORBEAUX Virginie</dc:creator>
  <cp:lastModifiedBy>virginie corbeaux</cp:lastModifiedBy>
  <cp:revision>73</cp:revision>
  <dcterms:created xsi:type="dcterms:W3CDTF">2024-10-29T15:06:39Z</dcterms:created>
  <dcterms:modified xsi:type="dcterms:W3CDTF">2025-04-01T11:28:43Z</dcterms:modified>
</cp:coreProperties>
</file>