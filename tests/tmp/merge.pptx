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slides/slide16.xml" ContentType="application/vnd.openxmlformats-officedocument.presentationml.slide+xml"/>
  <Override PartName="/ppt/slideLayouts/slideLayout12.xml" ContentType="application/vnd.openxmlformats-officedocument.presentationml.slideLayout+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2.xml" ContentType="application/vnd.openxmlformats-officedocument.presentationml.notesSlide+xml"/>
  <Override PartName="/ppt/slides/slide21.xml" ContentType="application/vnd.openxmlformats-officedocument.presentationml.slide+xml"/>
  <Override PartName="/ppt/notesSlides/notesSlide3.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4.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42"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0691813" cy="7559675"/>
  <p:notesSz cx="6858000" cy="9144000"/>
  <p:defaultTextStyle>
    <a:defPPr>
      <a:defRPr lang="en-US"/>
    </a:defPPr>
    <a:lvl1pPr marL="0" algn="l" defTabSz="521437" rtl="0" eaLnBrk="1" latinLnBrk="0" hangingPunct="1">
      <a:defRPr sz="2053" kern="1200">
        <a:solidFill>
          <a:schemeClr val="tx1"/>
        </a:solidFill>
        <a:latin typeface="+mn-lt"/>
        <a:ea typeface="+mn-ea"/>
        <a:cs typeface="+mn-cs"/>
      </a:defRPr>
    </a:lvl1pPr>
    <a:lvl2pPr marL="521437" algn="l" defTabSz="521437" rtl="0" eaLnBrk="1" latinLnBrk="0" hangingPunct="1">
      <a:defRPr sz="2053" kern="1200">
        <a:solidFill>
          <a:schemeClr val="tx1"/>
        </a:solidFill>
        <a:latin typeface="+mn-lt"/>
        <a:ea typeface="+mn-ea"/>
        <a:cs typeface="+mn-cs"/>
      </a:defRPr>
    </a:lvl2pPr>
    <a:lvl3pPr marL="1042873" algn="l" defTabSz="521437" rtl="0" eaLnBrk="1" latinLnBrk="0" hangingPunct="1">
      <a:defRPr sz="2053" kern="1200">
        <a:solidFill>
          <a:schemeClr val="tx1"/>
        </a:solidFill>
        <a:latin typeface="+mn-lt"/>
        <a:ea typeface="+mn-ea"/>
        <a:cs typeface="+mn-cs"/>
      </a:defRPr>
    </a:lvl3pPr>
    <a:lvl4pPr marL="1564310" algn="l" defTabSz="521437" rtl="0" eaLnBrk="1" latinLnBrk="0" hangingPunct="1">
      <a:defRPr sz="2053" kern="1200">
        <a:solidFill>
          <a:schemeClr val="tx1"/>
        </a:solidFill>
        <a:latin typeface="+mn-lt"/>
        <a:ea typeface="+mn-ea"/>
        <a:cs typeface="+mn-cs"/>
      </a:defRPr>
    </a:lvl4pPr>
    <a:lvl5pPr marL="2085746" algn="l" defTabSz="521437" rtl="0" eaLnBrk="1" latinLnBrk="0" hangingPunct="1">
      <a:defRPr sz="2053" kern="1200">
        <a:solidFill>
          <a:schemeClr val="tx1"/>
        </a:solidFill>
        <a:latin typeface="+mn-lt"/>
        <a:ea typeface="+mn-ea"/>
        <a:cs typeface="+mn-cs"/>
      </a:defRPr>
    </a:lvl5pPr>
    <a:lvl6pPr marL="2607183" algn="l" defTabSz="521437" rtl="0" eaLnBrk="1" latinLnBrk="0" hangingPunct="1">
      <a:defRPr sz="2053" kern="1200">
        <a:solidFill>
          <a:schemeClr val="tx1"/>
        </a:solidFill>
        <a:latin typeface="+mn-lt"/>
        <a:ea typeface="+mn-ea"/>
        <a:cs typeface="+mn-cs"/>
      </a:defRPr>
    </a:lvl6pPr>
    <a:lvl7pPr marL="3128620" algn="l" defTabSz="521437" rtl="0" eaLnBrk="1" latinLnBrk="0" hangingPunct="1">
      <a:defRPr sz="2053" kern="1200">
        <a:solidFill>
          <a:schemeClr val="tx1"/>
        </a:solidFill>
        <a:latin typeface="+mn-lt"/>
        <a:ea typeface="+mn-ea"/>
        <a:cs typeface="+mn-cs"/>
      </a:defRPr>
    </a:lvl7pPr>
    <a:lvl8pPr marL="3650056" algn="l" defTabSz="521437" rtl="0" eaLnBrk="1" latinLnBrk="0" hangingPunct="1">
      <a:defRPr sz="2053" kern="1200">
        <a:solidFill>
          <a:schemeClr val="tx1"/>
        </a:solidFill>
        <a:latin typeface="+mn-lt"/>
        <a:ea typeface="+mn-ea"/>
        <a:cs typeface="+mn-cs"/>
      </a:defRPr>
    </a:lvl8pPr>
    <a:lvl9pPr marL="4171493" algn="l" defTabSz="521437" rtl="0" eaLnBrk="1" latinLnBrk="0" hangingPunct="1">
      <a:defRPr sz="205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68" userDrawn="1">
          <p15:clr>
            <a:srgbClr val="A4A3A4"/>
          </p15:clr>
        </p15:guide>
        <p15:guide id="2" pos="3277" userDrawn="1">
          <p15:clr>
            <a:srgbClr val="A4A3A4"/>
          </p15:clr>
        </p15:guide>
        <p15:guide id="3" pos="981" userDrawn="1">
          <p15:clr>
            <a:srgbClr val="A4A3A4"/>
          </p15:clr>
        </p15:guide>
        <p15:guide id="4" pos="2519" userDrawn="1">
          <p15:clr>
            <a:srgbClr val="A4A3A4"/>
          </p15:clr>
        </p15:guide>
        <p15:guide id="5" pos="6285" userDrawn="1">
          <p15:clr>
            <a:srgbClr val="A4A3A4"/>
          </p15:clr>
        </p15:guide>
        <p15:guide id="6" pos="533" userDrawn="1">
          <p15:clr>
            <a:srgbClr val="A4A3A4"/>
          </p15:clr>
        </p15:guide>
        <p15:guide id="7" orient="horz" pos="3220" userDrawn="1">
          <p15:clr>
            <a:srgbClr val="A4A3A4"/>
          </p15:clr>
        </p15:guide>
      </p15:sldGuideLst>
    </p:ext>
    <p:ext uri="{521415D9-36F7-43E2-AB2F-B90AF26B5E84}">
      <p14:sectionLst xmlns:p14="http://schemas.microsoft.com/office/powerpoint/2010/main">
        <p14:section name="LA PROPALE TELECOM" id="{B0071AC5-CA5C-4B84-8CE8-7C94260FF46F}">
          <p14:sldIdLst>
            <p14:sldId id="256"/>
            <p14:sldId id="257"/>
            <p14:sldId id="258"/>
            <p14:sldId id="259"/>
            <p14:sldId id="260"/>
            <p14:sldId id="261"/>
            <p14:sldId id="262"/>
            <p14:sldId id="263"/>
            <p14:sldId id="264"/>
            <p14:sldId id="265"/>
            <p14:sldId id="266"/>
            <p14:sldId id="267"/>
            <p14:sldId id="268"/>
            <p14:sldId id="269"/>
          </p14:sldIdLst>
        </p14:section>
        <p14:section name="Synthèse Financière" id="{D8B3750C-8AF9-4BCC-9CA5-30A4E1A4A7E4}">
          <p14:sldIdLst>
            <p14:sldId id="270"/>
            <p14:sldId id="271"/>
            <p14:sldId id="272"/>
            <p14:sldId id="273"/>
            <p14:sldId id="274"/>
            <p14:sldId id="275"/>
            <p14:sldId id="276"/>
            <p14:sldId id="277"/>
            <p14:sldId id="278"/>
          </p14:sldIdLst>
        </p14:section>
        <p14:section name="FIN" id="{F9BB27DB-5C58-47A1-A1B8-D46C8599990A}">
          <p14:sldIdLst>
            <p14:sldId id="27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E6E6"/>
    <a:srgbClr val="FFD618"/>
    <a:srgbClr val="2F52A0"/>
    <a:srgbClr val="EE730D"/>
    <a:srgbClr val="F29FC4"/>
    <a:srgbClr val="FBFBFB"/>
    <a:srgbClr val="946AAB"/>
    <a:srgbClr val="6D378B"/>
    <a:srgbClr val="6FCBF3"/>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34682A-0780-4E8B-8D98-0D280E4D050C}" v="154" dt="2025-03-19T10:51:42.8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816" autoAdjust="0"/>
    <p:restoredTop sz="94660"/>
  </p:normalViewPr>
  <p:slideViewPr>
    <p:cSldViewPr snapToGrid="0" showGuides="1">
      <p:cViewPr varScale="1">
        <p:scale>
          <a:sx n="97" d="100"/>
          <a:sy n="97" d="100"/>
        </p:scale>
        <p:origin x="3470" y="254"/>
      </p:cViewPr>
      <p:guideLst>
        <p:guide orient="horz" pos="2268"/>
        <p:guide pos="3277"/>
        <p:guide pos="981"/>
        <p:guide pos="2519"/>
        <p:guide pos="6285"/>
        <p:guide pos="533"/>
        <p:guide orient="horz" pos="32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1" Type="http://schemas.openxmlformats.org/officeDocument/2006/relationships/slideMaster" Target="slideMasters/slideMaster1.xml"/><Relationship Id="rId26" Type="http://schemas.openxmlformats.org/officeDocument/2006/relationships/viewProps" Target="viewProps.xml"/><Relationship Id="rId27" Type="http://schemas.microsoft.com/office/2015/10/relationships/revisionInfo" Target="revisionInfo.xml"/><Relationship Id="rId28" Type="http://schemas.openxmlformats.org/officeDocument/2006/relationships/presProps" Target="presProps.xml"/><Relationship Id="rId29" Type="http://schemas.openxmlformats.org/officeDocument/2006/relationships/notesMaster" Target="notesMasters/notesMaster1.xml"/><Relationship Id="rId30" Type="http://schemas.openxmlformats.org/officeDocument/2006/relationships/tableStyles" Target="tableStyles.xml"/><Relationship Id="rId3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DB330D-6C84-4A98-BFF1-626FD29DE139}" type="datetimeFigureOut">
              <a:rPr lang="fr-FR" smtClean="0"/>
              <a:t>08/01/2026</a:t>
            </a:fld>
            <a:endParaRPr lang="fr-FR"/>
          </a:p>
        </p:txBody>
      </p:sp>
      <p:sp>
        <p:nvSpPr>
          <p:cNvPr id="4" name="Espace réservé de l'image des diapositives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2FD6F-AB77-4C7E-891F-50C789B4267C}" type="slidenum">
              <a:rPr lang="fr-FR" smtClean="0"/>
              <a:t>‹N°›</a:t>
            </a:fld>
            <a:endParaRPr lang="fr-FR"/>
          </a:p>
        </p:txBody>
      </p:sp>
    </p:spTree>
    <p:extLst>
      <p:ext uri="{BB962C8B-B14F-4D97-AF65-F5344CB8AC3E}">
        <p14:creationId xmlns:p14="http://schemas.microsoft.com/office/powerpoint/2010/main" val="3192172107"/>
      </p:ext>
    </p:extLst>
  </p:cSld>
  <p:clrMap bg1="lt1" tx1="dk1" bg2="lt2" tx2="dk2" accent1="accent1" accent2="accent2" accent3="accent3" accent4="accent4" accent5="accent5" accent6="accent6" hlink="hlink" folHlink="folHlink"/>
  <p:notesStyle>
    <a:lvl1pPr marL="0" algn="l" defTabSz="1042873" rtl="0" eaLnBrk="1" latinLnBrk="0" hangingPunct="1">
      <a:defRPr sz="1369" kern="1200">
        <a:solidFill>
          <a:schemeClr val="tx1"/>
        </a:solidFill>
        <a:latin typeface="+mn-lt"/>
        <a:ea typeface="+mn-ea"/>
        <a:cs typeface="+mn-cs"/>
      </a:defRPr>
    </a:lvl1pPr>
    <a:lvl2pPr marL="521437" algn="l" defTabSz="1042873" rtl="0" eaLnBrk="1" latinLnBrk="0" hangingPunct="1">
      <a:defRPr sz="1369" kern="1200">
        <a:solidFill>
          <a:schemeClr val="tx1"/>
        </a:solidFill>
        <a:latin typeface="+mn-lt"/>
        <a:ea typeface="+mn-ea"/>
        <a:cs typeface="+mn-cs"/>
      </a:defRPr>
    </a:lvl2pPr>
    <a:lvl3pPr marL="1042873" algn="l" defTabSz="1042873" rtl="0" eaLnBrk="1" latinLnBrk="0" hangingPunct="1">
      <a:defRPr sz="1369" kern="1200">
        <a:solidFill>
          <a:schemeClr val="tx1"/>
        </a:solidFill>
        <a:latin typeface="+mn-lt"/>
        <a:ea typeface="+mn-ea"/>
        <a:cs typeface="+mn-cs"/>
      </a:defRPr>
    </a:lvl3pPr>
    <a:lvl4pPr marL="1564310" algn="l" defTabSz="1042873" rtl="0" eaLnBrk="1" latinLnBrk="0" hangingPunct="1">
      <a:defRPr sz="1369" kern="1200">
        <a:solidFill>
          <a:schemeClr val="tx1"/>
        </a:solidFill>
        <a:latin typeface="+mn-lt"/>
        <a:ea typeface="+mn-ea"/>
        <a:cs typeface="+mn-cs"/>
      </a:defRPr>
    </a:lvl4pPr>
    <a:lvl5pPr marL="2085746" algn="l" defTabSz="1042873" rtl="0" eaLnBrk="1" latinLnBrk="0" hangingPunct="1">
      <a:defRPr sz="1369" kern="1200">
        <a:solidFill>
          <a:schemeClr val="tx1"/>
        </a:solidFill>
        <a:latin typeface="+mn-lt"/>
        <a:ea typeface="+mn-ea"/>
        <a:cs typeface="+mn-cs"/>
      </a:defRPr>
    </a:lvl5pPr>
    <a:lvl6pPr marL="2607183" algn="l" defTabSz="1042873" rtl="0" eaLnBrk="1" latinLnBrk="0" hangingPunct="1">
      <a:defRPr sz="1369" kern="1200">
        <a:solidFill>
          <a:schemeClr val="tx1"/>
        </a:solidFill>
        <a:latin typeface="+mn-lt"/>
        <a:ea typeface="+mn-ea"/>
        <a:cs typeface="+mn-cs"/>
      </a:defRPr>
    </a:lvl6pPr>
    <a:lvl7pPr marL="3128620" algn="l" defTabSz="1042873" rtl="0" eaLnBrk="1" latinLnBrk="0" hangingPunct="1">
      <a:defRPr sz="1369" kern="1200">
        <a:solidFill>
          <a:schemeClr val="tx1"/>
        </a:solidFill>
        <a:latin typeface="+mn-lt"/>
        <a:ea typeface="+mn-ea"/>
        <a:cs typeface="+mn-cs"/>
      </a:defRPr>
    </a:lvl7pPr>
    <a:lvl8pPr marL="3650056" algn="l" defTabSz="1042873" rtl="0" eaLnBrk="1" latinLnBrk="0" hangingPunct="1">
      <a:defRPr sz="1369" kern="1200">
        <a:solidFill>
          <a:schemeClr val="tx1"/>
        </a:solidFill>
        <a:latin typeface="+mn-lt"/>
        <a:ea typeface="+mn-ea"/>
        <a:cs typeface="+mn-cs"/>
      </a:defRPr>
    </a:lvl8pPr>
    <a:lvl9pPr marL="4171493" algn="l" defTabSz="1042873" rtl="0" eaLnBrk="1" latinLnBrk="0" hangingPunct="1">
      <a:defRPr sz="136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9512FD6F-AB77-4C7E-891F-50C789B4267C}" type="slidenum">
              <a:rPr lang="fr-FR" smtClean="0"/>
              <a:t>11</a:t>
            </a:fld>
            <a:endParaRPr lang="fr-FR"/>
          </a:p>
        </p:txBody>
      </p:sp>
    </p:spTree>
    <p:extLst>
      <p:ext uri="{BB962C8B-B14F-4D97-AF65-F5344CB8AC3E}">
        <p14:creationId xmlns:p14="http://schemas.microsoft.com/office/powerpoint/2010/main" val="6734601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94848-5D7E-EB15-2916-BE91DDE09EF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245EB0-FD40-8534-96F1-A54319C2321D}"/>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FC88B573-57D3-65CD-763C-BD850794443D}"/>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39D65547-95F8-17DE-32D7-1912157C44AC}"/>
              </a:ext>
            </a:extLst>
          </p:cNvPr>
          <p:cNvSpPr>
            <a:spLocks noGrp="1"/>
          </p:cNvSpPr>
          <p:nvPr>
            <p:ph type="sldNum" sz="quarter" idx="5"/>
          </p:nvPr>
        </p:nvSpPr>
        <p:spPr/>
        <p:txBody>
          <a:bodyPr/>
          <a:lstStyle/>
          <a:p>
            <a:fld id="{9512FD6F-AB77-4C7E-891F-50C789B4267C}" type="slidenum">
              <a:rPr lang="fr-FR" smtClean="0"/>
              <a:t>6</a:t>
            </a:fld>
            <a:endParaRPr lang="fr-FR"/>
          </a:p>
        </p:txBody>
      </p:sp>
    </p:spTree>
    <p:extLst>
      <p:ext uri="{BB962C8B-B14F-4D97-AF65-F5344CB8AC3E}">
        <p14:creationId xmlns:p14="http://schemas.microsoft.com/office/powerpoint/2010/main" val="29334803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D038B-00F9-4E7B-FA47-C0F9F66FA00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77D49CC-9B53-DAB6-A2FD-160708460706}"/>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C20DB7DE-29B4-A64F-7100-7D095FC61C4E}"/>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B84CDB7A-E823-90DB-86FE-FBAFAE20D4AF}"/>
              </a:ext>
            </a:extLst>
          </p:cNvPr>
          <p:cNvSpPr>
            <a:spLocks noGrp="1"/>
          </p:cNvSpPr>
          <p:nvPr>
            <p:ph type="sldNum" sz="quarter" idx="5"/>
          </p:nvPr>
        </p:nvSpPr>
        <p:spPr/>
        <p:txBody>
          <a:bodyPr/>
          <a:lstStyle/>
          <a:p>
            <a:fld id="{9512FD6F-AB77-4C7E-891F-50C789B4267C}" type="slidenum">
              <a:rPr lang="fr-FR" smtClean="0"/>
              <a:t>7</a:t>
            </a:fld>
            <a:endParaRPr lang="fr-FR"/>
          </a:p>
        </p:txBody>
      </p:sp>
    </p:spTree>
    <p:extLst>
      <p:ext uri="{BB962C8B-B14F-4D97-AF65-F5344CB8AC3E}">
        <p14:creationId xmlns:p14="http://schemas.microsoft.com/office/powerpoint/2010/main" val="8171364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9512FD6F-AB77-4C7E-891F-50C789B4267C}" type="slidenum">
              <a:rPr lang="fr-FR" smtClean="0"/>
              <a:t>1</a:t>
            </a:fld>
            <a:endParaRPr lang="fr-FR"/>
          </a:p>
        </p:txBody>
      </p:sp>
    </p:spTree>
    <p:extLst>
      <p:ext uri="{BB962C8B-B14F-4D97-AF65-F5344CB8AC3E}">
        <p14:creationId xmlns:p14="http://schemas.microsoft.com/office/powerpoint/2010/main" val="11608195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1237197"/>
            <a:ext cx="9088041" cy="2631887"/>
          </a:xfrm>
        </p:spPr>
        <p:txBody>
          <a:bodyPr anchor="b"/>
          <a:lstStyle>
            <a:lvl1pPr algn="ctr">
              <a:defRPr sz="6614"/>
            </a:lvl1pPr>
          </a:lstStyle>
          <a:p>
            <a:r>
              <a:rPr lang="fr-FR"/>
              <a:t>Modifiez le style du titre</a:t>
            </a:r>
            <a:endParaRPr lang="en-US" dirty="0"/>
          </a:p>
        </p:txBody>
      </p:sp>
      <p:sp>
        <p:nvSpPr>
          <p:cNvPr id="3" name="Subtitle 2"/>
          <p:cNvSpPr>
            <a:spLocks noGrp="1"/>
          </p:cNvSpPr>
          <p:nvPr>
            <p:ph type="subTitle" idx="1"/>
          </p:nvPr>
        </p:nvSpPr>
        <p:spPr>
          <a:xfrm>
            <a:off x="1336477" y="3970580"/>
            <a:ext cx="8018860" cy="1825171"/>
          </a:xfrm>
        </p:spPr>
        <p:txBody>
          <a:bodyPr/>
          <a:lstStyle>
            <a:lvl1pPr marL="0" indent="0" algn="ctr">
              <a:buNone/>
              <a:defRPr sz="2646"/>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dirty="0"/>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dirty="0"/>
          </a:p>
        </p:txBody>
      </p:sp>
    </p:spTree>
    <p:extLst>
      <p:ext uri="{BB962C8B-B14F-4D97-AF65-F5344CB8AC3E}">
        <p14:creationId xmlns:p14="http://schemas.microsoft.com/office/powerpoint/2010/main" val="3856612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6180371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1884671"/>
            <a:ext cx="9221689" cy="3144614"/>
          </a:xfrm>
        </p:spPr>
        <p:txBody>
          <a:bodyPr anchor="b"/>
          <a:lstStyle>
            <a:lvl1pPr>
              <a:defRPr sz="6614"/>
            </a:lvl1pPr>
          </a:lstStyle>
          <a:p>
            <a:r>
              <a:rPr lang="fr-FR"/>
              <a:t>Modifiez le style du titre</a:t>
            </a:r>
            <a:endParaRPr lang="en-US" dirty="0"/>
          </a:p>
        </p:txBody>
      </p:sp>
      <p:sp>
        <p:nvSpPr>
          <p:cNvPr id="3" name="Text Placeholder 2"/>
          <p:cNvSpPr>
            <a:spLocks noGrp="1"/>
          </p:cNvSpPr>
          <p:nvPr>
            <p:ph type="body" idx="1"/>
          </p:nvPr>
        </p:nvSpPr>
        <p:spPr>
          <a:xfrm>
            <a:off x="729494" y="5059035"/>
            <a:ext cx="9221689" cy="1653678"/>
          </a:xfrm>
        </p:spPr>
        <p:txBody>
          <a:bodyPr/>
          <a:lstStyle>
            <a:lvl1pPr marL="0" indent="0">
              <a:buNone/>
              <a:defRPr sz="2646">
                <a:solidFill>
                  <a:schemeClr val="tx1"/>
                </a:solidFill>
              </a:defRPr>
            </a:lvl1pPr>
            <a:lvl2pPr marL="503972" indent="0">
              <a:buNone/>
              <a:defRPr sz="2205">
                <a:solidFill>
                  <a:schemeClr val="tx1">
                    <a:tint val="75000"/>
                  </a:schemeClr>
                </a:solidFill>
              </a:defRPr>
            </a:lvl2pPr>
            <a:lvl3pPr marL="1007943" indent="0">
              <a:buNone/>
              <a:defRPr sz="1984">
                <a:solidFill>
                  <a:schemeClr val="tx1">
                    <a:tint val="75000"/>
                  </a:schemeClr>
                </a:solidFill>
              </a:defRPr>
            </a:lvl3pPr>
            <a:lvl4pPr marL="1511915" indent="0">
              <a:buNone/>
              <a:defRPr sz="1764">
                <a:solidFill>
                  <a:schemeClr val="tx1">
                    <a:tint val="75000"/>
                  </a:schemeClr>
                </a:solidFill>
              </a:defRPr>
            </a:lvl4pPr>
            <a:lvl5pPr marL="2015886" indent="0">
              <a:buNone/>
              <a:defRPr sz="1764">
                <a:solidFill>
                  <a:schemeClr val="tx1">
                    <a:tint val="75000"/>
                  </a:schemeClr>
                </a:solidFill>
              </a:defRPr>
            </a:lvl5pPr>
            <a:lvl6pPr marL="2519858" indent="0">
              <a:buNone/>
              <a:defRPr sz="1764">
                <a:solidFill>
                  <a:schemeClr val="tx1">
                    <a:tint val="75000"/>
                  </a:schemeClr>
                </a:solidFill>
              </a:defRPr>
            </a:lvl6pPr>
            <a:lvl7pPr marL="3023829" indent="0">
              <a:buNone/>
              <a:defRPr sz="1764">
                <a:solidFill>
                  <a:schemeClr val="tx1">
                    <a:tint val="75000"/>
                  </a:schemeClr>
                </a:solidFill>
              </a:defRPr>
            </a:lvl7pPr>
            <a:lvl8pPr marL="3527801" indent="0">
              <a:buNone/>
              <a:defRPr sz="1764">
                <a:solidFill>
                  <a:schemeClr val="tx1">
                    <a:tint val="75000"/>
                  </a:schemeClr>
                </a:solidFill>
              </a:defRPr>
            </a:lvl8pPr>
            <a:lvl9pPr marL="4031772" indent="0">
              <a:buNone/>
              <a:defRPr sz="1764">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176321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7147803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402484"/>
            <a:ext cx="9221689" cy="1461188"/>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1853171"/>
            <a:ext cx="4523137"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4" name="Content Placeholder 3"/>
          <p:cNvSpPr>
            <a:spLocks noGrp="1"/>
          </p:cNvSpPr>
          <p:nvPr>
            <p:ph sz="half" idx="2"/>
          </p:nvPr>
        </p:nvSpPr>
        <p:spPr>
          <a:xfrm>
            <a:off x="736456" y="2761381"/>
            <a:ext cx="4523137"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1853171"/>
            <a:ext cx="4545413"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6" name="Content Placeholder 5"/>
          <p:cNvSpPr>
            <a:spLocks noGrp="1"/>
          </p:cNvSpPr>
          <p:nvPr>
            <p:ph sz="quarter" idx="4"/>
          </p:nvPr>
        </p:nvSpPr>
        <p:spPr>
          <a:xfrm>
            <a:off x="5412731" y="2761381"/>
            <a:ext cx="4545413"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CFE3C962-9C9D-46DF-A443-FF18222A4B08}" type="datetimeFigureOut">
              <a:rPr lang="fr-FR" smtClean="0"/>
              <a:t>08/01/2026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4415217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CFE3C962-9C9D-46DF-A443-FF18222A4B08}" type="datetimeFigureOut">
              <a:rPr lang="fr-FR" smtClean="0"/>
              <a:t>08/01/2026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190708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FE3C962-9C9D-46DF-A443-FF18222A4B08}" type="datetimeFigureOut">
              <a:rPr lang="fr-FR" smtClean="0"/>
              <a:t>08/01/2026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7792059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Content Placeholder 2"/>
          <p:cNvSpPr>
            <a:spLocks noGrp="1"/>
          </p:cNvSpPr>
          <p:nvPr>
            <p:ph idx="1"/>
          </p:nvPr>
        </p:nvSpPr>
        <p:spPr>
          <a:xfrm>
            <a:off x="4545413" y="1088455"/>
            <a:ext cx="5412730" cy="5372269"/>
          </a:xfrm>
        </p:spPr>
        <p:txBody>
          <a:bodyPr/>
          <a:lstStyle>
            <a:lvl1pPr>
              <a:defRPr sz="3527"/>
            </a:lvl1pPr>
            <a:lvl2pPr>
              <a:defRPr sz="3086"/>
            </a:lvl2pPr>
            <a:lvl3pPr>
              <a:defRPr sz="2646"/>
            </a:lvl3pPr>
            <a:lvl4pPr>
              <a:defRPr sz="2205"/>
            </a:lvl4pPr>
            <a:lvl5pPr>
              <a:defRPr sz="2205"/>
            </a:lvl5pPr>
            <a:lvl6pPr>
              <a:defRPr sz="2205"/>
            </a:lvl6pPr>
            <a:lvl7pPr>
              <a:defRPr sz="2205"/>
            </a:lvl7pPr>
            <a:lvl8pPr>
              <a:defRPr sz="2205"/>
            </a:lvl8pPr>
            <a:lvl9pPr>
              <a:defRPr sz="2205"/>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5170336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1088455"/>
            <a:ext cx="5412730" cy="5372269"/>
          </a:xfrm>
        </p:spPr>
        <p:txBody>
          <a:bodyPr anchor="t"/>
          <a:lstStyle>
            <a:lvl1pPr marL="0" indent="0">
              <a:buNone/>
              <a:defRPr sz="3527"/>
            </a:lvl1pPr>
            <a:lvl2pPr marL="503972" indent="0">
              <a:buNone/>
              <a:defRPr sz="3086"/>
            </a:lvl2pPr>
            <a:lvl3pPr marL="1007943" indent="0">
              <a:buNone/>
              <a:defRPr sz="2646"/>
            </a:lvl3pPr>
            <a:lvl4pPr marL="1511915" indent="0">
              <a:buNone/>
              <a:defRPr sz="2205"/>
            </a:lvl4pPr>
            <a:lvl5pPr marL="2015886" indent="0">
              <a:buNone/>
              <a:defRPr sz="2205"/>
            </a:lvl5pPr>
            <a:lvl6pPr marL="2519858" indent="0">
              <a:buNone/>
              <a:defRPr sz="2205"/>
            </a:lvl6pPr>
            <a:lvl7pPr marL="3023829" indent="0">
              <a:buNone/>
              <a:defRPr sz="2205"/>
            </a:lvl7pPr>
            <a:lvl8pPr marL="3527801" indent="0">
              <a:buNone/>
              <a:defRPr sz="2205"/>
            </a:lvl8pPr>
            <a:lvl9pPr marL="4031772" indent="0">
              <a:buNone/>
              <a:defRPr sz="2205"/>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8803797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261030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402483"/>
            <a:ext cx="2305422" cy="6406475"/>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402483"/>
            <a:ext cx="6782619" cy="640647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820301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402484"/>
            <a:ext cx="9221689" cy="146118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2012414"/>
            <a:ext cx="9221689" cy="479654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7006700"/>
            <a:ext cx="2405658" cy="402483"/>
          </a:xfrm>
          <a:prstGeom prst="rect">
            <a:avLst/>
          </a:prstGeom>
        </p:spPr>
        <p:txBody>
          <a:bodyPr vert="horz" lIns="91440" tIns="45720" rIns="91440" bIns="45720" rtlCol="0" anchor="ctr"/>
          <a:lstStyle>
            <a:lvl1pPr algn="l">
              <a:defRPr sz="1323">
                <a:solidFill>
                  <a:schemeClr val="tx1">
                    <a:tint val="75000"/>
                  </a:schemeClr>
                </a:solidFill>
              </a:defRPr>
            </a:lvl1pPr>
          </a:lstStyle>
          <a:p>
            <a:fld id="{CFE3C962-9C9D-46DF-A443-FF18222A4B08}" type="datetimeFigureOut">
              <a:rPr lang="fr-FR" smtClean="0"/>
              <a:t>08/01/2026</a:t>
            </a:fld>
            <a:endParaRPr lang="fr-FR"/>
          </a:p>
        </p:txBody>
      </p:sp>
      <p:sp>
        <p:nvSpPr>
          <p:cNvPr id="5" name="Footer Placeholder 4"/>
          <p:cNvSpPr>
            <a:spLocks noGrp="1"/>
          </p:cNvSpPr>
          <p:nvPr>
            <p:ph type="ftr" sz="quarter" idx="3"/>
          </p:nvPr>
        </p:nvSpPr>
        <p:spPr>
          <a:xfrm>
            <a:off x="3541663" y="7006700"/>
            <a:ext cx="3608487" cy="402483"/>
          </a:xfrm>
          <a:prstGeom prst="rect">
            <a:avLst/>
          </a:prstGeom>
        </p:spPr>
        <p:txBody>
          <a:bodyPr vert="horz" lIns="91440" tIns="45720" rIns="91440" bIns="45720" rtlCol="0" anchor="ctr"/>
          <a:lstStyle>
            <a:lvl1pPr algn="ctr">
              <a:defRPr sz="1323">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551093" y="7006700"/>
            <a:ext cx="2405658" cy="402483"/>
          </a:xfrm>
          <a:prstGeom prst="rect">
            <a:avLst/>
          </a:prstGeom>
        </p:spPr>
        <p:txBody>
          <a:bodyPr vert="horz" lIns="91440" tIns="45720" rIns="91440" bIns="45720" rtlCol="0" anchor="ctr"/>
          <a:lstStyle>
            <a:lvl1pPr algn="r">
              <a:defRPr sz="1323">
                <a:solidFill>
                  <a:schemeClr val="tx1">
                    <a:tint val="75000"/>
                  </a:schemeClr>
                </a:solidFill>
              </a:defRPr>
            </a:lvl1pPr>
          </a:lstStyle>
          <a:p>
            <a:fld id="{5D775FE0-13D7-4BC4-85BA-C41BB144B18E}" type="slidenum">
              <a:rPr lang="fr-FR" smtClean="0"/>
              <a:t>‹N°›</a:t>
            </a:fld>
            <a:endParaRPr lang="fr-FR"/>
          </a:p>
        </p:txBody>
      </p:sp>
    </p:spTree>
    <p:extLst>
      <p:ext uri="{BB962C8B-B14F-4D97-AF65-F5344CB8AC3E}">
        <p14:creationId xmlns:p14="http://schemas.microsoft.com/office/powerpoint/2010/main" val="829090544"/>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3"/>
  </p:sldLayoutIdLst>
  <p:txStyles>
    <p:titleStyle>
      <a:lvl1pPr algn="l" defTabSz="1007943" rtl="0" eaLnBrk="1" latinLnBrk="0" hangingPunct="1">
        <a:lnSpc>
          <a:spcPct val="90000"/>
        </a:lnSpc>
        <a:spcBef>
          <a:spcPct val="0"/>
        </a:spcBef>
        <a:buNone/>
        <a:defRPr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p:bodyStyle>
    <p:otherStyle>
      <a:defPPr>
        <a:defRPr lang="en-US"/>
      </a:defPPr>
      <a:lvl1pPr marL="0" algn="l" defTabSz="1007943" rtl="0" eaLnBrk="1" latinLnBrk="0" hangingPunct="1">
        <a:defRPr sz="1984" kern="1200">
          <a:solidFill>
            <a:schemeClr val="tx1"/>
          </a:solidFill>
          <a:latin typeface="+mn-lt"/>
          <a:ea typeface="+mn-ea"/>
          <a:cs typeface="+mn-cs"/>
        </a:defRPr>
      </a:lvl1pPr>
      <a:lvl2pPr marL="503972" algn="l" defTabSz="1007943" rtl="0" eaLnBrk="1" latinLnBrk="0" hangingPunct="1">
        <a:defRPr sz="1984" kern="1200">
          <a:solidFill>
            <a:schemeClr val="tx1"/>
          </a:solidFill>
          <a:latin typeface="+mn-lt"/>
          <a:ea typeface="+mn-ea"/>
          <a:cs typeface="+mn-cs"/>
        </a:defRPr>
      </a:lvl2pPr>
      <a:lvl3pPr marL="1007943" algn="l" defTabSz="1007943" rtl="0" eaLnBrk="1" latinLnBrk="0" hangingPunct="1">
        <a:defRPr sz="1984" kern="1200">
          <a:solidFill>
            <a:schemeClr val="tx1"/>
          </a:solidFill>
          <a:latin typeface="+mn-lt"/>
          <a:ea typeface="+mn-ea"/>
          <a:cs typeface="+mn-cs"/>
        </a:defRPr>
      </a:lvl3pPr>
      <a:lvl4pPr marL="1511915" algn="l" defTabSz="1007943" rtl="0" eaLnBrk="1" latinLnBrk="0" hangingPunct="1">
        <a:defRPr sz="1984" kern="1200">
          <a:solidFill>
            <a:schemeClr val="tx1"/>
          </a:solidFill>
          <a:latin typeface="+mn-lt"/>
          <a:ea typeface="+mn-ea"/>
          <a:cs typeface="+mn-cs"/>
        </a:defRPr>
      </a:lvl4pPr>
      <a:lvl5pPr marL="2015886" algn="l" defTabSz="1007943" rtl="0" eaLnBrk="1" latinLnBrk="0" hangingPunct="1">
        <a:defRPr sz="1984" kern="1200">
          <a:solidFill>
            <a:schemeClr val="tx1"/>
          </a:solidFill>
          <a:latin typeface="+mn-lt"/>
          <a:ea typeface="+mn-ea"/>
          <a:cs typeface="+mn-cs"/>
        </a:defRPr>
      </a:lvl5pPr>
      <a:lvl6pPr marL="2519858" algn="l" defTabSz="1007943" rtl="0" eaLnBrk="1" latinLnBrk="0" hangingPunct="1">
        <a:defRPr sz="1984" kern="1200">
          <a:solidFill>
            <a:schemeClr val="tx1"/>
          </a:solidFill>
          <a:latin typeface="+mn-lt"/>
          <a:ea typeface="+mn-ea"/>
          <a:cs typeface="+mn-cs"/>
        </a:defRPr>
      </a:lvl6pPr>
      <a:lvl7pPr marL="3023829" algn="l" defTabSz="1007943" rtl="0" eaLnBrk="1" latinLnBrk="0" hangingPunct="1">
        <a:defRPr sz="1984" kern="1200">
          <a:solidFill>
            <a:schemeClr val="tx1"/>
          </a:solidFill>
          <a:latin typeface="+mn-lt"/>
          <a:ea typeface="+mn-ea"/>
          <a:cs typeface="+mn-cs"/>
        </a:defRPr>
      </a:lvl7pPr>
      <a:lvl8pPr marL="3527801" algn="l" defTabSz="1007943" rtl="0" eaLnBrk="1" latinLnBrk="0" hangingPunct="1">
        <a:defRPr sz="1984" kern="1200">
          <a:solidFill>
            <a:schemeClr val="tx1"/>
          </a:solidFill>
          <a:latin typeface="+mn-lt"/>
          <a:ea typeface="+mn-ea"/>
          <a:cs typeface="+mn-cs"/>
        </a:defRPr>
      </a:lvl8pPr>
      <a:lvl9pPr marL="4031772" algn="l" defTabSz="1007943" rtl="0" eaLnBrk="1" latinLnBrk="0" hangingPunct="1">
        <a:defRPr sz="1984"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1" userDrawn="1">
          <p15:clr>
            <a:srgbClr val="F26B43"/>
          </p15:clr>
        </p15:guide>
        <p15:guide id="2" pos="336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svg"/><Relationship Id="rId18" Type="http://schemas.openxmlformats.org/officeDocument/2006/relationships/image" Target="../media/image25.png"/><Relationship Id="rId3" Type="http://schemas.openxmlformats.org/officeDocument/2006/relationships/image" Target="../media/image10.png"/><Relationship Id="rId7" Type="http://schemas.openxmlformats.org/officeDocument/2006/relationships/image" Target="../media/image14.svg"/><Relationship Id="rId12" Type="http://schemas.openxmlformats.org/officeDocument/2006/relationships/image" Target="../media/image19.png"/><Relationship Id="rId17" Type="http://schemas.openxmlformats.org/officeDocument/2006/relationships/image" Target="../media/image24.svg"/><Relationship Id="rId2" Type="http://schemas.openxmlformats.org/officeDocument/2006/relationships/image" Target="../media/image9.jpg"/><Relationship Id="rId16" Type="http://schemas.openxmlformats.org/officeDocument/2006/relationships/image" Target="../media/image23.png"/><Relationship Id="rId20"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3.png"/><Relationship Id="rId11" Type="http://schemas.openxmlformats.org/officeDocument/2006/relationships/image" Target="../media/image18.svg"/><Relationship Id="rId5" Type="http://schemas.openxmlformats.org/officeDocument/2006/relationships/image" Target="../media/image12.svg"/><Relationship Id="rId15" Type="http://schemas.openxmlformats.org/officeDocument/2006/relationships/image" Target="../media/image22.svg"/><Relationship Id="rId10" Type="http://schemas.openxmlformats.org/officeDocument/2006/relationships/image" Target="../media/image17.png"/><Relationship Id="rId19" Type="http://schemas.openxmlformats.org/officeDocument/2006/relationships/image" Target="../media/image26.svg"/><Relationship Id="rId4" Type="http://schemas.openxmlformats.org/officeDocument/2006/relationships/image" Target="../media/image11.png"/><Relationship Id="rId9" Type="http://schemas.openxmlformats.org/officeDocument/2006/relationships/image" Target="../media/image16.svg"/><Relationship Id="rId14" Type="http://schemas.openxmlformats.org/officeDocument/2006/relationships/image" Target="../media/image21.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33.svg"/><Relationship Id="rId13" Type="http://schemas.openxmlformats.org/officeDocument/2006/relationships/image" Target="../media/image38.png"/><Relationship Id="rId18" Type="http://schemas.openxmlformats.org/officeDocument/2006/relationships/image" Target="../media/image43.png"/><Relationship Id="rId3" Type="http://schemas.openxmlformats.org/officeDocument/2006/relationships/image" Target="../media/image29.jpeg"/><Relationship Id="rId21" Type="http://schemas.openxmlformats.org/officeDocument/2006/relationships/image" Target="../media/image46.svg"/><Relationship Id="rId7" Type="http://schemas.openxmlformats.org/officeDocument/2006/relationships/image" Target="../media/image32.png"/><Relationship Id="rId12" Type="http://schemas.openxmlformats.org/officeDocument/2006/relationships/image" Target="../media/image37.svg"/><Relationship Id="rId17" Type="http://schemas.openxmlformats.org/officeDocument/2006/relationships/image" Target="../media/image42.svg"/><Relationship Id="rId2" Type="http://schemas.openxmlformats.org/officeDocument/2006/relationships/image" Target="../media/image28.jpeg"/><Relationship Id="rId16" Type="http://schemas.openxmlformats.org/officeDocument/2006/relationships/image" Target="../media/image41.png"/><Relationship Id="rId20"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36.png"/><Relationship Id="rId5" Type="http://schemas.openxmlformats.org/officeDocument/2006/relationships/image" Target="../media/image31.jpeg"/><Relationship Id="rId15" Type="http://schemas.openxmlformats.org/officeDocument/2006/relationships/image" Target="../media/image40.svg"/><Relationship Id="rId10" Type="http://schemas.openxmlformats.org/officeDocument/2006/relationships/image" Target="../media/image35.svg"/><Relationship Id="rId19" Type="http://schemas.openxmlformats.org/officeDocument/2006/relationships/image" Target="../media/image44.svg"/><Relationship Id="rId4" Type="http://schemas.openxmlformats.org/officeDocument/2006/relationships/image" Target="../media/image30.jpeg"/><Relationship Id="rId9" Type="http://schemas.openxmlformats.org/officeDocument/2006/relationships/image" Target="../media/image34.png"/><Relationship Id="rId14" Type="http://schemas.openxmlformats.org/officeDocument/2006/relationships/image" Target="../media/image39.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svg"/><Relationship Id="rId3" Type="http://schemas.openxmlformats.org/officeDocument/2006/relationships/image" Target="../media/image7.png"/><Relationship Id="rId7" Type="http://schemas.openxmlformats.org/officeDocument/2006/relationships/image" Target="../media/image51.svg"/><Relationship Id="rId12" Type="http://schemas.openxmlformats.org/officeDocument/2006/relationships/image" Target="../media/image56.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0.png"/><Relationship Id="rId11" Type="http://schemas.openxmlformats.org/officeDocument/2006/relationships/image" Target="../media/image55.svg"/><Relationship Id="rId5" Type="http://schemas.openxmlformats.org/officeDocument/2006/relationships/image" Target="../media/image49.svg"/><Relationship Id="rId15" Type="http://schemas.openxmlformats.org/officeDocument/2006/relationships/image" Target="../media/image59.sv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svg"/><Relationship Id="rId14" Type="http://schemas.openxmlformats.org/officeDocument/2006/relationships/image" Target="../media/image5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1.jpeg"/><Relationship Id="rId7" Type="http://schemas.openxmlformats.org/officeDocument/2006/relationships/image" Target="../media/image7.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jpe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69.svg"/><Relationship Id="rId13" Type="http://schemas.openxmlformats.org/officeDocument/2006/relationships/image" Target="../media/image74.png"/><Relationship Id="rId3" Type="http://schemas.openxmlformats.org/officeDocument/2006/relationships/image" Target="../media/image65.png"/><Relationship Id="rId7" Type="http://schemas.openxmlformats.org/officeDocument/2006/relationships/image" Target="../media/image68.png"/><Relationship Id="rId12" Type="http://schemas.openxmlformats.org/officeDocument/2006/relationships/image" Target="../media/image73.svg"/><Relationship Id="rId2" Type="http://schemas.openxmlformats.org/officeDocument/2006/relationships/notesSlide" Target="../notesSlides/notesSlide1.xml"/><Relationship Id="rId16" Type="http://schemas.openxmlformats.org/officeDocument/2006/relationships/image" Target="../media/image77.svg"/><Relationship Id="rId1" Type="http://schemas.openxmlformats.org/officeDocument/2006/relationships/slideLayout" Target="../slideLayouts/slideLayout2.xml"/><Relationship Id="rId6" Type="http://schemas.openxmlformats.org/officeDocument/2006/relationships/image" Target="../media/image67.svg"/><Relationship Id="rId11" Type="http://schemas.openxmlformats.org/officeDocument/2006/relationships/image" Target="../media/image72.png"/><Relationship Id="rId5" Type="http://schemas.openxmlformats.org/officeDocument/2006/relationships/image" Target="../media/image66.png"/><Relationship Id="rId15" Type="http://schemas.openxmlformats.org/officeDocument/2006/relationships/image" Target="../media/image76.png"/><Relationship Id="rId10" Type="http://schemas.openxmlformats.org/officeDocument/2006/relationships/image" Target="../media/image71.svg"/><Relationship Id="rId4" Type="http://schemas.openxmlformats.org/officeDocument/2006/relationships/image" Target="../media/image7.png"/><Relationship Id="rId9" Type="http://schemas.openxmlformats.org/officeDocument/2006/relationships/image" Target="../media/image70.png"/><Relationship Id="rId14" Type="http://schemas.openxmlformats.org/officeDocument/2006/relationships/image" Target="../media/image75.sv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82.png"/><Relationship Id="rId13" Type="http://schemas.openxmlformats.org/officeDocument/2006/relationships/image" Target="../media/image85.svg"/><Relationship Id="rId18" Type="http://schemas.openxmlformats.org/officeDocument/2006/relationships/image" Target="../media/image58.png"/><Relationship Id="rId26" Type="http://schemas.openxmlformats.org/officeDocument/2006/relationships/image" Target="../media/image66.png"/><Relationship Id="rId3" Type="http://schemas.openxmlformats.org/officeDocument/2006/relationships/image" Target="../media/image7.png"/><Relationship Id="rId21" Type="http://schemas.openxmlformats.org/officeDocument/2006/relationships/image" Target="../media/image91.svg"/><Relationship Id="rId7" Type="http://schemas.openxmlformats.org/officeDocument/2006/relationships/image" Target="../media/image81.svg"/><Relationship Id="rId12" Type="http://schemas.openxmlformats.org/officeDocument/2006/relationships/image" Target="../media/image84.png"/><Relationship Id="rId17" Type="http://schemas.openxmlformats.org/officeDocument/2006/relationships/image" Target="../media/image89.svg"/><Relationship Id="rId25" Type="http://schemas.openxmlformats.org/officeDocument/2006/relationships/image" Target="../media/image95.svg"/><Relationship Id="rId2" Type="http://schemas.openxmlformats.org/officeDocument/2006/relationships/image" Target="../media/image38.png"/><Relationship Id="rId16" Type="http://schemas.openxmlformats.org/officeDocument/2006/relationships/image" Target="../media/image88.png"/><Relationship Id="rId20" Type="http://schemas.openxmlformats.org/officeDocument/2006/relationships/image" Target="../media/image90.png"/><Relationship Id="rId29" Type="http://schemas.openxmlformats.org/officeDocument/2006/relationships/image" Target="../media/image97.svg"/><Relationship Id="rId1" Type="http://schemas.openxmlformats.org/officeDocument/2006/relationships/slideLayout" Target="../slideLayouts/slideLayout2.xml"/><Relationship Id="rId6" Type="http://schemas.openxmlformats.org/officeDocument/2006/relationships/image" Target="../media/image80.png"/><Relationship Id="rId11" Type="http://schemas.openxmlformats.org/officeDocument/2006/relationships/image" Target="../media/image44.svg"/><Relationship Id="rId24" Type="http://schemas.openxmlformats.org/officeDocument/2006/relationships/image" Target="../media/image94.png"/><Relationship Id="rId5" Type="http://schemas.openxmlformats.org/officeDocument/2006/relationships/image" Target="../media/image79.svg"/><Relationship Id="rId15" Type="http://schemas.openxmlformats.org/officeDocument/2006/relationships/image" Target="../media/image87.svg"/><Relationship Id="rId23" Type="http://schemas.openxmlformats.org/officeDocument/2006/relationships/image" Target="../media/image93.svg"/><Relationship Id="rId28" Type="http://schemas.openxmlformats.org/officeDocument/2006/relationships/image" Target="../media/image96.png"/><Relationship Id="rId10" Type="http://schemas.openxmlformats.org/officeDocument/2006/relationships/image" Target="../media/image43.png"/><Relationship Id="rId19" Type="http://schemas.openxmlformats.org/officeDocument/2006/relationships/image" Target="../media/image59.svg"/><Relationship Id="rId4" Type="http://schemas.openxmlformats.org/officeDocument/2006/relationships/image" Target="../media/image78.png"/><Relationship Id="rId9" Type="http://schemas.openxmlformats.org/officeDocument/2006/relationships/image" Target="../media/image83.svg"/><Relationship Id="rId14" Type="http://schemas.openxmlformats.org/officeDocument/2006/relationships/image" Target="../media/image86.png"/><Relationship Id="rId22" Type="http://schemas.openxmlformats.org/officeDocument/2006/relationships/image" Target="../media/image92.png"/><Relationship Id="rId27" Type="http://schemas.openxmlformats.org/officeDocument/2006/relationships/image" Target="../media/image67.sv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9.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00.png"/><Relationship Id="rId3" Type="http://schemas.openxmlformats.org/officeDocument/2006/relationships/image" Target="../media/image101.svg"/><Relationship Id="rId7" Type="http://schemas.openxmlformats.org/officeDocument/2006/relationships/image" Target="../media/image102.svg"/><Relationship Id="rId12" Type="http://schemas.openxmlformats.org/officeDocument/2006/relationships/image" Target="../media/image103.svg"/><Relationship Id="rId2" Type="http://schemas.openxmlformats.org/officeDocument/2006/relationships/image" Target="../media/image104.png"/><Relationship Id="rId1" Type="http://schemas.openxmlformats.org/officeDocument/2006/relationships/slideLayout" Target="../slideLayouts/slideLayout12.xml"/><Relationship Id="rId6" Type="http://schemas.openxmlformats.org/officeDocument/2006/relationships/image" Target="../media/image105.png"/><Relationship Id="rId11" Type="http://schemas.openxmlformats.org/officeDocument/2006/relationships/image" Target="../media/image106.png"/><Relationship Id="rId5" Type="http://schemas.openxmlformats.org/officeDocument/2006/relationships/image" Target="../media/image107.png"/><Relationship Id="rId10" Type="http://schemas.openxmlformats.org/officeDocument/2006/relationships/image" Target="../media/image108.svg"/><Relationship Id="rId4" Type="http://schemas.openxmlformats.org/officeDocument/2006/relationships/image" Target="../media/image99.png"/><Relationship Id="rId9" Type="http://schemas.openxmlformats.org/officeDocument/2006/relationships/image" Target="../media/image109.png"/><Relationship Id="rId14" Type="http://schemas.openxmlformats.org/officeDocument/2006/relationships/image" Target="../media/image110.svg"/></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2.jpeg"/><Relationship Id="rId2" Type="http://schemas.openxmlformats.org/officeDocument/2006/relationships/image" Target="../media/image113.pn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114.jpeg"/><Relationship Id="rId4" Type="http://schemas.openxmlformats.org/officeDocument/2006/relationships/image" Target="../media/image115.png"/></Relationships>

</file>

<file path=ppt/slides/_rels/slide2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17.jpeg"/><Relationship Id="rId7" Type="http://schemas.openxmlformats.org/officeDocument/2006/relationships/image" Target="../media/image11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9.png"/><Relationship Id="rId5" Type="http://schemas.openxmlformats.org/officeDocument/2006/relationships/image" Target="../media/image120.png"/><Relationship Id="rId4" Type="http://schemas.openxmlformats.org/officeDocument/2006/relationships/image" Target="../media/image12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ZoneTexte 35">
            <a:extLst>
              <a:ext uri="{FF2B5EF4-FFF2-40B4-BE49-F238E27FC236}">
                <a16:creationId xmlns:a16="http://schemas.microsoft.com/office/drawing/2014/main" id="{5CC54840-7A9C-4B53-8620-8A8509347D53}"/>
              </a:ext>
            </a:extLst>
          </p:cNvPr>
          <p:cNvSpPr txBox="1"/>
          <p:nvPr/>
        </p:nvSpPr>
        <p:spPr>
          <a:xfrm>
            <a:off x="5423666" y="2346268"/>
            <a:ext cx="4494243" cy="407932"/>
          </a:xfrm>
          <a:prstGeom prst="rect">
            <a:avLst/>
          </a:prstGeom>
          <a:noFill/>
        </p:spPr>
        <p:txBody>
          <a:bodyPr wrap="square" rtlCol="0">
            <a:spAutoFit/>
          </a:bodyPr>
          <a:lstStyle>
            <a:defPPr>
              <a:defRPr lang="en-US"/>
            </a:defPPr>
            <a:lvl1pPr>
              <a:defRPr>
                <a:solidFill>
                  <a:srgbClr val="353535"/>
                </a:solidFill>
              </a:defRPr>
            </a:lvl1pPr>
          </a:lstStyle>
          <a:p>
            <a:pPr defTabSz="390987"/>
            <a:r>
              <a:rPr lang="fr-FR" sz="2051" b="1" dirty="0">
                <a:solidFill>
                  <a:srgbClr val="E94C57"/>
                </a:solidFill>
                <a:latin typeface="Century Gothic" panose="020B0502020202020204" pitchFamily="34" charset="0"/>
                <a:cs typeface="Arial" panose="020B0604020202020204" pitchFamily="34" charset="0"/>
              </a:rPr>
              <a:t>ÉTUDE PERSONNALISÉE</a:t>
            </a:r>
          </a:p>
        </p:txBody>
      </p:sp>
      <p:sp>
        <p:nvSpPr>
          <p:cNvPr id="37" name="ZoneTexte 36">
            <a:extLst>
              <a:ext uri="{FF2B5EF4-FFF2-40B4-BE49-F238E27FC236}">
                <a16:creationId xmlns:a16="http://schemas.microsoft.com/office/drawing/2014/main" id="{64B7E121-52D4-57C4-7010-DC4573E414DA}"/>
              </a:ext>
            </a:extLst>
          </p:cNvPr>
          <p:cNvSpPr txBox="1"/>
          <p:nvPr/>
        </p:nvSpPr>
        <p:spPr>
          <a:xfrm>
            <a:off x="5448623" y="2678793"/>
            <a:ext cx="1705562"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Date d’édition de l’offre :</a:t>
            </a:r>
          </a:p>
        </p:txBody>
      </p:sp>
      <p:sp>
        <p:nvSpPr>
          <p:cNvPr id="39" name="ZoneTexte 38">
            <a:extLst>
              <a:ext uri="{FF2B5EF4-FFF2-40B4-BE49-F238E27FC236}">
                <a16:creationId xmlns:a16="http://schemas.microsoft.com/office/drawing/2014/main" id="{87F0DD2D-306C-5A82-159B-398D94100376}"/>
              </a:ext>
            </a:extLst>
          </p:cNvPr>
          <p:cNvSpPr txBox="1"/>
          <p:nvPr/>
        </p:nvSpPr>
        <p:spPr>
          <a:xfrm>
            <a:off x="6962840" y="2676435"/>
            <a:ext cx="1822969" cy="223907"/>
          </a:xfrm>
          <a:prstGeom prst="rect">
            <a:avLst/>
          </a:prstGeom>
          <a:noFill/>
        </p:spPr>
        <p:txBody>
          <a:bodyPr wrap="square" rtlCol="0" anchor="ctr">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{{date}} </a:t>
            </a:r>
          </a:p>
        </p:txBody>
      </p:sp>
      <p:sp>
        <p:nvSpPr>
          <p:cNvPr id="40" name="ZoneTexte 39">
            <a:extLst>
              <a:ext uri="{FF2B5EF4-FFF2-40B4-BE49-F238E27FC236}">
                <a16:creationId xmlns:a16="http://schemas.microsoft.com/office/drawing/2014/main" id="{5A7BF358-E2F4-BE57-F27E-7C62249A308A}"/>
              </a:ext>
            </a:extLst>
          </p:cNvPr>
          <p:cNvSpPr txBox="1"/>
          <p:nvPr/>
        </p:nvSpPr>
        <p:spPr>
          <a:xfrm>
            <a:off x="5423666" y="3120070"/>
            <a:ext cx="4204061" cy="223907"/>
          </a:xfrm>
          <a:prstGeom prst="rect">
            <a:avLst/>
          </a:prstGeom>
          <a:noFill/>
        </p:spPr>
        <p:txBody>
          <a:bodyPr wrap="square" rtlCol="0" anchor="ctr">
            <a:spAutoFit/>
          </a:bodyPr>
          <a:lstStyle/>
          <a:p>
            <a:pPr defTabSz="390987"/>
            <a:r>
              <a:rPr lang="fr-FR" sz="855" b="1" dirty="0">
                <a:solidFill>
                  <a:prstClr val="black"/>
                </a:solidFill>
                <a:latin typeface="Century Gothic" panose="020B0502020202020204" pitchFamily="34" charset="0"/>
                <a:cs typeface="Arial" panose="020B0604020202020204" pitchFamily="34" charset="0"/>
              </a:rPr>
              <a:t>{{</a:t>
            </a:r>
            <a:r>
              <a:rPr lang="fr-FR" sz="855" b="1" dirty="0" err="1">
                <a:solidFill>
                  <a:prstClr val="black"/>
                </a:solidFill>
                <a:latin typeface="Century Gothic" panose="020B0502020202020204" pitchFamily="34" charset="0"/>
                <a:cs typeface="Arial" panose="020B0604020202020204" pitchFamily="34" charset="0"/>
              </a:rPr>
              <a:t>simulation.projet.nomProjet</a:t>
            </a:r>
            <a:r>
              <a:rPr lang="fr-FR" sz="855" b="1" dirty="0">
                <a:solidFill>
                  <a:prstClr val="black"/>
                </a:solidFill>
                <a:latin typeface="Century Gothic" panose="020B0502020202020204" pitchFamily="34" charset="0"/>
                <a:cs typeface="Arial" panose="020B0604020202020204" pitchFamily="34" charset="0"/>
              </a:rPr>
              <a:t>}} </a:t>
            </a:r>
          </a:p>
        </p:txBody>
      </p:sp>
      <p:sp>
        <p:nvSpPr>
          <p:cNvPr id="42" name="ZoneTexte 41">
            <a:extLst>
              <a:ext uri="{FF2B5EF4-FFF2-40B4-BE49-F238E27FC236}">
                <a16:creationId xmlns:a16="http://schemas.microsoft.com/office/drawing/2014/main" id="{BE339342-D8CA-824B-B8E7-1FF07368217D}"/>
              </a:ext>
            </a:extLst>
          </p:cNvPr>
          <p:cNvSpPr txBox="1"/>
          <p:nvPr/>
        </p:nvSpPr>
        <p:spPr>
          <a:xfrm>
            <a:off x="5448624" y="4694949"/>
            <a:ext cx="3237127" cy="355482"/>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simulation.projet.contact.nom</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simulation.projet.contact.prenom</a:t>
            </a:r>
            <a:r>
              <a:rPr lang="fr-FR" sz="855" dirty="0">
                <a:solidFill>
                  <a:prstClr val="black"/>
                </a:solidFill>
                <a:latin typeface="Century Gothic" panose="020B0502020202020204" pitchFamily="34" charset="0"/>
                <a:cs typeface="Arial" panose="020B0604020202020204" pitchFamily="34" charset="0"/>
              </a:rPr>
              <a:t>}} </a:t>
            </a:r>
          </a:p>
        </p:txBody>
      </p:sp>
      <p:sp>
        <p:nvSpPr>
          <p:cNvPr id="43" name="ZoneTexte 42">
            <a:extLst>
              <a:ext uri="{FF2B5EF4-FFF2-40B4-BE49-F238E27FC236}">
                <a16:creationId xmlns:a16="http://schemas.microsoft.com/office/drawing/2014/main" id="{688D49CD-CEDE-475F-CE2D-4DA1C275FD94}"/>
              </a:ext>
            </a:extLst>
          </p:cNvPr>
          <p:cNvSpPr txBox="1"/>
          <p:nvPr/>
        </p:nvSpPr>
        <p:spPr>
          <a:xfrm>
            <a:off x="5448623" y="4504243"/>
            <a:ext cx="1748086"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prstClr val="black"/>
                </a:solidFill>
                <a:latin typeface="Century Gothic" panose="020B0502020202020204" pitchFamily="34" charset="0"/>
                <a:cs typeface="Arial" panose="020B0604020202020204" pitchFamily="34" charset="0"/>
              </a:rPr>
              <a:t>À l’attention de :</a:t>
            </a:r>
          </a:p>
        </p:txBody>
      </p:sp>
      <p:sp>
        <p:nvSpPr>
          <p:cNvPr id="44" name="Ellipse 43">
            <a:extLst>
              <a:ext uri="{FF2B5EF4-FFF2-40B4-BE49-F238E27FC236}">
                <a16:creationId xmlns:a16="http://schemas.microsoft.com/office/drawing/2014/main" id="{2D26F997-04E2-270D-7350-CE47B70F1B44}"/>
              </a:ext>
            </a:extLst>
          </p:cNvPr>
          <p:cNvSpPr/>
          <p:nvPr/>
        </p:nvSpPr>
        <p:spPr>
          <a:xfrm flipV="1">
            <a:off x="5937653" y="4021122"/>
            <a:ext cx="84388" cy="8438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390987"/>
            <a:endParaRPr lang="fr-FR" sz="855">
              <a:solidFill>
                <a:prstClr val="black"/>
              </a:solidFill>
              <a:latin typeface="Century Gothic" panose="020B0502020202020204" pitchFamily="34" charset="0"/>
            </a:endParaRPr>
          </a:p>
        </p:txBody>
      </p:sp>
      <p:grpSp>
        <p:nvGrpSpPr>
          <p:cNvPr id="45" name="Groupe 44">
            <a:extLst>
              <a:ext uri="{FF2B5EF4-FFF2-40B4-BE49-F238E27FC236}">
                <a16:creationId xmlns:a16="http://schemas.microsoft.com/office/drawing/2014/main" id="{F70D14D9-BB44-2993-85A3-AA456253D35D}"/>
              </a:ext>
            </a:extLst>
          </p:cNvPr>
          <p:cNvGrpSpPr/>
          <p:nvPr/>
        </p:nvGrpSpPr>
        <p:grpSpPr>
          <a:xfrm>
            <a:off x="5423665" y="3496330"/>
            <a:ext cx="3751674" cy="836229"/>
            <a:chOff x="5995758" y="4151449"/>
            <a:chExt cx="3777415" cy="977781"/>
          </a:xfrm>
        </p:grpSpPr>
        <p:sp>
          <p:nvSpPr>
            <p:cNvPr id="46" name="ZoneTexte 45">
              <a:extLst>
                <a:ext uri="{FF2B5EF4-FFF2-40B4-BE49-F238E27FC236}">
                  <a16:creationId xmlns:a16="http://schemas.microsoft.com/office/drawing/2014/main" id="{D4A39A64-6A89-8D3F-88E8-D716006756D6}"/>
                </a:ext>
              </a:extLst>
            </p:cNvPr>
            <p:cNvSpPr txBox="1"/>
            <p:nvPr/>
          </p:nvSpPr>
          <p:spPr>
            <a:xfrm>
              <a:off x="5995758" y="4151449"/>
              <a:ext cx="3777415" cy="261808"/>
            </a:xfrm>
            <a:prstGeom prst="rect">
              <a:avLst/>
            </a:prstGeom>
            <a:noFill/>
          </p:spPr>
          <p:txBody>
            <a:bodyPr wrap="square" rtlCol="0" anchor="ctr">
              <a:spAutoFit/>
            </a:bodyPr>
            <a:lstStyle/>
            <a:p>
              <a:pPr defTabSz="390987"/>
              <a:r>
                <a:rPr lang="fr-FR" sz="855" b="1" dirty="0">
                  <a:solidFill>
                    <a:prstClr val="black"/>
                  </a:solidFill>
                  <a:latin typeface="Century Gothic" panose="020B0502020202020204" pitchFamily="34" charset="0"/>
                  <a:cs typeface="Arial" panose="020B0604020202020204" pitchFamily="34" charset="0"/>
                </a:rPr>
                <a:t>{{</a:t>
              </a:r>
              <a:r>
                <a:rPr lang="fr-FR" sz="855" b="1" dirty="0" err="1">
                  <a:solidFill>
                    <a:prstClr val="black"/>
                  </a:solidFill>
                  <a:latin typeface="Century Gothic" panose="020B0502020202020204" pitchFamily="34" charset="0"/>
                  <a:cs typeface="Arial" panose="020B0604020202020204" pitchFamily="34" charset="0"/>
                </a:rPr>
                <a:t>simulation.projet.organisation.raisonSociale</a:t>
              </a:r>
              <a:r>
                <a:rPr lang="fr-FR" sz="855" b="1" dirty="0">
                  <a:solidFill>
                    <a:prstClr val="black"/>
                  </a:solidFill>
                  <a:latin typeface="Century Gothic" panose="020B0502020202020204" pitchFamily="34" charset="0"/>
                  <a:cs typeface="Arial" panose="020B0604020202020204" pitchFamily="34" charset="0"/>
                </a:rPr>
                <a:t>}} </a:t>
              </a:r>
            </a:p>
          </p:txBody>
        </p:sp>
        <p:sp>
          <p:nvSpPr>
            <p:cNvPr id="47" name="ZoneTexte 46">
              <a:extLst>
                <a:ext uri="{FF2B5EF4-FFF2-40B4-BE49-F238E27FC236}">
                  <a16:creationId xmlns:a16="http://schemas.microsoft.com/office/drawing/2014/main" id="{474899F4-78BE-E0CB-DA42-ACE554826DFF}"/>
                </a:ext>
              </a:extLst>
            </p:cNvPr>
            <p:cNvSpPr txBox="1"/>
            <p:nvPr/>
          </p:nvSpPr>
          <p:spPr>
            <a:xfrm>
              <a:off x="5995758" y="4405881"/>
              <a:ext cx="3676747" cy="723349"/>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{{simulation.projet.organisation.adresse1}}</a:t>
              </a:r>
            </a:p>
            <a:p>
              <a:pPr defTabSz="390987"/>
              <a:r>
                <a:rPr lang="fr-FR" sz="855" dirty="0">
                  <a:solidFill>
                    <a:prstClr val="black"/>
                  </a:solidFill>
                  <a:latin typeface="Century Gothic" panose="020B0502020202020204" pitchFamily="34" charset="0"/>
                  <a:cs typeface="Arial" panose="020B0604020202020204" pitchFamily="34" charset="0"/>
                </a:rPr>
                <a:t>{{simulation.projet.organisation.adresse2}}</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simulation.projet.organisation.codePostal</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simulation.projet.organisation.ville</a:t>
              </a:r>
              <a:r>
                <a:rPr lang="fr-FR" sz="855" dirty="0">
                  <a:solidFill>
                    <a:prstClr val="black"/>
                  </a:solidFill>
                  <a:latin typeface="Century Gothic" panose="020B0502020202020204" pitchFamily="34" charset="0"/>
                  <a:cs typeface="Arial" panose="020B0604020202020204" pitchFamily="34" charset="0"/>
                </a:rPr>
                <a:t>}} </a:t>
              </a:r>
            </a:p>
          </p:txBody>
        </p:sp>
      </p:grpSp>
      <p:sp>
        <p:nvSpPr>
          <p:cNvPr id="48" name="ZoneTexte 47">
            <a:extLst>
              <a:ext uri="{FF2B5EF4-FFF2-40B4-BE49-F238E27FC236}">
                <a16:creationId xmlns:a16="http://schemas.microsoft.com/office/drawing/2014/main" id="{38B05EA3-7F24-817E-0B7B-45861E4E3A92}"/>
              </a:ext>
            </a:extLst>
          </p:cNvPr>
          <p:cNvSpPr txBox="1"/>
          <p:nvPr/>
        </p:nvSpPr>
        <p:spPr>
          <a:xfrm>
            <a:off x="5448624" y="5353713"/>
            <a:ext cx="2954907" cy="618631"/>
          </a:xfrm>
          <a:prstGeom prst="rect">
            <a:avLst/>
          </a:prstGeom>
          <a:noFill/>
        </p:spPr>
        <p:txBody>
          <a:bodyPr wrap="square"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simulation.projet.utilisateur.prenom</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simulation.projet.utilisateur.nom</a:t>
            </a:r>
            <a:r>
              <a:rPr lang="fr-FR" sz="855" dirty="0">
                <a:solidFill>
                  <a:prstClr val="black"/>
                </a:solidFill>
                <a:latin typeface="Century Gothic" panose="020B0502020202020204" pitchFamily="34" charset="0"/>
                <a:cs typeface="Arial" panose="020B0604020202020204" pitchFamily="34" charset="0"/>
              </a:rPr>
              <a:t>}}</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simulation.projet.utilisateur.telephone</a:t>
            </a:r>
            <a:r>
              <a:rPr lang="fr-FR" sz="855" dirty="0">
                <a:solidFill>
                  <a:prstClr val="black"/>
                </a:solidFill>
                <a:latin typeface="Century Gothic" panose="020B0502020202020204" pitchFamily="34" charset="0"/>
                <a:cs typeface="Arial" panose="020B0604020202020204" pitchFamily="34" charset="0"/>
              </a:rPr>
              <a:t>}}</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simulation.projet.utilisateur.email</a:t>
            </a:r>
            <a:r>
              <a:rPr lang="fr-FR" sz="855" dirty="0">
                <a:solidFill>
                  <a:prstClr val="black"/>
                </a:solidFill>
                <a:latin typeface="Century Gothic" panose="020B0502020202020204" pitchFamily="34" charset="0"/>
                <a:cs typeface="Arial" panose="020B0604020202020204" pitchFamily="34" charset="0"/>
              </a:rPr>
              <a:t>}} </a:t>
            </a:r>
          </a:p>
        </p:txBody>
      </p:sp>
      <p:sp>
        <p:nvSpPr>
          <p:cNvPr id="49" name="ZoneTexte 48">
            <a:extLst>
              <a:ext uri="{FF2B5EF4-FFF2-40B4-BE49-F238E27FC236}">
                <a16:creationId xmlns:a16="http://schemas.microsoft.com/office/drawing/2014/main" id="{EDBE787A-A814-F03E-E736-66B779407BAA}"/>
              </a:ext>
            </a:extLst>
          </p:cNvPr>
          <p:cNvSpPr txBox="1"/>
          <p:nvPr/>
        </p:nvSpPr>
        <p:spPr>
          <a:xfrm>
            <a:off x="5448623" y="5162697"/>
            <a:ext cx="1748086"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prstClr val="black"/>
                </a:solidFill>
                <a:latin typeface="Century Gothic" panose="020B0502020202020204" pitchFamily="34" charset="0"/>
                <a:cs typeface="Arial" panose="020B0604020202020204" pitchFamily="34" charset="0"/>
              </a:rPr>
              <a:t>Offre présentée par :</a:t>
            </a:r>
          </a:p>
        </p:txBody>
      </p:sp>
      <p:sp>
        <p:nvSpPr>
          <p:cNvPr id="50" name="Ellipse 49">
            <a:extLst>
              <a:ext uri="{FF2B5EF4-FFF2-40B4-BE49-F238E27FC236}">
                <a16:creationId xmlns:a16="http://schemas.microsoft.com/office/drawing/2014/main" id="{2AC41B73-EE3F-9E8D-8FA8-7D2B20FFC92A}"/>
              </a:ext>
            </a:extLst>
          </p:cNvPr>
          <p:cNvSpPr/>
          <p:nvPr/>
        </p:nvSpPr>
        <p:spPr>
          <a:xfrm flipV="1">
            <a:off x="5937653" y="2998776"/>
            <a:ext cx="84388" cy="8438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390987"/>
            <a:endParaRPr lang="fr-FR" sz="855">
              <a:solidFill>
                <a:prstClr val="black"/>
              </a:solidFill>
              <a:latin typeface="Century Gothic" panose="020B0502020202020204" pitchFamily="34" charset="0"/>
            </a:endParaRPr>
          </a:p>
        </p:txBody>
      </p:sp>
      <p:pic>
        <p:nvPicPr>
          <p:cNvPr id="51" name="Image 50" descr="Une image contenant texte, clipart&#10;&#10;Description générée automatiquement">
            <a:extLst>
              <a:ext uri="{FF2B5EF4-FFF2-40B4-BE49-F238E27FC236}">
                <a16:creationId xmlns:a16="http://schemas.microsoft.com/office/drawing/2014/main" id="{A03C3216-2A5C-8296-DB2F-2EAAAAB1C48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5404335" y="1218121"/>
            <a:ext cx="1558505" cy="679594"/>
          </a:xfrm>
          <a:prstGeom prst="rect">
            <a:avLst/>
          </a:prstGeom>
        </p:spPr>
      </p:pic>
      <p:sp>
        <p:nvSpPr>
          <p:cNvPr id="54" name="Rectangle 53" descr="simulation.projet.organisation.image" title="simulation.projet.organisation.image">
            <a:extLst>
              <a:ext uri="{FF2B5EF4-FFF2-40B4-BE49-F238E27FC236}">
                <a16:creationId xmlns:a16="http://schemas.microsoft.com/office/drawing/2014/main" id="{4564F8D9-F6AD-E76B-1653-2F83D0D91DC1}"/>
              </a:ext>
            </a:extLst>
          </p:cNvPr>
          <p:cNvSpPr/>
          <p:nvPr/>
        </p:nvSpPr>
        <p:spPr>
          <a:xfrm>
            <a:off x="7582055" y="1157020"/>
            <a:ext cx="1705562" cy="85176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90987"/>
            <a:endParaRPr lang="fr-FR" sz="1539">
              <a:solidFill>
                <a:prstClr val="white"/>
              </a:solidFill>
              <a:latin typeface="Calibri" panose="020F0502020204030204"/>
            </a:endParaRPr>
          </a:p>
        </p:txBody>
      </p:sp>
      <p:sp>
        <p:nvSpPr>
          <p:cNvPr id="2" name="ZoneTexte 1">
            <a:extLst>
              <a:ext uri="{FF2B5EF4-FFF2-40B4-BE49-F238E27FC236}">
                <a16:creationId xmlns:a16="http://schemas.microsoft.com/office/drawing/2014/main" id="{44A3A6CA-1279-5D1C-617A-B17D5E4791DC}"/>
              </a:ext>
            </a:extLst>
          </p:cNvPr>
          <p:cNvSpPr txBox="1"/>
          <p:nvPr/>
        </p:nvSpPr>
        <p:spPr>
          <a:xfrm>
            <a:off x="5448623" y="2800546"/>
            <a:ext cx="1705562"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Validité de l’offre : 1 mois</a:t>
            </a:r>
          </a:p>
        </p:txBody>
      </p:sp>
      <p:grpSp>
        <p:nvGrpSpPr>
          <p:cNvPr id="10" name="Groupe 9">
            <a:extLst>
              <a:ext uri="{FF2B5EF4-FFF2-40B4-BE49-F238E27FC236}">
                <a16:creationId xmlns:a16="http://schemas.microsoft.com/office/drawing/2014/main" id="{D3ADA18A-DE26-5907-027A-90F81AB51B38}"/>
              </a:ext>
            </a:extLst>
          </p:cNvPr>
          <p:cNvGrpSpPr/>
          <p:nvPr/>
        </p:nvGrpSpPr>
        <p:grpSpPr>
          <a:xfrm>
            <a:off x="195634" y="0"/>
            <a:ext cx="4597175" cy="7559675"/>
            <a:chOff x="178333" y="0"/>
            <a:chExt cx="5115594" cy="8412172"/>
          </a:xfrm>
        </p:grpSpPr>
        <p:pic>
          <p:nvPicPr>
            <p:cNvPr id="3" name="Image 2">
              <a:extLst>
                <a:ext uri="{FF2B5EF4-FFF2-40B4-BE49-F238E27FC236}">
                  <a16:creationId xmlns:a16="http://schemas.microsoft.com/office/drawing/2014/main" id="{8EC8255A-E473-3552-7B83-D30D6DEB3C0F}"/>
                </a:ext>
              </a:extLst>
            </p:cNvPr>
            <p:cNvPicPr>
              <a:picLocks noChangeAspect="1"/>
            </p:cNvPicPr>
            <p:nvPr/>
          </p:nvPicPr>
          <p:blipFill>
            <a:blip r:embed="rId3" cstate="print">
              <a:extLst>
                <a:ext uri="{28A0092B-C50C-407E-A947-70E740481C1C}">
                  <a14:useLocalDpi xmlns:a14="http://schemas.microsoft.com/office/drawing/2010/main"/>
                </a:ext>
              </a:extLst>
            </a:blip>
            <a:srcRect/>
            <a:stretch/>
          </p:blipFill>
          <p:spPr>
            <a:xfrm>
              <a:off x="178333" y="0"/>
              <a:ext cx="5111587" cy="3406272"/>
            </a:xfrm>
            <a:prstGeom prst="rect">
              <a:avLst/>
            </a:prstGeom>
          </p:spPr>
        </p:pic>
        <p:pic>
          <p:nvPicPr>
            <p:cNvPr id="4" name="Image 3">
              <a:extLst>
                <a:ext uri="{FF2B5EF4-FFF2-40B4-BE49-F238E27FC236}">
                  <a16:creationId xmlns:a16="http://schemas.microsoft.com/office/drawing/2014/main" id="{BC62A945-0E03-794F-8DED-8EA2E63D9EFC}"/>
                </a:ext>
              </a:extLst>
            </p:cNvPr>
            <p:cNvPicPr>
              <a:picLocks noChangeAspect="1"/>
            </p:cNvPicPr>
            <p:nvPr/>
          </p:nvPicPr>
          <p:blipFill>
            <a:blip r:embed="rId4" cstate="print">
              <a:extLst>
                <a:ext uri="{28A0092B-C50C-407E-A947-70E740481C1C}">
                  <a14:useLocalDpi xmlns:a14="http://schemas.microsoft.com/office/drawing/2010/main"/>
                </a:ext>
              </a:extLst>
            </a:blip>
            <a:srcRect/>
            <a:stretch/>
          </p:blipFill>
          <p:spPr>
            <a:xfrm>
              <a:off x="187085" y="5050431"/>
              <a:ext cx="5106842" cy="3361741"/>
            </a:xfrm>
            <a:prstGeom prst="rect">
              <a:avLst/>
            </a:prstGeom>
          </p:spPr>
        </p:pic>
        <p:pic>
          <p:nvPicPr>
            <p:cNvPr id="6" name="Image 5">
              <a:extLst>
                <a:ext uri="{FF2B5EF4-FFF2-40B4-BE49-F238E27FC236}">
                  <a16:creationId xmlns:a16="http://schemas.microsoft.com/office/drawing/2014/main" id="{9CE23816-19BC-A961-3FD3-50150DD71B00}"/>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a:off x="3592801" y="3406272"/>
              <a:ext cx="1698003" cy="1681992"/>
            </a:xfrm>
            <a:prstGeom prst="rect">
              <a:avLst/>
            </a:prstGeom>
          </p:spPr>
        </p:pic>
        <p:pic>
          <p:nvPicPr>
            <p:cNvPr id="7" name="Image 6">
              <a:extLst>
                <a:ext uri="{FF2B5EF4-FFF2-40B4-BE49-F238E27FC236}">
                  <a16:creationId xmlns:a16="http://schemas.microsoft.com/office/drawing/2014/main" id="{6A334966-AFF1-3025-85CA-AFFC28119DFB}"/>
                </a:ext>
              </a:extLst>
            </p:cNvPr>
            <p:cNvPicPr>
              <a:picLocks noChangeAspect="1"/>
            </p:cNvPicPr>
            <p:nvPr/>
          </p:nvPicPr>
          <p:blipFill>
            <a:blip r:embed="rId6" cstate="print">
              <a:extLst>
                <a:ext uri="{28A0092B-C50C-407E-A947-70E740481C1C}">
                  <a14:useLocalDpi xmlns:a14="http://schemas.microsoft.com/office/drawing/2010/main"/>
                </a:ext>
              </a:extLst>
            </a:blip>
            <a:srcRect/>
            <a:stretch/>
          </p:blipFill>
          <p:spPr>
            <a:xfrm>
              <a:off x="187085" y="3406617"/>
              <a:ext cx="1717121" cy="1668081"/>
            </a:xfrm>
            <a:prstGeom prst="rect">
              <a:avLst/>
            </a:prstGeom>
          </p:spPr>
        </p:pic>
        <p:pic>
          <p:nvPicPr>
            <p:cNvPr id="5" name="Image 4">
              <a:extLst>
                <a:ext uri="{FF2B5EF4-FFF2-40B4-BE49-F238E27FC236}">
                  <a16:creationId xmlns:a16="http://schemas.microsoft.com/office/drawing/2014/main" id="{DDD25EBE-C5DA-B00B-750F-DFBA8B760E9F}"/>
                </a:ext>
              </a:extLst>
            </p:cNvPr>
            <p:cNvPicPr>
              <a:picLocks noChangeAspect="1"/>
            </p:cNvPicPr>
            <p:nvPr/>
          </p:nvPicPr>
          <p:blipFill>
            <a:blip r:embed="rId7" cstate="print">
              <a:extLst>
                <a:ext uri="{28A0092B-C50C-407E-A947-70E740481C1C}">
                  <a14:useLocalDpi xmlns:a14="http://schemas.microsoft.com/office/drawing/2010/main"/>
                </a:ext>
              </a:extLst>
            </a:blip>
            <a:srcRect/>
            <a:stretch/>
          </p:blipFill>
          <p:spPr>
            <a:xfrm>
              <a:off x="1903458" y="3408581"/>
              <a:ext cx="1698003" cy="1681992"/>
            </a:xfrm>
            <a:prstGeom prst="rect">
              <a:avLst/>
            </a:prstGeom>
          </p:spPr>
        </p:pic>
      </p:grpSp>
      <p:sp>
        <p:nvSpPr>
          <p:cNvPr id="9" name="Rectangle 8">
            <a:extLst>
              <a:ext uri="{FF2B5EF4-FFF2-40B4-BE49-F238E27FC236}">
                <a16:creationId xmlns:a16="http://schemas.microsoft.com/office/drawing/2014/main" id="{BB2415E8-0418-998F-9F0D-149E9BC9201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1" name="Image 10">
            <a:extLst>
              <a:ext uri="{FF2B5EF4-FFF2-40B4-BE49-F238E27FC236}">
                <a16:creationId xmlns:a16="http://schemas.microsoft.com/office/drawing/2014/main" id="{CD8BFED4-C10F-9135-5699-5096ACA97141}"/>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23504476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97EF8C7-A33D-C349-4167-360B00E015CE}"/>
              </a:ext>
            </a:extLst>
          </p:cNvPr>
          <p:cNvSpPr txBox="1">
            <a:spLocks/>
          </p:cNvSpPr>
          <p:nvPr/>
        </p:nvSpPr>
        <p:spPr>
          <a:xfrm>
            <a:off x="1510747" y="2858060"/>
            <a:ext cx="3415382" cy="1141878"/>
          </a:xfrm>
          <a:prstGeom prst="rect">
            <a:avLst/>
          </a:prstGeom>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3600" b="1" dirty="0">
                <a:solidFill>
                  <a:prstClr val="black"/>
                </a:solidFill>
                <a:latin typeface="Century Gothic" panose="020B0502020202020204" pitchFamily="34" charset="0"/>
              </a:rPr>
              <a:t>Présentation </a:t>
            </a:r>
          </a:p>
          <a:p>
            <a:pPr defTabSz="390987"/>
            <a:r>
              <a:rPr lang="fr-FR" sz="3600" b="1" dirty="0">
                <a:solidFill>
                  <a:prstClr val="black"/>
                </a:solidFill>
                <a:latin typeface="Century Gothic" panose="020B0502020202020204" pitchFamily="34" charset="0"/>
              </a:rPr>
              <a:t>de l’entreprise</a:t>
            </a:r>
          </a:p>
        </p:txBody>
      </p:sp>
      <p:sp>
        <p:nvSpPr>
          <p:cNvPr id="7" name="Rectangle 6">
            <a:extLst>
              <a:ext uri="{FF2B5EF4-FFF2-40B4-BE49-F238E27FC236}">
                <a16:creationId xmlns:a16="http://schemas.microsoft.com/office/drawing/2014/main" id="{86F0E767-8BB0-9442-6D4D-E7BAB9D0519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4" name="Rectangle 3">
            <a:extLst>
              <a:ext uri="{FF2B5EF4-FFF2-40B4-BE49-F238E27FC236}">
                <a16:creationId xmlns:a16="http://schemas.microsoft.com/office/drawing/2014/main" id="{64BF1DED-D2C6-25E9-081E-3BB98B60E794}"/>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8" name="Image 7">
            <a:extLst>
              <a:ext uri="{FF2B5EF4-FFF2-40B4-BE49-F238E27FC236}">
                <a16:creationId xmlns:a16="http://schemas.microsoft.com/office/drawing/2014/main" id="{D217A770-E1D6-3DFE-8F91-6780FB18A02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10" name="Rectangle 9">
            <a:extLst>
              <a:ext uri="{FF2B5EF4-FFF2-40B4-BE49-F238E27FC236}">
                <a16:creationId xmlns:a16="http://schemas.microsoft.com/office/drawing/2014/main" id="{F8EF8903-A0EA-85B4-6943-D6E0DB5D4A0E}"/>
              </a:ext>
            </a:extLst>
          </p:cNvPr>
          <p:cNvSpPr/>
          <p:nvPr/>
        </p:nvSpPr>
        <p:spPr>
          <a:xfrm>
            <a:off x="5775683" y="2769466"/>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74C1E82-F55C-B778-D037-1CC1C460A36B}"/>
              </a:ext>
            </a:extLst>
          </p:cNvPr>
          <p:cNvSpPr/>
          <p:nvPr/>
        </p:nvSpPr>
        <p:spPr>
          <a:xfrm>
            <a:off x="9046154" y="1123807"/>
            <a:ext cx="1645659" cy="1645659"/>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5" name="Image 4" descr="Une image contenant personne, Visage humain, Blazer, habits&#10;&#10;Le contenu généré par l’IA peut être incorrect.">
            <a:extLst>
              <a:ext uri="{FF2B5EF4-FFF2-40B4-BE49-F238E27FC236}">
                <a16:creationId xmlns:a16="http://schemas.microsoft.com/office/drawing/2014/main" id="{4544F399-605E-DB10-1735-167833BDEA5D}"/>
              </a:ext>
            </a:extLst>
          </p:cNvPr>
          <p:cNvPicPr>
            <a:picLocks noChangeAspect="1"/>
          </p:cNvPicPr>
          <p:nvPr/>
        </p:nvPicPr>
        <p:blipFill>
          <a:blip r:embed="rId3" cstate="print">
            <a:extLst>
              <a:ext uri="{28A0092B-C50C-407E-A947-70E740481C1C}">
                <a14:useLocalDpi xmlns:a14="http://schemas.microsoft.com/office/drawing/2010/main"/>
              </a:ext>
            </a:extLst>
          </a:blip>
          <a:srcRect/>
          <a:stretch/>
        </p:blipFill>
        <p:spPr>
          <a:xfrm>
            <a:off x="5070599" y="137901"/>
            <a:ext cx="4384621" cy="5902036"/>
          </a:xfrm>
          <a:prstGeom prst="rect">
            <a:avLst/>
          </a:prstGeom>
        </p:spPr>
      </p:pic>
    </p:spTree>
    <p:extLst>
      <p:ext uri="{BB962C8B-B14F-4D97-AF65-F5344CB8AC3E}">
        <p14:creationId xmlns:p14="http://schemas.microsoft.com/office/powerpoint/2010/main" val="2986748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9" name="Groupe 188">
            <a:extLst>
              <a:ext uri="{FF2B5EF4-FFF2-40B4-BE49-F238E27FC236}">
                <a16:creationId xmlns:a16="http://schemas.microsoft.com/office/drawing/2014/main" id="{804B5D71-5D9E-4BB9-A118-8EAB2A864002}"/>
              </a:ext>
            </a:extLst>
          </p:cNvPr>
          <p:cNvGrpSpPr/>
          <p:nvPr/>
        </p:nvGrpSpPr>
        <p:grpSpPr>
          <a:xfrm>
            <a:off x="3716041" y="2572158"/>
            <a:ext cx="3203210" cy="2228333"/>
            <a:chOff x="3274308" y="1337521"/>
            <a:chExt cx="4452372" cy="3097320"/>
          </a:xfrm>
        </p:grpSpPr>
        <p:sp>
          <p:nvSpPr>
            <p:cNvPr id="220" name="Rectangle 219">
              <a:extLst>
                <a:ext uri="{FF2B5EF4-FFF2-40B4-BE49-F238E27FC236}">
                  <a16:creationId xmlns:a16="http://schemas.microsoft.com/office/drawing/2014/main" id="{5FE7C024-5CC4-4C53-A854-E3A4ED8D0332}"/>
                </a:ext>
              </a:extLst>
            </p:cNvPr>
            <p:cNvSpPr/>
            <p:nvPr/>
          </p:nvSpPr>
          <p:spPr>
            <a:xfrm>
              <a:off x="3274308" y="2201134"/>
              <a:ext cx="2226186" cy="222618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defTabSz="390987"/>
              <a:endParaRPr lang="fr-FR" sz="1539">
                <a:solidFill>
                  <a:prstClr val="white"/>
                </a:solidFill>
                <a:latin typeface="Arial Nova" panose="020B0504020202020204" pitchFamily="34" charset="0"/>
                <a:cs typeface="Arial" panose="020B0604020202020204" pitchFamily="34" charset="0"/>
              </a:endParaRPr>
            </a:p>
          </p:txBody>
        </p:sp>
        <p:pic>
          <p:nvPicPr>
            <p:cNvPr id="221" name="Image 220" descr="Une image contenant texte, clipart, graphiques vectoriels&#10;&#10;Description générée automatiquement">
              <a:extLst>
                <a:ext uri="{FF2B5EF4-FFF2-40B4-BE49-F238E27FC236}">
                  <a16:creationId xmlns:a16="http://schemas.microsoft.com/office/drawing/2014/main" id="{01625E29-6D93-47C6-9554-BE5ACD5499D7}"/>
                </a:ext>
              </a:extLst>
            </p:cNvPr>
            <p:cNvPicPr>
              <a:picLocks noChangeAspect="1"/>
            </p:cNvPicPr>
            <p:nvPr/>
          </p:nvPicPr>
          <p:blipFill>
            <a:blip r:embed="rId2"/>
            <a:stretch>
              <a:fillRect/>
            </a:stretch>
          </p:blipFill>
          <p:spPr>
            <a:xfrm>
              <a:off x="5500494" y="2201134"/>
              <a:ext cx="2226186" cy="2233707"/>
            </a:xfrm>
            <a:prstGeom prst="rect">
              <a:avLst/>
            </a:prstGeom>
          </p:spPr>
        </p:pic>
        <p:pic>
          <p:nvPicPr>
            <p:cNvPr id="222" name="Image 221" descr="Une image contenant personne&#10;&#10;Description générée automatiquement">
              <a:extLst>
                <a:ext uri="{FF2B5EF4-FFF2-40B4-BE49-F238E27FC236}">
                  <a16:creationId xmlns:a16="http://schemas.microsoft.com/office/drawing/2014/main" id="{A5F13AFD-AF0C-406D-A0A0-5CE138D10C4D}"/>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768085" y="1337521"/>
              <a:ext cx="3464819" cy="3097320"/>
            </a:xfrm>
            <a:prstGeom prst="rect">
              <a:avLst/>
            </a:prstGeom>
          </p:spPr>
        </p:pic>
      </p:grpSp>
      <p:sp>
        <p:nvSpPr>
          <p:cNvPr id="190" name="ZoneTexte 12">
            <a:extLst>
              <a:ext uri="{FF2B5EF4-FFF2-40B4-BE49-F238E27FC236}">
                <a16:creationId xmlns:a16="http://schemas.microsoft.com/office/drawing/2014/main" id="{B62DEBA0-40CB-489E-842F-0C01FB1800E3}"/>
              </a:ext>
            </a:extLst>
          </p:cNvPr>
          <p:cNvSpPr txBox="1"/>
          <p:nvPr/>
        </p:nvSpPr>
        <p:spPr>
          <a:xfrm>
            <a:off x="985830" y="1990383"/>
            <a:ext cx="2101677" cy="1600438"/>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endParaRPr lang="fr-FR" sz="1400" b="1" baseline="30000" dirty="0">
              <a:solidFill>
                <a:srgbClr val="000000"/>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Imprimantes A4 et A3 </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P</a:t>
            </a:r>
            <a:r>
              <a:rPr lang="fr-FR" sz="1400" baseline="30000" dirty="0">
                <a:solidFill>
                  <a:srgbClr val="434341"/>
                </a:solidFill>
                <a:latin typeface="Arial Nova" panose="020B0504020202020204" pitchFamily="34" charset="0"/>
                <a:cs typeface="Arial" panose="020B0604020202020204" pitchFamily="34" charset="0"/>
              </a:rPr>
              <a:t>hotocopieurs A4 et A3 </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Imprimantes grand format</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Gestion de parc d’impression</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Presse numérique &amp; traceurs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Scanners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Consommables</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191" name="ZoneTexte 14">
            <a:extLst>
              <a:ext uri="{FF2B5EF4-FFF2-40B4-BE49-F238E27FC236}">
                <a16:creationId xmlns:a16="http://schemas.microsoft.com/office/drawing/2014/main" id="{5D7A0C58-1D48-4EF1-966D-B2A1D56D61BA}"/>
              </a:ext>
            </a:extLst>
          </p:cNvPr>
          <p:cNvSpPr txBox="1"/>
          <p:nvPr/>
        </p:nvSpPr>
        <p:spPr>
          <a:xfrm>
            <a:off x="7231722" y="1659226"/>
            <a:ext cx="2401293" cy="12413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endParaRPr lang="fr-FR" sz="1400" b="1" baseline="30000" dirty="0">
              <a:solidFill>
                <a:srgbClr val="000000"/>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Liens Internet (</a:t>
            </a:r>
            <a:r>
              <a:rPr lang="fr-FR" sz="1400" baseline="30000" dirty="0" err="1">
                <a:solidFill>
                  <a:srgbClr val="434341"/>
                </a:solidFill>
                <a:latin typeface="Arial Nova" panose="020B0504020202020204" pitchFamily="34" charset="0"/>
                <a:cs typeface="Arial" panose="020B0604020202020204" pitchFamily="34" charset="0"/>
              </a:rPr>
              <a:t>adsl</a:t>
            </a:r>
            <a:r>
              <a:rPr lang="fr-FR" sz="1400" baseline="30000" dirty="0">
                <a:solidFill>
                  <a:srgbClr val="434341"/>
                </a:solidFill>
                <a:latin typeface="Arial Nova" panose="020B0504020202020204" pitchFamily="34" charset="0"/>
                <a:cs typeface="Arial" panose="020B0604020202020204" pitchFamily="34" charset="0"/>
              </a:rPr>
              <a:t>, fibre …)</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Téléphonie fixe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Forfaits mobile</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Interconnexion de sites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Visioconférence</a:t>
            </a:r>
            <a:endParaRPr lang="fr-FR" sz="1400" baseline="30000" dirty="0">
              <a:solidFill>
                <a:srgbClr val="E94B57"/>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Postes téléphoniques &amp; casques</a:t>
            </a:r>
            <a:endParaRPr lang="fr-FR" sz="1400" baseline="30000" dirty="0">
              <a:solidFill>
                <a:srgbClr val="E94B57"/>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t>
            </a:r>
            <a:r>
              <a:rPr lang="fr-FR" sz="1400" baseline="30000" dirty="0" err="1">
                <a:solidFill>
                  <a:srgbClr val="434341"/>
                </a:solidFill>
                <a:latin typeface="Arial Nova" panose="020B0504020202020204" pitchFamily="34" charset="0"/>
                <a:cs typeface="Arial" panose="020B0604020202020204" pitchFamily="34" charset="0"/>
              </a:rPr>
              <a:t>Softphonie</a:t>
            </a:r>
            <a:r>
              <a:rPr lang="fr-FR" sz="1400" baseline="30000" dirty="0">
                <a:solidFill>
                  <a:srgbClr val="434341"/>
                </a:solidFill>
                <a:latin typeface="Arial Nova" panose="020B0504020202020204" pitchFamily="34" charset="0"/>
                <a:cs typeface="Arial" panose="020B0604020202020204" pitchFamily="34" charset="0"/>
              </a:rPr>
              <a:t> et téléphonie cloud</a:t>
            </a:r>
          </a:p>
        </p:txBody>
      </p:sp>
      <p:sp>
        <p:nvSpPr>
          <p:cNvPr id="192" name="ZoneTexte 16">
            <a:extLst>
              <a:ext uri="{FF2B5EF4-FFF2-40B4-BE49-F238E27FC236}">
                <a16:creationId xmlns:a16="http://schemas.microsoft.com/office/drawing/2014/main" id="{E10D4F72-5F37-4B82-A76D-8939DD40EE60}"/>
              </a:ext>
            </a:extLst>
          </p:cNvPr>
          <p:cNvSpPr txBox="1"/>
          <p:nvPr/>
        </p:nvSpPr>
        <p:spPr>
          <a:xfrm>
            <a:off x="927096" y="5796408"/>
            <a:ext cx="2264271" cy="810478"/>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Gestion : comptabilité, finance, RH, ERP, production… </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CRM</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Business intelligence</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p:txBody>
      </p:sp>
      <p:sp>
        <p:nvSpPr>
          <p:cNvPr id="193" name="ZoneTexte 18">
            <a:extLst>
              <a:ext uri="{FF2B5EF4-FFF2-40B4-BE49-F238E27FC236}">
                <a16:creationId xmlns:a16="http://schemas.microsoft.com/office/drawing/2014/main" id="{F571674E-37FB-4E8B-AF6F-E402BBBE91DC}"/>
              </a:ext>
            </a:extLst>
          </p:cNvPr>
          <p:cNvSpPr txBox="1"/>
          <p:nvPr/>
        </p:nvSpPr>
        <p:spPr>
          <a:xfrm>
            <a:off x="921977" y="5075889"/>
            <a:ext cx="2233609" cy="1025922"/>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Dématérialisation des documents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Signature électronique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Automatisation des processus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Gestion électronique des documents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Composition et édition du document</a:t>
            </a: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194" name="ZoneTexte 20">
            <a:extLst>
              <a:ext uri="{FF2B5EF4-FFF2-40B4-BE49-F238E27FC236}">
                <a16:creationId xmlns:a16="http://schemas.microsoft.com/office/drawing/2014/main" id="{F7995F77-6589-422A-87C1-83D768D495B2}"/>
              </a:ext>
            </a:extLst>
          </p:cNvPr>
          <p:cNvSpPr txBox="1"/>
          <p:nvPr/>
        </p:nvSpPr>
        <p:spPr>
          <a:xfrm>
            <a:off x="7809098" y="5072638"/>
            <a:ext cx="2356104" cy="1313180"/>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Utilisateurs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Sécurité proactive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RGPD</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Equipement audio &amp; visioconférence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Écrans tactiles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Affichage dynamique</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200" name="ZoneTexte 32">
            <a:extLst>
              <a:ext uri="{FF2B5EF4-FFF2-40B4-BE49-F238E27FC236}">
                <a16:creationId xmlns:a16="http://schemas.microsoft.com/office/drawing/2014/main" id="{3BD0D439-6B25-41A7-8560-B469443A8DB0}"/>
              </a:ext>
            </a:extLst>
          </p:cNvPr>
          <p:cNvSpPr txBox="1"/>
          <p:nvPr/>
        </p:nvSpPr>
        <p:spPr>
          <a:xfrm>
            <a:off x="7806438" y="4201292"/>
            <a:ext cx="2481633" cy="954107"/>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Infrastructure (serveurs, stockage, réseaux…)</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Environnement utilisateur : postes de travail, outils collaboratifs…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Hébergement &amp; Cloud</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Services managés</a:t>
            </a:r>
          </a:p>
        </p:txBody>
      </p:sp>
      <p:pic>
        <p:nvPicPr>
          <p:cNvPr id="202" name="Graphique 39">
            <a:extLst>
              <a:ext uri="{FF2B5EF4-FFF2-40B4-BE49-F238E27FC236}">
                <a16:creationId xmlns:a16="http://schemas.microsoft.com/office/drawing/2014/main" id="{A204F90A-065D-4063-81E3-28E6EAA9400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16243" y="2481337"/>
            <a:ext cx="706592" cy="706592"/>
          </a:xfrm>
          <a:prstGeom prst="rect">
            <a:avLst/>
          </a:prstGeom>
        </p:spPr>
      </p:pic>
      <p:pic>
        <p:nvPicPr>
          <p:cNvPr id="203" name="Graphique 41">
            <a:extLst>
              <a:ext uri="{FF2B5EF4-FFF2-40B4-BE49-F238E27FC236}">
                <a16:creationId xmlns:a16="http://schemas.microsoft.com/office/drawing/2014/main" id="{5058263D-CE35-4163-82DB-5621BD8D954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16244" y="2113993"/>
            <a:ext cx="367343" cy="367343"/>
          </a:xfrm>
          <a:prstGeom prst="rect">
            <a:avLst/>
          </a:prstGeom>
        </p:spPr>
      </p:pic>
      <p:pic>
        <p:nvPicPr>
          <p:cNvPr id="207" name="Graphique 47">
            <a:extLst>
              <a:ext uri="{FF2B5EF4-FFF2-40B4-BE49-F238E27FC236}">
                <a16:creationId xmlns:a16="http://schemas.microsoft.com/office/drawing/2014/main" id="{82A2AE6E-6F38-4890-A630-ED89A53CEA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275797" y="5482611"/>
            <a:ext cx="352103" cy="352103"/>
          </a:xfrm>
          <a:prstGeom prst="rect">
            <a:avLst/>
          </a:prstGeom>
        </p:spPr>
      </p:pic>
      <p:pic>
        <p:nvPicPr>
          <p:cNvPr id="209" name="Graphique 50">
            <a:extLst>
              <a:ext uri="{FF2B5EF4-FFF2-40B4-BE49-F238E27FC236}">
                <a16:creationId xmlns:a16="http://schemas.microsoft.com/office/drawing/2014/main" id="{4D1D5E16-19FD-4427-B79C-F6E53FB3ECA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364280" y="5158561"/>
            <a:ext cx="709053" cy="709053"/>
          </a:xfrm>
          <a:prstGeom prst="rect">
            <a:avLst/>
          </a:prstGeom>
        </p:spPr>
      </p:pic>
      <p:pic>
        <p:nvPicPr>
          <p:cNvPr id="210" name="Graphique 52">
            <a:extLst>
              <a:ext uri="{FF2B5EF4-FFF2-40B4-BE49-F238E27FC236}">
                <a16:creationId xmlns:a16="http://schemas.microsoft.com/office/drawing/2014/main" id="{C4918393-7FEE-40D5-B3C6-46C1750A7F6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222036" y="2137753"/>
            <a:ext cx="704729" cy="704729"/>
          </a:xfrm>
          <a:prstGeom prst="rect">
            <a:avLst/>
          </a:prstGeom>
        </p:spPr>
      </p:pic>
      <p:pic>
        <p:nvPicPr>
          <p:cNvPr id="212" name="Graphique 59">
            <a:extLst>
              <a:ext uri="{FF2B5EF4-FFF2-40B4-BE49-F238E27FC236}">
                <a16:creationId xmlns:a16="http://schemas.microsoft.com/office/drawing/2014/main" id="{D7D4F7C0-4EAE-4B9B-9429-3EA977EFF334}"/>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6909653" y="4768575"/>
            <a:ext cx="720262" cy="720262"/>
          </a:xfrm>
          <a:prstGeom prst="rect">
            <a:avLst/>
          </a:prstGeom>
        </p:spPr>
      </p:pic>
      <p:pic>
        <p:nvPicPr>
          <p:cNvPr id="213" name="Graphique 62">
            <a:extLst>
              <a:ext uri="{FF2B5EF4-FFF2-40B4-BE49-F238E27FC236}">
                <a16:creationId xmlns:a16="http://schemas.microsoft.com/office/drawing/2014/main" id="{657BD877-908D-4D59-8EEC-6188C115A3B1}"/>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712000" y="4795080"/>
            <a:ext cx="360319" cy="360319"/>
          </a:xfrm>
          <a:prstGeom prst="rect">
            <a:avLst/>
          </a:prstGeom>
        </p:spPr>
      </p:pic>
      <p:sp>
        <p:nvSpPr>
          <p:cNvPr id="2" name="ZoneTexte 1">
            <a:extLst>
              <a:ext uri="{FF2B5EF4-FFF2-40B4-BE49-F238E27FC236}">
                <a16:creationId xmlns:a16="http://schemas.microsoft.com/office/drawing/2014/main" id="{58C35189-C4B8-2701-F6A8-E872334C766A}"/>
              </a:ext>
            </a:extLst>
          </p:cNvPr>
          <p:cNvSpPr txBox="1"/>
          <p:nvPr/>
        </p:nvSpPr>
        <p:spPr>
          <a:xfrm>
            <a:off x="7231722" y="1013934"/>
            <a:ext cx="2090859" cy="707886"/>
          </a:xfrm>
          <a:prstGeom prst="rect">
            <a:avLst/>
          </a:prstGeom>
          <a:noFill/>
        </p:spPr>
        <p:txBody>
          <a:bodyPr wrap="square" rtlCol="0">
            <a:spAutoFit/>
          </a:bodyPr>
          <a:lstStyle/>
          <a:p>
            <a:r>
              <a:rPr lang="fr-FR" sz="2000" b="1" dirty="0">
                <a:latin typeface="Arial Nova" panose="020B0504020202020204" pitchFamily="34" charset="0"/>
              </a:rPr>
              <a:t>Opérateur &amp; Téléphonie</a:t>
            </a:r>
          </a:p>
        </p:txBody>
      </p:sp>
      <p:sp>
        <p:nvSpPr>
          <p:cNvPr id="3" name="ZoneTexte 2">
            <a:extLst>
              <a:ext uri="{FF2B5EF4-FFF2-40B4-BE49-F238E27FC236}">
                <a16:creationId xmlns:a16="http://schemas.microsoft.com/office/drawing/2014/main" id="{F74C1891-DBE3-35D9-62CE-DAFCF4E331A5}"/>
              </a:ext>
            </a:extLst>
          </p:cNvPr>
          <p:cNvSpPr txBox="1"/>
          <p:nvPr/>
        </p:nvSpPr>
        <p:spPr>
          <a:xfrm>
            <a:off x="925275" y="4302959"/>
            <a:ext cx="2856885" cy="707886"/>
          </a:xfrm>
          <a:prstGeom prst="rect">
            <a:avLst/>
          </a:prstGeom>
          <a:noFill/>
        </p:spPr>
        <p:txBody>
          <a:bodyPr wrap="square" rtlCol="0">
            <a:spAutoFit/>
          </a:bodyPr>
          <a:lstStyle/>
          <a:p>
            <a:r>
              <a:rPr lang="fr-FR" sz="2000" b="1" dirty="0">
                <a:latin typeface="Arial Nova" panose="020B0504020202020204" pitchFamily="34" charset="0"/>
              </a:rPr>
              <a:t>Gestion, BI, GED &amp; Dématérialisation</a:t>
            </a:r>
          </a:p>
        </p:txBody>
      </p:sp>
      <p:sp>
        <p:nvSpPr>
          <p:cNvPr id="5" name="ZoneTexte 4">
            <a:extLst>
              <a:ext uri="{FF2B5EF4-FFF2-40B4-BE49-F238E27FC236}">
                <a16:creationId xmlns:a16="http://schemas.microsoft.com/office/drawing/2014/main" id="{77897664-87DF-B9DB-7514-10CD12501403}"/>
              </a:ext>
            </a:extLst>
          </p:cNvPr>
          <p:cNvSpPr txBox="1"/>
          <p:nvPr/>
        </p:nvSpPr>
        <p:spPr>
          <a:xfrm>
            <a:off x="7806438" y="3411676"/>
            <a:ext cx="2816674" cy="707886"/>
          </a:xfrm>
          <a:prstGeom prst="rect">
            <a:avLst/>
          </a:prstGeom>
          <a:noFill/>
        </p:spPr>
        <p:txBody>
          <a:bodyPr wrap="square" rtlCol="0">
            <a:spAutoFit/>
          </a:bodyPr>
          <a:lstStyle/>
          <a:p>
            <a:r>
              <a:rPr lang="fr-FR" sz="2000" b="1" dirty="0">
                <a:latin typeface="Arial Nova" panose="020B0504020202020204" pitchFamily="34" charset="0"/>
              </a:rPr>
              <a:t>Informatique &amp; Sécurité</a:t>
            </a:r>
          </a:p>
        </p:txBody>
      </p:sp>
      <p:pic>
        <p:nvPicPr>
          <p:cNvPr id="211" name="Graphique 54">
            <a:extLst>
              <a:ext uri="{FF2B5EF4-FFF2-40B4-BE49-F238E27FC236}">
                <a16:creationId xmlns:a16="http://schemas.microsoft.com/office/drawing/2014/main" id="{FC21A16C-448E-4028-A17E-81B119ED28B1}"/>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564010" y="2834635"/>
            <a:ext cx="360319" cy="360319"/>
          </a:xfrm>
          <a:prstGeom prst="rect">
            <a:avLst/>
          </a:prstGeom>
        </p:spPr>
      </p:pic>
      <p:sp>
        <p:nvSpPr>
          <p:cNvPr id="6" name="ZoneTexte 5">
            <a:extLst>
              <a:ext uri="{FF2B5EF4-FFF2-40B4-BE49-F238E27FC236}">
                <a16:creationId xmlns:a16="http://schemas.microsoft.com/office/drawing/2014/main" id="{306C1CFD-D81E-42E4-5866-62455739EC48}"/>
              </a:ext>
            </a:extLst>
          </p:cNvPr>
          <p:cNvSpPr txBox="1"/>
          <p:nvPr/>
        </p:nvSpPr>
        <p:spPr>
          <a:xfrm>
            <a:off x="1012707" y="1678335"/>
            <a:ext cx="2856885" cy="400110"/>
          </a:xfrm>
          <a:prstGeom prst="rect">
            <a:avLst/>
          </a:prstGeom>
          <a:noFill/>
        </p:spPr>
        <p:txBody>
          <a:bodyPr wrap="square" rtlCol="0">
            <a:spAutoFit/>
          </a:bodyPr>
          <a:lstStyle/>
          <a:p>
            <a:r>
              <a:rPr lang="fr-FR" sz="2000" b="1" dirty="0">
                <a:latin typeface="Arial Nova" panose="020B0504020202020204" pitchFamily="34" charset="0"/>
              </a:rPr>
              <a:t>Impression</a:t>
            </a:r>
          </a:p>
        </p:txBody>
      </p:sp>
      <p:sp>
        <p:nvSpPr>
          <p:cNvPr id="8" name="Rectangle 7">
            <a:extLst>
              <a:ext uri="{FF2B5EF4-FFF2-40B4-BE49-F238E27FC236}">
                <a16:creationId xmlns:a16="http://schemas.microsoft.com/office/drawing/2014/main" id="{9CFAADFF-0F24-9C96-CAB1-29FCB6F9A67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9" name="Rectangle 8">
            <a:extLst>
              <a:ext uri="{FF2B5EF4-FFF2-40B4-BE49-F238E27FC236}">
                <a16:creationId xmlns:a16="http://schemas.microsoft.com/office/drawing/2014/main" id="{CD654489-15BD-7351-8E13-BB5DBE3C50B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10" name="Image 9">
            <a:extLst>
              <a:ext uri="{FF2B5EF4-FFF2-40B4-BE49-F238E27FC236}">
                <a16:creationId xmlns:a16="http://schemas.microsoft.com/office/drawing/2014/main" id="{63B460DA-CCC3-46D8-BC13-BAD8626E51CB}"/>
              </a:ext>
            </a:extLst>
          </p:cNvPr>
          <p:cNvPicPr>
            <a:picLocks noChangeAspect="1"/>
          </p:cNvPicPr>
          <p:nvPr/>
        </p:nvPicPr>
        <p:blipFill>
          <a:blip r:embed="rId20"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11" name="Titre 1">
            <a:extLst>
              <a:ext uri="{FF2B5EF4-FFF2-40B4-BE49-F238E27FC236}">
                <a16:creationId xmlns:a16="http://schemas.microsoft.com/office/drawing/2014/main" id="{B0F572B2-CD0E-63FB-1018-159BF722ED27}"/>
              </a:ext>
            </a:extLst>
          </p:cNvPr>
          <p:cNvSpPr txBox="1">
            <a:spLocks/>
          </p:cNvSpPr>
          <p:nvPr/>
        </p:nvSpPr>
        <p:spPr>
          <a:xfrm>
            <a:off x="762906" y="265328"/>
            <a:ext cx="5442188" cy="1034696"/>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Une convergence unique pour vous accompagner dans la transformation numérique</a:t>
            </a:r>
          </a:p>
        </p:txBody>
      </p:sp>
    </p:spTree>
    <p:extLst>
      <p:ext uri="{BB962C8B-B14F-4D97-AF65-F5344CB8AC3E}">
        <p14:creationId xmlns:p14="http://schemas.microsoft.com/office/powerpoint/2010/main" val="478675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662BAE92-6D50-6E60-8CC4-715E8217BBD2}"/>
              </a:ext>
            </a:extLst>
          </p:cNvPr>
          <p:cNvSpPr/>
          <p:nvPr/>
        </p:nvSpPr>
        <p:spPr>
          <a:xfrm>
            <a:off x="6168735" y="2643545"/>
            <a:ext cx="3270471" cy="327047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 name="Image 1" descr="Une image contenant personne, tenant&#10;&#10;Description générée automatiquement">
            <a:extLst>
              <a:ext uri="{FF2B5EF4-FFF2-40B4-BE49-F238E27FC236}">
                <a16:creationId xmlns:a16="http://schemas.microsoft.com/office/drawing/2014/main" id="{54DBD9CE-4A24-6EC9-DEEA-BD2A6077D32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385788" y="1047175"/>
            <a:ext cx="3244561" cy="4866842"/>
          </a:xfrm>
          <a:prstGeom prst="rect">
            <a:avLst/>
          </a:prstGeom>
        </p:spPr>
      </p:pic>
      <p:sp>
        <p:nvSpPr>
          <p:cNvPr id="8" name="Rectangle 7">
            <a:extLst>
              <a:ext uri="{FF2B5EF4-FFF2-40B4-BE49-F238E27FC236}">
                <a16:creationId xmlns:a16="http://schemas.microsoft.com/office/drawing/2014/main" id="{0C568E65-D154-D9FF-3386-93810A658E1B}"/>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4" name="Espace réservé du texte 1">
            <a:extLst>
              <a:ext uri="{FF2B5EF4-FFF2-40B4-BE49-F238E27FC236}">
                <a16:creationId xmlns:a16="http://schemas.microsoft.com/office/drawing/2014/main" id="{72CB8F02-B1F9-29E2-2D8E-6099559496B3}"/>
              </a:ext>
            </a:extLst>
          </p:cNvPr>
          <p:cNvSpPr txBox="1">
            <a:spLocks/>
          </p:cNvSpPr>
          <p:nvPr/>
        </p:nvSpPr>
        <p:spPr>
          <a:xfrm>
            <a:off x="1510747" y="2858060"/>
            <a:ext cx="3415382" cy="1141878"/>
          </a:xfrm>
          <a:prstGeom prst="rect">
            <a:avLst/>
          </a:prstGeom>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3600" b="1" dirty="0">
                <a:solidFill>
                  <a:prstClr val="black"/>
                </a:solidFill>
                <a:latin typeface="Century Gothic" panose="020B0502020202020204" pitchFamily="34" charset="0"/>
              </a:rPr>
              <a:t>Votre situation actuelle</a:t>
            </a:r>
          </a:p>
        </p:txBody>
      </p:sp>
      <p:sp>
        <p:nvSpPr>
          <p:cNvPr id="6" name="Rectangle 5">
            <a:extLst>
              <a:ext uri="{FF2B5EF4-FFF2-40B4-BE49-F238E27FC236}">
                <a16:creationId xmlns:a16="http://schemas.microsoft.com/office/drawing/2014/main" id="{264B4D3B-E882-DE4C-A26D-5B70AE18AC70}"/>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9" name="Image 8">
            <a:extLst>
              <a:ext uri="{FF2B5EF4-FFF2-40B4-BE49-F238E27FC236}">
                <a16:creationId xmlns:a16="http://schemas.microsoft.com/office/drawing/2014/main" id="{9134BD31-3248-02B5-0E8D-1FB22A2F686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DE5CEE07-328E-33B9-2317-97F33D1C5F87}"/>
              </a:ext>
            </a:extLst>
          </p:cNvPr>
          <p:cNvSpPr/>
          <p:nvPr/>
        </p:nvSpPr>
        <p:spPr>
          <a:xfrm>
            <a:off x="4523076" y="5914016"/>
            <a:ext cx="1645659" cy="164565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4750472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FE3FA-1FD9-05F7-6252-0EBB52B27DEB}"/>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1502AEFA-0A3A-3CA3-9DDB-0E859E909B08}"/>
              </a:ext>
            </a:extLst>
          </p:cNvPr>
          <p:cNvSpPr/>
          <p:nvPr/>
        </p:nvSpPr>
        <p:spPr>
          <a:xfrm>
            <a:off x="890220" y="4116605"/>
            <a:ext cx="4776797" cy="3152040"/>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grpSp>
        <p:nvGrpSpPr>
          <p:cNvPr id="56" name="Groupe 55">
            <a:extLst>
              <a:ext uri="{FF2B5EF4-FFF2-40B4-BE49-F238E27FC236}">
                <a16:creationId xmlns:a16="http://schemas.microsoft.com/office/drawing/2014/main" id="{B8487119-284A-5EC0-096D-B1B40DADDC04}"/>
              </a:ext>
            </a:extLst>
          </p:cNvPr>
          <p:cNvGrpSpPr/>
          <p:nvPr/>
        </p:nvGrpSpPr>
        <p:grpSpPr>
          <a:xfrm>
            <a:off x="4842332" y="4929761"/>
            <a:ext cx="888317" cy="887861"/>
            <a:chOff x="5404049" y="3343576"/>
            <a:chExt cx="1619752" cy="1618921"/>
          </a:xfrm>
        </p:grpSpPr>
        <p:pic>
          <p:nvPicPr>
            <p:cNvPr id="52" name="Image 51" descr="Une image contenant capture d’écran, texte, cercle, conception&#10;&#10;Le contenu généré par l’IA peut être incorrect.">
              <a:extLst>
                <a:ext uri="{FF2B5EF4-FFF2-40B4-BE49-F238E27FC236}">
                  <a16:creationId xmlns:a16="http://schemas.microsoft.com/office/drawing/2014/main" id="{8F697BE2-4A66-EE7E-4389-E470438199F3}"/>
                </a:ext>
              </a:extLst>
            </p:cNvPr>
            <p:cNvPicPr>
              <a:picLocks noChangeAspect="1"/>
            </p:cNvPicPr>
            <p:nvPr/>
          </p:nvPicPr>
          <p:blipFill>
            <a:blip r:embed="rId2"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404049" y="3343576"/>
              <a:ext cx="901499" cy="942467"/>
            </a:xfrm>
            <a:prstGeom prst="rect">
              <a:avLst/>
            </a:prstGeom>
          </p:spPr>
        </p:pic>
        <p:pic>
          <p:nvPicPr>
            <p:cNvPr id="53" name="Image 52" descr="Une image contenant capture d’écran, texte, cercle, conception&#10;&#10;Le contenu généré par l’IA peut être incorrect.">
              <a:extLst>
                <a:ext uri="{FF2B5EF4-FFF2-40B4-BE49-F238E27FC236}">
                  <a16:creationId xmlns:a16="http://schemas.microsoft.com/office/drawing/2014/main" id="{6A805120-94A2-C4B3-9D03-A862CFFD2FDE}"/>
                </a:ext>
              </a:extLst>
            </p:cNvPr>
            <p:cNvPicPr>
              <a:picLocks noChangeAspect="1"/>
            </p:cNvPicPr>
            <p:nvPr/>
          </p:nvPicPr>
          <p:blipFill>
            <a:blip r:embed="rId3"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6122302" y="3550962"/>
              <a:ext cx="901499" cy="942467"/>
            </a:xfrm>
            <a:prstGeom prst="rect">
              <a:avLst/>
            </a:prstGeom>
          </p:spPr>
        </p:pic>
        <p:pic>
          <p:nvPicPr>
            <p:cNvPr id="54" name="Image 53" descr="Une image contenant capture d’écran, texte, cercle, conception&#10;&#10;Le contenu généré par l’IA peut être incorrect.">
              <a:extLst>
                <a:ext uri="{FF2B5EF4-FFF2-40B4-BE49-F238E27FC236}">
                  <a16:creationId xmlns:a16="http://schemas.microsoft.com/office/drawing/2014/main" id="{A56BCF8B-DB2A-418A-84AA-79798BF64ADB}"/>
                </a:ext>
              </a:extLst>
            </p:cNvPr>
            <p:cNvPicPr>
              <a:picLocks noChangeAspect="1"/>
            </p:cNvPicPr>
            <p:nvPr/>
          </p:nvPicPr>
          <p:blipFill>
            <a:blip r:embed="rId4"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422422" y="4160378"/>
              <a:ext cx="767252" cy="802119"/>
            </a:xfrm>
            <a:prstGeom prst="rect">
              <a:avLst/>
            </a:prstGeom>
          </p:spPr>
        </p:pic>
        <p:pic>
          <p:nvPicPr>
            <p:cNvPr id="55" name="Image 54" descr="Une image contenant capture d’écran, texte, cercle, conception&#10;&#10;Le contenu généré par l’IA peut être incorrect.">
              <a:extLst>
                <a:ext uri="{FF2B5EF4-FFF2-40B4-BE49-F238E27FC236}">
                  <a16:creationId xmlns:a16="http://schemas.microsoft.com/office/drawing/2014/main" id="{9298B7B0-CC59-30E2-2FEA-0EBFA0FE5C30}"/>
                </a:ext>
              </a:extLst>
            </p:cNvPr>
            <p:cNvPicPr>
              <a:picLocks noChangeAspect="1"/>
            </p:cNvPicPr>
            <p:nvPr/>
          </p:nvPicPr>
          <p:blipFill>
            <a:blip r:embed="rId5"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954770" y="4157261"/>
              <a:ext cx="767252" cy="802119"/>
            </a:xfrm>
            <a:prstGeom prst="rect">
              <a:avLst/>
            </a:prstGeom>
          </p:spPr>
        </p:pic>
      </p:grpSp>
      <p:sp>
        <p:nvSpPr>
          <p:cNvPr id="67" name="ZoneTexte 66">
            <a:extLst>
              <a:ext uri="{FF2B5EF4-FFF2-40B4-BE49-F238E27FC236}">
                <a16:creationId xmlns:a16="http://schemas.microsoft.com/office/drawing/2014/main" id="{6E371717-4BBE-3598-B963-A89C2ED4DBB9}"/>
              </a:ext>
            </a:extLst>
          </p:cNvPr>
          <p:cNvSpPr txBox="1"/>
          <p:nvPr/>
        </p:nvSpPr>
        <p:spPr>
          <a:xfrm>
            <a:off x="748488" y="3979629"/>
            <a:ext cx="1494705" cy="338554"/>
          </a:xfrm>
          <a:prstGeom prst="rect">
            <a:avLst/>
          </a:prstGeom>
          <a:noFill/>
        </p:spPr>
        <p:txBody>
          <a:bodyPr wrap="none" rtlCol="0">
            <a:spAutoFit/>
          </a:bodyPr>
          <a:lstStyle/>
          <a:p>
            <a:r>
              <a:rPr lang="fr-FR" sz="1600" b="1" dirty="0">
                <a:latin typeface="Arial Nova" panose="020B0504020202020204" pitchFamily="34" charset="0"/>
              </a:rPr>
              <a:t>VOS USAGES</a:t>
            </a:r>
          </a:p>
        </p:txBody>
      </p:sp>
      <p:sp>
        <p:nvSpPr>
          <p:cNvPr id="57" name="Rectangle 56">
            <a:extLst>
              <a:ext uri="{FF2B5EF4-FFF2-40B4-BE49-F238E27FC236}">
                <a16:creationId xmlns:a16="http://schemas.microsoft.com/office/drawing/2014/main" id="{69B5D52E-F6E1-48CB-4769-710C57D4B8C0}"/>
              </a:ext>
            </a:extLst>
          </p:cNvPr>
          <p:cNvSpPr/>
          <p:nvPr/>
        </p:nvSpPr>
        <p:spPr>
          <a:xfrm>
            <a:off x="881216" y="1358736"/>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1" name="ZoneTexte 10">
            <a:extLst>
              <a:ext uri="{FF2B5EF4-FFF2-40B4-BE49-F238E27FC236}">
                <a16:creationId xmlns:a16="http://schemas.microsoft.com/office/drawing/2014/main" id="{847C2F80-B3A7-968B-61B8-758DF256117C}"/>
              </a:ext>
            </a:extLst>
          </p:cNvPr>
          <p:cNvSpPr txBox="1"/>
          <p:nvPr/>
        </p:nvSpPr>
        <p:spPr>
          <a:xfrm>
            <a:off x="4291807" y="6865048"/>
            <a:ext cx="923971" cy="276999"/>
          </a:xfrm>
          <a:prstGeom prst="rect">
            <a:avLst/>
          </a:prstGeom>
          <a:noFill/>
        </p:spPr>
        <p:txBody>
          <a:bodyPr wrap="none" rtlCol="0">
            <a:spAutoFit/>
          </a:bodyPr>
          <a:lstStyle/>
          <a:p>
            <a:r>
              <a:rPr lang="fr-FR" sz="1200" dirty="0">
                <a:latin typeface="Arial Nova" panose="020B0504020202020204" pitchFamily="34" charset="0"/>
              </a:rPr>
              <a:t>Téléphonie</a:t>
            </a:r>
          </a:p>
        </p:txBody>
      </p:sp>
      <p:sp>
        <p:nvSpPr>
          <p:cNvPr id="17" name="ZoneTexte 16">
            <a:extLst>
              <a:ext uri="{FF2B5EF4-FFF2-40B4-BE49-F238E27FC236}">
                <a16:creationId xmlns:a16="http://schemas.microsoft.com/office/drawing/2014/main" id="{BBA53CF4-BC7D-4B1A-C34F-DDE5451C2BB9}"/>
              </a:ext>
            </a:extLst>
          </p:cNvPr>
          <p:cNvSpPr txBox="1"/>
          <p:nvPr/>
        </p:nvSpPr>
        <p:spPr>
          <a:xfrm>
            <a:off x="2146531" y="6845631"/>
            <a:ext cx="779124" cy="276999"/>
          </a:xfrm>
          <a:prstGeom prst="rect">
            <a:avLst/>
          </a:prstGeom>
          <a:noFill/>
        </p:spPr>
        <p:txBody>
          <a:bodyPr wrap="none" rtlCol="0">
            <a:spAutoFit/>
          </a:bodyPr>
          <a:lstStyle/>
          <a:p>
            <a:r>
              <a:rPr lang="fr-FR" sz="1200" dirty="0">
                <a:latin typeface="Arial Nova" panose="020B0504020202020204" pitchFamily="34" charset="0"/>
              </a:rPr>
              <a:t>Logiciels</a:t>
            </a:r>
          </a:p>
        </p:txBody>
      </p:sp>
      <p:sp>
        <p:nvSpPr>
          <p:cNvPr id="26" name="ZoneTexte 25">
            <a:extLst>
              <a:ext uri="{FF2B5EF4-FFF2-40B4-BE49-F238E27FC236}">
                <a16:creationId xmlns:a16="http://schemas.microsoft.com/office/drawing/2014/main" id="{B4BBBC59-6B1C-460E-36E4-3A6A8DA84F50}"/>
              </a:ext>
            </a:extLst>
          </p:cNvPr>
          <p:cNvSpPr txBox="1"/>
          <p:nvPr/>
        </p:nvSpPr>
        <p:spPr>
          <a:xfrm>
            <a:off x="1296407" y="6830934"/>
            <a:ext cx="504690" cy="276999"/>
          </a:xfrm>
          <a:prstGeom prst="rect">
            <a:avLst/>
          </a:prstGeom>
          <a:noFill/>
        </p:spPr>
        <p:txBody>
          <a:bodyPr wrap="none" rtlCol="0">
            <a:spAutoFit/>
          </a:bodyPr>
          <a:lstStyle/>
          <a:p>
            <a:r>
              <a:rPr lang="fr-FR" sz="1200" dirty="0">
                <a:latin typeface="Arial Nova" panose="020B0504020202020204" pitchFamily="34" charset="0"/>
              </a:rPr>
              <a:t>Visio</a:t>
            </a:r>
          </a:p>
        </p:txBody>
      </p:sp>
      <p:sp>
        <p:nvSpPr>
          <p:cNvPr id="27" name="ZoneTexte 26">
            <a:extLst>
              <a:ext uri="{FF2B5EF4-FFF2-40B4-BE49-F238E27FC236}">
                <a16:creationId xmlns:a16="http://schemas.microsoft.com/office/drawing/2014/main" id="{CB794909-BFBC-EF21-DD70-B1A56F5E2CB9}"/>
              </a:ext>
            </a:extLst>
          </p:cNvPr>
          <p:cNvSpPr txBox="1"/>
          <p:nvPr/>
        </p:nvSpPr>
        <p:spPr>
          <a:xfrm>
            <a:off x="3130435" y="6838765"/>
            <a:ext cx="971228" cy="461665"/>
          </a:xfrm>
          <a:prstGeom prst="rect">
            <a:avLst/>
          </a:prstGeom>
          <a:noFill/>
        </p:spPr>
        <p:txBody>
          <a:bodyPr wrap="none" rtlCol="0">
            <a:spAutoFit/>
          </a:bodyPr>
          <a:lstStyle/>
          <a:p>
            <a:pPr algn="ctr"/>
            <a:r>
              <a:rPr lang="fr-FR" sz="1200" dirty="0">
                <a:latin typeface="Arial Nova" panose="020B0504020202020204" pitchFamily="34" charset="0"/>
              </a:rPr>
              <a:t>Partage de </a:t>
            </a:r>
          </a:p>
          <a:p>
            <a:pPr algn="ctr"/>
            <a:r>
              <a:rPr lang="fr-FR" sz="1200" dirty="0">
                <a:latin typeface="Arial Nova" panose="020B0504020202020204" pitchFamily="34" charset="0"/>
              </a:rPr>
              <a:t>données</a:t>
            </a:r>
          </a:p>
        </p:txBody>
      </p:sp>
      <p:sp>
        <p:nvSpPr>
          <p:cNvPr id="34" name="ZoneTexte 33">
            <a:extLst>
              <a:ext uri="{FF2B5EF4-FFF2-40B4-BE49-F238E27FC236}">
                <a16:creationId xmlns:a16="http://schemas.microsoft.com/office/drawing/2014/main" id="{827413DF-85A3-45A6-A50F-4641BD61D057}"/>
              </a:ext>
            </a:extLst>
          </p:cNvPr>
          <p:cNvSpPr txBox="1"/>
          <p:nvPr/>
        </p:nvSpPr>
        <p:spPr>
          <a:xfrm>
            <a:off x="3772592" y="3989104"/>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5" name="ZoneTexte 34">
            <a:extLst>
              <a:ext uri="{FF2B5EF4-FFF2-40B4-BE49-F238E27FC236}">
                <a16:creationId xmlns:a16="http://schemas.microsoft.com/office/drawing/2014/main" id="{8B81ABB7-90FE-F35D-0547-ABBFE936099F}"/>
              </a:ext>
            </a:extLst>
          </p:cNvPr>
          <p:cNvSpPr txBox="1"/>
          <p:nvPr/>
        </p:nvSpPr>
        <p:spPr>
          <a:xfrm>
            <a:off x="1947574" y="4247312"/>
            <a:ext cx="2259658" cy="307777"/>
          </a:xfrm>
          <a:prstGeom prst="rect">
            <a:avLst/>
          </a:prstGeom>
          <a:noFill/>
        </p:spPr>
        <p:txBody>
          <a:bodyPr wrap="none" rtlCol="0">
            <a:spAutoFit/>
          </a:bodyPr>
          <a:lstStyle/>
          <a:p>
            <a:pPr algn="ctr"/>
            <a:r>
              <a:rPr lang="fr-FR" sz="1400" u="sng" dirty="0">
                <a:latin typeface="Arial Nova" panose="020B0504020202020204" pitchFamily="34" charset="0"/>
              </a:rPr>
              <a:t>Vos types de wifi existants</a:t>
            </a:r>
          </a:p>
        </p:txBody>
      </p:sp>
      <p:sp>
        <p:nvSpPr>
          <p:cNvPr id="36" name="ZoneTexte 35">
            <a:extLst>
              <a:ext uri="{FF2B5EF4-FFF2-40B4-BE49-F238E27FC236}">
                <a16:creationId xmlns:a16="http://schemas.microsoft.com/office/drawing/2014/main" id="{77B06A27-9D62-E4A3-7CD9-0FD9AD92CEEA}"/>
              </a:ext>
            </a:extLst>
          </p:cNvPr>
          <p:cNvSpPr txBox="1"/>
          <p:nvPr/>
        </p:nvSpPr>
        <p:spPr>
          <a:xfrm>
            <a:off x="1390220" y="6020241"/>
            <a:ext cx="3692165" cy="307777"/>
          </a:xfrm>
          <a:prstGeom prst="rect">
            <a:avLst/>
          </a:prstGeom>
          <a:noFill/>
        </p:spPr>
        <p:txBody>
          <a:bodyPr wrap="none" rtlCol="0">
            <a:spAutoFit/>
          </a:bodyPr>
          <a:lstStyle/>
          <a:p>
            <a:pPr algn="ctr"/>
            <a:r>
              <a:rPr lang="fr-FR" sz="1400" u="sng" dirty="0">
                <a:latin typeface="Arial Nova" panose="020B0504020202020204" pitchFamily="34" charset="0"/>
              </a:rPr>
              <a:t>Vos usages principaux de wifi collaborateurs</a:t>
            </a:r>
          </a:p>
        </p:txBody>
      </p:sp>
      <p:sp>
        <p:nvSpPr>
          <p:cNvPr id="39" name="ZoneTexte 38">
            <a:extLst>
              <a:ext uri="{FF2B5EF4-FFF2-40B4-BE49-F238E27FC236}">
                <a16:creationId xmlns:a16="http://schemas.microsoft.com/office/drawing/2014/main" id="{7D26BEB4-8AD0-6FC6-6948-2DEDB79C6EF7}"/>
              </a:ext>
            </a:extLst>
          </p:cNvPr>
          <p:cNvSpPr txBox="1"/>
          <p:nvPr/>
        </p:nvSpPr>
        <p:spPr>
          <a:xfrm>
            <a:off x="1491645" y="2368351"/>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potentiels</a:t>
            </a:r>
          </a:p>
        </p:txBody>
      </p:sp>
      <p:sp>
        <p:nvSpPr>
          <p:cNvPr id="42" name="ZoneTexte 41">
            <a:extLst>
              <a:ext uri="{FF2B5EF4-FFF2-40B4-BE49-F238E27FC236}">
                <a16:creationId xmlns:a16="http://schemas.microsoft.com/office/drawing/2014/main" id="{102254C2-D0DB-E7AC-A962-5B6C44553AE8}"/>
              </a:ext>
            </a:extLst>
          </p:cNvPr>
          <p:cNvSpPr txBox="1"/>
          <p:nvPr/>
        </p:nvSpPr>
        <p:spPr>
          <a:xfrm>
            <a:off x="2696000" y="2368691"/>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simultanés</a:t>
            </a:r>
          </a:p>
        </p:txBody>
      </p:sp>
      <p:sp>
        <p:nvSpPr>
          <p:cNvPr id="43" name="Rectangle 42">
            <a:extLst>
              <a:ext uri="{FF2B5EF4-FFF2-40B4-BE49-F238E27FC236}">
                <a16:creationId xmlns:a16="http://schemas.microsoft.com/office/drawing/2014/main" id="{5D11F8B5-DAE3-FD7B-359B-C4FA9E445EB4}"/>
              </a:ext>
            </a:extLst>
          </p:cNvPr>
          <p:cNvSpPr/>
          <p:nvPr/>
        </p:nvSpPr>
        <p:spPr>
          <a:xfrm>
            <a:off x="2931547" y="2849342"/>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pic>
        <p:nvPicPr>
          <p:cNvPr id="3" name="Image 2">
            <a:extLst>
              <a:ext uri="{FF2B5EF4-FFF2-40B4-BE49-F238E27FC236}">
                <a16:creationId xmlns:a16="http://schemas.microsoft.com/office/drawing/2014/main" id="{8761F243-9439-75CC-1899-06240F4708C7}"/>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5" name="Rectangle 4">
            <a:extLst>
              <a:ext uri="{FF2B5EF4-FFF2-40B4-BE49-F238E27FC236}">
                <a16:creationId xmlns:a16="http://schemas.microsoft.com/office/drawing/2014/main" id="{7FC56F24-D031-4507-D52B-36692A7BC30D}"/>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3" name="Graphique 12">
            <a:extLst>
              <a:ext uri="{FF2B5EF4-FFF2-40B4-BE49-F238E27FC236}">
                <a16:creationId xmlns:a16="http://schemas.microsoft.com/office/drawing/2014/main" id="{AD872467-0FF2-3791-F8C6-D773245F9A02}"/>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l="31191" t="20986"/>
          <a:stretch/>
        </p:blipFill>
        <p:spPr>
          <a:xfrm>
            <a:off x="873420" y="5026469"/>
            <a:ext cx="1124562" cy="860891"/>
          </a:xfrm>
          <a:prstGeom prst="rect">
            <a:avLst/>
          </a:prstGeom>
        </p:spPr>
      </p:pic>
      <p:pic>
        <p:nvPicPr>
          <p:cNvPr id="14" name="Graphique 13">
            <a:extLst>
              <a:ext uri="{FF2B5EF4-FFF2-40B4-BE49-F238E27FC236}">
                <a16:creationId xmlns:a16="http://schemas.microsoft.com/office/drawing/2014/main" id="{02F49F87-1F43-CA12-D79F-16B0877E84A9}"/>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319199" y="4914047"/>
            <a:ext cx="875736" cy="976346"/>
          </a:xfrm>
          <a:prstGeom prst="rect">
            <a:avLst/>
          </a:prstGeom>
        </p:spPr>
      </p:pic>
      <p:grpSp>
        <p:nvGrpSpPr>
          <p:cNvPr id="15" name="Groupe 14">
            <a:extLst>
              <a:ext uri="{FF2B5EF4-FFF2-40B4-BE49-F238E27FC236}">
                <a16:creationId xmlns:a16="http://schemas.microsoft.com/office/drawing/2014/main" id="{BB10A752-A08C-1849-18CB-3F04C880DD23}"/>
              </a:ext>
            </a:extLst>
          </p:cNvPr>
          <p:cNvGrpSpPr/>
          <p:nvPr/>
        </p:nvGrpSpPr>
        <p:grpSpPr>
          <a:xfrm>
            <a:off x="3545283" y="4898308"/>
            <a:ext cx="1036036" cy="1019036"/>
            <a:chOff x="8897781" y="2137780"/>
            <a:chExt cx="2391271" cy="2478706"/>
          </a:xfrm>
        </p:grpSpPr>
        <p:pic>
          <p:nvPicPr>
            <p:cNvPr id="16" name="Graphique 15">
              <a:extLst>
                <a:ext uri="{FF2B5EF4-FFF2-40B4-BE49-F238E27FC236}">
                  <a16:creationId xmlns:a16="http://schemas.microsoft.com/office/drawing/2014/main" id="{04B70162-9F6E-46EA-0F57-BCAF89C94677}"/>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8897781" y="2137780"/>
              <a:ext cx="1805205" cy="1552866"/>
            </a:xfrm>
            <a:prstGeom prst="rect">
              <a:avLst/>
            </a:prstGeom>
          </p:spPr>
        </p:pic>
        <p:pic>
          <p:nvPicPr>
            <p:cNvPr id="18" name="Graphique 17">
              <a:extLst>
                <a:ext uri="{FF2B5EF4-FFF2-40B4-BE49-F238E27FC236}">
                  <a16:creationId xmlns:a16="http://schemas.microsoft.com/office/drawing/2014/main" id="{AECC5CD7-F77F-3A31-C1AD-C3EEAC9BC949}"/>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483846" y="2328209"/>
              <a:ext cx="1805205" cy="1552866"/>
            </a:xfrm>
            <a:prstGeom prst="rect">
              <a:avLst/>
            </a:prstGeom>
          </p:spPr>
        </p:pic>
        <p:pic>
          <p:nvPicPr>
            <p:cNvPr id="19" name="Graphique 18">
              <a:extLst>
                <a:ext uri="{FF2B5EF4-FFF2-40B4-BE49-F238E27FC236}">
                  <a16:creationId xmlns:a16="http://schemas.microsoft.com/office/drawing/2014/main" id="{0FCDCE72-7F9E-FAFB-40B2-654F439E995D}"/>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483847" y="3063620"/>
              <a:ext cx="1805205" cy="1552866"/>
            </a:xfrm>
            <a:prstGeom prst="rect">
              <a:avLst/>
            </a:prstGeom>
          </p:spPr>
        </p:pic>
        <p:pic>
          <p:nvPicPr>
            <p:cNvPr id="20" name="Graphique 19">
              <a:extLst>
                <a:ext uri="{FF2B5EF4-FFF2-40B4-BE49-F238E27FC236}">
                  <a16:creationId xmlns:a16="http://schemas.microsoft.com/office/drawing/2014/main" id="{21B9D23B-4C8F-41AF-D9A2-BEBF2A412A5C}"/>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044650" y="3027567"/>
              <a:ext cx="1805205" cy="1552866"/>
            </a:xfrm>
            <a:prstGeom prst="rect">
              <a:avLst/>
            </a:prstGeom>
          </p:spPr>
        </p:pic>
      </p:grpSp>
      <p:sp>
        <p:nvSpPr>
          <p:cNvPr id="21" name="ZoneTexte 20">
            <a:extLst>
              <a:ext uri="{FF2B5EF4-FFF2-40B4-BE49-F238E27FC236}">
                <a16:creationId xmlns:a16="http://schemas.microsoft.com/office/drawing/2014/main" id="{C818CD00-DF20-B158-F12A-CC46412C6E8E}"/>
              </a:ext>
            </a:extLst>
          </p:cNvPr>
          <p:cNvSpPr txBox="1"/>
          <p:nvPr/>
        </p:nvSpPr>
        <p:spPr>
          <a:xfrm>
            <a:off x="785491" y="4544169"/>
            <a:ext cx="1339863" cy="430887"/>
          </a:xfrm>
          <a:prstGeom prst="rect">
            <a:avLst/>
          </a:prstGeom>
          <a:noFill/>
        </p:spPr>
        <p:txBody>
          <a:bodyPr wrap="squar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D’ENTREPRISE</a:t>
            </a:r>
          </a:p>
        </p:txBody>
      </p:sp>
      <p:sp>
        <p:nvSpPr>
          <p:cNvPr id="22" name="ZoneTexte 21">
            <a:extLst>
              <a:ext uri="{FF2B5EF4-FFF2-40B4-BE49-F238E27FC236}">
                <a16:creationId xmlns:a16="http://schemas.microsoft.com/office/drawing/2014/main" id="{EE106059-3AD8-C069-9FC1-1F7BD4F43131}"/>
              </a:ext>
            </a:extLst>
          </p:cNvPr>
          <p:cNvSpPr txBox="1"/>
          <p:nvPr/>
        </p:nvSpPr>
        <p:spPr>
          <a:xfrm>
            <a:off x="2417864" y="4544169"/>
            <a:ext cx="734055" cy="430887"/>
          </a:xfrm>
          <a:prstGeom prst="rect">
            <a:avLst/>
          </a:prstGeom>
          <a:noFill/>
        </p:spPr>
        <p:txBody>
          <a:bodyPr wrap="squar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INVITÉ</a:t>
            </a:r>
          </a:p>
        </p:txBody>
      </p:sp>
      <p:sp>
        <p:nvSpPr>
          <p:cNvPr id="23" name="ZoneTexte 22">
            <a:extLst>
              <a:ext uri="{FF2B5EF4-FFF2-40B4-BE49-F238E27FC236}">
                <a16:creationId xmlns:a16="http://schemas.microsoft.com/office/drawing/2014/main" id="{DE227632-13DA-0F21-0ED7-572391A49C6C}"/>
              </a:ext>
            </a:extLst>
          </p:cNvPr>
          <p:cNvSpPr txBox="1"/>
          <p:nvPr/>
        </p:nvSpPr>
        <p:spPr>
          <a:xfrm>
            <a:off x="3799114" y="4557219"/>
            <a:ext cx="686406" cy="430887"/>
          </a:xfrm>
          <a:prstGeom prst="rect">
            <a:avLst/>
          </a:prstGeom>
          <a:noFill/>
        </p:spPr>
        <p:txBody>
          <a:bodyPr wrap="non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CAPTIF</a:t>
            </a:r>
          </a:p>
        </p:txBody>
      </p:sp>
      <p:sp>
        <p:nvSpPr>
          <p:cNvPr id="58" name="ZoneTexte 57">
            <a:extLst>
              <a:ext uri="{FF2B5EF4-FFF2-40B4-BE49-F238E27FC236}">
                <a16:creationId xmlns:a16="http://schemas.microsoft.com/office/drawing/2014/main" id="{6A86E46B-511F-AAFA-DFED-CCA0530881F3}"/>
              </a:ext>
            </a:extLst>
          </p:cNvPr>
          <p:cNvSpPr txBox="1"/>
          <p:nvPr/>
        </p:nvSpPr>
        <p:spPr>
          <a:xfrm>
            <a:off x="780922" y="1225412"/>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3FABA2B9-F2BB-CB19-36BF-94EBF04554E0}"/>
              </a:ext>
            </a:extLst>
          </p:cNvPr>
          <p:cNvSpPr/>
          <p:nvPr/>
        </p:nvSpPr>
        <p:spPr>
          <a:xfrm>
            <a:off x="1705630" y="2849342"/>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D326CAEA-9115-8DAE-4BC5-4E7CEA42E092}"/>
              </a:ext>
            </a:extLst>
          </p:cNvPr>
          <p:cNvSpPr txBox="1"/>
          <p:nvPr/>
        </p:nvSpPr>
        <p:spPr>
          <a:xfrm>
            <a:off x="1034174" y="1555440"/>
            <a:ext cx="994247" cy="646331"/>
          </a:xfrm>
          <a:prstGeom prst="rect">
            <a:avLst/>
          </a:prstGeom>
          <a:noFill/>
        </p:spPr>
        <p:txBody>
          <a:bodyPr wrap="none" rtlCol="0">
            <a:spAutoFit/>
          </a:bodyPr>
          <a:lstStyle/>
          <a:p>
            <a:r>
              <a:rPr lang="fr-FR" sz="1200" dirty="0">
                <a:latin typeface="Arial Nova" panose="020B0504020202020204" pitchFamily="34" charset="0"/>
              </a:rPr>
              <a:t>Solution :</a:t>
            </a:r>
          </a:p>
          <a:p>
            <a:endParaRPr lang="fr-FR" sz="1200" dirty="0">
              <a:latin typeface="Arial Nova" panose="020B0504020202020204" pitchFamily="34" charset="0"/>
            </a:endParaRPr>
          </a:p>
          <a:p>
            <a:r>
              <a:rPr lang="fr-FR" sz="1200" dirty="0">
                <a:latin typeface="Arial Nova" panose="020B0504020202020204" pitchFamily="34" charset="0"/>
              </a:rPr>
              <a:t>Prestataire :</a:t>
            </a:r>
          </a:p>
        </p:txBody>
      </p:sp>
      <p:sp>
        <p:nvSpPr>
          <p:cNvPr id="64" name="ZoneTexte 63">
            <a:extLst>
              <a:ext uri="{FF2B5EF4-FFF2-40B4-BE49-F238E27FC236}">
                <a16:creationId xmlns:a16="http://schemas.microsoft.com/office/drawing/2014/main" id="{E2FA5E38-F29F-5318-70DF-AD284905564A}"/>
              </a:ext>
            </a:extLst>
          </p:cNvPr>
          <p:cNvSpPr txBox="1"/>
          <p:nvPr/>
        </p:nvSpPr>
        <p:spPr>
          <a:xfrm>
            <a:off x="4096369" y="2358046"/>
            <a:ext cx="941733" cy="461665"/>
          </a:xfrm>
          <a:prstGeom prst="rect">
            <a:avLst/>
          </a:prstGeom>
          <a:noFill/>
        </p:spPr>
        <p:txBody>
          <a:bodyPr wrap="none" rtlCol="0">
            <a:spAutoFit/>
          </a:bodyPr>
          <a:lstStyle/>
          <a:p>
            <a:pPr algn="ctr"/>
            <a:r>
              <a:rPr lang="fr-FR" sz="1200" dirty="0">
                <a:latin typeface="Arial Nova" panose="020B0504020202020204" pitchFamily="34" charset="0"/>
              </a:rPr>
              <a:t>Niveau de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C386CED2-8D0C-02CD-AA0C-0D037FB2D159}"/>
              </a:ext>
            </a:extLst>
          </p:cNvPr>
          <p:cNvSpPr/>
          <p:nvPr/>
        </p:nvSpPr>
        <p:spPr>
          <a:xfrm>
            <a:off x="4207232" y="2838697"/>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24" name="ZoneTexte 23">
            <a:extLst>
              <a:ext uri="{FF2B5EF4-FFF2-40B4-BE49-F238E27FC236}">
                <a16:creationId xmlns:a16="http://schemas.microsoft.com/office/drawing/2014/main" id="{B2263A21-B944-17D0-95C9-EB479C875335}"/>
              </a:ext>
            </a:extLst>
          </p:cNvPr>
          <p:cNvSpPr txBox="1"/>
          <p:nvPr/>
        </p:nvSpPr>
        <p:spPr>
          <a:xfrm>
            <a:off x="4983178" y="4575410"/>
            <a:ext cx="519694" cy="430887"/>
          </a:xfrm>
          <a:prstGeom prst="rect">
            <a:avLst/>
          </a:prstGeom>
          <a:noFill/>
        </p:spPr>
        <p:txBody>
          <a:bodyPr wrap="non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IOT</a:t>
            </a:r>
          </a:p>
        </p:txBody>
      </p:sp>
      <p:sp>
        <p:nvSpPr>
          <p:cNvPr id="68" name="Rectangle 67">
            <a:extLst>
              <a:ext uri="{FF2B5EF4-FFF2-40B4-BE49-F238E27FC236}">
                <a16:creationId xmlns:a16="http://schemas.microsoft.com/office/drawing/2014/main" id="{880A3B4F-34FF-02DF-1C6D-3497E0C8426F}"/>
              </a:ext>
            </a:extLst>
          </p:cNvPr>
          <p:cNvSpPr/>
          <p:nvPr/>
        </p:nvSpPr>
        <p:spPr>
          <a:xfrm>
            <a:off x="6576059" y="1190019"/>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7ACFF79C-0979-9299-920B-DE5546A1AD1E}"/>
              </a:ext>
            </a:extLst>
          </p:cNvPr>
          <p:cNvSpPr txBox="1"/>
          <p:nvPr/>
        </p:nvSpPr>
        <p:spPr>
          <a:xfrm>
            <a:off x="6572821" y="963854"/>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95FB72DA-6293-BD2D-F9B0-8CA7E2829C46}"/>
              </a:ext>
            </a:extLst>
          </p:cNvPr>
          <p:cNvSpPr/>
          <p:nvPr/>
        </p:nvSpPr>
        <p:spPr>
          <a:xfrm>
            <a:off x="6572821" y="3134063"/>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5D77A3A7-5830-C0AD-CFF2-DD9325617867}"/>
              </a:ext>
            </a:extLst>
          </p:cNvPr>
          <p:cNvSpPr txBox="1"/>
          <p:nvPr/>
        </p:nvSpPr>
        <p:spPr>
          <a:xfrm>
            <a:off x="6572821" y="2907898"/>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B7EC2186-5798-43B1-80FC-25FE242A2139}"/>
              </a:ext>
            </a:extLst>
          </p:cNvPr>
          <p:cNvSpPr/>
          <p:nvPr/>
        </p:nvSpPr>
        <p:spPr>
          <a:xfrm>
            <a:off x="6572821" y="5192106"/>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7D8FDF86-F7B9-3CF7-5534-E9261B309036}"/>
              </a:ext>
            </a:extLst>
          </p:cNvPr>
          <p:cNvSpPr txBox="1"/>
          <p:nvPr/>
        </p:nvSpPr>
        <p:spPr>
          <a:xfrm>
            <a:off x="6572821" y="4965941"/>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7E570A2D-9395-5D19-1A8F-B03517922C01}"/>
              </a:ext>
            </a:extLst>
          </p:cNvPr>
          <p:cNvSpPr>
            <a:spLocks noChangeArrowheads="1"/>
          </p:cNvSpPr>
          <p:nvPr/>
        </p:nvSpPr>
        <p:spPr bwMode="auto">
          <a:xfrm>
            <a:off x="6504299" y="1239560"/>
            <a:ext cx="3212739"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Couverture insuffisante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Déconnexions fréquentes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performances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Est-ce que mon réseau est sécurisé ?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Je donne mon </a:t>
            </a:r>
            <a:r>
              <a:rPr kumimoji="0" lang="fr-FR" altLang="fr-FR" sz="1100" b="0" i="0" u="none" strike="noStrike" cap="none" normalizeH="0" baseline="0" dirty="0" err="1">
                <a:ln>
                  <a:noFill/>
                </a:ln>
                <a:solidFill>
                  <a:schemeClr val="tx1"/>
                </a:solidFill>
                <a:effectLst/>
                <a:latin typeface="Arial Nova" panose="020B0504020202020204" pitchFamily="34" charset="0"/>
              </a:rPr>
              <a:t>mdp</a:t>
            </a:r>
            <a:r>
              <a:rPr kumimoji="0" lang="fr-FR" altLang="fr-FR" sz="1100" b="0" i="0" u="none" strike="noStrike" cap="none" normalizeH="0" baseline="0" dirty="0">
                <a:ln>
                  <a:noFill/>
                </a:ln>
                <a:solidFill>
                  <a:schemeClr val="tx1"/>
                </a:solidFill>
                <a:effectLst/>
                <a:latin typeface="Arial Nova" panose="020B0504020202020204" pitchFamily="34" charset="0"/>
              </a:rPr>
              <a:t> à des personnes externes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Je ne suis pas satisfait de mon prestataire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76" name="Rectangle 1">
            <a:extLst>
              <a:ext uri="{FF2B5EF4-FFF2-40B4-BE49-F238E27FC236}">
                <a16:creationId xmlns:a16="http://schemas.microsoft.com/office/drawing/2014/main" id="{646C0C85-5662-250C-1ED2-46E6BFF8F236}"/>
              </a:ext>
            </a:extLst>
          </p:cNvPr>
          <p:cNvSpPr>
            <a:spLocks noChangeArrowheads="1"/>
          </p:cNvSpPr>
          <p:nvPr/>
        </p:nvSpPr>
        <p:spPr bwMode="auto">
          <a:xfrm>
            <a:off x="6504299" y="3305696"/>
            <a:ext cx="2965877"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Extension de la couverture </a:t>
            </a:r>
            <a:r>
              <a:rPr kumimoji="0" lang="fr-FR" altLang="fr-FR" sz="1100" b="0" i="0" u="none" strike="noStrike" cap="none" normalizeH="0" baseline="0" dirty="0" err="1">
                <a:ln>
                  <a:noFill/>
                </a:ln>
                <a:solidFill>
                  <a:schemeClr val="tx1"/>
                </a:solidFill>
                <a:effectLst/>
                <a:latin typeface="Arial Nova" panose="020B0504020202020204" pitchFamily="34" charset="0"/>
              </a:rPr>
              <a:t>WiFi</a:t>
            </a:r>
            <a:r>
              <a:rPr kumimoji="0" lang="fr-FR" altLang="fr-FR" sz="1100" b="0" i="0" u="none" strike="noStrike" cap="none" normalizeH="0" baseline="0" dirty="0">
                <a:ln>
                  <a:noFill/>
                </a:ln>
                <a:solidFill>
                  <a:schemeClr val="tx1"/>
                </a:solidFill>
                <a:effectLst/>
                <a:latin typeface="Arial Nova" panose="020B0504020202020204" pitchFamily="34" charset="0"/>
              </a:rPr>
              <a:t>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 réseau invité sécurisé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Un service plus réactif</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Une disponibilité du service client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lang="fr-FR" altLang="fr-FR" sz="1100" dirty="0">
                <a:latin typeface="Arial Nova" panose="020B0504020202020204" pitchFamily="34" charset="0"/>
              </a:rPr>
              <a:t>Gestion d’un portail captif</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77" name="Rectangle 1">
            <a:extLst>
              <a:ext uri="{FF2B5EF4-FFF2-40B4-BE49-F238E27FC236}">
                <a16:creationId xmlns:a16="http://schemas.microsoft.com/office/drawing/2014/main" id="{68C5C9BC-2CDA-CD41-9C7E-23FE145EF575}"/>
              </a:ext>
            </a:extLst>
          </p:cNvPr>
          <p:cNvSpPr>
            <a:spLocks noChangeArrowheads="1"/>
          </p:cNvSpPr>
          <p:nvPr/>
        </p:nvSpPr>
        <p:spPr bwMode="auto">
          <a:xfrm>
            <a:off x="6598575" y="5611756"/>
            <a:ext cx="2816797"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Sécurisation des accès privés et invités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Couverture de wifi adapté à l’entreprise</a:t>
            </a:r>
          </a:p>
        </p:txBody>
      </p:sp>
      <p:sp>
        <p:nvSpPr>
          <p:cNvPr id="10" name="Titre 1">
            <a:extLst>
              <a:ext uri="{FF2B5EF4-FFF2-40B4-BE49-F238E27FC236}">
                <a16:creationId xmlns:a16="http://schemas.microsoft.com/office/drawing/2014/main" id="{E14B853D-0644-1641-12E4-64E23AA65A56}"/>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WIFI</a:t>
            </a:r>
          </a:p>
        </p:txBody>
      </p:sp>
      <p:pic>
        <p:nvPicPr>
          <p:cNvPr id="12" name="Image 11">
            <a:extLst>
              <a:ext uri="{FF2B5EF4-FFF2-40B4-BE49-F238E27FC236}">
                <a16:creationId xmlns:a16="http://schemas.microsoft.com/office/drawing/2014/main" id="{AFDB2426-1CE6-79E7-BC9E-F74A0C82AF56}"/>
              </a:ext>
            </a:extLst>
          </p:cNvPr>
          <p:cNvPicPr>
            <a:picLocks noChangeAspect="1"/>
          </p:cNvPicPr>
          <p:nvPr/>
        </p:nvPicPr>
        <p:blipFill rotWithShape="1">
          <a:blip r:embed="rId13"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38" name="Graphique 37">
            <a:extLst>
              <a:ext uri="{FF2B5EF4-FFF2-40B4-BE49-F238E27FC236}">
                <a16:creationId xmlns:a16="http://schemas.microsoft.com/office/drawing/2014/main" id="{9A46BD0E-4BFF-858A-CBF3-4558C069CA1E}"/>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331059" y="6389664"/>
            <a:ext cx="435386" cy="413737"/>
          </a:xfrm>
          <a:prstGeom prst="rect">
            <a:avLst/>
          </a:prstGeom>
        </p:spPr>
      </p:pic>
      <p:pic>
        <p:nvPicPr>
          <p:cNvPr id="45" name="Graphique 44">
            <a:extLst>
              <a:ext uri="{FF2B5EF4-FFF2-40B4-BE49-F238E27FC236}">
                <a16:creationId xmlns:a16="http://schemas.microsoft.com/office/drawing/2014/main" id="{084CCAAB-4B9F-868E-1A68-257C48D9D7D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79429" y="6438538"/>
            <a:ext cx="427376" cy="424323"/>
          </a:xfrm>
          <a:prstGeom prst="rect">
            <a:avLst/>
          </a:prstGeom>
        </p:spPr>
      </p:pic>
      <p:pic>
        <p:nvPicPr>
          <p:cNvPr id="51" name="Graphique 50">
            <a:extLst>
              <a:ext uri="{FF2B5EF4-FFF2-40B4-BE49-F238E27FC236}">
                <a16:creationId xmlns:a16="http://schemas.microsoft.com/office/drawing/2014/main" id="{A89ADC91-906B-349C-91E7-3056B5149D66}"/>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308874" y="6420039"/>
            <a:ext cx="508956" cy="441988"/>
          </a:xfrm>
          <a:prstGeom prst="rect">
            <a:avLst/>
          </a:prstGeom>
        </p:spPr>
      </p:pic>
      <p:pic>
        <p:nvPicPr>
          <p:cNvPr id="69" name="Graphique 68">
            <a:extLst>
              <a:ext uri="{FF2B5EF4-FFF2-40B4-BE49-F238E27FC236}">
                <a16:creationId xmlns:a16="http://schemas.microsoft.com/office/drawing/2014/main" id="{01EB024C-9E39-5AFD-3BC1-FBD6184A9FC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4524974" y="6408984"/>
            <a:ext cx="333539" cy="416924"/>
          </a:xfrm>
          <a:prstGeom prst="rect">
            <a:avLst/>
          </a:prstGeom>
        </p:spPr>
      </p:pic>
      <p:sp>
        <p:nvSpPr>
          <p:cNvPr id="83" name="Rectangle 82">
            <a:extLst>
              <a:ext uri="{FF2B5EF4-FFF2-40B4-BE49-F238E27FC236}">
                <a16:creationId xmlns:a16="http://schemas.microsoft.com/office/drawing/2014/main" id="{74D9F4E3-D3A9-45F2-5C31-9ED46563EAF7}"/>
              </a:ext>
            </a:extLst>
          </p:cNvPr>
          <p:cNvSpPr/>
          <p:nvPr/>
        </p:nvSpPr>
        <p:spPr>
          <a:xfrm>
            <a:off x="707094" y="124901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84" name="Rectangle 83">
            <a:extLst>
              <a:ext uri="{FF2B5EF4-FFF2-40B4-BE49-F238E27FC236}">
                <a16:creationId xmlns:a16="http://schemas.microsoft.com/office/drawing/2014/main" id="{D3A6EEB1-4386-4347-35D0-1ABAB6295322}"/>
              </a:ext>
            </a:extLst>
          </p:cNvPr>
          <p:cNvSpPr/>
          <p:nvPr/>
        </p:nvSpPr>
        <p:spPr>
          <a:xfrm>
            <a:off x="657813" y="399569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364362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51712-08E0-8880-9400-3A1D96191D45}"/>
            </a:ext>
          </a:extLst>
        </p:cNvPr>
        <p:cNvGrpSpPr/>
        <p:nvPr/>
      </p:nvGrpSpPr>
      <p:grpSpPr>
        <a:xfrm>
          <a:off x="0" y="0"/>
          <a:ext cx="0" cy="0"/>
          <a:chOff x="0" y="0"/>
          <a:chExt cx="0" cy="0"/>
        </a:xfrm>
      </p:grpSpPr>
      <p:graphicFrame>
        <p:nvGraphicFramePr>
          <p:cNvPr id="2" name="Tableau 1">
            <a:extLst>
              <a:ext uri="{FF2B5EF4-FFF2-40B4-BE49-F238E27FC236}">
                <a16:creationId xmlns:a16="http://schemas.microsoft.com/office/drawing/2014/main" id="{FA4A3DA8-5EC6-E99D-0AB6-B377F3284645}"/>
              </a:ext>
            </a:extLst>
          </p:cNvPr>
          <p:cNvGraphicFramePr>
            <a:graphicFrameLocks noGrp="1"/>
          </p:cNvGraphicFramePr>
          <p:nvPr>
            <p:extLst>
              <p:ext uri="{D42A27DB-BD31-4B8C-83A1-F6EECF244321}">
                <p14:modId xmlns:p14="http://schemas.microsoft.com/office/powerpoint/2010/main" val="1604735556"/>
              </p:ext>
            </p:extLst>
          </p:nvPr>
        </p:nvGraphicFramePr>
        <p:xfrm>
          <a:off x="878640" y="1687810"/>
          <a:ext cx="9306325" cy="2967317"/>
        </p:xfrm>
        <a:graphic>
          <a:graphicData uri="http://schemas.openxmlformats.org/drawingml/2006/table">
            <a:tbl>
              <a:tblPr firstRow="1" bandRow="1">
                <a:effectLst/>
                <a:tableStyleId>{F5AB1C69-6EDB-4FF4-983F-18BD219EF322}</a:tableStyleId>
              </a:tblPr>
              <a:tblGrid>
                <a:gridCol w="1228879">
                  <a:extLst>
                    <a:ext uri="{9D8B030D-6E8A-4147-A177-3AD203B41FA5}">
                      <a16:colId xmlns:a16="http://schemas.microsoft.com/office/drawing/2014/main" val="3615684430"/>
                    </a:ext>
                  </a:extLst>
                </a:gridCol>
                <a:gridCol w="1342207">
                  <a:extLst>
                    <a:ext uri="{9D8B030D-6E8A-4147-A177-3AD203B41FA5}">
                      <a16:colId xmlns:a16="http://schemas.microsoft.com/office/drawing/2014/main" val="1240341726"/>
                    </a:ext>
                  </a:extLst>
                </a:gridCol>
                <a:gridCol w="1191384">
                  <a:extLst>
                    <a:ext uri="{9D8B030D-6E8A-4147-A177-3AD203B41FA5}">
                      <a16:colId xmlns:a16="http://schemas.microsoft.com/office/drawing/2014/main" val="3418675952"/>
                    </a:ext>
                  </a:extLst>
                </a:gridCol>
                <a:gridCol w="1309730">
                  <a:extLst>
                    <a:ext uri="{9D8B030D-6E8A-4147-A177-3AD203B41FA5}">
                      <a16:colId xmlns:a16="http://schemas.microsoft.com/office/drawing/2014/main" val="3217757275"/>
                    </a:ext>
                  </a:extLst>
                </a:gridCol>
                <a:gridCol w="1309730">
                  <a:extLst>
                    <a:ext uri="{9D8B030D-6E8A-4147-A177-3AD203B41FA5}">
                      <a16:colId xmlns:a16="http://schemas.microsoft.com/office/drawing/2014/main" val="705901280"/>
                    </a:ext>
                  </a:extLst>
                </a:gridCol>
                <a:gridCol w="1309730">
                  <a:extLst>
                    <a:ext uri="{9D8B030D-6E8A-4147-A177-3AD203B41FA5}">
                      <a16:colId xmlns:a16="http://schemas.microsoft.com/office/drawing/2014/main" val="1544762168"/>
                    </a:ext>
                  </a:extLst>
                </a:gridCol>
                <a:gridCol w="837738">
                  <a:extLst>
                    <a:ext uri="{9D8B030D-6E8A-4147-A177-3AD203B41FA5}">
                      <a16:colId xmlns:a16="http://schemas.microsoft.com/office/drawing/2014/main" val="1507821284"/>
                    </a:ext>
                  </a:extLst>
                </a:gridCol>
                <a:gridCol w="776927">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12700" cap="flat" cmpd="sng" algn="ctr">
                      <a:solidFill>
                        <a:schemeClr val="bg1">
                          <a:lumMod val="85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collab.</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invité</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IOT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Usagers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Satisfaction </a:t>
                      </a:r>
                    </a:p>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service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3404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874FB87D-CB1A-8225-0EAD-F16EBBB5E004}"/>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FFAA3AF1-1C87-2C0F-0FCB-04ED3CD7CDFD}"/>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WIFI</a:t>
            </a:r>
          </a:p>
        </p:txBody>
      </p:sp>
      <p:pic>
        <p:nvPicPr>
          <p:cNvPr id="8" name="Image 7">
            <a:extLst>
              <a:ext uri="{FF2B5EF4-FFF2-40B4-BE49-F238E27FC236}">
                <a16:creationId xmlns:a16="http://schemas.microsoft.com/office/drawing/2014/main" id="{D43526DB-7AA0-631E-8C0E-6884FA147958}"/>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4" name="Image 3">
            <a:extLst>
              <a:ext uri="{FF2B5EF4-FFF2-40B4-BE49-F238E27FC236}">
                <a16:creationId xmlns:a16="http://schemas.microsoft.com/office/drawing/2014/main" id="{7B154605-CE31-859C-DD8E-DA894C16EE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1312229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88C62-3977-4E0B-E530-BBB17CA2E237}"/>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2DB1DC38-48D7-2FB2-503B-4F53F51ABB7D}"/>
              </a:ext>
            </a:extLst>
          </p:cNvPr>
          <p:cNvSpPr/>
          <p:nvPr/>
        </p:nvSpPr>
        <p:spPr>
          <a:xfrm>
            <a:off x="562409" y="4308022"/>
            <a:ext cx="4776797" cy="3152040"/>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67" name="ZoneTexte 66">
            <a:extLst>
              <a:ext uri="{FF2B5EF4-FFF2-40B4-BE49-F238E27FC236}">
                <a16:creationId xmlns:a16="http://schemas.microsoft.com/office/drawing/2014/main" id="{9172A34D-0646-A014-E7FE-42E3078DD626}"/>
              </a:ext>
            </a:extLst>
          </p:cNvPr>
          <p:cNvSpPr txBox="1"/>
          <p:nvPr/>
        </p:nvSpPr>
        <p:spPr>
          <a:xfrm>
            <a:off x="607339" y="4162601"/>
            <a:ext cx="2959528" cy="338554"/>
          </a:xfrm>
          <a:prstGeom prst="rect">
            <a:avLst/>
          </a:prstGeom>
          <a:noFill/>
        </p:spPr>
        <p:txBody>
          <a:bodyPr wrap="none" rtlCol="0">
            <a:spAutoFit/>
          </a:bodyPr>
          <a:lstStyle/>
          <a:p>
            <a:r>
              <a:rPr lang="fr-FR" sz="1600" b="1" dirty="0">
                <a:latin typeface="Arial Nova" panose="020B0504020202020204" pitchFamily="34" charset="0"/>
              </a:rPr>
              <a:t>VOS BESOINS SPÉCIFIQUES</a:t>
            </a:r>
          </a:p>
        </p:txBody>
      </p:sp>
      <p:sp>
        <p:nvSpPr>
          <p:cNvPr id="57" name="Rectangle 56">
            <a:extLst>
              <a:ext uri="{FF2B5EF4-FFF2-40B4-BE49-F238E27FC236}">
                <a16:creationId xmlns:a16="http://schemas.microsoft.com/office/drawing/2014/main" id="{6DC57CC5-7E60-9BF1-802F-28E137C983DE}"/>
              </a:ext>
            </a:extLst>
          </p:cNvPr>
          <p:cNvSpPr/>
          <p:nvPr/>
        </p:nvSpPr>
        <p:spPr>
          <a:xfrm>
            <a:off x="569903" y="1344177"/>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64A056AF-C63C-1ADF-549C-CD7C60503265}"/>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FIXE</a:t>
            </a:r>
          </a:p>
        </p:txBody>
      </p:sp>
      <p:sp>
        <p:nvSpPr>
          <p:cNvPr id="34" name="ZoneTexte 33">
            <a:extLst>
              <a:ext uri="{FF2B5EF4-FFF2-40B4-BE49-F238E27FC236}">
                <a16:creationId xmlns:a16="http://schemas.microsoft.com/office/drawing/2014/main" id="{98361402-B5FD-9703-8861-630AADBC8E7D}"/>
              </a:ext>
            </a:extLst>
          </p:cNvPr>
          <p:cNvSpPr txBox="1"/>
          <p:nvPr/>
        </p:nvSpPr>
        <p:spPr>
          <a:xfrm>
            <a:off x="3517571" y="4162601"/>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9" name="ZoneTexte 38">
            <a:extLst>
              <a:ext uri="{FF2B5EF4-FFF2-40B4-BE49-F238E27FC236}">
                <a16:creationId xmlns:a16="http://schemas.microsoft.com/office/drawing/2014/main" id="{61C5D882-E7CF-3BDC-B730-055138A12383}"/>
              </a:ext>
            </a:extLst>
          </p:cNvPr>
          <p:cNvSpPr txBox="1"/>
          <p:nvPr/>
        </p:nvSpPr>
        <p:spPr>
          <a:xfrm>
            <a:off x="1211950" y="2318326"/>
            <a:ext cx="1141659" cy="461665"/>
          </a:xfrm>
          <a:prstGeom prst="rect">
            <a:avLst/>
          </a:prstGeom>
          <a:noFill/>
        </p:spPr>
        <p:txBody>
          <a:bodyPr wrap="none" rtlCol="0">
            <a:spAutoFit/>
          </a:bodyPr>
          <a:lstStyle/>
          <a:p>
            <a:pPr algn="ctr"/>
            <a:r>
              <a:rPr lang="fr-FR" sz="1200" dirty="0">
                <a:latin typeface="Arial Nova" panose="020B0504020202020204" pitchFamily="34" charset="0"/>
              </a:rPr>
              <a:t>Nb lignes</a:t>
            </a:r>
          </a:p>
          <a:p>
            <a:pPr algn="ctr"/>
            <a:r>
              <a:rPr lang="fr-FR" sz="1200" dirty="0">
                <a:latin typeface="Arial Nova" panose="020B0504020202020204" pitchFamily="34" charset="0"/>
              </a:rPr>
              <a:t>téléphoniques</a:t>
            </a:r>
          </a:p>
        </p:txBody>
      </p:sp>
      <p:sp>
        <p:nvSpPr>
          <p:cNvPr id="42" name="ZoneTexte 41">
            <a:extLst>
              <a:ext uri="{FF2B5EF4-FFF2-40B4-BE49-F238E27FC236}">
                <a16:creationId xmlns:a16="http://schemas.microsoft.com/office/drawing/2014/main" id="{A14FFA49-E00C-C9CD-2383-C8A4CB77EA94}"/>
              </a:ext>
            </a:extLst>
          </p:cNvPr>
          <p:cNvSpPr txBox="1"/>
          <p:nvPr/>
        </p:nvSpPr>
        <p:spPr>
          <a:xfrm>
            <a:off x="2470007" y="2318666"/>
            <a:ext cx="1034257" cy="461665"/>
          </a:xfrm>
          <a:prstGeom prst="rect">
            <a:avLst/>
          </a:prstGeom>
          <a:noFill/>
        </p:spPr>
        <p:txBody>
          <a:bodyPr wrap="none" rtlCol="0">
            <a:spAutoFit/>
          </a:bodyPr>
          <a:lstStyle/>
          <a:p>
            <a:pPr algn="ctr"/>
            <a:r>
              <a:rPr lang="fr-FR" sz="1200" dirty="0">
                <a:latin typeface="Arial Nova" panose="020B0504020202020204" pitchFamily="34" charset="0"/>
              </a:rPr>
              <a:t>Nb appels</a:t>
            </a:r>
          </a:p>
          <a:p>
            <a:pPr algn="ctr"/>
            <a:r>
              <a:rPr lang="fr-FR" sz="1200" dirty="0">
                <a:latin typeface="Arial Nova" panose="020B0504020202020204" pitchFamily="34" charset="0"/>
              </a:rPr>
              <a:t> simultanées</a:t>
            </a:r>
          </a:p>
        </p:txBody>
      </p:sp>
      <p:sp>
        <p:nvSpPr>
          <p:cNvPr id="43" name="Rectangle 42">
            <a:extLst>
              <a:ext uri="{FF2B5EF4-FFF2-40B4-BE49-F238E27FC236}">
                <a16:creationId xmlns:a16="http://schemas.microsoft.com/office/drawing/2014/main" id="{BE6E9981-EDCA-9DE4-501A-497EAD65A44B}"/>
              </a:ext>
            </a:extLst>
          </p:cNvPr>
          <p:cNvSpPr/>
          <p:nvPr/>
        </p:nvSpPr>
        <p:spPr>
          <a:xfrm>
            <a:off x="2627132" y="2799317"/>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A59A2A03-816D-34BF-CF78-591DC001EA6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C706208D-748E-2B4F-79DC-FE2878927310}"/>
              </a:ext>
            </a:extLst>
          </p:cNvPr>
          <p:cNvSpPr txBox="1"/>
          <p:nvPr/>
        </p:nvSpPr>
        <p:spPr>
          <a:xfrm>
            <a:off x="643962" y="1219912"/>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41E0EF15-75AE-E884-C098-8902EC4C20E4}"/>
              </a:ext>
            </a:extLst>
          </p:cNvPr>
          <p:cNvSpPr/>
          <p:nvPr/>
        </p:nvSpPr>
        <p:spPr>
          <a:xfrm>
            <a:off x="1401215" y="2799317"/>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940EAD81-AC29-4767-34DD-DF99B81B710F}"/>
              </a:ext>
            </a:extLst>
          </p:cNvPr>
          <p:cNvSpPr txBox="1"/>
          <p:nvPr/>
        </p:nvSpPr>
        <p:spPr>
          <a:xfrm>
            <a:off x="722861" y="1540881"/>
            <a:ext cx="1555234" cy="646331"/>
          </a:xfrm>
          <a:prstGeom prst="rect">
            <a:avLst/>
          </a:prstGeom>
          <a:noFill/>
        </p:spPr>
        <p:txBody>
          <a:bodyPr wrap="none" rtlCol="0">
            <a:spAutoFit/>
          </a:bodyPr>
          <a:lstStyle/>
          <a:p>
            <a:r>
              <a:rPr lang="fr-FR" sz="1200" dirty="0">
                <a:latin typeface="Arial Nova" panose="020B0504020202020204" pitchFamily="34" charset="0"/>
              </a:rPr>
              <a:t>Type de téléphonie :</a:t>
            </a:r>
          </a:p>
          <a:p>
            <a:endParaRPr lang="fr-FR" sz="1200" dirty="0">
              <a:latin typeface="Arial Nova" panose="020B0504020202020204" pitchFamily="34" charset="0"/>
            </a:endParaRPr>
          </a:p>
          <a:p>
            <a:r>
              <a:rPr lang="fr-FR" sz="1200" dirty="0">
                <a:latin typeface="Arial Nova" panose="020B0504020202020204" pitchFamily="34" charset="0"/>
              </a:rPr>
              <a:t>Marque : </a:t>
            </a:r>
          </a:p>
        </p:txBody>
      </p:sp>
      <p:sp>
        <p:nvSpPr>
          <p:cNvPr id="64" name="ZoneTexte 63">
            <a:extLst>
              <a:ext uri="{FF2B5EF4-FFF2-40B4-BE49-F238E27FC236}">
                <a16:creationId xmlns:a16="http://schemas.microsoft.com/office/drawing/2014/main" id="{40EB1F28-A808-EAF3-5B38-8651E5AD5EAD}"/>
              </a:ext>
            </a:extLst>
          </p:cNvPr>
          <p:cNvSpPr txBox="1"/>
          <p:nvPr/>
        </p:nvSpPr>
        <p:spPr>
          <a:xfrm>
            <a:off x="3887624" y="2308021"/>
            <a:ext cx="750398" cy="461665"/>
          </a:xfrm>
          <a:prstGeom prst="rect">
            <a:avLst/>
          </a:prstGeom>
          <a:noFill/>
        </p:spPr>
        <p:txBody>
          <a:bodyPr wrap="none" rtlCol="0">
            <a:spAutoFit/>
          </a:bodyPr>
          <a:lstStyle/>
          <a:p>
            <a:pPr algn="ctr"/>
            <a:r>
              <a:rPr lang="fr-FR" sz="1200" dirty="0">
                <a:latin typeface="Arial Nova" panose="020B0504020202020204" pitchFamily="34" charset="0"/>
              </a:rPr>
              <a:t>Volume </a:t>
            </a:r>
          </a:p>
          <a:p>
            <a:pPr algn="ctr"/>
            <a:r>
              <a:rPr lang="fr-FR" sz="1200" dirty="0">
                <a:latin typeface="Arial Nova" panose="020B0504020202020204" pitchFamily="34" charset="0"/>
              </a:rPr>
              <a:t>d’appels</a:t>
            </a:r>
          </a:p>
        </p:txBody>
      </p:sp>
      <p:sp>
        <p:nvSpPr>
          <p:cNvPr id="65" name="Rectangle 64">
            <a:extLst>
              <a:ext uri="{FF2B5EF4-FFF2-40B4-BE49-F238E27FC236}">
                <a16:creationId xmlns:a16="http://schemas.microsoft.com/office/drawing/2014/main" id="{E2E86C8E-EA0B-5237-CB27-4D61E0B1AD6C}"/>
              </a:ext>
            </a:extLst>
          </p:cNvPr>
          <p:cNvSpPr/>
          <p:nvPr/>
        </p:nvSpPr>
        <p:spPr>
          <a:xfrm>
            <a:off x="3902817" y="278867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32550CB5-6801-122C-F399-60053AC9CE8C}"/>
              </a:ext>
            </a:extLst>
          </p:cNvPr>
          <p:cNvSpPr/>
          <p:nvPr/>
        </p:nvSpPr>
        <p:spPr>
          <a:xfrm>
            <a:off x="6067454" y="1014716"/>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D07812E0-BB36-FBEE-C3EC-738A5D999107}"/>
              </a:ext>
            </a:extLst>
          </p:cNvPr>
          <p:cNvSpPr txBox="1"/>
          <p:nvPr/>
        </p:nvSpPr>
        <p:spPr>
          <a:xfrm>
            <a:off x="6064216" y="788551"/>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1874CABB-B955-9EDD-4C79-F659B318A6C6}"/>
              </a:ext>
            </a:extLst>
          </p:cNvPr>
          <p:cNvSpPr/>
          <p:nvPr/>
        </p:nvSpPr>
        <p:spPr>
          <a:xfrm>
            <a:off x="6064216" y="2958760"/>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86A47B4A-ACAE-CC50-9C3A-97D78C80A1A9}"/>
              </a:ext>
            </a:extLst>
          </p:cNvPr>
          <p:cNvSpPr txBox="1"/>
          <p:nvPr/>
        </p:nvSpPr>
        <p:spPr>
          <a:xfrm>
            <a:off x="6064216" y="2732595"/>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1CA24A22-E015-E8AA-B764-0AB35D47F6B0}"/>
              </a:ext>
            </a:extLst>
          </p:cNvPr>
          <p:cNvSpPr/>
          <p:nvPr/>
        </p:nvSpPr>
        <p:spPr>
          <a:xfrm>
            <a:off x="6064216" y="5016803"/>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0406AA3B-7663-2AAB-920F-63AD968FF68B}"/>
              </a:ext>
            </a:extLst>
          </p:cNvPr>
          <p:cNvSpPr txBox="1"/>
          <p:nvPr/>
        </p:nvSpPr>
        <p:spPr>
          <a:xfrm>
            <a:off x="6064216" y="4790638"/>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0D2B6955-6E52-1385-8550-B6197267B047}"/>
              </a:ext>
            </a:extLst>
          </p:cNvPr>
          <p:cNvSpPr>
            <a:spLocks noChangeArrowheads="1"/>
          </p:cNvSpPr>
          <p:nvPr/>
        </p:nvSpPr>
        <p:spPr bwMode="auto">
          <a:xfrm>
            <a:off x="5995694" y="1233535"/>
            <a:ext cx="4259499"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Qualité d’appel médiocre (écho, latence, coupures)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Insuffisance de lignes simultanées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fonctionnalités (standard, messagerie, supervision)</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Difficulté d’intégration avec d’autres outils (CRM, Teams, ERP)</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Coût trop élevé</a:t>
            </a:r>
          </a:p>
        </p:txBody>
      </p:sp>
      <p:sp>
        <p:nvSpPr>
          <p:cNvPr id="76" name="Rectangle 1">
            <a:extLst>
              <a:ext uri="{FF2B5EF4-FFF2-40B4-BE49-F238E27FC236}">
                <a16:creationId xmlns:a16="http://schemas.microsoft.com/office/drawing/2014/main" id="{D14B022A-E5D9-DFA8-E8FA-1912CC9A1C2B}"/>
              </a:ext>
            </a:extLst>
          </p:cNvPr>
          <p:cNvSpPr>
            <a:spLocks noChangeArrowheads="1"/>
          </p:cNvSpPr>
          <p:nvPr/>
        </p:nvSpPr>
        <p:spPr bwMode="auto">
          <a:xfrm>
            <a:off x="5995694" y="3130393"/>
            <a:ext cx="4121641"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Augmentation du nombre de lignes / extensions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Migration vers une solution Cloud (</a:t>
            </a:r>
            <a:r>
              <a:rPr kumimoji="0" lang="fr-FR" altLang="fr-FR" sz="1100" b="0" i="0" u="none" strike="noStrike" cap="none" normalizeH="0" baseline="0" dirty="0" err="1">
                <a:ln>
                  <a:noFill/>
                </a:ln>
                <a:solidFill>
                  <a:schemeClr val="tx1"/>
                </a:solidFill>
                <a:effectLst/>
                <a:latin typeface="Arial Nova" panose="020B0504020202020204" pitchFamily="34" charset="0"/>
              </a:rPr>
              <a:t>Centrex</a:t>
            </a:r>
            <a:r>
              <a:rPr kumimoji="0" lang="fr-FR" altLang="fr-FR" sz="1100" b="0" i="0" u="none" strike="noStrike" cap="none" normalizeH="0" baseline="0" dirty="0">
                <a:ln>
                  <a:noFill/>
                </a:ln>
                <a:solidFill>
                  <a:schemeClr val="tx1"/>
                </a:solidFill>
                <a:effectLst/>
                <a:latin typeface="Arial Nova" panose="020B0504020202020204" pitchFamily="34" charset="0"/>
              </a:rPr>
              <a:t>, </a:t>
            </a:r>
            <a:r>
              <a:rPr kumimoji="0" lang="fr-FR" altLang="fr-FR" sz="1100" b="0" i="0" u="none" strike="noStrike" cap="none" normalizeH="0" baseline="0" dirty="0" err="1">
                <a:ln>
                  <a:noFill/>
                </a:ln>
                <a:solidFill>
                  <a:schemeClr val="tx1"/>
                </a:solidFill>
                <a:effectLst/>
                <a:latin typeface="Arial Nova" panose="020B0504020202020204" pitchFamily="34" charset="0"/>
              </a:rPr>
              <a:t>VoIP</a:t>
            </a:r>
            <a:r>
              <a:rPr kumimoji="0" lang="fr-FR" altLang="fr-FR" sz="1100" b="0" i="0" u="none" strike="noStrike" cap="none" normalizeH="0" baseline="0" dirty="0">
                <a:ln>
                  <a:noFill/>
                </a:ln>
                <a:solidFill>
                  <a:schemeClr val="tx1"/>
                </a:solidFill>
                <a:effectLst/>
                <a:latin typeface="Arial Nova" panose="020B0504020202020204" pitchFamily="34" charset="0"/>
              </a:rPr>
              <a:t> hébergée)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Intégration avec Microsoft Teams / CRM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Ajout de fonctionnalités avancées (SVI, messagerie unifiée)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Amélioration de la redondance et de la continuité de service </a:t>
            </a:r>
          </a:p>
        </p:txBody>
      </p:sp>
      <p:sp>
        <p:nvSpPr>
          <p:cNvPr id="77" name="Rectangle 1">
            <a:extLst>
              <a:ext uri="{FF2B5EF4-FFF2-40B4-BE49-F238E27FC236}">
                <a16:creationId xmlns:a16="http://schemas.microsoft.com/office/drawing/2014/main" id="{56E41BC6-A1A4-1AAA-0FD0-39411C7840B6}"/>
              </a:ext>
            </a:extLst>
          </p:cNvPr>
          <p:cNvSpPr>
            <a:spLocks noChangeArrowheads="1"/>
          </p:cNvSpPr>
          <p:nvPr/>
        </p:nvSpPr>
        <p:spPr bwMode="auto">
          <a:xfrm>
            <a:off x="6089970" y="5267176"/>
            <a:ext cx="3158237"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contre le hacking </a:t>
            </a:r>
            <a:r>
              <a:rPr kumimoji="0" lang="fr-FR" altLang="fr-FR" sz="1100" b="0" i="0" u="none" strike="noStrike" cap="none" normalizeH="0" baseline="0" dirty="0" err="1">
                <a:ln>
                  <a:noFill/>
                </a:ln>
                <a:solidFill>
                  <a:schemeClr val="tx1"/>
                </a:solidFill>
                <a:effectLst/>
                <a:latin typeface="Arial Nova" panose="020B0504020202020204" pitchFamily="34" charset="0"/>
              </a:rPr>
              <a:t>VoIP</a:t>
            </a:r>
            <a:r>
              <a:rPr kumimoji="0" lang="fr-FR" altLang="fr-FR" sz="1100" b="0" i="0" u="none" strike="noStrike" cap="none" normalizeH="0" baseline="0" dirty="0">
                <a:ln>
                  <a:noFill/>
                </a:ln>
                <a:solidFill>
                  <a:schemeClr val="tx1"/>
                </a:solidFill>
                <a:effectLst/>
                <a:latin typeface="Arial Nova" panose="020B0504020202020204" pitchFamily="34" charset="0"/>
              </a:rPr>
              <a:t>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Fiabilité du service pour les appels critiques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Confidentialité des communications internes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Plan de secours en cas de panne </a:t>
            </a:r>
          </a:p>
        </p:txBody>
      </p:sp>
      <p:pic>
        <p:nvPicPr>
          <p:cNvPr id="6" name="Image 5" descr="Une image contenant orange, Graphique, symbole, conception&#10;&#10;Description générée automatiquement">
            <a:extLst>
              <a:ext uri="{FF2B5EF4-FFF2-40B4-BE49-F238E27FC236}">
                <a16:creationId xmlns:a16="http://schemas.microsoft.com/office/drawing/2014/main" id="{E353188E-2682-5EE3-30E7-51EC9912B75E}"/>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40031" y="220722"/>
            <a:ext cx="720000" cy="720000"/>
          </a:xfrm>
          <a:prstGeom prst="rect">
            <a:avLst/>
          </a:prstGeom>
        </p:spPr>
      </p:pic>
      <p:sp>
        <p:nvSpPr>
          <p:cNvPr id="9" name="ZoneTexte 8">
            <a:extLst>
              <a:ext uri="{FF2B5EF4-FFF2-40B4-BE49-F238E27FC236}">
                <a16:creationId xmlns:a16="http://schemas.microsoft.com/office/drawing/2014/main" id="{1D08E882-38DD-70AC-23D0-9A04ED92980B}"/>
              </a:ext>
            </a:extLst>
          </p:cNvPr>
          <p:cNvSpPr txBox="1"/>
          <p:nvPr/>
        </p:nvSpPr>
        <p:spPr>
          <a:xfrm>
            <a:off x="951189" y="5149827"/>
            <a:ext cx="1005675"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Messagerie vocale et répondeur </a:t>
            </a:r>
          </a:p>
        </p:txBody>
      </p:sp>
      <p:sp>
        <p:nvSpPr>
          <p:cNvPr id="12" name="ZoneTexte 11">
            <a:extLst>
              <a:ext uri="{FF2B5EF4-FFF2-40B4-BE49-F238E27FC236}">
                <a16:creationId xmlns:a16="http://schemas.microsoft.com/office/drawing/2014/main" id="{A12EC5D3-3A72-CE42-5F4B-9DAA018A278F}"/>
              </a:ext>
            </a:extLst>
          </p:cNvPr>
          <p:cNvSpPr txBox="1"/>
          <p:nvPr/>
        </p:nvSpPr>
        <p:spPr>
          <a:xfrm>
            <a:off x="1916277" y="5167256"/>
            <a:ext cx="1532243"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Standard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automatique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et SVI</a:t>
            </a:r>
          </a:p>
        </p:txBody>
      </p:sp>
      <p:sp>
        <p:nvSpPr>
          <p:cNvPr id="28" name="ZoneTexte 27">
            <a:extLst>
              <a:ext uri="{FF2B5EF4-FFF2-40B4-BE49-F238E27FC236}">
                <a16:creationId xmlns:a16="http://schemas.microsoft.com/office/drawing/2014/main" id="{9B0E09AF-0251-9F50-55FF-A15857DB9261}"/>
              </a:ext>
            </a:extLst>
          </p:cNvPr>
          <p:cNvSpPr txBox="1"/>
          <p:nvPr/>
        </p:nvSpPr>
        <p:spPr>
          <a:xfrm>
            <a:off x="2033977" y="6581503"/>
            <a:ext cx="1301924"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Call Center</a:t>
            </a:r>
          </a:p>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(supervision </a:t>
            </a:r>
          </a:p>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&amp; statistiques)</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38" name="ZoneTexte 37">
            <a:extLst>
              <a:ext uri="{FF2B5EF4-FFF2-40B4-BE49-F238E27FC236}">
                <a16:creationId xmlns:a16="http://schemas.microsoft.com/office/drawing/2014/main" id="{23413A75-D286-8154-8717-26D816336DA4}"/>
              </a:ext>
            </a:extLst>
          </p:cNvPr>
          <p:cNvSpPr txBox="1"/>
          <p:nvPr/>
        </p:nvSpPr>
        <p:spPr>
          <a:xfrm>
            <a:off x="813083" y="6566453"/>
            <a:ext cx="1301924" cy="430887"/>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Groupes d’appels et files d’attente</a:t>
            </a:r>
          </a:p>
        </p:txBody>
      </p:sp>
      <p:sp>
        <p:nvSpPr>
          <p:cNvPr id="40" name="ZoneTexte 39">
            <a:extLst>
              <a:ext uri="{FF2B5EF4-FFF2-40B4-BE49-F238E27FC236}">
                <a16:creationId xmlns:a16="http://schemas.microsoft.com/office/drawing/2014/main" id="{1A5B762B-3EEF-E63B-D706-B8D8B178C382}"/>
              </a:ext>
            </a:extLst>
          </p:cNvPr>
          <p:cNvSpPr txBox="1"/>
          <p:nvPr/>
        </p:nvSpPr>
        <p:spPr>
          <a:xfrm>
            <a:off x="3404263" y="5164877"/>
            <a:ext cx="1009345"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Standard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téléphonique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et redirection</a:t>
            </a:r>
          </a:p>
        </p:txBody>
      </p:sp>
      <p:sp>
        <p:nvSpPr>
          <p:cNvPr id="44" name="ZoneTexte 43">
            <a:extLst>
              <a:ext uri="{FF2B5EF4-FFF2-40B4-BE49-F238E27FC236}">
                <a16:creationId xmlns:a16="http://schemas.microsoft.com/office/drawing/2014/main" id="{0FCE8FED-D11B-74B5-2977-7F0FCA69663F}"/>
              </a:ext>
            </a:extLst>
          </p:cNvPr>
          <p:cNvSpPr txBox="1"/>
          <p:nvPr/>
        </p:nvSpPr>
        <p:spPr>
          <a:xfrm>
            <a:off x="3267691" y="6581503"/>
            <a:ext cx="1239866" cy="430887"/>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Visio &amp; Audio conférence</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pic>
        <p:nvPicPr>
          <p:cNvPr id="2" name="Image 1">
            <a:extLst>
              <a:ext uri="{FF2B5EF4-FFF2-40B4-BE49-F238E27FC236}">
                <a16:creationId xmlns:a16="http://schemas.microsoft.com/office/drawing/2014/main" id="{F3C144F6-5F84-6236-BB25-989462F06EE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pic>
        <p:nvPicPr>
          <p:cNvPr id="14" name="Graphique 13">
            <a:extLst>
              <a:ext uri="{FF2B5EF4-FFF2-40B4-BE49-F238E27FC236}">
                <a16:creationId xmlns:a16="http://schemas.microsoft.com/office/drawing/2014/main" id="{B6D6F5BC-6C8C-F233-7264-095027E56A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26187" y="4659231"/>
            <a:ext cx="478932" cy="391728"/>
          </a:xfrm>
          <a:prstGeom prst="rect">
            <a:avLst/>
          </a:prstGeom>
        </p:spPr>
      </p:pic>
      <p:pic>
        <p:nvPicPr>
          <p:cNvPr id="20" name="Graphique 19">
            <a:extLst>
              <a:ext uri="{FF2B5EF4-FFF2-40B4-BE49-F238E27FC236}">
                <a16:creationId xmlns:a16="http://schemas.microsoft.com/office/drawing/2014/main" id="{3898342C-BF83-0951-7006-64C3DE79C3C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69848" y="5986698"/>
            <a:ext cx="648909" cy="461272"/>
          </a:xfrm>
          <a:prstGeom prst="rect">
            <a:avLst/>
          </a:prstGeom>
        </p:spPr>
      </p:pic>
      <p:pic>
        <p:nvPicPr>
          <p:cNvPr id="22" name="Graphique 21">
            <a:extLst>
              <a:ext uri="{FF2B5EF4-FFF2-40B4-BE49-F238E27FC236}">
                <a16:creationId xmlns:a16="http://schemas.microsoft.com/office/drawing/2014/main" id="{BEFFBC4A-B748-AA31-53B0-762E12ED380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85303" y="5986698"/>
            <a:ext cx="567414" cy="466367"/>
          </a:xfrm>
          <a:prstGeom prst="rect">
            <a:avLst/>
          </a:prstGeom>
        </p:spPr>
      </p:pic>
      <p:pic>
        <p:nvPicPr>
          <p:cNvPr id="26" name="Graphique 25">
            <a:extLst>
              <a:ext uri="{FF2B5EF4-FFF2-40B4-BE49-F238E27FC236}">
                <a16:creationId xmlns:a16="http://schemas.microsoft.com/office/drawing/2014/main" id="{EBA7FDE4-B1A7-E342-71E3-C0C4DA6D1A25}"/>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58473" y="4622020"/>
            <a:ext cx="478932" cy="489575"/>
          </a:xfrm>
          <a:prstGeom prst="rect">
            <a:avLst/>
          </a:prstGeom>
        </p:spPr>
      </p:pic>
      <p:pic>
        <p:nvPicPr>
          <p:cNvPr id="30" name="Graphique 29">
            <a:extLst>
              <a:ext uri="{FF2B5EF4-FFF2-40B4-BE49-F238E27FC236}">
                <a16:creationId xmlns:a16="http://schemas.microsoft.com/office/drawing/2014/main" id="{80D484E1-487A-5FC6-1D17-E5431A863DF6}"/>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609936" y="4610307"/>
            <a:ext cx="504639" cy="489575"/>
          </a:xfrm>
          <a:prstGeom prst="rect">
            <a:avLst/>
          </a:prstGeom>
        </p:spPr>
      </p:pic>
      <p:pic>
        <p:nvPicPr>
          <p:cNvPr id="32" name="Graphique 31">
            <a:extLst>
              <a:ext uri="{FF2B5EF4-FFF2-40B4-BE49-F238E27FC236}">
                <a16:creationId xmlns:a16="http://schemas.microsoft.com/office/drawing/2014/main" id="{AC788C2D-01B7-6AA9-CCA4-E1FCA1F57E6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537800" y="5891055"/>
            <a:ext cx="648909" cy="610738"/>
          </a:xfrm>
          <a:prstGeom prst="rect">
            <a:avLst/>
          </a:prstGeom>
        </p:spPr>
      </p:pic>
      <p:sp>
        <p:nvSpPr>
          <p:cNvPr id="33" name="Rectangle 32">
            <a:extLst>
              <a:ext uri="{FF2B5EF4-FFF2-40B4-BE49-F238E27FC236}">
                <a16:creationId xmlns:a16="http://schemas.microsoft.com/office/drawing/2014/main" id="{7836527A-7A15-19C8-8FDF-9C326CBDA478}"/>
              </a:ext>
            </a:extLst>
          </p:cNvPr>
          <p:cNvSpPr/>
          <p:nvPr/>
        </p:nvSpPr>
        <p:spPr>
          <a:xfrm>
            <a:off x="582522" y="1227276"/>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5" name="Rectangle 34">
            <a:extLst>
              <a:ext uri="{FF2B5EF4-FFF2-40B4-BE49-F238E27FC236}">
                <a16:creationId xmlns:a16="http://schemas.microsoft.com/office/drawing/2014/main" id="{FC262827-01EA-28C7-A4C0-808FBB006339}"/>
              </a:ext>
            </a:extLst>
          </p:cNvPr>
          <p:cNvSpPr/>
          <p:nvPr/>
        </p:nvSpPr>
        <p:spPr>
          <a:xfrm>
            <a:off x="533700" y="4169189"/>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32352033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9AF177D2-C4AA-E1F5-6FB9-EA231809E8D3}"/>
              </a:ext>
            </a:extLst>
          </p:cNvPr>
          <p:cNvGraphicFramePr>
            <a:graphicFrameLocks noGrp="1"/>
          </p:cNvGraphicFramePr>
          <p:nvPr>
            <p:extLst>
              <p:ext uri="{D42A27DB-BD31-4B8C-83A1-F6EECF244321}">
                <p14:modId xmlns:p14="http://schemas.microsoft.com/office/powerpoint/2010/main" val="387701834"/>
              </p:ext>
            </p:extLst>
          </p:nvPr>
        </p:nvGraphicFramePr>
        <p:xfrm>
          <a:off x="594095" y="1595061"/>
          <a:ext cx="9551948" cy="3122220"/>
        </p:xfrm>
        <a:graphic>
          <a:graphicData uri="http://schemas.openxmlformats.org/drawingml/2006/table">
            <a:tbl>
              <a:tblPr firstRow="1" bandRow="1">
                <a:effectLst/>
                <a:tableStyleId>{F5AB1C69-6EDB-4FF4-983F-18BD219EF322}</a:tableStyleId>
              </a:tblPr>
              <a:tblGrid>
                <a:gridCol w="1419590">
                  <a:extLst>
                    <a:ext uri="{9D8B030D-6E8A-4147-A177-3AD203B41FA5}">
                      <a16:colId xmlns:a16="http://schemas.microsoft.com/office/drawing/2014/main" val="3615684430"/>
                    </a:ext>
                  </a:extLst>
                </a:gridCol>
                <a:gridCol w="1109609">
                  <a:extLst>
                    <a:ext uri="{9D8B030D-6E8A-4147-A177-3AD203B41FA5}">
                      <a16:colId xmlns:a16="http://schemas.microsoft.com/office/drawing/2014/main" val="1240341726"/>
                    </a:ext>
                  </a:extLst>
                </a:gridCol>
                <a:gridCol w="757535">
                  <a:extLst>
                    <a:ext uri="{9D8B030D-6E8A-4147-A177-3AD203B41FA5}">
                      <a16:colId xmlns:a16="http://schemas.microsoft.com/office/drawing/2014/main" val="3418675952"/>
                    </a:ext>
                  </a:extLst>
                </a:gridCol>
                <a:gridCol w="963100">
                  <a:extLst>
                    <a:ext uri="{9D8B030D-6E8A-4147-A177-3AD203B41FA5}">
                      <a16:colId xmlns:a16="http://schemas.microsoft.com/office/drawing/2014/main" val="3217757275"/>
                    </a:ext>
                  </a:extLst>
                </a:gridCol>
                <a:gridCol w="1097486">
                  <a:extLst>
                    <a:ext uri="{9D8B030D-6E8A-4147-A177-3AD203B41FA5}">
                      <a16:colId xmlns:a16="http://schemas.microsoft.com/office/drawing/2014/main" val="1507821284"/>
                    </a:ext>
                  </a:extLst>
                </a:gridCol>
                <a:gridCol w="1455850">
                  <a:extLst>
                    <a:ext uri="{9D8B030D-6E8A-4147-A177-3AD203B41FA5}">
                      <a16:colId xmlns:a16="http://schemas.microsoft.com/office/drawing/2014/main" val="1191447353"/>
                    </a:ext>
                  </a:extLst>
                </a:gridCol>
                <a:gridCol w="1478247">
                  <a:extLst>
                    <a:ext uri="{9D8B030D-6E8A-4147-A177-3AD203B41FA5}">
                      <a16:colId xmlns:a16="http://schemas.microsoft.com/office/drawing/2014/main" val="872859464"/>
                    </a:ext>
                  </a:extLst>
                </a:gridCol>
                <a:gridCol w="1270531">
                  <a:extLst>
                    <a:ext uri="{9D8B030D-6E8A-4147-A177-3AD203B41FA5}">
                      <a16:colId xmlns:a16="http://schemas.microsoft.com/office/drawing/2014/main" val="3064555056"/>
                    </a:ext>
                  </a:extLst>
                </a:gridCol>
              </a:tblGrid>
              <a:tr h="59436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Type de téléphonie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de postes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de lignes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d’appels simultanés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3" name="Rectangle 2">
            <a:extLst>
              <a:ext uri="{FF2B5EF4-FFF2-40B4-BE49-F238E27FC236}">
                <a16:creationId xmlns:a16="http://schemas.microsoft.com/office/drawing/2014/main" id="{4837856B-54BF-0410-324B-EC1C78A89C5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 name="Titre 1">
            <a:extLst>
              <a:ext uri="{FF2B5EF4-FFF2-40B4-BE49-F238E27FC236}">
                <a16:creationId xmlns:a16="http://schemas.microsoft.com/office/drawing/2014/main" id="{57C19675-9670-1C67-E200-D5648CE17CD2}"/>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FIXE</a:t>
            </a:r>
          </a:p>
        </p:txBody>
      </p:sp>
      <p:pic>
        <p:nvPicPr>
          <p:cNvPr id="22" name="Image 21" descr="Une image contenant orange, Graphique, symbole, conception&#10;&#10;Description générée automatiquement">
            <a:extLst>
              <a:ext uri="{FF2B5EF4-FFF2-40B4-BE49-F238E27FC236}">
                <a16:creationId xmlns:a16="http://schemas.microsoft.com/office/drawing/2014/main" id="{A8F6571C-DD98-5E68-262C-E72D4FCDE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40031" y="220722"/>
            <a:ext cx="720000" cy="720000"/>
          </a:xfrm>
          <a:prstGeom prst="rect">
            <a:avLst/>
          </a:prstGeom>
        </p:spPr>
      </p:pic>
      <p:pic>
        <p:nvPicPr>
          <p:cNvPr id="4" name="Image 3">
            <a:extLst>
              <a:ext uri="{FF2B5EF4-FFF2-40B4-BE49-F238E27FC236}">
                <a16:creationId xmlns:a16="http://schemas.microsoft.com/office/drawing/2014/main" id="{368F7125-E9E6-1A0B-6FBA-4943B51C888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7461130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A3D03-324A-EB69-516C-F27EC1D338D0}"/>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9726D0B2-84C0-3383-4B96-2D4563017F88}"/>
              </a:ext>
            </a:extLst>
          </p:cNvPr>
          <p:cNvSpPr/>
          <p:nvPr/>
        </p:nvSpPr>
        <p:spPr>
          <a:xfrm>
            <a:off x="796049" y="4395138"/>
            <a:ext cx="4776797" cy="2853891"/>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67" name="ZoneTexte 66">
            <a:extLst>
              <a:ext uri="{FF2B5EF4-FFF2-40B4-BE49-F238E27FC236}">
                <a16:creationId xmlns:a16="http://schemas.microsoft.com/office/drawing/2014/main" id="{F6AE4C0C-C9B6-15ED-9456-070269C0A7E3}"/>
              </a:ext>
            </a:extLst>
          </p:cNvPr>
          <p:cNvSpPr txBox="1"/>
          <p:nvPr/>
        </p:nvSpPr>
        <p:spPr>
          <a:xfrm>
            <a:off x="825052" y="4259082"/>
            <a:ext cx="2548646" cy="338554"/>
          </a:xfrm>
          <a:prstGeom prst="rect">
            <a:avLst/>
          </a:prstGeom>
          <a:noFill/>
        </p:spPr>
        <p:txBody>
          <a:bodyPr wrap="none" rtlCol="0">
            <a:spAutoFit/>
          </a:bodyPr>
          <a:lstStyle/>
          <a:p>
            <a:r>
              <a:rPr lang="fr-FR" sz="1600" b="1" dirty="0">
                <a:latin typeface="Arial Nova" panose="020B0504020202020204" pitchFamily="34" charset="0"/>
              </a:rPr>
              <a:t>VOS TYPES DE FORFAIT</a:t>
            </a:r>
          </a:p>
        </p:txBody>
      </p:sp>
      <p:sp>
        <p:nvSpPr>
          <p:cNvPr id="57" name="Rectangle 56">
            <a:extLst>
              <a:ext uri="{FF2B5EF4-FFF2-40B4-BE49-F238E27FC236}">
                <a16:creationId xmlns:a16="http://schemas.microsoft.com/office/drawing/2014/main" id="{3B7E01D3-FD7C-CF3C-DFC3-89A351F806E3}"/>
              </a:ext>
            </a:extLst>
          </p:cNvPr>
          <p:cNvSpPr/>
          <p:nvPr/>
        </p:nvSpPr>
        <p:spPr>
          <a:xfrm>
            <a:off x="729959" y="1481839"/>
            <a:ext cx="4776797" cy="2550699"/>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1B5434B3-6522-61D5-797D-70F31ACB297F}"/>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MOBILE</a:t>
            </a:r>
          </a:p>
        </p:txBody>
      </p:sp>
      <p:sp>
        <p:nvSpPr>
          <p:cNvPr id="34" name="ZoneTexte 33">
            <a:extLst>
              <a:ext uri="{FF2B5EF4-FFF2-40B4-BE49-F238E27FC236}">
                <a16:creationId xmlns:a16="http://schemas.microsoft.com/office/drawing/2014/main" id="{33EF6521-34C7-0A27-0EC9-E6441E0A8A17}"/>
              </a:ext>
            </a:extLst>
          </p:cNvPr>
          <p:cNvSpPr txBox="1"/>
          <p:nvPr/>
        </p:nvSpPr>
        <p:spPr>
          <a:xfrm>
            <a:off x="3678421" y="4267637"/>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9" name="ZoneTexte 38">
            <a:extLst>
              <a:ext uri="{FF2B5EF4-FFF2-40B4-BE49-F238E27FC236}">
                <a16:creationId xmlns:a16="http://schemas.microsoft.com/office/drawing/2014/main" id="{BA9BE1F1-A0B3-4DBF-1349-D7F6B54BC229}"/>
              </a:ext>
            </a:extLst>
          </p:cNvPr>
          <p:cNvSpPr txBox="1"/>
          <p:nvPr/>
        </p:nvSpPr>
        <p:spPr>
          <a:xfrm>
            <a:off x="1326024" y="2446239"/>
            <a:ext cx="1141659" cy="461665"/>
          </a:xfrm>
          <a:prstGeom prst="rect">
            <a:avLst/>
          </a:prstGeom>
          <a:noFill/>
        </p:spPr>
        <p:txBody>
          <a:bodyPr wrap="none" rtlCol="0">
            <a:spAutoFit/>
          </a:bodyPr>
          <a:lstStyle/>
          <a:p>
            <a:pPr algn="ctr"/>
            <a:r>
              <a:rPr lang="fr-FR" sz="1200" dirty="0">
                <a:latin typeface="Arial Nova" panose="020B0504020202020204" pitchFamily="34" charset="0"/>
              </a:rPr>
              <a:t>Nb lignes</a:t>
            </a:r>
          </a:p>
          <a:p>
            <a:pPr algn="ctr"/>
            <a:r>
              <a:rPr lang="fr-FR" sz="1200" dirty="0">
                <a:latin typeface="Arial Nova" panose="020B0504020202020204" pitchFamily="34" charset="0"/>
              </a:rPr>
              <a:t>téléphoniques</a:t>
            </a:r>
          </a:p>
        </p:txBody>
      </p:sp>
      <p:sp>
        <p:nvSpPr>
          <p:cNvPr id="42" name="ZoneTexte 41">
            <a:extLst>
              <a:ext uri="{FF2B5EF4-FFF2-40B4-BE49-F238E27FC236}">
                <a16:creationId xmlns:a16="http://schemas.microsoft.com/office/drawing/2014/main" id="{85C0B7CC-C794-A271-D7C3-23874383D3ED}"/>
              </a:ext>
            </a:extLst>
          </p:cNvPr>
          <p:cNvSpPr txBox="1"/>
          <p:nvPr/>
        </p:nvSpPr>
        <p:spPr>
          <a:xfrm>
            <a:off x="2633775" y="2446579"/>
            <a:ext cx="934872" cy="646331"/>
          </a:xfrm>
          <a:prstGeom prst="rect">
            <a:avLst/>
          </a:prstGeom>
          <a:noFill/>
        </p:spPr>
        <p:txBody>
          <a:bodyPr wrap="none" rtlCol="0">
            <a:spAutoFit/>
          </a:bodyPr>
          <a:lstStyle/>
          <a:p>
            <a:pPr algn="ctr"/>
            <a:r>
              <a:rPr lang="fr-FR" sz="1200" dirty="0">
                <a:latin typeface="Arial Nova" panose="020B0504020202020204" pitchFamily="34" charset="0"/>
              </a:rPr>
              <a:t>Nb </a:t>
            </a:r>
          </a:p>
          <a:p>
            <a:pPr algn="ctr"/>
            <a:r>
              <a:rPr lang="fr-FR" sz="1200" dirty="0">
                <a:latin typeface="Arial Nova" panose="020B0504020202020204" pitchFamily="34" charset="0"/>
              </a:rPr>
              <a:t>téléphones</a:t>
            </a:r>
          </a:p>
          <a:p>
            <a:pPr algn="ctr"/>
            <a:endParaRPr lang="fr-FR" sz="1200" dirty="0">
              <a:latin typeface="Arial Nova" panose="020B0504020202020204" pitchFamily="34" charset="0"/>
            </a:endParaRPr>
          </a:p>
        </p:txBody>
      </p:sp>
      <p:sp>
        <p:nvSpPr>
          <p:cNvPr id="43" name="Rectangle 42">
            <a:extLst>
              <a:ext uri="{FF2B5EF4-FFF2-40B4-BE49-F238E27FC236}">
                <a16:creationId xmlns:a16="http://schemas.microsoft.com/office/drawing/2014/main" id="{609BE3DF-BD38-6176-FCEF-E5ECF8F08709}"/>
              </a:ext>
            </a:extLst>
          </p:cNvPr>
          <p:cNvSpPr/>
          <p:nvPr/>
        </p:nvSpPr>
        <p:spPr>
          <a:xfrm>
            <a:off x="2741206" y="2927230"/>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D2318DD6-6887-5C51-CCED-A6E6E178C9B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0504EC06-7582-E74E-EC66-EEF9E5BCFFA7}"/>
              </a:ext>
            </a:extLst>
          </p:cNvPr>
          <p:cNvSpPr txBox="1"/>
          <p:nvPr/>
        </p:nvSpPr>
        <p:spPr>
          <a:xfrm>
            <a:off x="789738" y="1307519"/>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D1FB7DC9-0189-97C8-D1BB-A5B5F707896A}"/>
              </a:ext>
            </a:extLst>
          </p:cNvPr>
          <p:cNvSpPr/>
          <p:nvPr/>
        </p:nvSpPr>
        <p:spPr>
          <a:xfrm>
            <a:off x="1515289" y="2927230"/>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A5D5CA26-5BC5-E3A9-6C66-68419E2EB0D3}"/>
              </a:ext>
            </a:extLst>
          </p:cNvPr>
          <p:cNvSpPr txBox="1"/>
          <p:nvPr/>
        </p:nvSpPr>
        <p:spPr>
          <a:xfrm>
            <a:off x="882917" y="1802157"/>
            <a:ext cx="961866" cy="276999"/>
          </a:xfrm>
          <a:prstGeom prst="rect">
            <a:avLst/>
          </a:prstGeom>
          <a:noFill/>
        </p:spPr>
        <p:txBody>
          <a:bodyPr wrap="none" rtlCol="0">
            <a:spAutoFit/>
          </a:bodyPr>
          <a:lstStyle/>
          <a:p>
            <a:r>
              <a:rPr lang="fr-FR" sz="1200" dirty="0">
                <a:latin typeface="Arial Nova" panose="020B0504020202020204" pitchFamily="34" charset="0"/>
              </a:rPr>
              <a:t>Opérateur :</a:t>
            </a:r>
          </a:p>
        </p:txBody>
      </p:sp>
      <p:sp>
        <p:nvSpPr>
          <p:cNvPr id="64" name="ZoneTexte 63">
            <a:extLst>
              <a:ext uri="{FF2B5EF4-FFF2-40B4-BE49-F238E27FC236}">
                <a16:creationId xmlns:a16="http://schemas.microsoft.com/office/drawing/2014/main" id="{78158C70-C460-0F0B-C031-9E36D9B13B75}"/>
              </a:ext>
            </a:extLst>
          </p:cNvPr>
          <p:cNvSpPr txBox="1"/>
          <p:nvPr/>
        </p:nvSpPr>
        <p:spPr>
          <a:xfrm>
            <a:off x="3892405" y="2435934"/>
            <a:ext cx="968984" cy="461665"/>
          </a:xfrm>
          <a:prstGeom prst="rect">
            <a:avLst/>
          </a:prstGeom>
          <a:noFill/>
        </p:spPr>
        <p:txBody>
          <a:bodyPr wrap="none" rtlCol="0">
            <a:spAutoFit/>
          </a:bodyPr>
          <a:lstStyle/>
          <a:p>
            <a:pPr algn="ctr"/>
            <a:r>
              <a:rPr lang="fr-FR" sz="1200" dirty="0">
                <a:latin typeface="Arial Nova" panose="020B0504020202020204" pitchFamily="34" charset="0"/>
              </a:rPr>
              <a:t>Indice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37A2A18D-2A69-D096-DA08-F08790027625}"/>
              </a:ext>
            </a:extLst>
          </p:cNvPr>
          <p:cNvSpPr/>
          <p:nvPr/>
        </p:nvSpPr>
        <p:spPr>
          <a:xfrm>
            <a:off x="4016891" y="2916585"/>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A17B1CE4-909D-BA6C-C531-C12BD8474650}"/>
              </a:ext>
            </a:extLst>
          </p:cNvPr>
          <p:cNvSpPr/>
          <p:nvPr/>
        </p:nvSpPr>
        <p:spPr>
          <a:xfrm>
            <a:off x="6330613" y="852394"/>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0940858D-43AE-7D2C-9B2A-DF415BE14420}"/>
              </a:ext>
            </a:extLst>
          </p:cNvPr>
          <p:cNvSpPr txBox="1"/>
          <p:nvPr/>
        </p:nvSpPr>
        <p:spPr>
          <a:xfrm>
            <a:off x="6327375" y="626229"/>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D9F7A28D-C7CF-4E38-DB4E-A3D4999963FE}"/>
              </a:ext>
            </a:extLst>
          </p:cNvPr>
          <p:cNvSpPr/>
          <p:nvPr/>
        </p:nvSpPr>
        <p:spPr>
          <a:xfrm>
            <a:off x="6327375" y="2796438"/>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35CE104D-F511-2FA2-1702-24539A00AFD3}"/>
              </a:ext>
            </a:extLst>
          </p:cNvPr>
          <p:cNvSpPr txBox="1"/>
          <p:nvPr/>
        </p:nvSpPr>
        <p:spPr>
          <a:xfrm>
            <a:off x="6327375" y="2570273"/>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F98F1690-25B7-C5E7-57B7-1B6B299629DB}"/>
              </a:ext>
            </a:extLst>
          </p:cNvPr>
          <p:cNvSpPr/>
          <p:nvPr/>
        </p:nvSpPr>
        <p:spPr>
          <a:xfrm>
            <a:off x="6327375" y="4854481"/>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A6404A23-CAD4-9004-23E7-F1E72F8CD738}"/>
              </a:ext>
            </a:extLst>
          </p:cNvPr>
          <p:cNvSpPr txBox="1"/>
          <p:nvPr/>
        </p:nvSpPr>
        <p:spPr>
          <a:xfrm>
            <a:off x="6327375" y="4628316"/>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A2BE4A62-93CA-18DA-4F90-379A86EEB712}"/>
              </a:ext>
            </a:extLst>
          </p:cNvPr>
          <p:cNvSpPr>
            <a:spLocks noChangeArrowheads="1"/>
          </p:cNvSpPr>
          <p:nvPr/>
        </p:nvSpPr>
        <p:spPr bwMode="auto">
          <a:xfrm>
            <a:off x="6258853" y="1071213"/>
            <a:ext cx="2829621"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couverture réseau</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Débit 4G/5G insuffisant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Mauvaise gestion des forfaits / surcoûts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solutions de sécurité MDM</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trop coûteux</a:t>
            </a:r>
          </a:p>
        </p:txBody>
      </p:sp>
      <p:sp>
        <p:nvSpPr>
          <p:cNvPr id="76" name="Rectangle 1">
            <a:extLst>
              <a:ext uri="{FF2B5EF4-FFF2-40B4-BE49-F238E27FC236}">
                <a16:creationId xmlns:a16="http://schemas.microsoft.com/office/drawing/2014/main" id="{6546BFF0-9CA9-872D-0D09-CC4523C47992}"/>
              </a:ext>
            </a:extLst>
          </p:cNvPr>
          <p:cNvSpPr>
            <a:spLocks noChangeArrowheads="1"/>
          </p:cNvSpPr>
          <p:nvPr/>
        </p:nvSpPr>
        <p:spPr bwMode="auto">
          <a:xfrm>
            <a:off x="6276432" y="2964351"/>
            <a:ext cx="3887692" cy="1277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Forfaits adaptés à l’usage pro (illimité, </a:t>
            </a: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inclus)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d’une gestion MDM (Mobile </a:t>
            </a:r>
            <a:r>
              <a:rPr kumimoji="0" lang="fr-FR" altLang="fr-FR" sz="1100" b="0" i="0" u="none" strike="noStrike" cap="none" normalizeH="0" baseline="0" dirty="0" err="1">
                <a:ln>
                  <a:noFill/>
                </a:ln>
                <a:solidFill>
                  <a:schemeClr val="tx1"/>
                </a:solidFill>
                <a:effectLst/>
                <a:latin typeface="Arial Nova" panose="020B0504020202020204" pitchFamily="34" charset="0"/>
              </a:rPr>
              <a:t>Device</a:t>
            </a:r>
            <a:r>
              <a:rPr kumimoji="0" lang="fr-FR" altLang="fr-FR" sz="1100" b="0" i="0" u="none" strike="noStrike" cap="none" normalizeH="0" baseline="0" dirty="0">
                <a:ln>
                  <a:noFill/>
                </a:ln>
                <a:solidFill>
                  <a:schemeClr val="tx1"/>
                </a:solidFill>
                <a:effectLst/>
                <a:latin typeface="Arial Nova" panose="020B0504020202020204" pitchFamily="34" charset="0"/>
              </a:rPr>
              <a:t> Management)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Sécurisation des échanges mobiles (VPN, chiffrement)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la 5G</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Consolidation des lignes mobiles sous un même contrat</a:t>
            </a:r>
          </a:p>
        </p:txBody>
      </p:sp>
      <p:sp>
        <p:nvSpPr>
          <p:cNvPr id="77" name="Rectangle 1">
            <a:extLst>
              <a:ext uri="{FF2B5EF4-FFF2-40B4-BE49-F238E27FC236}">
                <a16:creationId xmlns:a16="http://schemas.microsoft.com/office/drawing/2014/main" id="{815EA19A-0EAD-6E6B-ABBB-5C3001B789D1}"/>
              </a:ext>
            </a:extLst>
          </p:cNvPr>
          <p:cNvSpPr>
            <a:spLocks noChangeArrowheads="1"/>
          </p:cNvSpPr>
          <p:nvPr/>
        </p:nvSpPr>
        <p:spPr bwMode="auto">
          <a:xfrm>
            <a:off x="6353130" y="5020217"/>
            <a:ext cx="3838178"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Risques liés aux appareils perdus ou volés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de chiffrement des communications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des accès aux données professionnelles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Gestion et contrôle des usages (</a:t>
            </a: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accès non autorisés)</a:t>
            </a:r>
            <a:endParaRPr lang="fr-FR" altLang="fr-FR" sz="1100" dirty="0">
              <a:latin typeface="Arial Nova" panose="020B0504020202020204" pitchFamily="34" charset="0"/>
            </a:endParaRPr>
          </a:p>
        </p:txBody>
      </p:sp>
      <p:pic>
        <p:nvPicPr>
          <p:cNvPr id="2" name="Image 1" descr="Une image contenant capture d’écran, conception&#10;&#10;Description générée automatiquement">
            <a:extLst>
              <a:ext uri="{FF2B5EF4-FFF2-40B4-BE49-F238E27FC236}">
                <a16:creationId xmlns:a16="http://schemas.microsoft.com/office/drawing/2014/main" id="{9E93AF81-39C6-6AF3-4918-0DCF0CC9E98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6117" y="231461"/>
            <a:ext cx="720000" cy="720000"/>
          </a:xfrm>
          <a:prstGeom prst="rect">
            <a:avLst/>
          </a:prstGeom>
        </p:spPr>
      </p:pic>
      <p:sp>
        <p:nvSpPr>
          <p:cNvPr id="13" name="Rectangle 12">
            <a:extLst>
              <a:ext uri="{FF2B5EF4-FFF2-40B4-BE49-F238E27FC236}">
                <a16:creationId xmlns:a16="http://schemas.microsoft.com/office/drawing/2014/main" id="{C4BD032A-2CA0-4212-80E1-18BEC957AC55}"/>
              </a:ext>
            </a:extLst>
          </p:cNvPr>
          <p:cNvSpPr/>
          <p:nvPr/>
        </p:nvSpPr>
        <p:spPr>
          <a:xfrm>
            <a:off x="1002296" y="5395427"/>
            <a:ext cx="1248709" cy="2301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14" name="Espace réservé du texte 5">
            <a:extLst>
              <a:ext uri="{FF2B5EF4-FFF2-40B4-BE49-F238E27FC236}">
                <a16:creationId xmlns:a16="http://schemas.microsoft.com/office/drawing/2014/main" id="{73D74277-A541-E4F8-62A3-1E1510F32C0C}"/>
              </a:ext>
            </a:extLst>
          </p:cNvPr>
          <p:cNvSpPr txBox="1">
            <a:spLocks/>
          </p:cNvSpPr>
          <p:nvPr/>
        </p:nvSpPr>
        <p:spPr>
          <a:xfrm>
            <a:off x="1090224" y="5342501"/>
            <a:ext cx="931454" cy="556764"/>
          </a:xfrm>
          <a:prstGeom prst="rect">
            <a:avLst/>
          </a:prstGeom>
          <a:no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Premium</a:t>
            </a:r>
          </a:p>
          <a:p>
            <a:pPr marL="400955" lvl="1" indent="0" algn="ctr">
              <a:lnSpc>
                <a:spcPct val="120000"/>
              </a:lnSpc>
              <a:buNone/>
            </a:pPr>
            <a:endParaRPr lang="fr-FR" sz="1400" b="1" dirty="0">
              <a:latin typeface="Arial Nova" panose="020B0504020202020204" pitchFamily="34" charset="0"/>
            </a:endParaRPr>
          </a:p>
        </p:txBody>
      </p:sp>
      <p:sp>
        <p:nvSpPr>
          <p:cNvPr id="15" name="ZoneTexte 14">
            <a:extLst>
              <a:ext uri="{FF2B5EF4-FFF2-40B4-BE49-F238E27FC236}">
                <a16:creationId xmlns:a16="http://schemas.microsoft.com/office/drawing/2014/main" id="{AB99D608-0E7E-B0E5-9903-E6B0803D5FB5}"/>
              </a:ext>
            </a:extLst>
          </p:cNvPr>
          <p:cNvSpPr txBox="1"/>
          <p:nvPr/>
        </p:nvSpPr>
        <p:spPr>
          <a:xfrm>
            <a:off x="851450" y="5939255"/>
            <a:ext cx="1794052" cy="1338828"/>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Forfaits fort en datas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Option internationale</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importante d’appels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Besoin d’options régulièrement</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grpSp>
        <p:nvGrpSpPr>
          <p:cNvPr id="16" name="Groupe 15">
            <a:extLst>
              <a:ext uri="{FF2B5EF4-FFF2-40B4-BE49-F238E27FC236}">
                <a16:creationId xmlns:a16="http://schemas.microsoft.com/office/drawing/2014/main" id="{F1C6CBC3-6358-8D78-7A21-1DCD2E1F0758}"/>
              </a:ext>
            </a:extLst>
          </p:cNvPr>
          <p:cNvGrpSpPr/>
          <p:nvPr/>
        </p:nvGrpSpPr>
        <p:grpSpPr>
          <a:xfrm>
            <a:off x="2375824" y="5196517"/>
            <a:ext cx="1362300" cy="505960"/>
            <a:chOff x="2127600" y="4053919"/>
            <a:chExt cx="4485355" cy="525521"/>
          </a:xfrm>
          <a:noFill/>
        </p:grpSpPr>
        <p:sp>
          <p:nvSpPr>
            <p:cNvPr id="17" name="Rectangle 16">
              <a:extLst>
                <a:ext uri="{FF2B5EF4-FFF2-40B4-BE49-F238E27FC236}">
                  <a16:creationId xmlns:a16="http://schemas.microsoft.com/office/drawing/2014/main" id="{DB62C7E1-513C-C52A-7218-DA45EBF58AE4}"/>
                </a:ext>
              </a:extLst>
            </p:cNvPr>
            <p:cNvSpPr/>
            <p:nvPr/>
          </p:nvSpPr>
          <p:spPr>
            <a:xfrm>
              <a:off x="2127600" y="4053919"/>
              <a:ext cx="3871458" cy="23946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18" name="Espace réservé du texte 5">
              <a:extLst>
                <a:ext uri="{FF2B5EF4-FFF2-40B4-BE49-F238E27FC236}">
                  <a16:creationId xmlns:a16="http://schemas.microsoft.com/office/drawing/2014/main" id="{3133FD4F-1568-3050-5838-811B06D2FBF2}"/>
                </a:ext>
              </a:extLst>
            </p:cNvPr>
            <p:cNvSpPr txBox="1">
              <a:spLocks/>
            </p:cNvSpPr>
            <p:nvPr/>
          </p:nvSpPr>
          <p:spPr>
            <a:xfrm>
              <a:off x="2328725" y="4198594"/>
              <a:ext cx="4284230" cy="380846"/>
            </a:xfrm>
            <a:prstGeom prst="rect">
              <a:avLst/>
            </a:prstGeom>
            <a:grp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standard</a:t>
              </a:r>
            </a:p>
            <a:p>
              <a:pPr marL="400955" lvl="1" indent="0">
                <a:lnSpc>
                  <a:spcPct val="120000"/>
                </a:lnSpc>
                <a:buNone/>
              </a:pPr>
              <a:endParaRPr lang="fr-FR" sz="1400" b="1" dirty="0">
                <a:latin typeface="Arial Nova" panose="020B0504020202020204" pitchFamily="34" charset="0"/>
              </a:endParaRPr>
            </a:p>
          </p:txBody>
        </p:sp>
      </p:grpSp>
      <p:grpSp>
        <p:nvGrpSpPr>
          <p:cNvPr id="19" name="Groupe 18">
            <a:extLst>
              <a:ext uri="{FF2B5EF4-FFF2-40B4-BE49-F238E27FC236}">
                <a16:creationId xmlns:a16="http://schemas.microsoft.com/office/drawing/2014/main" id="{90033A8B-E5C3-874F-05BA-DB8A4553F0BB}"/>
              </a:ext>
            </a:extLst>
          </p:cNvPr>
          <p:cNvGrpSpPr/>
          <p:nvPr/>
        </p:nvGrpSpPr>
        <p:grpSpPr>
          <a:xfrm>
            <a:off x="4049359" y="5312581"/>
            <a:ext cx="1257954" cy="366670"/>
            <a:chOff x="2118480" y="4004321"/>
            <a:chExt cx="4141797" cy="380846"/>
          </a:xfrm>
          <a:noFill/>
        </p:grpSpPr>
        <p:sp>
          <p:nvSpPr>
            <p:cNvPr id="20" name="Rectangle 19">
              <a:extLst>
                <a:ext uri="{FF2B5EF4-FFF2-40B4-BE49-F238E27FC236}">
                  <a16:creationId xmlns:a16="http://schemas.microsoft.com/office/drawing/2014/main" id="{5723B884-0E6C-415A-3B46-0F16603A5A87}"/>
                </a:ext>
              </a:extLst>
            </p:cNvPr>
            <p:cNvSpPr/>
            <p:nvPr/>
          </p:nvSpPr>
          <p:spPr>
            <a:xfrm>
              <a:off x="2127600" y="4053919"/>
              <a:ext cx="3871458" cy="23946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21" name="Espace réservé du texte 5">
              <a:extLst>
                <a:ext uri="{FF2B5EF4-FFF2-40B4-BE49-F238E27FC236}">
                  <a16:creationId xmlns:a16="http://schemas.microsoft.com/office/drawing/2014/main" id="{72A02BBF-DEC0-4E11-8B11-F264BC2846D3}"/>
                </a:ext>
              </a:extLst>
            </p:cNvPr>
            <p:cNvSpPr txBox="1">
              <a:spLocks/>
            </p:cNvSpPr>
            <p:nvPr/>
          </p:nvSpPr>
          <p:spPr>
            <a:xfrm>
              <a:off x="2118480" y="4004321"/>
              <a:ext cx="4141797" cy="380846"/>
            </a:xfrm>
            <a:prstGeom prst="rect">
              <a:avLst/>
            </a:prstGeom>
            <a:grp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basiques</a:t>
              </a:r>
            </a:p>
            <a:p>
              <a:pPr marL="400955" lvl="1" indent="0">
                <a:lnSpc>
                  <a:spcPct val="120000"/>
                </a:lnSpc>
                <a:buNone/>
              </a:pPr>
              <a:endParaRPr lang="fr-FR" sz="1400" b="1" dirty="0">
                <a:latin typeface="Arial Nova" panose="020B0504020202020204" pitchFamily="34" charset="0"/>
              </a:endParaRPr>
            </a:p>
          </p:txBody>
        </p:sp>
      </p:grpSp>
      <p:sp>
        <p:nvSpPr>
          <p:cNvPr id="22" name="ZoneTexte 21">
            <a:extLst>
              <a:ext uri="{FF2B5EF4-FFF2-40B4-BE49-F238E27FC236}">
                <a16:creationId xmlns:a16="http://schemas.microsoft.com/office/drawing/2014/main" id="{18442890-66F5-7F74-46BF-A389B3306CEC}"/>
              </a:ext>
            </a:extLst>
          </p:cNvPr>
          <p:cNvSpPr txBox="1"/>
          <p:nvPr/>
        </p:nvSpPr>
        <p:spPr>
          <a:xfrm>
            <a:off x="2487378" y="5988938"/>
            <a:ext cx="1794052" cy="1184940"/>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Forfaits classiques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normal d’appels, majoritairement en France / Europe</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sp>
        <p:nvSpPr>
          <p:cNvPr id="23" name="ZoneTexte 22">
            <a:extLst>
              <a:ext uri="{FF2B5EF4-FFF2-40B4-BE49-F238E27FC236}">
                <a16:creationId xmlns:a16="http://schemas.microsoft.com/office/drawing/2014/main" id="{6D204C56-1A06-5E19-21F6-974F555734F8}"/>
              </a:ext>
            </a:extLst>
          </p:cNvPr>
          <p:cNvSpPr txBox="1"/>
          <p:nvPr/>
        </p:nvSpPr>
        <p:spPr>
          <a:xfrm>
            <a:off x="4107056" y="5988938"/>
            <a:ext cx="1476724" cy="1492716"/>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Faible en data</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d’appels que France / Europe</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Ne sert que de téléphone</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sp>
        <p:nvSpPr>
          <p:cNvPr id="27" name="Rectangle 26">
            <a:extLst>
              <a:ext uri="{FF2B5EF4-FFF2-40B4-BE49-F238E27FC236}">
                <a16:creationId xmlns:a16="http://schemas.microsoft.com/office/drawing/2014/main" id="{B4BD86C6-4C19-0EE5-4F19-0DAC83237E2B}"/>
              </a:ext>
            </a:extLst>
          </p:cNvPr>
          <p:cNvSpPr/>
          <p:nvPr/>
        </p:nvSpPr>
        <p:spPr>
          <a:xfrm>
            <a:off x="1322676" y="4861102"/>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0" name="Rectangle 29">
            <a:extLst>
              <a:ext uri="{FF2B5EF4-FFF2-40B4-BE49-F238E27FC236}">
                <a16:creationId xmlns:a16="http://schemas.microsoft.com/office/drawing/2014/main" id="{0F217CA6-EE88-7461-192C-B345D3E3B9C4}"/>
              </a:ext>
            </a:extLst>
          </p:cNvPr>
          <p:cNvSpPr/>
          <p:nvPr/>
        </p:nvSpPr>
        <p:spPr>
          <a:xfrm>
            <a:off x="2898978" y="4859644"/>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1" name="Rectangle 30">
            <a:extLst>
              <a:ext uri="{FF2B5EF4-FFF2-40B4-BE49-F238E27FC236}">
                <a16:creationId xmlns:a16="http://schemas.microsoft.com/office/drawing/2014/main" id="{20B61BEB-3432-3310-7AD9-E551E8C2B2B0}"/>
              </a:ext>
            </a:extLst>
          </p:cNvPr>
          <p:cNvSpPr/>
          <p:nvPr/>
        </p:nvSpPr>
        <p:spPr>
          <a:xfrm>
            <a:off x="4475281" y="4859643"/>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pic>
        <p:nvPicPr>
          <p:cNvPr id="32" name="Picture 2" descr="Opérateur mobile : notre comparateur forfait mobile ...">
            <a:extLst>
              <a:ext uri="{FF2B5EF4-FFF2-40B4-BE49-F238E27FC236}">
                <a16:creationId xmlns:a16="http://schemas.microsoft.com/office/drawing/2014/main" id="{88C8D169-F1B8-992D-F67A-CCB5DAAA99A9}"/>
              </a:ext>
            </a:extLst>
          </p:cNvPr>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a:ext>
            </a:extLst>
          </a:blip>
          <a:srcRect r="-328"/>
          <a:stretch/>
        </p:blipFill>
        <p:spPr bwMode="auto">
          <a:xfrm>
            <a:off x="4028581" y="1682535"/>
            <a:ext cx="567305" cy="54440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Le réseau mobile en France, quelles différences entre opérateurs ?">
            <a:extLst>
              <a:ext uri="{FF2B5EF4-FFF2-40B4-BE49-F238E27FC236}">
                <a16:creationId xmlns:a16="http://schemas.microsoft.com/office/drawing/2014/main" id="{E8C2976C-FEF5-9B65-DAC0-BECE5F23F545}"/>
              </a:ext>
            </a:extLst>
          </p:cNvPr>
          <p:cNvPicPr>
            <a:picLocks noChangeAspect="1" noChangeArrowheads="1"/>
          </p:cNvPicPr>
          <p:nvPr/>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2739111" y="1677034"/>
            <a:ext cx="1149663" cy="55214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6" descr="Le réseau mobile en France, quelles différences entre opérateurs ?">
            <a:extLst>
              <a:ext uri="{FF2B5EF4-FFF2-40B4-BE49-F238E27FC236}">
                <a16:creationId xmlns:a16="http://schemas.microsoft.com/office/drawing/2014/main" id="{9A5C7E74-91F8-C66C-0D17-B072E9584B31}"/>
              </a:ext>
            </a:extLst>
          </p:cNvPr>
          <p:cNvPicPr>
            <a:picLocks noChangeAspect="1" noChangeArrowheads="1"/>
          </p:cNvPicPr>
          <p:nvPr/>
        </p:nvPicPr>
        <p:blipFill rotWithShape="1">
          <a:blip r:embed="rId5"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4743194" y="1687515"/>
            <a:ext cx="512135" cy="505466"/>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6" descr="Le réseau mobile en France, quelles différences entre opérateurs ?">
            <a:extLst>
              <a:ext uri="{FF2B5EF4-FFF2-40B4-BE49-F238E27FC236}">
                <a16:creationId xmlns:a16="http://schemas.microsoft.com/office/drawing/2014/main" id="{1CB098BC-1643-0AD6-686D-07B3C26D920B}"/>
              </a:ext>
            </a:extLst>
          </p:cNvPr>
          <p:cNvPicPr>
            <a:picLocks noChangeAspect="1" noChangeArrowheads="1"/>
          </p:cNvPicPr>
          <p:nvPr/>
        </p:nvPicPr>
        <p:blipFill rotWithShape="1">
          <a:blip r:embed="rId6"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1763085" y="1672228"/>
            <a:ext cx="856657" cy="481450"/>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 5">
            <a:extLst>
              <a:ext uri="{FF2B5EF4-FFF2-40B4-BE49-F238E27FC236}">
                <a16:creationId xmlns:a16="http://schemas.microsoft.com/office/drawing/2014/main" id="{77ADCB0A-8C8B-28AC-497D-553F6E9811EE}"/>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BF818BB7-90ED-0A8D-4079-83677D566C82}"/>
              </a:ext>
            </a:extLst>
          </p:cNvPr>
          <p:cNvSpPr/>
          <p:nvPr/>
        </p:nvSpPr>
        <p:spPr>
          <a:xfrm>
            <a:off x="706462" y="1312978"/>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9" name="Rectangle 8">
            <a:extLst>
              <a:ext uri="{FF2B5EF4-FFF2-40B4-BE49-F238E27FC236}">
                <a16:creationId xmlns:a16="http://schemas.microsoft.com/office/drawing/2014/main" id="{3A7A9CB9-C273-1020-6892-666C5547CE5D}"/>
              </a:ext>
            </a:extLst>
          </p:cNvPr>
          <p:cNvSpPr/>
          <p:nvPr/>
        </p:nvSpPr>
        <p:spPr>
          <a:xfrm>
            <a:off x="698406" y="423952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2518687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67DB2-D475-4835-402E-CC238A85CBD3}"/>
            </a:ext>
          </a:extLst>
        </p:cNvPr>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DAD9AD6A-7344-3151-5E84-B6C0A7833E18}"/>
              </a:ext>
            </a:extLst>
          </p:cNvPr>
          <p:cNvGraphicFramePr>
            <a:graphicFrameLocks noGrp="1"/>
          </p:cNvGraphicFramePr>
          <p:nvPr>
            <p:extLst>
              <p:ext uri="{D42A27DB-BD31-4B8C-83A1-F6EECF244321}">
                <p14:modId xmlns:p14="http://schemas.microsoft.com/office/powerpoint/2010/main" val="558207012"/>
              </p:ext>
            </p:extLst>
          </p:nvPr>
        </p:nvGraphicFramePr>
        <p:xfrm>
          <a:off x="983707" y="1736678"/>
          <a:ext cx="8930450" cy="2954580"/>
        </p:xfrm>
        <a:graphic>
          <a:graphicData uri="http://schemas.openxmlformats.org/drawingml/2006/table">
            <a:tbl>
              <a:tblPr firstRow="1" bandRow="1">
                <a:effectLst/>
                <a:tableStyleId>{F5AB1C69-6EDB-4FF4-983F-18BD219EF322}</a:tableStyleId>
              </a:tblPr>
              <a:tblGrid>
                <a:gridCol w="1353780">
                  <a:extLst>
                    <a:ext uri="{9D8B030D-6E8A-4147-A177-3AD203B41FA5}">
                      <a16:colId xmlns:a16="http://schemas.microsoft.com/office/drawing/2014/main" val="3615684430"/>
                    </a:ext>
                  </a:extLst>
                </a:gridCol>
                <a:gridCol w="1356188">
                  <a:extLst>
                    <a:ext uri="{9D8B030D-6E8A-4147-A177-3AD203B41FA5}">
                      <a16:colId xmlns:a16="http://schemas.microsoft.com/office/drawing/2014/main" val="1240341726"/>
                    </a:ext>
                  </a:extLst>
                </a:gridCol>
                <a:gridCol w="1273996">
                  <a:extLst>
                    <a:ext uri="{9D8B030D-6E8A-4147-A177-3AD203B41FA5}">
                      <a16:colId xmlns:a16="http://schemas.microsoft.com/office/drawing/2014/main" val="3418675952"/>
                    </a:ext>
                  </a:extLst>
                </a:gridCol>
                <a:gridCol w="1037690">
                  <a:extLst>
                    <a:ext uri="{9D8B030D-6E8A-4147-A177-3AD203B41FA5}">
                      <a16:colId xmlns:a16="http://schemas.microsoft.com/office/drawing/2014/main" val="3217757275"/>
                    </a:ext>
                  </a:extLst>
                </a:gridCol>
                <a:gridCol w="1613042">
                  <a:extLst>
                    <a:ext uri="{9D8B030D-6E8A-4147-A177-3AD203B41FA5}">
                      <a16:colId xmlns:a16="http://schemas.microsoft.com/office/drawing/2014/main" val="1191447353"/>
                    </a:ext>
                  </a:extLst>
                </a:gridCol>
                <a:gridCol w="1232899">
                  <a:extLst>
                    <a:ext uri="{9D8B030D-6E8A-4147-A177-3AD203B41FA5}">
                      <a16:colId xmlns:a16="http://schemas.microsoft.com/office/drawing/2014/main" val="872859464"/>
                    </a:ext>
                  </a:extLst>
                </a:gridCol>
                <a:gridCol w="1062855">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Numéros / Flotte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Téléphone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Opérateur</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Type de forfait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828449E7-94F1-B97A-4039-741CAA2892B4}"/>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822C15C4-968C-5EC3-D888-4FFC87132EA4}"/>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MOBILE</a:t>
            </a:r>
          </a:p>
        </p:txBody>
      </p:sp>
      <p:pic>
        <p:nvPicPr>
          <p:cNvPr id="22" name="Image 21" descr="Une image contenant capture d’écran, conception&#10;&#10;Description générée automatiquement">
            <a:extLst>
              <a:ext uri="{FF2B5EF4-FFF2-40B4-BE49-F238E27FC236}">
                <a16:creationId xmlns:a16="http://schemas.microsoft.com/office/drawing/2014/main" id="{9238EBDE-5CF2-E2F7-67FD-85366FCC77AC}"/>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6117" y="231461"/>
            <a:ext cx="720000" cy="720000"/>
          </a:xfrm>
          <a:prstGeom prst="rect">
            <a:avLst/>
          </a:prstGeom>
        </p:spPr>
      </p:pic>
      <p:pic>
        <p:nvPicPr>
          <p:cNvPr id="3" name="Image 2">
            <a:extLst>
              <a:ext uri="{FF2B5EF4-FFF2-40B4-BE49-F238E27FC236}">
                <a16:creationId xmlns:a16="http://schemas.microsoft.com/office/drawing/2014/main" id="{BEC9E242-54EC-BF6C-B547-968B12417B1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29076985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re 1">
            <a:extLst>
              <a:ext uri="{FF2B5EF4-FFF2-40B4-BE49-F238E27FC236}">
                <a16:creationId xmlns:a16="http://schemas.microsoft.com/office/drawing/2014/main" id="{717C764F-72BF-24A0-BABF-272EE83644B3}"/>
              </a:ext>
            </a:extLst>
          </p:cNvPr>
          <p:cNvSpPr txBox="1">
            <a:spLocks/>
          </p:cNvSpPr>
          <p:nvPr/>
        </p:nvSpPr>
        <p:spPr>
          <a:xfrm>
            <a:off x="1407168" y="353999"/>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PARE-FEU (FIREWALL)</a:t>
            </a:r>
          </a:p>
        </p:txBody>
      </p:sp>
      <p:sp>
        <p:nvSpPr>
          <p:cNvPr id="3" name="Rectangle 2">
            <a:extLst>
              <a:ext uri="{FF2B5EF4-FFF2-40B4-BE49-F238E27FC236}">
                <a16:creationId xmlns:a16="http://schemas.microsoft.com/office/drawing/2014/main" id="{45B57BD0-7045-865D-D13F-DCAE3E90875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9" name="Image 18" descr="Une image contenant capture d’écran, Graphique, symbole, graphisme&#10;&#10;Le contenu généré par l’IA peut être incorrect.">
            <a:extLst>
              <a:ext uri="{FF2B5EF4-FFF2-40B4-BE49-F238E27FC236}">
                <a16:creationId xmlns:a16="http://schemas.microsoft.com/office/drawing/2014/main" id="{06036DD5-DC1F-C823-B0D6-B4A72921E1EB}"/>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486138" y="232951"/>
            <a:ext cx="720000" cy="720000"/>
          </a:xfrm>
          <a:prstGeom prst="rect">
            <a:avLst/>
          </a:prstGeom>
        </p:spPr>
      </p:pic>
      <p:sp>
        <p:nvSpPr>
          <p:cNvPr id="22" name="Rectangle 21">
            <a:extLst>
              <a:ext uri="{FF2B5EF4-FFF2-40B4-BE49-F238E27FC236}">
                <a16:creationId xmlns:a16="http://schemas.microsoft.com/office/drawing/2014/main" id="{75CE39DD-0326-8B5D-188E-74C4EBD5BF12}"/>
              </a:ext>
            </a:extLst>
          </p:cNvPr>
          <p:cNvSpPr/>
          <p:nvPr/>
        </p:nvSpPr>
        <p:spPr>
          <a:xfrm>
            <a:off x="770463" y="4457969"/>
            <a:ext cx="4776797" cy="286875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24" name="ZoneTexte 23">
            <a:extLst>
              <a:ext uri="{FF2B5EF4-FFF2-40B4-BE49-F238E27FC236}">
                <a16:creationId xmlns:a16="http://schemas.microsoft.com/office/drawing/2014/main" id="{EC1FE506-E87F-A46B-C660-075DC2AE06E3}"/>
              </a:ext>
            </a:extLst>
          </p:cNvPr>
          <p:cNvSpPr txBox="1"/>
          <p:nvPr/>
        </p:nvSpPr>
        <p:spPr>
          <a:xfrm>
            <a:off x="647431" y="4311654"/>
            <a:ext cx="5290807" cy="338554"/>
          </a:xfrm>
          <a:prstGeom prst="rect">
            <a:avLst/>
          </a:prstGeom>
          <a:noFill/>
        </p:spPr>
        <p:txBody>
          <a:bodyPr wrap="none" rtlCol="0">
            <a:spAutoFit/>
          </a:bodyPr>
          <a:lstStyle/>
          <a:p>
            <a:r>
              <a:rPr lang="fr-FR" sz="1600" b="1" dirty="0">
                <a:latin typeface="Arial Nova" panose="020B0504020202020204" pitchFamily="34" charset="0"/>
              </a:rPr>
              <a:t>VOS SOURCES D’ACCÈS VERS LE RÉSEAU EXTERNE</a:t>
            </a:r>
          </a:p>
        </p:txBody>
      </p:sp>
      <p:sp>
        <p:nvSpPr>
          <p:cNvPr id="26" name="Rectangle 25">
            <a:extLst>
              <a:ext uri="{FF2B5EF4-FFF2-40B4-BE49-F238E27FC236}">
                <a16:creationId xmlns:a16="http://schemas.microsoft.com/office/drawing/2014/main" id="{9F1EFAF7-2230-7519-2554-7B321CAC337C}"/>
              </a:ext>
            </a:extLst>
          </p:cNvPr>
          <p:cNvSpPr/>
          <p:nvPr/>
        </p:nvSpPr>
        <p:spPr>
          <a:xfrm>
            <a:off x="705167" y="1512044"/>
            <a:ext cx="4776797" cy="2583056"/>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28" name="ZoneTexte 27">
            <a:extLst>
              <a:ext uri="{FF2B5EF4-FFF2-40B4-BE49-F238E27FC236}">
                <a16:creationId xmlns:a16="http://schemas.microsoft.com/office/drawing/2014/main" id="{BA7D8D14-3729-14D4-0FD5-E684F849CBB6}"/>
              </a:ext>
            </a:extLst>
          </p:cNvPr>
          <p:cNvSpPr txBox="1"/>
          <p:nvPr/>
        </p:nvSpPr>
        <p:spPr>
          <a:xfrm>
            <a:off x="3652835" y="4330468"/>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29" name="ZoneTexte 28">
            <a:extLst>
              <a:ext uri="{FF2B5EF4-FFF2-40B4-BE49-F238E27FC236}">
                <a16:creationId xmlns:a16="http://schemas.microsoft.com/office/drawing/2014/main" id="{B0E5994C-6DB7-593A-BB4B-1189BF6AC824}"/>
              </a:ext>
            </a:extLst>
          </p:cNvPr>
          <p:cNvSpPr txBox="1"/>
          <p:nvPr/>
        </p:nvSpPr>
        <p:spPr>
          <a:xfrm>
            <a:off x="1874577" y="2582571"/>
            <a:ext cx="1147815" cy="461665"/>
          </a:xfrm>
          <a:prstGeom prst="rect">
            <a:avLst/>
          </a:prstGeom>
          <a:noFill/>
        </p:spPr>
        <p:txBody>
          <a:bodyPr wrap="none" rtlCol="0">
            <a:spAutoFit/>
          </a:bodyPr>
          <a:lstStyle/>
          <a:p>
            <a:pPr algn="ctr"/>
            <a:r>
              <a:rPr lang="fr-FR" sz="1200" dirty="0">
                <a:latin typeface="Arial Nova" panose="020B0504020202020204" pitchFamily="34" charset="0"/>
              </a:rPr>
              <a:t>Nb </a:t>
            </a:r>
          </a:p>
          <a:p>
            <a:pPr algn="ctr"/>
            <a:r>
              <a:rPr lang="fr-FR" sz="1200" dirty="0">
                <a:latin typeface="Arial Nova" panose="020B0504020202020204" pitchFamily="34" charset="0"/>
              </a:rPr>
              <a:t>collaborateurs</a:t>
            </a:r>
          </a:p>
        </p:txBody>
      </p:sp>
      <p:sp>
        <p:nvSpPr>
          <p:cNvPr id="30" name="ZoneTexte 29">
            <a:extLst>
              <a:ext uri="{FF2B5EF4-FFF2-40B4-BE49-F238E27FC236}">
                <a16:creationId xmlns:a16="http://schemas.microsoft.com/office/drawing/2014/main" id="{47AA373A-1BDD-3CAF-48B5-82A02FABB08C}"/>
              </a:ext>
            </a:extLst>
          </p:cNvPr>
          <p:cNvSpPr txBox="1"/>
          <p:nvPr/>
        </p:nvSpPr>
        <p:spPr>
          <a:xfrm>
            <a:off x="3252169" y="2582820"/>
            <a:ext cx="798403" cy="461665"/>
          </a:xfrm>
          <a:prstGeom prst="rect">
            <a:avLst/>
          </a:prstGeom>
          <a:noFill/>
        </p:spPr>
        <p:txBody>
          <a:bodyPr wrap="square" rtlCol="0">
            <a:spAutoFit/>
          </a:bodyPr>
          <a:lstStyle/>
          <a:p>
            <a:pPr algn="ctr"/>
            <a:r>
              <a:rPr lang="fr-FR" sz="1200" dirty="0">
                <a:latin typeface="Arial Nova" panose="020B0504020202020204" pitchFamily="34" charset="0"/>
              </a:rPr>
              <a:t>Part de mobilité</a:t>
            </a:r>
          </a:p>
        </p:txBody>
      </p:sp>
      <p:sp>
        <p:nvSpPr>
          <p:cNvPr id="31" name="Rectangle 30">
            <a:extLst>
              <a:ext uri="{FF2B5EF4-FFF2-40B4-BE49-F238E27FC236}">
                <a16:creationId xmlns:a16="http://schemas.microsoft.com/office/drawing/2014/main" id="{E6C84FE2-C496-4DB9-AF4E-786EF7A83839}"/>
              </a:ext>
            </a:extLst>
          </p:cNvPr>
          <p:cNvSpPr/>
          <p:nvPr/>
        </p:nvSpPr>
        <p:spPr>
          <a:xfrm>
            <a:off x="3292835" y="306356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2" name="ZoneTexte 31">
            <a:extLst>
              <a:ext uri="{FF2B5EF4-FFF2-40B4-BE49-F238E27FC236}">
                <a16:creationId xmlns:a16="http://schemas.microsoft.com/office/drawing/2014/main" id="{4EA70C91-FD33-3649-1241-349ACE1670EE}"/>
              </a:ext>
            </a:extLst>
          </p:cNvPr>
          <p:cNvSpPr txBox="1"/>
          <p:nvPr/>
        </p:nvSpPr>
        <p:spPr>
          <a:xfrm>
            <a:off x="647431" y="1305923"/>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33" name="Rectangle 32">
            <a:extLst>
              <a:ext uri="{FF2B5EF4-FFF2-40B4-BE49-F238E27FC236}">
                <a16:creationId xmlns:a16="http://schemas.microsoft.com/office/drawing/2014/main" id="{807DE0D3-5191-3445-99F6-0CF00372A6FA}"/>
              </a:ext>
            </a:extLst>
          </p:cNvPr>
          <p:cNvSpPr/>
          <p:nvPr/>
        </p:nvSpPr>
        <p:spPr>
          <a:xfrm>
            <a:off x="2066918" y="306356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4" name="ZoneTexte 33">
            <a:extLst>
              <a:ext uri="{FF2B5EF4-FFF2-40B4-BE49-F238E27FC236}">
                <a16:creationId xmlns:a16="http://schemas.microsoft.com/office/drawing/2014/main" id="{693437C7-8584-9534-22A9-A9E69543DF44}"/>
              </a:ext>
            </a:extLst>
          </p:cNvPr>
          <p:cNvSpPr txBox="1"/>
          <p:nvPr/>
        </p:nvSpPr>
        <p:spPr>
          <a:xfrm>
            <a:off x="858125" y="1708748"/>
            <a:ext cx="1857945" cy="646331"/>
          </a:xfrm>
          <a:prstGeom prst="rect">
            <a:avLst/>
          </a:prstGeom>
          <a:noFill/>
        </p:spPr>
        <p:txBody>
          <a:bodyPr wrap="none" rtlCol="0">
            <a:spAutoFit/>
          </a:bodyPr>
          <a:lstStyle/>
          <a:p>
            <a:r>
              <a:rPr lang="fr-FR" sz="1200" dirty="0">
                <a:latin typeface="Arial Nova" panose="020B0504020202020204" pitchFamily="34" charset="0"/>
              </a:rPr>
              <a:t>Présence d’un pare-feu :</a:t>
            </a:r>
          </a:p>
          <a:p>
            <a:endParaRPr lang="fr-FR" sz="1200" dirty="0">
              <a:latin typeface="Arial Nova" panose="020B0504020202020204" pitchFamily="34" charset="0"/>
            </a:endParaRPr>
          </a:p>
          <a:p>
            <a:r>
              <a:rPr lang="fr-FR" sz="1200" dirty="0">
                <a:latin typeface="Arial Nova" panose="020B0504020202020204" pitchFamily="34" charset="0"/>
              </a:rPr>
              <a:t>Marque : </a:t>
            </a:r>
          </a:p>
        </p:txBody>
      </p:sp>
      <p:sp>
        <p:nvSpPr>
          <p:cNvPr id="37" name="Rectangle 36">
            <a:extLst>
              <a:ext uri="{FF2B5EF4-FFF2-40B4-BE49-F238E27FC236}">
                <a16:creationId xmlns:a16="http://schemas.microsoft.com/office/drawing/2014/main" id="{B309BEA1-3C31-EE49-FE70-434AF194B48D}"/>
              </a:ext>
            </a:extLst>
          </p:cNvPr>
          <p:cNvSpPr/>
          <p:nvPr/>
        </p:nvSpPr>
        <p:spPr>
          <a:xfrm>
            <a:off x="6358198" y="1058601"/>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8" name="ZoneTexte 37">
            <a:extLst>
              <a:ext uri="{FF2B5EF4-FFF2-40B4-BE49-F238E27FC236}">
                <a16:creationId xmlns:a16="http://schemas.microsoft.com/office/drawing/2014/main" id="{FD433E26-0823-44E6-BA76-1780F864952E}"/>
              </a:ext>
            </a:extLst>
          </p:cNvPr>
          <p:cNvSpPr txBox="1"/>
          <p:nvPr/>
        </p:nvSpPr>
        <p:spPr>
          <a:xfrm>
            <a:off x="6354960" y="832436"/>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39" name="Rectangle 38">
            <a:extLst>
              <a:ext uri="{FF2B5EF4-FFF2-40B4-BE49-F238E27FC236}">
                <a16:creationId xmlns:a16="http://schemas.microsoft.com/office/drawing/2014/main" id="{C6CF3A05-D12C-4B1A-97B0-76CD0E1294C4}"/>
              </a:ext>
            </a:extLst>
          </p:cNvPr>
          <p:cNvSpPr/>
          <p:nvPr/>
        </p:nvSpPr>
        <p:spPr>
          <a:xfrm>
            <a:off x="6354960" y="3002645"/>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40" name="ZoneTexte 39">
            <a:extLst>
              <a:ext uri="{FF2B5EF4-FFF2-40B4-BE49-F238E27FC236}">
                <a16:creationId xmlns:a16="http://schemas.microsoft.com/office/drawing/2014/main" id="{BFDFC87A-CCF1-C9B7-84BB-3FC237F673BC}"/>
              </a:ext>
            </a:extLst>
          </p:cNvPr>
          <p:cNvSpPr txBox="1"/>
          <p:nvPr/>
        </p:nvSpPr>
        <p:spPr>
          <a:xfrm>
            <a:off x="6354960" y="2776480"/>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41" name="Rectangle 40">
            <a:extLst>
              <a:ext uri="{FF2B5EF4-FFF2-40B4-BE49-F238E27FC236}">
                <a16:creationId xmlns:a16="http://schemas.microsoft.com/office/drawing/2014/main" id="{59184990-8941-F6E6-7E23-2EAFD069831C}"/>
              </a:ext>
            </a:extLst>
          </p:cNvPr>
          <p:cNvSpPr/>
          <p:nvPr/>
        </p:nvSpPr>
        <p:spPr>
          <a:xfrm>
            <a:off x="6354960" y="5060688"/>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42" name="ZoneTexte 41">
            <a:extLst>
              <a:ext uri="{FF2B5EF4-FFF2-40B4-BE49-F238E27FC236}">
                <a16:creationId xmlns:a16="http://schemas.microsoft.com/office/drawing/2014/main" id="{B3954F1C-6A7F-79C4-697E-408238FF3B1A}"/>
              </a:ext>
            </a:extLst>
          </p:cNvPr>
          <p:cNvSpPr txBox="1"/>
          <p:nvPr/>
        </p:nvSpPr>
        <p:spPr>
          <a:xfrm>
            <a:off x="6354960" y="4834523"/>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43" name="Rectangle 1">
            <a:extLst>
              <a:ext uri="{FF2B5EF4-FFF2-40B4-BE49-F238E27FC236}">
                <a16:creationId xmlns:a16="http://schemas.microsoft.com/office/drawing/2014/main" id="{337457AB-C441-E236-C871-A07EC54BAB24}"/>
              </a:ext>
            </a:extLst>
          </p:cNvPr>
          <p:cNvSpPr>
            <a:spLocks noChangeArrowheads="1"/>
          </p:cNvSpPr>
          <p:nvPr/>
        </p:nvSpPr>
        <p:spPr bwMode="auto">
          <a:xfrm>
            <a:off x="6286439" y="1108144"/>
            <a:ext cx="401470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Capacité de filtrage insuffisante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protection avancée (antivirus, IDS/IPS, </a:t>
            </a:r>
            <a:r>
              <a:rPr kumimoji="0" lang="fr-FR" altLang="fr-FR" sz="1100" b="0" i="0" u="none" strike="noStrike" cap="none" normalizeH="0" baseline="0" dirty="0" err="1">
                <a:ln>
                  <a:noFill/>
                </a:ln>
                <a:solidFill>
                  <a:schemeClr val="tx1"/>
                </a:solidFill>
                <a:effectLst/>
                <a:latin typeface="Arial Nova" panose="020B0504020202020204" pitchFamily="34" charset="0"/>
              </a:rPr>
              <a:t>sandboxing</a:t>
            </a:r>
            <a:r>
              <a:rPr kumimoji="0" lang="fr-FR" altLang="fr-FR" sz="1100" b="0" i="0" u="none" strike="noStrike" cap="none" normalizeH="0" baseline="0" dirty="0">
                <a:ln>
                  <a:noFill/>
                </a:ln>
                <a:solidFill>
                  <a:schemeClr val="tx1"/>
                </a:solidFill>
                <a:effectLst/>
                <a:latin typeface="Arial Nova" panose="020B0504020202020204" pitchFamily="34" charset="0"/>
              </a:rPr>
              <a: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VPN sécurisé</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supervision et d’alertes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Pare-feu vieillissant / non compatible avec les besoins actuels</a:t>
            </a:r>
          </a:p>
        </p:txBody>
      </p:sp>
      <p:sp>
        <p:nvSpPr>
          <p:cNvPr id="44" name="Rectangle 1">
            <a:extLst>
              <a:ext uri="{FF2B5EF4-FFF2-40B4-BE49-F238E27FC236}">
                <a16:creationId xmlns:a16="http://schemas.microsoft.com/office/drawing/2014/main" id="{5AA96EBE-7CF0-4491-5CC5-2573A059DFBD}"/>
              </a:ext>
            </a:extLst>
          </p:cNvPr>
          <p:cNvSpPr>
            <a:spLocks noChangeArrowheads="1"/>
          </p:cNvSpPr>
          <p:nvPr/>
        </p:nvSpPr>
        <p:spPr bwMode="auto">
          <a:xfrm>
            <a:off x="6286438" y="3174279"/>
            <a:ext cx="2929007"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un pare-feu Next-</a:t>
            </a:r>
            <a:r>
              <a:rPr kumimoji="0" lang="fr-FR" altLang="fr-FR" sz="1100" b="0" i="0" u="none" strike="noStrike" cap="none" normalizeH="0" baseline="0" dirty="0" err="1">
                <a:ln>
                  <a:noFill/>
                </a:ln>
                <a:solidFill>
                  <a:schemeClr val="tx1"/>
                </a:solidFill>
                <a:effectLst/>
                <a:latin typeface="Arial Nova" panose="020B0504020202020204" pitchFamily="34" charset="0"/>
              </a:rPr>
              <a:t>Gen</a:t>
            </a:r>
            <a:r>
              <a:rPr kumimoji="0" lang="fr-FR" altLang="fr-FR" sz="1100" b="0" i="0" u="none" strike="noStrike" cap="none" normalizeH="0" baseline="0" dirty="0">
                <a:ln>
                  <a:noFill/>
                </a:ln>
                <a:solidFill>
                  <a:schemeClr val="tx1"/>
                </a:solidFill>
                <a:effectLst/>
                <a:latin typeface="Arial Nova" panose="020B0504020202020204" pitchFamily="34" charset="0"/>
              </a:rPr>
              <a:t> (NGFW)</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d’une protection avancée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Ajout de VPN sécurisé pour le télétravail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Surveillance et </a:t>
            </a:r>
            <a:r>
              <a:rPr kumimoji="0" lang="fr-FR" altLang="fr-FR" sz="1100" b="0" i="0" u="none" strike="noStrike" cap="none" normalizeH="0" baseline="0" dirty="0" err="1">
                <a:ln>
                  <a:noFill/>
                </a:ln>
                <a:solidFill>
                  <a:schemeClr val="tx1"/>
                </a:solidFill>
                <a:effectLst/>
                <a:latin typeface="Arial Nova" panose="020B0504020202020204" pitchFamily="34" charset="0"/>
              </a:rPr>
              <a:t>reporting</a:t>
            </a:r>
            <a:r>
              <a:rPr kumimoji="0" lang="fr-FR" altLang="fr-FR" sz="1100" b="0" i="0" u="none" strike="noStrike" cap="none" normalizeH="0" baseline="0" dirty="0">
                <a:ln>
                  <a:noFill/>
                </a:ln>
                <a:solidFill>
                  <a:schemeClr val="tx1"/>
                </a:solidFill>
                <a:effectLst/>
                <a:latin typeface="Arial Nova" panose="020B0504020202020204" pitchFamily="34" charset="0"/>
              </a:rPr>
              <a:t>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Redondance et haute disponibilité</a:t>
            </a:r>
          </a:p>
        </p:txBody>
      </p:sp>
      <p:sp>
        <p:nvSpPr>
          <p:cNvPr id="45" name="Rectangle 1">
            <a:extLst>
              <a:ext uri="{FF2B5EF4-FFF2-40B4-BE49-F238E27FC236}">
                <a16:creationId xmlns:a16="http://schemas.microsoft.com/office/drawing/2014/main" id="{58BDEC43-0A97-BD90-161C-A51065BFB9F0}"/>
              </a:ext>
            </a:extLst>
          </p:cNvPr>
          <p:cNvSpPr>
            <a:spLocks noChangeArrowheads="1"/>
          </p:cNvSpPr>
          <p:nvPr/>
        </p:nvSpPr>
        <p:spPr bwMode="auto">
          <a:xfrm>
            <a:off x="6286439" y="5100134"/>
            <a:ext cx="3886262"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contre les cyberattaques (ransomware, phishing, DDoS)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Conformité réglementaire (RGPD, ISO 27001, PCI-DSS)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d’un monitoring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Gestion des accès et des droits utilisateurs</a:t>
            </a:r>
          </a:p>
        </p:txBody>
      </p:sp>
      <p:sp>
        <p:nvSpPr>
          <p:cNvPr id="60" name="Rectangle 59">
            <a:extLst>
              <a:ext uri="{FF2B5EF4-FFF2-40B4-BE49-F238E27FC236}">
                <a16:creationId xmlns:a16="http://schemas.microsoft.com/office/drawing/2014/main" id="{3FB573EB-E01D-27B2-15AC-81DB44082F43}"/>
              </a:ext>
            </a:extLst>
          </p:cNvPr>
          <p:cNvSpPr/>
          <p:nvPr/>
        </p:nvSpPr>
        <p:spPr>
          <a:xfrm>
            <a:off x="3823185" y="5549404"/>
            <a:ext cx="1033940"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CAMERA</a:t>
            </a:r>
          </a:p>
        </p:txBody>
      </p:sp>
      <p:sp>
        <p:nvSpPr>
          <p:cNvPr id="61" name="Rectangle 60">
            <a:extLst>
              <a:ext uri="{FF2B5EF4-FFF2-40B4-BE49-F238E27FC236}">
                <a16:creationId xmlns:a16="http://schemas.microsoft.com/office/drawing/2014/main" id="{47181C2A-EA8E-8A4F-EA7D-89A5AD087FD0}"/>
              </a:ext>
            </a:extLst>
          </p:cNvPr>
          <p:cNvSpPr/>
          <p:nvPr/>
        </p:nvSpPr>
        <p:spPr>
          <a:xfrm>
            <a:off x="2227160" y="6711856"/>
            <a:ext cx="1590463"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VISIO</a:t>
            </a:r>
          </a:p>
        </p:txBody>
      </p:sp>
      <p:sp>
        <p:nvSpPr>
          <p:cNvPr id="62" name="Rectangle 61">
            <a:extLst>
              <a:ext uri="{FF2B5EF4-FFF2-40B4-BE49-F238E27FC236}">
                <a16:creationId xmlns:a16="http://schemas.microsoft.com/office/drawing/2014/main" id="{FE163F2B-E6AD-BF9E-90C9-6EA17716E573}"/>
              </a:ext>
            </a:extLst>
          </p:cNvPr>
          <p:cNvSpPr/>
          <p:nvPr/>
        </p:nvSpPr>
        <p:spPr>
          <a:xfrm>
            <a:off x="987907" y="5568082"/>
            <a:ext cx="1242235"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SOFTPHONIE</a:t>
            </a:r>
          </a:p>
        </p:txBody>
      </p:sp>
      <p:sp>
        <p:nvSpPr>
          <p:cNvPr id="63" name="Rectangle 62">
            <a:extLst>
              <a:ext uri="{FF2B5EF4-FFF2-40B4-BE49-F238E27FC236}">
                <a16:creationId xmlns:a16="http://schemas.microsoft.com/office/drawing/2014/main" id="{D5754323-2D95-99A5-A6F7-8E4FE4072CC8}"/>
              </a:ext>
            </a:extLst>
          </p:cNvPr>
          <p:cNvSpPr/>
          <p:nvPr/>
        </p:nvSpPr>
        <p:spPr>
          <a:xfrm>
            <a:off x="2401274" y="5549404"/>
            <a:ext cx="1242234"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ORDINATEUR</a:t>
            </a:r>
          </a:p>
        </p:txBody>
      </p:sp>
      <p:sp>
        <p:nvSpPr>
          <p:cNvPr id="64" name="Rectangle 63">
            <a:extLst>
              <a:ext uri="{FF2B5EF4-FFF2-40B4-BE49-F238E27FC236}">
                <a16:creationId xmlns:a16="http://schemas.microsoft.com/office/drawing/2014/main" id="{6DEFBD09-D56A-EFC7-580E-4AB9CFF58EDD}"/>
              </a:ext>
            </a:extLst>
          </p:cNvPr>
          <p:cNvSpPr/>
          <p:nvPr/>
        </p:nvSpPr>
        <p:spPr>
          <a:xfrm>
            <a:off x="813793" y="6726903"/>
            <a:ext cx="1590463"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SERVEURS</a:t>
            </a:r>
          </a:p>
        </p:txBody>
      </p:sp>
      <p:sp>
        <p:nvSpPr>
          <p:cNvPr id="69" name="Rectangle 68">
            <a:extLst>
              <a:ext uri="{FF2B5EF4-FFF2-40B4-BE49-F238E27FC236}">
                <a16:creationId xmlns:a16="http://schemas.microsoft.com/office/drawing/2014/main" id="{86E35F19-CE82-9A51-F202-CE10BCB83D55}"/>
              </a:ext>
            </a:extLst>
          </p:cNvPr>
          <p:cNvSpPr/>
          <p:nvPr/>
        </p:nvSpPr>
        <p:spPr>
          <a:xfrm>
            <a:off x="3544924" y="6658163"/>
            <a:ext cx="1590463" cy="54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CONNEXION LOGICIELLE</a:t>
            </a:r>
          </a:p>
        </p:txBody>
      </p:sp>
      <p:pic>
        <p:nvPicPr>
          <p:cNvPr id="4" name="Image 3">
            <a:extLst>
              <a:ext uri="{FF2B5EF4-FFF2-40B4-BE49-F238E27FC236}">
                <a16:creationId xmlns:a16="http://schemas.microsoft.com/office/drawing/2014/main" id="{DE2EB4F7-859F-1074-149B-E9127E080B37}"/>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pic>
        <p:nvPicPr>
          <p:cNvPr id="6" name="Graphique 5">
            <a:extLst>
              <a:ext uri="{FF2B5EF4-FFF2-40B4-BE49-F238E27FC236}">
                <a16:creationId xmlns:a16="http://schemas.microsoft.com/office/drawing/2014/main" id="{0A38BD89-7A57-4058-1A8D-9B36D4CD7A2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076628" y="4912839"/>
            <a:ext cx="527054" cy="508004"/>
          </a:xfrm>
          <a:prstGeom prst="rect">
            <a:avLst/>
          </a:prstGeom>
        </p:spPr>
      </p:pic>
      <p:pic>
        <p:nvPicPr>
          <p:cNvPr id="36" name="Graphique 35">
            <a:extLst>
              <a:ext uri="{FF2B5EF4-FFF2-40B4-BE49-F238E27FC236}">
                <a16:creationId xmlns:a16="http://schemas.microsoft.com/office/drawing/2014/main" id="{28F01290-97CC-5ADD-0732-311C28A5646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17705" y="6096757"/>
            <a:ext cx="553779" cy="553779"/>
          </a:xfrm>
          <a:prstGeom prst="rect">
            <a:avLst/>
          </a:prstGeom>
        </p:spPr>
      </p:pic>
      <p:pic>
        <p:nvPicPr>
          <p:cNvPr id="49" name="Graphique 48">
            <a:extLst>
              <a:ext uri="{FF2B5EF4-FFF2-40B4-BE49-F238E27FC236}">
                <a16:creationId xmlns:a16="http://schemas.microsoft.com/office/drawing/2014/main" id="{5822A904-514D-B24B-B5B8-3309DC9D987F}"/>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17705" y="4973534"/>
            <a:ext cx="527054" cy="512413"/>
          </a:xfrm>
          <a:prstGeom prst="rect">
            <a:avLst/>
          </a:prstGeom>
        </p:spPr>
      </p:pic>
      <p:pic>
        <p:nvPicPr>
          <p:cNvPr id="51" name="Graphique 50">
            <a:extLst>
              <a:ext uri="{FF2B5EF4-FFF2-40B4-BE49-F238E27FC236}">
                <a16:creationId xmlns:a16="http://schemas.microsoft.com/office/drawing/2014/main" id="{92942DB1-2CD3-67FF-7F05-7B306B15DA1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608499" y="4984957"/>
            <a:ext cx="684336" cy="473279"/>
          </a:xfrm>
          <a:prstGeom prst="rect">
            <a:avLst/>
          </a:prstGeom>
        </p:spPr>
      </p:pic>
      <p:pic>
        <p:nvPicPr>
          <p:cNvPr id="55" name="Graphique 54">
            <a:extLst>
              <a:ext uri="{FF2B5EF4-FFF2-40B4-BE49-F238E27FC236}">
                <a16:creationId xmlns:a16="http://schemas.microsoft.com/office/drawing/2014/main" id="{C4B6C757-64D8-6B5A-F7CC-03251A9D81D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953050" y="6014542"/>
            <a:ext cx="687483" cy="648198"/>
          </a:xfrm>
          <a:prstGeom prst="rect">
            <a:avLst/>
          </a:prstGeom>
        </p:spPr>
      </p:pic>
      <p:pic>
        <p:nvPicPr>
          <p:cNvPr id="57" name="Graphique 56">
            <a:extLst>
              <a:ext uri="{FF2B5EF4-FFF2-40B4-BE49-F238E27FC236}">
                <a16:creationId xmlns:a16="http://schemas.microsoft.com/office/drawing/2014/main" id="{100CD1F4-2644-572F-AB2E-E7C67881C1F6}"/>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672478" y="6075452"/>
            <a:ext cx="620357" cy="570729"/>
          </a:xfrm>
          <a:prstGeom prst="rect">
            <a:avLst/>
          </a:prstGeom>
        </p:spPr>
      </p:pic>
      <p:sp>
        <p:nvSpPr>
          <p:cNvPr id="71" name="Rectangle 70">
            <a:extLst>
              <a:ext uri="{FF2B5EF4-FFF2-40B4-BE49-F238E27FC236}">
                <a16:creationId xmlns:a16="http://schemas.microsoft.com/office/drawing/2014/main" id="{19E57F6E-CC8D-DF19-093E-C2ACD9AF3426}"/>
              </a:ext>
            </a:extLst>
          </p:cNvPr>
          <p:cNvSpPr/>
          <p:nvPr/>
        </p:nvSpPr>
        <p:spPr>
          <a:xfrm>
            <a:off x="541607" y="1315577"/>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2" name="Rectangle 71">
            <a:extLst>
              <a:ext uri="{FF2B5EF4-FFF2-40B4-BE49-F238E27FC236}">
                <a16:creationId xmlns:a16="http://schemas.microsoft.com/office/drawing/2014/main" id="{EA31B1EF-A586-72D6-75CD-8885DA918449}"/>
              </a:ext>
            </a:extLst>
          </p:cNvPr>
          <p:cNvSpPr/>
          <p:nvPr/>
        </p:nvSpPr>
        <p:spPr>
          <a:xfrm>
            <a:off x="549008" y="432099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24439968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3FB48-743F-23E4-626C-FA3EBE4CDAF6}"/>
            </a:ext>
          </a:extLst>
        </p:cNvPr>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E2871D27-8B1E-27FE-C527-2B250F8A3D68}"/>
              </a:ext>
            </a:extLst>
          </p:cNvPr>
          <p:cNvGraphicFramePr>
            <a:graphicFrameLocks noGrp="1"/>
          </p:cNvGraphicFramePr>
          <p:nvPr>
            <p:extLst>
              <p:ext uri="{D42A27DB-BD31-4B8C-83A1-F6EECF244321}">
                <p14:modId xmlns:p14="http://schemas.microsoft.com/office/powerpoint/2010/main" val="2055401537"/>
              </p:ext>
            </p:extLst>
          </p:nvPr>
        </p:nvGraphicFramePr>
        <p:xfrm>
          <a:off x="1271709" y="1830547"/>
          <a:ext cx="8370185" cy="2954580"/>
        </p:xfrm>
        <a:graphic>
          <a:graphicData uri="http://schemas.openxmlformats.org/drawingml/2006/table">
            <a:tbl>
              <a:tblPr firstRow="1" bandRow="1">
                <a:effectLst/>
                <a:tableStyleId>{F5AB1C69-6EDB-4FF4-983F-18BD219EF322}</a:tableStyleId>
              </a:tblPr>
              <a:tblGrid>
                <a:gridCol w="1598767">
                  <a:extLst>
                    <a:ext uri="{9D8B030D-6E8A-4147-A177-3AD203B41FA5}">
                      <a16:colId xmlns:a16="http://schemas.microsoft.com/office/drawing/2014/main" val="3615684430"/>
                    </a:ext>
                  </a:extLst>
                </a:gridCol>
                <a:gridCol w="951865">
                  <a:extLst>
                    <a:ext uri="{9D8B030D-6E8A-4147-A177-3AD203B41FA5}">
                      <a16:colId xmlns:a16="http://schemas.microsoft.com/office/drawing/2014/main" val="2006163987"/>
                    </a:ext>
                  </a:extLst>
                </a:gridCol>
                <a:gridCol w="951865">
                  <a:extLst>
                    <a:ext uri="{9D8B030D-6E8A-4147-A177-3AD203B41FA5}">
                      <a16:colId xmlns:a16="http://schemas.microsoft.com/office/drawing/2014/main" val="1240341726"/>
                    </a:ext>
                  </a:extLst>
                </a:gridCol>
                <a:gridCol w="1685435">
                  <a:extLst>
                    <a:ext uri="{9D8B030D-6E8A-4147-A177-3AD203B41FA5}">
                      <a16:colId xmlns:a16="http://schemas.microsoft.com/office/drawing/2014/main" val="1191447353"/>
                    </a:ext>
                  </a:extLst>
                </a:gridCol>
                <a:gridCol w="1711363">
                  <a:extLst>
                    <a:ext uri="{9D8B030D-6E8A-4147-A177-3AD203B41FA5}">
                      <a16:colId xmlns:a16="http://schemas.microsoft.com/office/drawing/2014/main" val="872859464"/>
                    </a:ext>
                  </a:extLst>
                </a:gridCol>
                <a:gridCol w="1470890">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collab.</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Pare-feu</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F9FF9E9E-32DB-5E70-4E03-8E21B6EF8563}"/>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8D21768F-437D-5312-EA5F-A2E05A319F6B}"/>
              </a:ext>
            </a:extLst>
          </p:cNvPr>
          <p:cNvSpPr txBox="1">
            <a:spLocks/>
          </p:cNvSpPr>
          <p:nvPr/>
        </p:nvSpPr>
        <p:spPr>
          <a:xfrm>
            <a:off x="1407168" y="353999"/>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PARE-FEU (FIREWALL)</a:t>
            </a:r>
          </a:p>
        </p:txBody>
      </p:sp>
      <p:pic>
        <p:nvPicPr>
          <p:cNvPr id="9" name="Image 8" descr="Une image contenant capture d’écran, Graphique, symbole, graphisme&#10;&#10;Le contenu généré par l’IA peut être incorrect.">
            <a:extLst>
              <a:ext uri="{FF2B5EF4-FFF2-40B4-BE49-F238E27FC236}">
                <a16:creationId xmlns:a16="http://schemas.microsoft.com/office/drawing/2014/main" id="{0010E3C5-1BD4-181B-8499-B43D82528275}"/>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86138" y="232951"/>
            <a:ext cx="720000" cy="720000"/>
          </a:xfrm>
          <a:prstGeom prst="rect">
            <a:avLst/>
          </a:prstGeom>
        </p:spPr>
      </p:pic>
      <p:pic>
        <p:nvPicPr>
          <p:cNvPr id="3" name="Image 2">
            <a:extLst>
              <a:ext uri="{FF2B5EF4-FFF2-40B4-BE49-F238E27FC236}">
                <a16:creationId xmlns:a16="http://schemas.microsoft.com/office/drawing/2014/main" id="{C0EBA55F-DB71-2856-1425-34C9B131853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8763985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6F1A9-CF6B-2FD9-0E3C-A1004E463BA6}"/>
            </a:ext>
          </a:extLst>
        </p:cNvPr>
        <p:cNvGrpSpPr/>
        <p:nvPr/>
      </p:nvGrpSpPr>
      <p:grpSpPr>
        <a:xfrm>
          <a:off x="0" y="0"/>
          <a:ext cx="0" cy="0"/>
          <a:chOff x="0" y="0"/>
          <a:chExt cx="0" cy="0"/>
        </a:xfrm>
      </p:grpSpPr>
      <p:sp>
        <p:nvSpPr>
          <p:cNvPr id="57" name="Rectangle 56">
            <a:extLst>
              <a:ext uri="{FF2B5EF4-FFF2-40B4-BE49-F238E27FC236}">
                <a16:creationId xmlns:a16="http://schemas.microsoft.com/office/drawing/2014/main" id="{DF3977A3-71DE-1589-7E7C-32E68598D16D}"/>
              </a:ext>
            </a:extLst>
          </p:cNvPr>
          <p:cNvSpPr/>
          <p:nvPr/>
        </p:nvSpPr>
        <p:spPr>
          <a:xfrm>
            <a:off x="890220" y="1344187"/>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4B02DBEB-8B37-9E3C-A954-E0A46812D214}"/>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FIBRE &amp; TRÈS HAUT DÉBIT</a:t>
            </a:r>
          </a:p>
        </p:txBody>
      </p:sp>
      <p:pic>
        <p:nvPicPr>
          <p:cNvPr id="2" name="Image 1">
            <a:extLst>
              <a:ext uri="{FF2B5EF4-FFF2-40B4-BE49-F238E27FC236}">
                <a16:creationId xmlns:a16="http://schemas.microsoft.com/office/drawing/2014/main" id="{DF7C3016-4007-ECDF-1D6D-56ACC0E184FF}"/>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sp>
        <p:nvSpPr>
          <p:cNvPr id="39" name="ZoneTexte 38">
            <a:extLst>
              <a:ext uri="{FF2B5EF4-FFF2-40B4-BE49-F238E27FC236}">
                <a16:creationId xmlns:a16="http://schemas.microsoft.com/office/drawing/2014/main" id="{FD220C01-7241-09A8-BFB2-46B202294372}"/>
              </a:ext>
            </a:extLst>
          </p:cNvPr>
          <p:cNvSpPr txBox="1"/>
          <p:nvPr/>
        </p:nvSpPr>
        <p:spPr>
          <a:xfrm>
            <a:off x="1457713" y="2385477"/>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potentiels</a:t>
            </a:r>
          </a:p>
        </p:txBody>
      </p:sp>
      <p:sp>
        <p:nvSpPr>
          <p:cNvPr id="42" name="ZoneTexte 41">
            <a:extLst>
              <a:ext uri="{FF2B5EF4-FFF2-40B4-BE49-F238E27FC236}">
                <a16:creationId xmlns:a16="http://schemas.microsoft.com/office/drawing/2014/main" id="{7813A7C0-7AAA-A564-E7C7-1C26989175D9}"/>
              </a:ext>
            </a:extLst>
          </p:cNvPr>
          <p:cNvSpPr txBox="1"/>
          <p:nvPr/>
        </p:nvSpPr>
        <p:spPr>
          <a:xfrm>
            <a:off x="2662068" y="2385817"/>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simultanés</a:t>
            </a:r>
          </a:p>
        </p:txBody>
      </p:sp>
      <p:sp>
        <p:nvSpPr>
          <p:cNvPr id="43" name="Rectangle 42">
            <a:extLst>
              <a:ext uri="{FF2B5EF4-FFF2-40B4-BE49-F238E27FC236}">
                <a16:creationId xmlns:a16="http://schemas.microsoft.com/office/drawing/2014/main" id="{87920C81-72D3-1CF2-088F-597AC1E10C01}"/>
              </a:ext>
            </a:extLst>
          </p:cNvPr>
          <p:cNvSpPr/>
          <p:nvPr/>
        </p:nvSpPr>
        <p:spPr>
          <a:xfrm>
            <a:off x="2897615" y="2866468"/>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11C95BB5-F1B1-3FD7-46B8-43062D591FE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20A24B76-2848-0A86-627F-1BDEC22B81A7}"/>
              </a:ext>
            </a:extLst>
          </p:cNvPr>
          <p:cNvSpPr txBox="1"/>
          <p:nvPr/>
        </p:nvSpPr>
        <p:spPr>
          <a:xfrm>
            <a:off x="789926" y="1210863"/>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C795A010-2563-31CE-9451-3E098058E75F}"/>
              </a:ext>
            </a:extLst>
          </p:cNvPr>
          <p:cNvSpPr/>
          <p:nvPr/>
        </p:nvSpPr>
        <p:spPr>
          <a:xfrm>
            <a:off x="1671698" y="2866468"/>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C345C55C-DEF0-4A20-88AC-571DFDBF8DC1}"/>
              </a:ext>
            </a:extLst>
          </p:cNvPr>
          <p:cNvSpPr txBox="1"/>
          <p:nvPr/>
        </p:nvSpPr>
        <p:spPr>
          <a:xfrm>
            <a:off x="1117360" y="1625360"/>
            <a:ext cx="994247" cy="646331"/>
          </a:xfrm>
          <a:prstGeom prst="rect">
            <a:avLst/>
          </a:prstGeom>
          <a:noFill/>
        </p:spPr>
        <p:txBody>
          <a:bodyPr wrap="none" rtlCol="0">
            <a:spAutoFit/>
          </a:bodyPr>
          <a:lstStyle/>
          <a:p>
            <a:r>
              <a:rPr lang="fr-FR" sz="1200" dirty="0">
                <a:latin typeface="Arial Nova" panose="020B0504020202020204" pitchFamily="34" charset="0"/>
              </a:rPr>
              <a:t>Solution :</a:t>
            </a:r>
          </a:p>
          <a:p>
            <a:endParaRPr lang="fr-FR" sz="1200" dirty="0">
              <a:latin typeface="Arial Nova" panose="020B0504020202020204" pitchFamily="34" charset="0"/>
            </a:endParaRPr>
          </a:p>
          <a:p>
            <a:r>
              <a:rPr lang="fr-FR" sz="1200" dirty="0">
                <a:latin typeface="Arial Nova" panose="020B0504020202020204" pitchFamily="34" charset="0"/>
              </a:rPr>
              <a:t>Prestataire :</a:t>
            </a:r>
          </a:p>
        </p:txBody>
      </p:sp>
      <p:sp>
        <p:nvSpPr>
          <p:cNvPr id="64" name="ZoneTexte 63">
            <a:extLst>
              <a:ext uri="{FF2B5EF4-FFF2-40B4-BE49-F238E27FC236}">
                <a16:creationId xmlns:a16="http://schemas.microsoft.com/office/drawing/2014/main" id="{7C7617FC-5A1E-E6D4-7459-6F78AA51D7CD}"/>
              </a:ext>
            </a:extLst>
          </p:cNvPr>
          <p:cNvSpPr txBox="1"/>
          <p:nvPr/>
        </p:nvSpPr>
        <p:spPr>
          <a:xfrm>
            <a:off x="4062437" y="2375172"/>
            <a:ext cx="941733" cy="461665"/>
          </a:xfrm>
          <a:prstGeom prst="rect">
            <a:avLst/>
          </a:prstGeom>
          <a:noFill/>
        </p:spPr>
        <p:txBody>
          <a:bodyPr wrap="none" rtlCol="0">
            <a:spAutoFit/>
          </a:bodyPr>
          <a:lstStyle/>
          <a:p>
            <a:pPr algn="ctr"/>
            <a:r>
              <a:rPr lang="fr-FR" sz="1200" dirty="0">
                <a:latin typeface="Arial Nova" panose="020B0504020202020204" pitchFamily="34" charset="0"/>
              </a:rPr>
              <a:t>Niveau de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6FFBEC17-0C22-5B65-9481-5C399A8D9764}"/>
              </a:ext>
            </a:extLst>
          </p:cNvPr>
          <p:cNvSpPr/>
          <p:nvPr/>
        </p:nvSpPr>
        <p:spPr>
          <a:xfrm>
            <a:off x="4173300" y="2855823"/>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A7F81795-874F-4057-4C60-131857A1A685}"/>
              </a:ext>
            </a:extLst>
          </p:cNvPr>
          <p:cNvSpPr/>
          <p:nvPr/>
        </p:nvSpPr>
        <p:spPr>
          <a:xfrm>
            <a:off x="6366321" y="1106867"/>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3061FEB0-56AF-27B5-5ED0-B09D859D439B}"/>
              </a:ext>
            </a:extLst>
          </p:cNvPr>
          <p:cNvSpPr txBox="1"/>
          <p:nvPr/>
        </p:nvSpPr>
        <p:spPr>
          <a:xfrm>
            <a:off x="6363083" y="880702"/>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F86CE51D-5019-37BA-561C-870919FE4163}"/>
              </a:ext>
            </a:extLst>
          </p:cNvPr>
          <p:cNvSpPr/>
          <p:nvPr/>
        </p:nvSpPr>
        <p:spPr>
          <a:xfrm>
            <a:off x="6363083" y="3050911"/>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62BE72A4-1E0F-752C-85CC-CCEB51F32E82}"/>
              </a:ext>
            </a:extLst>
          </p:cNvPr>
          <p:cNvSpPr txBox="1"/>
          <p:nvPr/>
        </p:nvSpPr>
        <p:spPr>
          <a:xfrm>
            <a:off x="6363083" y="2824746"/>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32F667C0-5AC5-4DD5-F3EC-8971EDB34826}"/>
              </a:ext>
            </a:extLst>
          </p:cNvPr>
          <p:cNvSpPr/>
          <p:nvPr/>
        </p:nvSpPr>
        <p:spPr>
          <a:xfrm>
            <a:off x="6363083" y="5108954"/>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B23E2EAD-0806-EFCF-438B-1BCCBDF1ED51}"/>
              </a:ext>
            </a:extLst>
          </p:cNvPr>
          <p:cNvSpPr txBox="1"/>
          <p:nvPr/>
        </p:nvSpPr>
        <p:spPr>
          <a:xfrm>
            <a:off x="6363083" y="4882789"/>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7AA6F202-4614-B922-FE1A-493084164446}"/>
              </a:ext>
            </a:extLst>
          </p:cNvPr>
          <p:cNvSpPr>
            <a:spLocks noChangeArrowheads="1"/>
          </p:cNvSpPr>
          <p:nvPr/>
        </p:nvSpPr>
        <p:spPr bwMode="auto">
          <a:xfrm>
            <a:off x="6294561" y="1156410"/>
            <a:ext cx="3860352"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Débit insuffisant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Coupures fréquentes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Latence élevée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redondance / backup</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QoS (priorisation des flux)</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Non évolutif (limite technique de l’infrastructure actuelle)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Coût élevé par rapport aux besoins</a:t>
            </a:r>
          </a:p>
        </p:txBody>
      </p:sp>
      <p:sp>
        <p:nvSpPr>
          <p:cNvPr id="76" name="Rectangle 1">
            <a:extLst>
              <a:ext uri="{FF2B5EF4-FFF2-40B4-BE49-F238E27FC236}">
                <a16:creationId xmlns:a16="http://schemas.microsoft.com/office/drawing/2014/main" id="{8E06D6F6-214B-80FE-820D-979A51ACF07B}"/>
              </a:ext>
            </a:extLst>
          </p:cNvPr>
          <p:cNvSpPr>
            <a:spLocks noChangeArrowheads="1"/>
          </p:cNvSpPr>
          <p:nvPr/>
        </p:nvSpPr>
        <p:spPr bwMode="auto">
          <a:xfrm>
            <a:off x="6294561" y="3222545"/>
            <a:ext cx="3738524"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un débit supérieur</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 lien de backup (4G/5G, autre fibre)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Priorisation des flux (QoS)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Optimisation des coûts et flexibilité des abonnements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Intégration avec SD-WAN</a:t>
            </a:r>
          </a:p>
        </p:txBody>
      </p:sp>
      <p:sp>
        <p:nvSpPr>
          <p:cNvPr id="77" name="Rectangle 1">
            <a:extLst>
              <a:ext uri="{FF2B5EF4-FFF2-40B4-BE49-F238E27FC236}">
                <a16:creationId xmlns:a16="http://schemas.microsoft.com/office/drawing/2014/main" id="{F6DB03E9-6C8B-C10D-112D-8A995AC8798B}"/>
              </a:ext>
            </a:extLst>
          </p:cNvPr>
          <p:cNvSpPr>
            <a:spLocks noChangeArrowheads="1"/>
          </p:cNvSpPr>
          <p:nvPr/>
        </p:nvSpPr>
        <p:spPr bwMode="auto">
          <a:xfrm>
            <a:off x="6388837" y="5359328"/>
            <a:ext cx="3578224"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Risque d’interruption impactant la productivité</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Données sensibles circulant sur le réseau</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de garantie de service (SLA, GTR)</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Nécessité de redondance pour assurer la continuité</a:t>
            </a:r>
            <a:endParaRPr lang="fr-FR" altLang="fr-FR" sz="1100" dirty="0">
              <a:latin typeface="Arial Nova" panose="020B0504020202020204" pitchFamily="34" charset="0"/>
            </a:endParaRPr>
          </a:p>
        </p:txBody>
      </p:sp>
      <p:pic>
        <p:nvPicPr>
          <p:cNvPr id="6" name="Image 5">
            <a:extLst>
              <a:ext uri="{FF2B5EF4-FFF2-40B4-BE49-F238E27FC236}">
                <a16:creationId xmlns:a16="http://schemas.microsoft.com/office/drawing/2014/main" id="{8E807018-3382-1D07-F2BC-39548C9B0368}"/>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8" name="ZoneTexte 27">
            <a:extLst>
              <a:ext uri="{FF2B5EF4-FFF2-40B4-BE49-F238E27FC236}">
                <a16:creationId xmlns:a16="http://schemas.microsoft.com/office/drawing/2014/main" id="{DD7AEFFC-29AA-CB00-1DDF-906A3B73B4F0}"/>
              </a:ext>
            </a:extLst>
          </p:cNvPr>
          <p:cNvSpPr txBox="1"/>
          <p:nvPr/>
        </p:nvSpPr>
        <p:spPr>
          <a:xfrm>
            <a:off x="748488" y="3979629"/>
            <a:ext cx="1494705" cy="338554"/>
          </a:xfrm>
          <a:prstGeom prst="rect">
            <a:avLst/>
          </a:prstGeom>
          <a:noFill/>
        </p:spPr>
        <p:txBody>
          <a:bodyPr wrap="none" rtlCol="0">
            <a:spAutoFit/>
          </a:bodyPr>
          <a:lstStyle/>
          <a:p>
            <a:r>
              <a:rPr lang="fr-FR" sz="1600" b="1" dirty="0">
                <a:latin typeface="Arial Nova" panose="020B0504020202020204" pitchFamily="34" charset="0"/>
              </a:rPr>
              <a:t>VOS USAGES</a:t>
            </a:r>
          </a:p>
        </p:txBody>
      </p:sp>
      <p:sp>
        <p:nvSpPr>
          <p:cNvPr id="44" name="ZoneTexte 43">
            <a:extLst>
              <a:ext uri="{FF2B5EF4-FFF2-40B4-BE49-F238E27FC236}">
                <a16:creationId xmlns:a16="http://schemas.microsoft.com/office/drawing/2014/main" id="{F85F58F9-2117-973E-BF6E-6A2D13C8F632}"/>
              </a:ext>
            </a:extLst>
          </p:cNvPr>
          <p:cNvSpPr txBox="1"/>
          <p:nvPr/>
        </p:nvSpPr>
        <p:spPr>
          <a:xfrm>
            <a:off x="3772592" y="3989104"/>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89" name="Rectangle 88">
            <a:extLst>
              <a:ext uri="{FF2B5EF4-FFF2-40B4-BE49-F238E27FC236}">
                <a16:creationId xmlns:a16="http://schemas.microsoft.com/office/drawing/2014/main" id="{B371A82A-A4FB-DF40-A257-6801447426B2}"/>
              </a:ext>
            </a:extLst>
          </p:cNvPr>
          <p:cNvSpPr/>
          <p:nvPr/>
        </p:nvSpPr>
        <p:spPr>
          <a:xfrm>
            <a:off x="707094" y="124901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90" name="Rectangle 89">
            <a:extLst>
              <a:ext uri="{FF2B5EF4-FFF2-40B4-BE49-F238E27FC236}">
                <a16:creationId xmlns:a16="http://schemas.microsoft.com/office/drawing/2014/main" id="{1C25D8F1-80BC-BD8B-82F0-30C4A34FFA67}"/>
              </a:ext>
            </a:extLst>
          </p:cNvPr>
          <p:cNvSpPr/>
          <p:nvPr/>
        </p:nvSpPr>
        <p:spPr>
          <a:xfrm>
            <a:off x="657813" y="399569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 name="ZoneTexte 2">
            <a:extLst>
              <a:ext uri="{FF2B5EF4-FFF2-40B4-BE49-F238E27FC236}">
                <a16:creationId xmlns:a16="http://schemas.microsoft.com/office/drawing/2014/main" id="{9608BA73-F175-CA67-2896-148E9E38ACCB}"/>
              </a:ext>
            </a:extLst>
          </p:cNvPr>
          <p:cNvSpPr txBox="1"/>
          <p:nvPr/>
        </p:nvSpPr>
        <p:spPr>
          <a:xfrm>
            <a:off x="1574101" y="4992689"/>
            <a:ext cx="849913" cy="254237"/>
          </a:xfrm>
          <a:prstGeom prst="rect">
            <a:avLst/>
          </a:prstGeom>
          <a:noFill/>
        </p:spPr>
        <p:txBody>
          <a:bodyPr wrap="none" rtlCol="0">
            <a:spAutoFit/>
          </a:bodyPr>
          <a:lstStyle/>
          <a:p>
            <a:r>
              <a:rPr lang="fr-FR" sz="1052" dirty="0">
                <a:latin typeface="Arial Nova" panose="020B0504020202020204" pitchFamily="34" charset="0"/>
              </a:rPr>
              <a:t>Téléphonie</a:t>
            </a:r>
          </a:p>
        </p:txBody>
      </p:sp>
      <p:sp>
        <p:nvSpPr>
          <p:cNvPr id="11" name="ZoneTexte 10">
            <a:extLst>
              <a:ext uri="{FF2B5EF4-FFF2-40B4-BE49-F238E27FC236}">
                <a16:creationId xmlns:a16="http://schemas.microsoft.com/office/drawing/2014/main" id="{32C1E20D-BFA8-5A44-6C48-53835F260BB3}"/>
              </a:ext>
            </a:extLst>
          </p:cNvPr>
          <p:cNvSpPr txBox="1"/>
          <p:nvPr/>
        </p:nvSpPr>
        <p:spPr>
          <a:xfrm>
            <a:off x="564282" y="5033190"/>
            <a:ext cx="712054" cy="254237"/>
          </a:xfrm>
          <a:prstGeom prst="rect">
            <a:avLst/>
          </a:prstGeom>
          <a:noFill/>
        </p:spPr>
        <p:txBody>
          <a:bodyPr wrap="none" rtlCol="0">
            <a:spAutoFit/>
          </a:bodyPr>
          <a:lstStyle/>
          <a:p>
            <a:r>
              <a:rPr lang="fr-FR" sz="1052" dirty="0">
                <a:latin typeface="Arial Nova" panose="020B0504020202020204" pitchFamily="34" charset="0"/>
              </a:rPr>
              <a:t>Logiciels</a:t>
            </a:r>
          </a:p>
        </p:txBody>
      </p:sp>
      <p:sp>
        <p:nvSpPr>
          <p:cNvPr id="13" name="ZoneTexte 12">
            <a:extLst>
              <a:ext uri="{FF2B5EF4-FFF2-40B4-BE49-F238E27FC236}">
                <a16:creationId xmlns:a16="http://schemas.microsoft.com/office/drawing/2014/main" id="{E44F1701-047C-DBAD-1921-8A9B5D0B12C0}"/>
              </a:ext>
            </a:extLst>
          </p:cNvPr>
          <p:cNvSpPr txBox="1"/>
          <p:nvPr/>
        </p:nvSpPr>
        <p:spPr>
          <a:xfrm>
            <a:off x="2696022" y="4972266"/>
            <a:ext cx="872355" cy="254237"/>
          </a:xfrm>
          <a:prstGeom prst="rect">
            <a:avLst/>
          </a:prstGeom>
          <a:noFill/>
        </p:spPr>
        <p:txBody>
          <a:bodyPr wrap="none" rtlCol="0">
            <a:spAutoFit/>
          </a:bodyPr>
          <a:lstStyle/>
          <a:p>
            <a:r>
              <a:rPr lang="fr-FR" sz="1052" dirty="0">
                <a:latin typeface="Arial Nova" panose="020B0504020202020204" pitchFamily="34" charset="0"/>
              </a:rPr>
              <a:t>Messagerie</a:t>
            </a:r>
          </a:p>
        </p:txBody>
      </p:sp>
      <p:sp>
        <p:nvSpPr>
          <p:cNvPr id="14" name="ZoneTexte 13">
            <a:extLst>
              <a:ext uri="{FF2B5EF4-FFF2-40B4-BE49-F238E27FC236}">
                <a16:creationId xmlns:a16="http://schemas.microsoft.com/office/drawing/2014/main" id="{C73CB78A-8EBE-862C-39A0-0B473AD3C6D5}"/>
              </a:ext>
            </a:extLst>
          </p:cNvPr>
          <p:cNvSpPr txBox="1"/>
          <p:nvPr/>
        </p:nvSpPr>
        <p:spPr>
          <a:xfrm>
            <a:off x="3873160" y="5036621"/>
            <a:ext cx="946093" cy="416140"/>
          </a:xfrm>
          <a:prstGeom prst="rect">
            <a:avLst/>
          </a:prstGeom>
          <a:noFill/>
        </p:spPr>
        <p:txBody>
          <a:bodyPr wrap="square" rtlCol="0">
            <a:spAutoFit/>
          </a:bodyPr>
          <a:lstStyle/>
          <a:p>
            <a:pPr algn="ctr"/>
            <a:r>
              <a:rPr lang="fr-FR" sz="1052" dirty="0">
                <a:latin typeface="Arial Nova" panose="020B0504020202020204" pitchFamily="34" charset="0"/>
              </a:rPr>
              <a:t>Sauvegarde externe</a:t>
            </a:r>
          </a:p>
        </p:txBody>
      </p:sp>
      <p:sp>
        <p:nvSpPr>
          <p:cNvPr id="15" name="ZoneTexte 14">
            <a:extLst>
              <a:ext uri="{FF2B5EF4-FFF2-40B4-BE49-F238E27FC236}">
                <a16:creationId xmlns:a16="http://schemas.microsoft.com/office/drawing/2014/main" id="{701B4B79-98FB-4043-F761-08E270336B7C}"/>
              </a:ext>
            </a:extLst>
          </p:cNvPr>
          <p:cNvSpPr txBox="1"/>
          <p:nvPr/>
        </p:nvSpPr>
        <p:spPr>
          <a:xfrm>
            <a:off x="1433385" y="2585388"/>
            <a:ext cx="449162" cy="254237"/>
          </a:xfrm>
          <a:prstGeom prst="rect">
            <a:avLst/>
          </a:prstGeom>
          <a:noFill/>
        </p:spPr>
        <p:txBody>
          <a:bodyPr wrap="none" rtlCol="0">
            <a:spAutoFit/>
          </a:bodyPr>
          <a:lstStyle/>
          <a:p>
            <a:r>
              <a:rPr lang="fr-FR" sz="1052" dirty="0">
                <a:latin typeface="Arial Nova" panose="020B0504020202020204" pitchFamily="34" charset="0"/>
              </a:rPr>
              <a:t>VPN</a:t>
            </a:r>
          </a:p>
        </p:txBody>
      </p:sp>
      <p:pic>
        <p:nvPicPr>
          <p:cNvPr id="16" name="Graphique 15">
            <a:extLst>
              <a:ext uri="{FF2B5EF4-FFF2-40B4-BE49-F238E27FC236}">
                <a16:creationId xmlns:a16="http://schemas.microsoft.com/office/drawing/2014/main" id="{260A06E7-6087-E358-FFD2-854C24D1FB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05930" y="1862145"/>
            <a:ext cx="581025" cy="638175"/>
          </a:xfrm>
          <a:prstGeom prst="rect">
            <a:avLst/>
          </a:prstGeom>
        </p:spPr>
      </p:pic>
      <p:pic>
        <p:nvPicPr>
          <p:cNvPr id="17" name="Graphique 16">
            <a:extLst>
              <a:ext uri="{FF2B5EF4-FFF2-40B4-BE49-F238E27FC236}">
                <a16:creationId xmlns:a16="http://schemas.microsoft.com/office/drawing/2014/main" id="{50639633-B337-D603-F73E-B7D1DDC4D1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85214" y="4499162"/>
            <a:ext cx="473555" cy="456016"/>
          </a:xfrm>
          <a:prstGeom prst="rect">
            <a:avLst/>
          </a:prstGeom>
        </p:spPr>
      </p:pic>
      <p:pic>
        <p:nvPicPr>
          <p:cNvPr id="18" name="Graphique 17">
            <a:extLst>
              <a:ext uri="{FF2B5EF4-FFF2-40B4-BE49-F238E27FC236}">
                <a16:creationId xmlns:a16="http://schemas.microsoft.com/office/drawing/2014/main" id="{8CF39EAC-B7FB-A65F-F337-4BCC1319E55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763569" y="4497335"/>
            <a:ext cx="351717" cy="440196"/>
          </a:xfrm>
          <a:prstGeom prst="rect">
            <a:avLst/>
          </a:prstGeom>
        </p:spPr>
      </p:pic>
      <p:pic>
        <p:nvPicPr>
          <p:cNvPr id="19" name="Graphique 18">
            <a:extLst>
              <a:ext uri="{FF2B5EF4-FFF2-40B4-BE49-F238E27FC236}">
                <a16:creationId xmlns:a16="http://schemas.microsoft.com/office/drawing/2014/main" id="{C0F144F5-5A11-FAE8-34D4-26187C3A2EAB}"/>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84525" y="4502140"/>
            <a:ext cx="545849" cy="474027"/>
          </a:xfrm>
          <a:prstGeom prst="rect">
            <a:avLst/>
          </a:prstGeom>
        </p:spPr>
      </p:pic>
      <p:pic>
        <p:nvPicPr>
          <p:cNvPr id="20" name="Graphique 19">
            <a:extLst>
              <a:ext uri="{FF2B5EF4-FFF2-40B4-BE49-F238E27FC236}">
                <a16:creationId xmlns:a16="http://schemas.microsoft.com/office/drawing/2014/main" id="{7BF94158-EBF0-5EB6-F72D-ECBA5980C48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136657" y="4528720"/>
            <a:ext cx="419100" cy="419100"/>
          </a:xfrm>
          <a:prstGeom prst="rect">
            <a:avLst/>
          </a:prstGeom>
        </p:spPr>
      </p:pic>
      <p:sp>
        <p:nvSpPr>
          <p:cNvPr id="21" name="ZoneTexte 20">
            <a:extLst>
              <a:ext uri="{FF2B5EF4-FFF2-40B4-BE49-F238E27FC236}">
                <a16:creationId xmlns:a16="http://schemas.microsoft.com/office/drawing/2014/main" id="{5929DBE4-F609-8B0C-D7E5-C4BC77033A5D}"/>
              </a:ext>
            </a:extLst>
          </p:cNvPr>
          <p:cNvSpPr txBox="1"/>
          <p:nvPr/>
        </p:nvSpPr>
        <p:spPr>
          <a:xfrm>
            <a:off x="1819414" y="6160303"/>
            <a:ext cx="407484" cy="254237"/>
          </a:xfrm>
          <a:prstGeom prst="rect">
            <a:avLst/>
          </a:prstGeom>
          <a:noFill/>
        </p:spPr>
        <p:txBody>
          <a:bodyPr wrap="none" rtlCol="0">
            <a:spAutoFit/>
          </a:bodyPr>
          <a:lstStyle/>
          <a:p>
            <a:r>
              <a:rPr lang="fr-FR" sz="1052" dirty="0">
                <a:latin typeface="Arial Nova" panose="020B0504020202020204" pitchFamily="34" charset="0"/>
              </a:rPr>
              <a:t>Wifi</a:t>
            </a:r>
          </a:p>
        </p:txBody>
      </p:sp>
      <p:sp>
        <p:nvSpPr>
          <p:cNvPr id="22" name="ZoneTexte 21">
            <a:extLst>
              <a:ext uri="{FF2B5EF4-FFF2-40B4-BE49-F238E27FC236}">
                <a16:creationId xmlns:a16="http://schemas.microsoft.com/office/drawing/2014/main" id="{61DCEDAD-D0D4-91A7-D5A1-C4C78181CDF1}"/>
              </a:ext>
            </a:extLst>
          </p:cNvPr>
          <p:cNvSpPr txBox="1"/>
          <p:nvPr/>
        </p:nvSpPr>
        <p:spPr>
          <a:xfrm>
            <a:off x="740729" y="7261896"/>
            <a:ext cx="683200" cy="254237"/>
          </a:xfrm>
          <a:prstGeom prst="rect">
            <a:avLst/>
          </a:prstGeom>
          <a:noFill/>
        </p:spPr>
        <p:txBody>
          <a:bodyPr wrap="none" rtlCol="0">
            <a:spAutoFit/>
          </a:bodyPr>
          <a:lstStyle/>
          <a:p>
            <a:r>
              <a:rPr lang="fr-FR" sz="1052" dirty="0">
                <a:latin typeface="Arial Nova" panose="020B0504020202020204" pitchFamily="34" charset="0"/>
              </a:rPr>
              <a:t>Sécurité</a:t>
            </a:r>
          </a:p>
        </p:txBody>
      </p:sp>
      <p:sp>
        <p:nvSpPr>
          <p:cNvPr id="23" name="ZoneTexte 22">
            <a:extLst>
              <a:ext uri="{FF2B5EF4-FFF2-40B4-BE49-F238E27FC236}">
                <a16:creationId xmlns:a16="http://schemas.microsoft.com/office/drawing/2014/main" id="{AE90D0F2-37CB-DA5D-DDDF-3609C49E8AB7}"/>
              </a:ext>
            </a:extLst>
          </p:cNvPr>
          <p:cNvSpPr txBox="1"/>
          <p:nvPr/>
        </p:nvSpPr>
        <p:spPr>
          <a:xfrm>
            <a:off x="4079672" y="6136313"/>
            <a:ext cx="471604" cy="254237"/>
          </a:xfrm>
          <a:prstGeom prst="rect">
            <a:avLst/>
          </a:prstGeom>
          <a:noFill/>
        </p:spPr>
        <p:txBody>
          <a:bodyPr wrap="none" rtlCol="0">
            <a:spAutoFit/>
          </a:bodyPr>
          <a:lstStyle/>
          <a:p>
            <a:r>
              <a:rPr lang="fr-FR" sz="1052" dirty="0">
                <a:latin typeface="Arial Nova" panose="020B0504020202020204" pitchFamily="34" charset="0"/>
              </a:rPr>
              <a:t>Visio</a:t>
            </a:r>
          </a:p>
        </p:txBody>
      </p:sp>
      <p:sp>
        <p:nvSpPr>
          <p:cNvPr id="24" name="ZoneTexte 23">
            <a:extLst>
              <a:ext uri="{FF2B5EF4-FFF2-40B4-BE49-F238E27FC236}">
                <a16:creationId xmlns:a16="http://schemas.microsoft.com/office/drawing/2014/main" id="{6BC481F6-C57E-FF1A-B5BE-C0D16FE39E05}"/>
              </a:ext>
            </a:extLst>
          </p:cNvPr>
          <p:cNvSpPr txBox="1"/>
          <p:nvPr/>
        </p:nvSpPr>
        <p:spPr>
          <a:xfrm>
            <a:off x="2791958" y="6085189"/>
            <a:ext cx="870751" cy="416140"/>
          </a:xfrm>
          <a:prstGeom prst="rect">
            <a:avLst/>
          </a:prstGeom>
          <a:noFill/>
        </p:spPr>
        <p:txBody>
          <a:bodyPr wrap="none" rtlCol="0">
            <a:spAutoFit/>
          </a:bodyPr>
          <a:lstStyle/>
          <a:p>
            <a:pPr algn="ctr"/>
            <a:r>
              <a:rPr lang="fr-FR" sz="1052" dirty="0">
                <a:latin typeface="Arial Nova" panose="020B0504020202020204" pitchFamily="34" charset="0"/>
              </a:rPr>
              <a:t>Partage de </a:t>
            </a:r>
          </a:p>
          <a:p>
            <a:pPr algn="ctr"/>
            <a:r>
              <a:rPr lang="fr-FR" sz="1052" dirty="0">
                <a:latin typeface="Arial Nova" panose="020B0504020202020204" pitchFamily="34" charset="0"/>
              </a:rPr>
              <a:t>données</a:t>
            </a:r>
          </a:p>
        </p:txBody>
      </p:sp>
      <p:sp>
        <p:nvSpPr>
          <p:cNvPr id="26" name="ZoneTexte 25">
            <a:extLst>
              <a:ext uri="{FF2B5EF4-FFF2-40B4-BE49-F238E27FC236}">
                <a16:creationId xmlns:a16="http://schemas.microsoft.com/office/drawing/2014/main" id="{97AF18F6-7A83-90E9-E5F8-367713B1AB21}"/>
              </a:ext>
            </a:extLst>
          </p:cNvPr>
          <p:cNvSpPr txBox="1"/>
          <p:nvPr/>
        </p:nvSpPr>
        <p:spPr>
          <a:xfrm>
            <a:off x="756107" y="6226897"/>
            <a:ext cx="449162" cy="254237"/>
          </a:xfrm>
          <a:prstGeom prst="rect">
            <a:avLst/>
          </a:prstGeom>
          <a:noFill/>
        </p:spPr>
        <p:txBody>
          <a:bodyPr wrap="none" rtlCol="0">
            <a:spAutoFit/>
          </a:bodyPr>
          <a:lstStyle/>
          <a:p>
            <a:r>
              <a:rPr lang="fr-FR" sz="1052" dirty="0">
                <a:latin typeface="Arial Nova" panose="020B0504020202020204" pitchFamily="34" charset="0"/>
              </a:rPr>
              <a:t>VPN</a:t>
            </a:r>
          </a:p>
        </p:txBody>
      </p:sp>
      <p:pic>
        <p:nvPicPr>
          <p:cNvPr id="27" name="Graphique 26">
            <a:extLst>
              <a:ext uri="{FF2B5EF4-FFF2-40B4-BE49-F238E27FC236}">
                <a16:creationId xmlns:a16="http://schemas.microsoft.com/office/drawing/2014/main" id="{5D7F89E2-BCF3-02DD-90C6-B6BF1CE4788D}"/>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726293" y="5564768"/>
            <a:ext cx="584890" cy="473555"/>
          </a:xfrm>
          <a:prstGeom prst="rect">
            <a:avLst/>
          </a:prstGeom>
        </p:spPr>
      </p:pic>
      <p:pic>
        <p:nvPicPr>
          <p:cNvPr id="30" name="Graphique 29">
            <a:extLst>
              <a:ext uri="{FF2B5EF4-FFF2-40B4-BE49-F238E27FC236}">
                <a16:creationId xmlns:a16="http://schemas.microsoft.com/office/drawing/2014/main" id="{26454014-47B4-B41E-73FE-EDE811D569D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652" y="5503654"/>
            <a:ext cx="581025" cy="638175"/>
          </a:xfrm>
          <a:prstGeom prst="rect">
            <a:avLst/>
          </a:prstGeom>
        </p:spPr>
      </p:pic>
      <p:pic>
        <p:nvPicPr>
          <p:cNvPr id="31" name="Graphique 30">
            <a:extLst>
              <a:ext uri="{FF2B5EF4-FFF2-40B4-BE49-F238E27FC236}">
                <a16:creationId xmlns:a16="http://schemas.microsoft.com/office/drawing/2014/main" id="{A93E9760-BEA2-EACF-4D6F-B2AE4F58E8C7}"/>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942499" y="5563078"/>
            <a:ext cx="545952" cy="411985"/>
          </a:xfrm>
          <a:prstGeom prst="rect">
            <a:avLst/>
          </a:prstGeom>
        </p:spPr>
      </p:pic>
      <p:pic>
        <p:nvPicPr>
          <p:cNvPr id="32" name="Graphique 31">
            <a:extLst>
              <a:ext uri="{FF2B5EF4-FFF2-40B4-BE49-F238E27FC236}">
                <a16:creationId xmlns:a16="http://schemas.microsoft.com/office/drawing/2014/main" id="{5B348A7B-78C8-DB48-2F02-8730E6C4A797}"/>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046061" y="5557931"/>
            <a:ext cx="570379" cy="536827"/>
          </a:xfrm>
          <a:prstGeom prst="rect">
            <a:avLst/>
          </a:prstGeom>
        </p:spPr>
      </p:pic>
      <p:pic>
        <p:nvPicPr>
          <p:cNvPr id="33" name="Graphique 32">
            <a:extLst>
              <a:ext uri="{FF2B5EF4-FFF2-40B4-BE49-F238E27FC236}">
                <a16:creationId xmlns:a16="http://schemas.microsoft.com/office/drawing/2014/main" id="{A4457351-2C22-6870-E2D0-A17FAAD5D7F1}"/>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4246044" y="5778433"/>
            <a:ext cx="146942" cy="224735"/>
          </a:xfrm>
          <a:prstGeom prst="rect">
            <a:avLst/>
          </a:prstGeom>
        </p:spPr>
      </p:pic>
      <p:pic>
        <p:nvPicPr>
          <p:cNvPr id="34" name="Graphique 33">
            <a:extLst>
              <a:ext uri="{FF2B5EF4-FFF2-40B4-BE49-F238E27FC236}">
                <a16:creationId xmlns:a16="http://schemas.microsoft.com/office/drawing/2014/main" id="{592DF008-FBE7-6EF2-C714-E68C7BB885C7}"/>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754471" y="6639854"/>
            <a:ext cx="504825" cy="552450"/>
          </a:xfrm>
          <a:prstGeom prst="rect">
            <a:avLst/>
          </a:prstGeom>
        </p:spPr>
      </p:pic>
      <p:sp>
        <p:nvSpPr>
          <p:cNvPr id="35" name="ZoneTexte 34">
            <a:extLst>
              <a:ext uri="{FF2B5EF4-FFF2-40B4-BE49-F238E27FC236}">
                <a16:creationId xmlns:a16="http://schemas.microsoft.com/office/drawing/2014/main" id="{BD984F06-2250-0A93-B441-26F106434DDB}"/>
              </a:ext>
            </a:extLst>
          </p:cNvPr>
          <p:cNvSpPr txBox="1"/>
          <p:nvPr/>
        </p:nvSpPr>
        <p:spPr>
          <a:xfrm>
            <a:off x="1582760" y="7182348"/>
            <a:ext cx="946093" cy="416140"/>
          </a:xfrm>
          <a:prstGeom prst="rect">
            <a:avLst/>
          </a:prstGeom>
          <a:noFill/>
        </p:spPr>
        <p:txBody>
          <a:bodyPr wrap="none" rtlCol="0">
            <a:spAutoFit/>
          </a:bodyPr>
          <a:lstStyle/>
          <a:p>
            <a:pPr algn="ctr"/>
            <a:r>
              <a:rPr lang="fr-FR" sz="1052" dirty="0">
                <a:latin typeface="Arial Nova" panose="020B0504020202020204" pitchFamily="34" charset="0"/>
              </a:rPr>
              <a:t>Caméras de </a:t>
            </a:r>
          </a:p>
          <a:p>
            <a:pPr algn="ctr"/>
            <a:r>
              <a:rPr lang="fr-FR" sz="1052" dirty="0">
                <a:latin typeface="Arial Nova" panose="020B0504020202020204" pitchFamily="34" charset="0"/>
              </a:rPr>
              <a:t>surveillance</a:t>
            </a:r>
          </a:p>
        </p:txBody>
      </p:sp>
      <p:sp>
        <p:nvSpPr>
          <p:cNvPr id="36" name="ZoneTexte 35">
            <a:extLst>
              <a:ext uri="{FF2B5EF4-FFF2-40B4-BE49-F238E27FC236}">
                <a16:creationId xmlns:a16="http://schemas.microsoft.com/office/drawing/2014/main" id="{683F6069-0673-2714-3964-706D5B8F503D}"/>
              </a:ext>
            </a:extLst>
          </p:cNvPr>
          <p:cNvSpPr txBox="1"/>
          <p:nvPr/>
        </p:nvSpPr>
        <p:spPr>
          <a:xfrm>
            <a:off x="2617962" y="7217049"/>
            <a:ext cx="1168910" cy="254237"/>
          </a:xfrm>
          <a:prstGeom prst="rect">
            <a:avLst/>
          </a:prstGeom>
          <a:noFill/>
        </p:spPr>
        <p:txBody>
          <a:bodyPr wrap="none" rtlCol="0">
            <a:spAutoFit/>
          </a:bodyPr>
          <a:lstStyle/>
          <a:p>
            <a:r>
              <a:rPr lang="fr-FR" sz="1052" dirty="0">
                <a:latin typeface="Arial Nova" panose="020B0504020202020204" pitchFamily="34" charset="0"/>
              </a:rPr>
              <a:t>Domotique / IOT</a:t>
            </a:r>
          </a:p>
        </p:txBody>
      </p:sp>
      <p:sp>
        <p:nvSpPr>
          <p:cNvPr id="52" name="ZoneTexte 51">
            <a:extLst>
              <a:ext uri="{FF2B5EF4-FFF2-40B4-BE49-F238E27FC236}">
                <a16:creationId xmlns:a16="http://schemas.microsoft.com/office/drawing/2014/main" id="{8BD15BCE-716D-F669-F6B6-9156F62427E8}"/>
              </a:ext>
            </a:extLst>
          </p:cNvPr>
          <p:cNvSpPr txBox="1"/>
          <p:nvPr/>
        </p:nvSpPr>
        <p:spPr>
          <a:xfrm>
            <a:off x="4046061" y="7097368"/>
            <a:ext cx="845103" cy="416140"/>
          </a:xfrm>
          <a:prstGeom prst="rect">
            <a:avLst/>
          </a:prstGeom>
          <a:noFill/>
        </p:spPr>
        <p:txBody>
          <a:bodyPr wrap="none" rtlCol="0">
            <a:spAutoFit/>
          </a:bodyPr>
          <a:lstStyle/>
          <a:p>
            <a:r>
              <a:rPr lang="fr-FR" sz="1052" dirty="0">
                <a:latin typeface="Arial Nova" panose="020B0504020202020204" pitchFamily="34" charset="0"/>
              </a:rPr>
              <a:t>Affichage </a:t>
            </a:r>
          </a:p>
          <a:p>
            <a:r>
              <a:rPr lang="fr-FR" sz="1052" dirty="0">
                <a:latin typeface="Arial Nova" panose="020B0504020202020204" pitchFamily="34" charset="0"/>
              </a:rPr>
              <a:t>dynamique</a:t>
            </a:r>
          </a:p>
        </p:txBody>
      </p:sp>
      <p:pic>
        <p:nvPicPr>
          <p:cNvPr id="53" name="Graphique 52">
            <a:extLst>
              <a:ext uri="{FF2B5EF4-FFF2-40B4-BE49-F238E27FC236}">
                <a16:creationId xmlns:a16="http://schemas.microsoft.com/office/drawing/2014/main" id="{6CA8D62E-C0D6-ADD5-0228-FA5210F32EF0}"/>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4156309" y="6608134"/>
            <a:ext cx="417407" cy="416140"/>
          </a:xfrm>
          <a:prstGeom prst="rect">
            <a:avLst/>
          </a:prstGeom>
        </p:spPr>
      </p:pic>
      <p:pic>
        <p:nvPicPr>
          <p:cNvPr id="54" name="Graphique 53">
            <a:extLst>
              <a:ext uri="{FF2B5EF4-FFF2-40B4-BE49-F238E27FC236}">
                <a16:creationId xmlns:a16="http://schemas.microsoft.com/office/drawing/2014/main" id="{AF9985E0-41D0-115D-E32C-EAD588FCC41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1818195" y="6679227"/>
            <a:ext cx="431745" cy="416140"/>
          </a:xfrm>
          <a:prstGeom prst="rect">
            <a:avLst/>
          </a:prstGeom>
        </p:spPr>
      </p:pic>
      <p:pic>
        <p:nvPicPr>
          <p:cNvPr id="55" name="Graphique 54">
            <a:extLst>
              <a:ext uri="{FF2B5EF4-FFF2-40B4-BE49-F238E27FC236}">
                <a16:creationId xmlns:a16="http://schemas.microsoft.com/office/drawing/2014/main" id="{44629EEC-95E9-B8A9-61C8-FBB776245705}"/>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2871493" y="6631202"/>
            <a:ext cx="527655" cy="527655"/>
          </a:xfrm>
          <a:prstGeom prst="rect">
            <a:avLst/>
          </a:prstGeom>
        </p:spPr>
      </p:pic>
    </p:spTree>
    <p:extLst>
      <p:ext uri="{BB962C8B-B14F-4D97-AF65-F5344CB8AC3E}">
        <p14:creationId xmlns:p14="http://schemas.microsoft.com/office/powerpoint/2010/main" val="1542213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67DDF-B395-351A-B3D7-36D2BA171AB3}"/>
            </a:ext>
          </a:extLst>
        </p:cNvPr>
        <p:cNvGrpSpPr/>
        <p:nvPr/>
      </p:nvGrpSpPr>
      <p:grpSpPr>
        <a:xfrm>
          <a:off x="0" y="0"/>
          <a:ext cx="0" cy="0"/>
          <a:chOff x="0" y="0"/>
          <a:chExt cx="0" cy="0"/>
        </a:xfrm>
      </p:grpSpPr>
      <p:graphicFrame>
        <p:nvGraphicFramePr>
          <p:cNvPr id="2" name="Tableau 1">
            <a:extLst>
              <a:ext uri="{FF2B5EF4-FFF2-40B4-BE49-F238E27FC236}">
                <a16:creationId xmlns:a16="http://schemas.microsoft.com/office/drawing/2014/main" id="{7094E691-1A27-8720-25F1-C663067B2856}"/>
              </a:ext>
            </a:extLst>
          </p:cNvPr>
          <p:cNvGraphicFramePr>
            <a:graphicFrameLocks noGrp="1"/>
          </p:cNvGraphicFramePr>
          <p:nvPr>
            <p:extLst>
              <p:ext uri="{D42A27DB-BD31-4B8C-83A1-F6EECF244321}">
                <p14:modId xmlns:p14="http://schemas.microsoft.com/office/powerpoint/2010/main" val="1798582628"/>
              </p:ext>
            </p:extLst>
          </p:nvPr>
        </p:nvGraphicFramePr>
        <p:xfrm>
          <a:off x="684893" y="1810517"/>
          <a:ext cx="9611678" cy="2954580"/>
        </p:xfrm>
        <a:graphic>
          <a:graphicData uri="http://schemas.openxmlformats.org/drawingml/2006/table">
            <a:tbl>
              <a:tblPr firstRow="1" bandRow="1">
                <a:effectLst/>
                <a:tableStyleId>{F5AB1C69-6EDB-4FF4-983F-18BD219EF322}</a:tableStyleId>
              </a:tblPr>
              <a:tblGrid>
                <a:gridCol w="1766386">
                  <a:extLst>
                    <a:ext uri="{9D8B030D-6E8A-4147-A177-3AD203B41FA5}">
                      <a16:colId xmlns:a16="http://schemas.microsoft.com/office/drawing/2014/main" val="3615684430"/>
                    </a:ext>
                  </a:extLst>
                </a:gridCol>
                <a:gridCol w="1929283">
                  <a:extLst>
                    <a:ext uri="{9D8B030D-6E8A-4147-A177-3AD203B41FA5}">
                      <a16:colId xmlns:a16="http://schemas.microsoft.com/office/drawing/2014/main" val="1240341726"/>
                    </a:ext>
                  </a:extLst>
                </a:gridCol>
                <a:gridCol w="1712491">
                  <a:extLst>
                    <a:ext uri="{9D8B030D-6E8A-4147-A177-3AD203B41FA5}">
                      <a16:colId xmlns:a16="http://schemas.microsoft.com/office/drawing/2014/main" val="3418675952"/>
                    </a:ext>
                  </a:extLst>
                </a:gridCol>
                <a:gridCol w="1882603">
                  <a:extLst>
                    <a:ext uri="{9D8B030D-6E8A-4147-A177-3AD203B41FA5}">
                      <a16:colId xmlns:a16="http://schemas.microsoft.com/office/drawing/2014/main" val="3217757275"/>
                    </a:ext>
                  </a:extLst>
                </a:gridCol>
                <a:gridCol w="1204162">
                  <a:extLst>
                    <a:ext uri="{9D8B030D-6E8A-4147-A177-3AD203B41FA5}">
                      <a16:colId xmlns:a16="http://schemas.microsoft.com/office/drawing/2014/main" val="1507821284"/>
                    </a:ext>
                  </a:extLst>
                </a:gridCol>
                <a:gridCol w="1116753">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Lien principal</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Lien de secours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Satisfaction débit / service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5C433A22-6B3C-B44A-31C4-5C6E9F51A26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D9DE8F63-1F71-1DC7-E572-5936B541BDF0}"/>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FIBRE &amp; TRÈS HAUT DÉBIT</a:t>
            </a:r>
          </a:p>
        </p:txBody>
      </p:sp>
      <p:pic>
        <p:nvPicPr>
          <p:cNvPr id="8" name="Image 7">
            <a:extLst>
              <a:ext uri="{FF2B5EF4-FFF2-40B4-BE49-F238E27FC236}">
                <a16:creationId xmlns:a16="http://schemas.microsoft.com/office/drawing/2014/main" id="{55B66D54-4FFD-DB90-43EF-B41505012FB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4" name="Image 3">
            <a:extLst>
              <a:ext uri="{FF2B5EF4-FFF2-40B4-BE49-F238E27FC236}">
                <a16:creationId xmlns:a16="http://schemas.microsoft.com/office/drawing/2014/main" id="{8F949B8C-BD38-47F6-586D-1366AA202053}"/>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40764767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D9E00-270A-43C5-7F38-150108F6F6E3}"/>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02C836B-2E17-5070-9D49-9CD6E3227760}"/>
              </a:ext>
            </a:extLst>
          </p:cNvPr>
          <p:cNvSpPr txBox="1">
            <a:spLocks/>
          </p:cNvSpPr>
          <p:nvPr/>
        </p:nvSpPr>
        <p:spPr>
          <a:xfrm>
            <a:off x="1416202" y="2985622"/>
            <a:ext cx="4374681"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Notre synthèse </a:t>
            </a:r>
          </a:p>
          <a:p>
            <a:r>
              <a:rPr lang="fr-FR" sz="3600" b="1" dirty="0">
                <a:solidFill>
                  <a:schemeClr val="tx1"/>
                </a:solidFill>
                <a:latin typeface="Century Gothic" panose="020B0502020202020204" pitchFamily="34" charset="0"/>
              </a:rPr>
              <a:t>financière</a:t>
            </a:r>
          </a:p>
        </p:txBody>
      </p:sp>
      <p:sp>
        <p:nvSpPr>
          <p:cNvPr id="6" name="Rectangle 5">
            <a:extLst>
              <a:ext uri="{FF2B5EF4-FFF2-40B4-BE49-F238E27FC236}">
                <a16:creationId xmlns:a16="http://schemas.microsoft.com/office/drawing/2014/main" id="{9FAFEEBD-6640-29D5-F737-8F2AFC8A991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2" name="Image 1">
            <a:extLst>
              <a:ext uri="{FF2B5EF4-FFF2-40B4-BE49-F238E27FC236}">
                <a16:creationId xmlns:a16="http://schemas.microsoft.com/office/drawing/2014/main" id="{71E5702E-04FC-447B-CF80-DEA75966915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7" name="Rectangle 6">
            <a:extLst>
              <a:ext uri="{FF2B5EF4-FFF2-40B4-BE49-F238E27FC236}">
                <a16:creationId xmlns:a16="http://schemas.microsoft.com/office/drawing/2014/main" id="{98531BA4-3EB2-CFB8-2962-DAD6C406A28D}"/>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0832908A-78AD-88CD-28BA-B77ACF777AD1}"/>
              </a:ext>
            </a:extLst>
          </p:cNvPr>
          <p:cNvSpPr/>
          <p:nvPr/>
        </p:nvSpPr>
        <p:spPr>
          <a:xfrm>
            <a:off x="5775683" y="2769466"/>
            <a:ext cx="3270471" cy="3270471"/>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D8605C1-4C0E-6AA5-2FEF-C8A4E9DA9884}"/>
              </a:ext>
            </a:extLst>
          </p:cNvPr>
          <p:cNvSpPr/>
          <p:nvPr/>
        </p:nvSpPr>
        <p:spPr>
          <a:xfrm>
            <a:off x="9046154" y="1123807"/>
            <a:ext cx="1645659" cy="164565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8" name="Image 7" descr="Une image contenant ordinateur portable, personne, habits, ordinateur&#10;&#10;Le contenu généré par l’IA peut être incorrect.">
            <a:extLst>
              <a:ext uri="{FF2B5EF4-FFF2-40B4-BE49-F238E27FC236}">
                <a16:creationId xmlns:a16="http://schemas.microsoft.com/office/drawing/2014/main" id="{6BE4015A-8E4E-E6E5-8A4D-D881991DC4F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526916" y="536141"/>
            <a:ext cx="8254008" cy="5503796"/>
          </a:xfrm>
          <a:prstGeom prst="rect">
            <a:avLst/>
          </a:prstGeom>
        </p:spPr>
      </p:pic>
    </p:spTree>
    <p:extLst>
      <p:ext uri="{BB962C8B-B14F-4D97-AF65-F5344CB8AC3E}">
        <p14:creationId xmlns:p14="http://schemas.microsoft.com/office/powerpoint/2010/main" val="39514422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803BA-A23B-E50F-BEB6-43D90F3482EE}"/>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C2F2CD77-A901-16D7-5500-E5050549097E}"/>
              </a:ext>
            </a:extLst>
          </p:cNvPr>
          <p:cNvSpPr>
            <a:spLocks noGrp="1"/>
          </p:cNvSpPr>
          <p:nvPr>
            <p:ph type="body" sz="quarter" idx="11"/>
          </p:nvPr>
        </p:nvSpPr>
        <p:spPr>
          <a:xfrm>
            <a:off x="628575" y="193325"/>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LA SYNTHÈSE FINANCIÈRE GLOBALE</a:t>
            </a:r>
          </a:p>
        </p:txBody>
      </p:sp>
      <p:pic>
        <p:nvPicPr>
          <p:cNvPr id="30" name="Image 29" descr="Une image contenant Police, Graphique, logo, texte&#10;&#10;Description générée automatiquement">
            <a:extLst>
              <a:ext uri="{FF2B5EF4-FFF2-40B4-BE49-F238E27FC236}">
                <a16:creationId xmlns:a16="http://schemas.microsoft.com/office/drawing/2014/main" id="{5A99E0BF-CDE8-1CED-8CC1-903C9BC8626B}"/>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2144334" y="235574"/>
            <a:ext cx="1075840" cy="268960"/>
          </a:xfrm>
          <a:prstGeom prst="rect">
            <a:avLst/>
          </a:prstGeom>
        </p:spPr>
      </p:pic>
      <p:sp>
        <p:nvSpPr>
          <p:cNvPr id="67" name="Rectangle 66">
            <a:extLst>
              <a:ext uri="{FF2B5EF4-FFF2-40B4-BE49-F238E27FC236}">
                <a16:creationId xmlns:a16="http://schemas.microsoft.com/office/drawing/2014/main" id="{7463085B-453F-B018-7D0F-4493762B5D94}"/>
              </a:ext>
            </a:extLst>
          </p:cNvPr>
          <p:cNvSpPr/>
          <p:nvPr/>
        </p:nvSpPr>
        <p:spPr>
          <a:xfrm>
            <a:off x="6180852" y="4993461"/>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contenu 2">
            <a:extLst>
              <a:ext uri="{FF2B5EF4-FFF2-40B4-BE49-F238E27FC236}">
                <a16:creationId xmlns:a16="http://schemas.microsoft.com/office/drawing/2014/main" id="{F544A846-D9A6-341C-A6B7-CDD14A6EF514}"/>
              </a:ext>
            </a:extLst>
          </p:cNvPr>
          <p:cNvSpPr txBox="1">
            <a:spLocks/>
          </p:cNvSpPr>
          <p:nvPr/>
        </p:nvSpPr>
        <p:spPr>
          <a:xfrm>
            <a:off x="773045" y="1386560"/>
            <a:ext cx="6282382"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trouver ci-après une proposition personnalisée, étudiée pour répondre à vos attentes :</a:t>
            </a:r>
          </a:p>
        </p:txBody>
      </p:sp>
      <p:cxnSp>
        <p:nvCxnSpPr>
          <p:cNvPr id="26" name="Connecteur droit 25">
            <a:extLst>
              <a:ext uri="{FF2B5EF4-FFF2-40B4-BE49-F238E27FC236}">
                <a16:creationId xmlns:a16="http://schemas.microsoft.com/office/drawing/2014/main" id="{C71E685D-0FF5-5C48-826C-FF835A60FACC}"/>
              </a:ext>
            </a:extLst>
          </p:cNvPr>
          <p:cNvCxnSpPr>
            <a:cxnSpLocks/>
          </p:cNvCxnSpPr>
          <p:nvPr/>
        </p:nvCxnSpPr>
        <p:spPr>
          <a:xfrm>
            <a:off x="738203" y="1379579"/>
            <a:ext cx="0" cy="682115"/>
          </a:xfrm>
          <a:prstGeom prst="line">
            <a:avLst/>
          </a:prstGeom>
          <a:noFill/>
          <a:ln w="25400" cap="flat" cmpd="sng" algn="ctr">
            <a:solidFill>
              <a:srgbClr val="7030A0"/>
            </a:solidFill>
            <a:prstDash val="solid"/>
            <a:miter lim="800000"/>
          </a:ln>
          <a:effectLst/>
        </p:spPr>
      </p:cxnSp>
      <p:sp>
        <p:nvSpPr>
          <p:cNvPr id="6" name="Titre 10">
            <a:extLst>
              <a:ext uri="{FF2B5EF4-FFF2-40B4-BE49-F238E27FC236}">
                <a16:creationId xmlns:a16="http://schemas.microsoft.com/office/drawing/2014/main" id="{286F3856-D677-E87D-ADE0-F19E154E4D11}"/>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graphicFrame>
        <p:nvGraphicFramePr>
          <p:cNvPr id="16" name="tableau_recap_telecom">
            <a:extLst>
              <a:ext uri="{FF2B5EF4-FFF2-40B4-BE49-F238E27FC236}">
                <a16:creationId xmlns:a16="http://schemas.microsoft.com/office/drawing/2014/main" id="{C03D1603-D5F4-674C-CFE3-AF5FC6F252C9}"/>
              </a:ext>
            </a:extLst>
          </p:cNvPr>
          <p:cNvGraphicFramePr>
            <a:graphicFrameLocks noGrp="1"/>
          </p:cNvGraphicFramePr>
          <p:nvPr>
            <p:extLst>
              <p:ext uri="{D42A27DB-BD31-4B8C-83A1-F6EECF244321}">
                <p14:modId xmlns:p14="http://schemas.microsoft.com/office/powerpoint/2010/main" val="480161390"/>
              </p:ext>
            </p:extLst>
          </p:nvPr>
        </p:nvGraphicFramePr>
        <p:xfrm>
          <a:off x="1066488" y="3112654"/>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1250 €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graphicFrame>
        <p:nvGraphicFramePr>
          <p:cNvPr id="2" name="tableau_recap_telecom">
            <a:extLst>
              <a:ext uri="{FF2B5EF4-FFF2-40B4-BE49-F238E27FC236}">
                <a16:creationId xmlns:a16="http://schemas.microsoft.com/office/drawing/2014/main" id="{B14968AA-BF3E-F19C-1C0B-970AAC0BB9D2}"/>
              </a:ext>
            </a:extLst>
          </p:cNvPr>
          <p:cNvGraphicFramePr>
            <a:graphicFrameLocks noGrp="1"/>
          </p:cNvGraphicFramePr>
          <p:nvPr>
            <p:extLst>
              <p:ext uri="{D42A27DB-BD31-4B8C-83A1-F6EECF244321}">
                <p14:modId xmlns:p14="http://schemas.microsoft.com/office/powerpoint/2010/main" val="489820442"/>
              </p:ext>
            </p:extLst>
          </p:nvPr>
        </p:nvGraphicFramePr>
        <p:xfrm>
          <a:off x="5456932" y="3121492"/>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1500 €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sp>
        <p:nvSpPr>
          <p:cNvPr id="5" name="Rectangle 4">
            <a:extLst>
              <a:ext uri="{FF2B5EF4-FFF2-40B4-BE49-F238E27FC236}">
                <a16:creationId xmlns:a16="http://schemas.microsoft.com/office/drawing/2014/main" id="{4C0A0F56-B0ED-9E34-E133-DD99C779B02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2CB9E32D-EE3F-4390-EB47-7224364884D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9" name="Rectangle 8">
            <a:extLst>
              <a:ext uri="{FF2B5EF4-FFF2-40B4-BE49-F238E27FC236}">
                <a16:creationId xmlns:a16="http://schemas.microsoft.com/office/drawing/2014/main" id="{A63F8EA7-3AB1-DEBD-3EA0-BF574384245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94123837-4E58-BC14-4F1B-72F2DB319288}"/>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11" name="Rectangle 10">
            <a:extLst>
              <a:ext uri="{FF2B5EF4-FFF2-40B4-BE49-F238E27FC236}">
                <a16:creationId xmlns:a16="http://schemas.microsoft.com/office/drawing/2014/main" id="{46BFEE75-18A5-45B2-BA90-BD7AF3722EF8}"/>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Tree>
    <p:extLst>
      <p:ext uri="{BB962C8B-B14F-4D97-AF65-F5344CB8AC3E}">
        <p14:creationId xmlns:p14="http://schemas.microsoft.com/office/powerpoint/2010/main" val="11833219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1B7B6-95E3-0574-64EE-2161E910EBA8}"/>
            </a:ext>
          </a:extLst>
        </p:cNvPr>
        <p:cNvGrpSpPr/>
        <p:nvPr/>
      </p:nvGrpSpPr>
      <p:grpSpPr>
        <a:xfrm>
          <a:off x="0" y="0"/>
          <a:ext cx="0" cy="0"/>
          <a:chOff x="0" y="0"/>
          <a:chExt cx="0" cy="0"/>
        </a:xfrm>
      </p:grpSpPr>
      <p:pic>
        <p:nvPicPr>
          <p:cNvPr id="36" name="Graphique 35">
            <a:extLst>
              <a:ext uri="{FF2B5EF4-FFF2-40B4-BE49-F238E27FC236}">
                <a16:creationId xmlns:a16="http://schemas.microsoft.com/office/drawing/2014/main" id="{778F7C06-9565-7EDD-9D41-E7E7906B4C3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92159" y="4766046"/>
            <a:ext cx="372400" cy="372400"/>
          </a:xfrm>
          <a:prstGeom prst="rect">
            <a:avLst/>
          </a:prstGeom>
        </p:spPr>
      </p:pic>
      <p:sp>
        <p:nvSpPr>
          <p:cNvPr id="29" name="Espace réservé du texte 26">
            <a:extLst>
              <a:ext uri="{FF2B5EF4-FFF2-40B4-BE49-F238E27FC236}">
                <a16:creationId xmlns:a16="http://schemas.microsoft.com/office/drawing/2014/main" id="{BB37AE82-BFBA-A47B-FD4A-168E59C2D775}"/>
              </a:ext>
            </a:extLst>
          </p:cNvPr>
          <p:cNvSpPr>
            <a:spLocks noGrp="1"/>
          </p:cNvSpPr>
          <p:nvPr>
            <p:ph type="body" sz="quarter" idx="11"/>
          </p:nvPr>
        </p:nvSpPr>
        <p:spPr>
          <a:xfrm>
            <a:off x="629636" y="187291"/>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POUR REPONDRE A VOS ENJEUX</a:t>
            </a:r>
          </a:p>
        </p:txBody>
      </p:sp>
      <p:pic>
        <p:nvPicPr>
          <p:cNvPr id="30" name="Image 29" descr="Une image contenant Police, Graphique, logo, texte&#10;&#10;Description générée automatiquement">
            <a:extLst>
              <a:ext uri="{FF2B5EF4-FFF2-40B4-BE49-F238E27FC236}">
                <a16:creationId xmlns:a16="http://schemas.microsoft.com/office/drawing/2014/main" id="{5F45743F-F28A-DC02-DF13-7D4C3F907C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2145395" y="229540"/>
            <a:ext cx="1075840" cy="268960"/>
          </a:xfrm>
          <a:prstGeom prst="rect">
            <a:avLst/>
          </a:prstGeom>
        </p:spPr>
      </p:pic>
      <p:sp>
        <p:nvSpPr>
          <p:cNvPr id="67" name="Rectangle 66">
            <a:extLst>
              <a:ext uri="{FF2B5EF4-FFF2-40B4-BE49-F238E27FC236}">
                <a16:creationId xmlns:a16="http://schemas.microsoft.com/office/drawing/2014/main" id="{B3859E4F-EBB4-4E29-86E7-4A6692A3973A}"/>
              </a:ext>
            </a:extLst>
          </p:cNvPr>
          <p:cNvSpPr/>
          <p:nvPr/>
        </p:nvSpPr>
        <p:spPr>
          <a:xfrm>
            <a:off x="5987409" y="3517733"/>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0">
            <a:extLst>
              <a:ext uri="{FF2B5EF4-FFF2-40B4-BE49-F238E27FC236}">
                <a16:creationId xmlns:a16="http://schemas.microsoft.com/office/drawing/2014/main" id="{3F2B2049-DE85-5CC1-364A-97BC7735ACC2}"/>
              </a:ext>
            </a:extLst>
          </p:cNvPr>
          <p:cNvSpPr txBox="1">
            <a:spLocks/>
          </p:cNvSpPr>
          <p:nvPr/>
        </p:nvSpPr>
        <p:spPr>
          <a:xfrm>
            <a:off x="1493045" y="257995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AVANT :</a:t>
            </a:r>
          </a:p>
        </p:txBody>
      </p:sp>
      <p:sp>
        <p:nvSpPr>
          <p:cNvPr id="25" name="Espace réservé du contenu 2">
            <a:extLst>
              <a:ext uri="{FF2B5EF4-FFF2-40B4-BE49-F238E27FC236}">
                <a16:creationId xmlns:a16="http://schemas.microsoft.com/office/drawing/2014/main" id="{3C07BC40-0925-98BC-50CD-725BE9A60F4E}"/>
              </a:ext>
            </a:extLst>
          </p:cNvPr>
          <p:cNvSpPr txBox="1">
            <a:spLocks/>
          </p:cNvSpPr>
          <p:nvPr/>
        </p:nvSpPr>
        <p:spPr>
          <a:xfrm>
            <a:off x="825083" y="1410511"/>
            <a:ext cx="7198055"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Nous avons cherché la solution la plus adaptée pour répondre à vos enjeux essentiels. Au travers de nos offres, vous allez pouvoir améliorer les points attendus et op</a:t>
            </a:r>
          </a:p>
        </p:txBody>
      </p:sp>
      <p:cxnSp>
        <p:nvCxnSpPr>
          <p:cNvPr id="26" name="Connecteur droit 25">
            <a:extLst>
              <a:ext uri="{FF2B5EF4-FFF2-40B4-BE49-F238E27FC236}">
                <a16:creationId xmlns:a16="http://schemas.microsoft.com/office/drawing/2014/main" id="{7ADD80ED-D913-4764-5875-6B6334EED656}"/>
              </a:ext>
            </a:extLst>
          </p:cNvPr>
          <p:cNvCxnSpPr>
            <a:cxnSpLocks/>
          </p:cNvCxnSpPr>
          <p:nvPr/>
        </p:nvCxnSpPr>
        <p:spPr>
          <a:xfrm>
            <a:off x="809363" y="1450664"/>
            <a:ext cx="0" cy="408610"/>
          </a:xfrm>
          <a:prstGeom prst="line">
            <a:avLst/>
          </a:prstGeom>
          <a:noFill/>
          <a:ln w="25400" cap="flat" cmpd="sng" algn="ctr">
            <a:solidFill>
              <a:srgbClr val="7030A0"/>
            </a:solidFill>
            <a:prstDash val="solid"/>
            <a:miter lim="800000"/>
          </a:ln>
          <a:effectLst/>
        </p:spPr>
      </p:cxnSp>
      <p:pic>
        <p:nvPicPr>
          <p:cNvPr id="27" name="Image 26">
            <a:extLst>
              <a:ext uri="{FF2B5EF4-FFF2-40B4-BE49-F238E27FC236}">
                <a16:creationId xmlns:a16="http://schemas.microsoft.com/office/drawing/2014/main" id="{9D4B16E9-94CD-8D92-247A-9584C6820A03}"/>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5991165" y="3199305"/>
            <a:ext cx="360979" cy="360979"/>
          </a:xfrm>
          <a:prstGeom prst="rect">
            <a:avLst/>
          </a:prstGeom>
        </p:spPr>
      </p:pic>
      <p:sp>
        <p:nvSpPr>
          <p:cNvPr id="33" name="ZoneTexte 32">
            <a:extLst>
              <a:ext uri="{FF2B5EF4-FFF2-40B4-BE49-F238E27FC236}">
                <a16:creationId xmlns:a16="http://schemas.microsoft.com/office/drawing/2014/main" id="{1494686B-88E9-85D6-680C-2A66FF95A61D}"/>
              </a:ext>
            </a:extLst>
          </p:cNvPr>
          <p:cNvSpPr txBox="1"/>
          <p:nvPr/>
        </p:nvSpPr>
        <p:spPr>
          <a:xfrm>
            <a:off x="6432264" y="3566455"/>
            <a:ext cx="2160420" cy="1061829"/>
          </a:xfrm>
          <a:prstGeom prst="rect">
            <a:avLst/>
          </a:prstGeom>
          <a:noFill/>
        </p:spPr>
        <p:txBody>
          <a:bodyPr wrap="square">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6" name="Titre 10">
            <a:extLst>
              <a:ext uri="{FF2B5EF4-FFF2-40B4-BE49-F238E27FC236}">
                <a16:creationId xmlns:a16="http://schemas.microsoft.com/office/drawing/2014/main" id="{4108FB63-49A6-B0BD-3668-2CB348910CEE}"/>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sp>
        <p:nvSpPr>
          <p:cNvPr id="10" name="Rectangle 9">
            <a:extLst>
              <a:ext uri="{FF2B5EF4-FFF2-40B4-BE49-F238E27FC236}">
                <a16:creationId xmlns:a16="http://schemas.microsoft.com/office/drawing/2014/main" id="{52195249-1186-858C-9A30-743E3DD65A06}"/>
              </a:ext>
            </a:extLst>
          </p:cNvPr>
          <p:cNvSpPr/>
          <p:nvPr/>
        </p:nvSpPr>
        <p:spPr>
          <a:xfrm>
            <a:off x="1808458" y="3187333"/>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Améliorations attendues :</a:t>
            </a:r>
          </a:p>
        </p:txBody>
      </p:sp>
      <p:sp>
        <p:nvSpPr>
          <p:cNvPr id="12" name="ZoneTexte 11">
            <a:extLst>
              <a:ext uri="{FF2B5EF4-FFF2-40B4-BE49-F238E27FC236}">
                <a16:creationId xmlns:a16="http://schemas.microsoft.com/office/drawing/2014/main" id="{6D5ED66A-C3CB-FCD6-0A0E-F0D6032617FD}"/>
              </a:ext>
            </a:extLst>
          </p:cNvPr>
          <p:cNvSpPr txBox="1"/>
          <p:nvPr/>
        </p:nvSpPr>
        <p:spPr>
          <a:xfrm>
            <a:off x="1559300" y="3596655"/>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grpSp>
        <p:nvGrpSpPr>
          <p:cNvPr id="13" name="Groupe 12">
            <a:extLst>
              <a:ext uri="{FF2B5EF4-FFF2-40B4-BE49-F238E27FC236}">
                <a16:creationId xmlns:a16="http://schemas.microsoft.com/office/drawing/2014/main" id="{F974D3CC-D9FD-1B63-0BEB-27AEFD2CA5BF}"/>
              </a:ext>
            </a:extLst>
          </p:cNvPr>
          <p:cNvGrpSpPr/>
          <p:nvPr/>
        </p:nvGrpSpPr>
        <p:grpSpPr>
          <a:xfrm>
            <a:off x="1299601" y="3186415"/>
            <a:ext cx="360000" cy="360000"/>
            <a:chOff x="3955774" y="3413099"/>
            <a:chExt cx="360000" cy="360000"/>
          </a:xfrm>
        </p:grpSpPr>
        <p:sp>
          <p:nvSpPr>
            <p:cNvPr id="8" name="Rectangle 7">
              <a:extLst>
                <a:ext uri="{FF2B5EF4-FFF2-40B4-BE49-F238E27FC236}">
                  <a16:creationId xmlns:a16="http://schemas.microsoft.com/office/drawing/2014/main" id="{98904387-903C-14ED-69DC-6F0E1F22660B}"/>
                </a:ext>
              </a:extLst>
            </p:cNvPr>
            <p:cNvSpPr/>
            <p:nvPr/>
          </p:nvSpPr>
          <p:spPr>
            <a:xfrm>
              <a:off x="3955774" y="3413099"/>
              <a:ext cx="360000" cy="360000"/>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6" descr="Avertissement avec un remplissage uni">
              <a:extLst>
                <a:ext uri="{FF2B5EF4-FFF2-40B4-BE49-F238E27FC236}">
                  <a16:creationId xmlns:a16="http://schemas.microsoft.com/office/drawing/2014/main" id="{465640F5-F3BE-62D5-751E-04B3F7A4F9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987583" y="3434798"/>
              <a:ext cx="293254" cy="293254"/>
            </a:xfrm>
            <a:prstGeom prst="rect">
              <a:avLst/>
            </a:prstGeom>
          </p:spPr>
        </p:pic>
      </p:grpSp>
      <p:sp>
        <p:nvSpPr>
          <p:cNvPr id="3" name="ZoneTexte 2">
            <a:extLst>
              <a:ext uri="{FF2B5EF4-FFF2-40B4-BE49-F238E27FC236}">
                <a16:creationId xmlns:a16="http://schemas.microsoft.com/office/drawing/2014/main" id="{94F7F8EF-DE50-6C04-CDA7-548198A80C4D}"/>
              </a:ext>
            </a:extLst>
          </p:cNvPr>
          <p:cNvSpPr txBox="1"/>
          <p:nvPr/>
        </p:nvSpPr>
        <p:spPr>
          <a:xfrm>
            <a:off x="6432264" y="5272381"/>
            <a:ext cx="3790522" cy="630942"/>
          </a:xfrm>
          <a:prstGeom prst="rect">
            <a:avLst/>
          </a:prstGeom>
          <a:noFill/>
        </p:spPr>
        <p:txBody>
          <a:bodyPr wrap="square" rtlCol="0">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à toutes vos attentes.</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aux exigences de sécurité.</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 service client de proximité</a:t>
            </a:r>
            <a:r>
              <a:rPr lang="fr-FR" sz="1400" dirty="0">
                <a:solidFill>
                  <a:srgbClr val="434341"/>
                </a:solidFill>
                <a:latin typeface="Arial Nova" panose="020B0504020202020204" pitchFamily="34" charset="0"/>
              </a:rPr>
              <a:t>.</a:t>
            </a:r>
          </a:p>
        </p:txBody>
      </p:sp>
      <p:sp>
        <p:nvSpPr>
          <p:cNvPr id="17" name="ZoneTexte 16">
            <a:extLst>
              <a:ext uri="{FF2B5EF4-FFF2-40B4-BE49-F238E27FC236}">
                <a16:creationId xmlns:a16="http://schemas.microsoft.com/office/drawing/2014/main" id="{F31187D4-569B-0153-DBE1-4AC127C0598D}"/>
              </a:ext>
            </a:extLst>
          </p:cNvPr>
          <p:cNvSpPr txBox="1"/>
          <p:nvPr/>
        </p:nvSpPr>
        <p:spPr>
          <a:xfrm>
            <a:off x="1493045" y="5245626"/>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16" name="Rectangle 15">
            <a:extLst>
              <a:ext uri="{FF2B5EF4-FFF2-40B4-BE49-F238E27FC236}">
                <a16:creationId xmlns:a16="http://schemas.microsoft.com/office/drawing/2014/main" id="{32B3C7B9-17C6-2022-8130-264B7454F06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8" name="Image 17">
            <a:extLst>
              <a:ext uri="{FF2B5EF4-FFF2-40B4-BE49-F238E27FC236}">
                <a16:creationId xmlns:a16="http://schemas.microsoft.com/office/drawing/2014/main" id="{3318299E-2E6D-BE48-1295-C91B0CE597F5}"/>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818FE28A-B9AB-CD5D-C77D-67A367941F9E}"/>
              </a:ext>
            </a:extLst>
          </p:cNvPr>
          <p:cNvSpPr/>
          <p:nvPr/>
        </p:nvSpPr>
        <p:spPr>
          <a:xfrm>
            <a:off x="6506861" y="3199305"/>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Avantages :</a:t>
            </a:r>
          </a:p>
        </p:txBody>
      </p:sp>
      <p:sp>
        <p:nvSpPr>
          <p:cNvPr id="22" name="Rectangle 21">
            <a:extLst>
              <a:ext uri="{FF2B5EF4-FFF2-40B4-BE49-F238E27FC236}">
                <a16:creationId xmlns:a16="http://schemas.microsoft.com/office/drawing/2014/main" id="{DD0FD39D-6B1B-ECDF-1BB9-EB4633B5C4DA}"/>
              </a:ext>
            </a:extLst>
          </p:cNvPr>
          <p:cNvSpPr/>
          <p:nvPr/>
        </p:nvSpPr>
        <p:spPr>
          <a:xfrm>
            <a:off x="1808458" y="4809316"/>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Nouveautés / évolutions :</a:t>
            </a:r>
          </a:p>
        </p:txBody>
      </p:sp>
      <p:pic>
        <p:nvPicPr>
          <p:cNvPr id="38" name="Graphique 37">
            <a:extLst>
              <a:ext uri="{FF2B5EF4-FFF2-40B4-BE49-F238E27FC236}">
                <a16:creationId xmlns:a16="http://schemas.microsoft.com/office/drawing/2014/main" id="{0A1A2F55-70F6-276C-046F-F6BDABADA42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485036" y="4968228"/>
            <a:ext cx="203515" cy="215924"/>
          </a:xfrm>
          <a:prstGeom prst="rect">
            <a:avLst/>
          </a:prstGeom>
        </p:spPr>
      </p:pic>
      <p:pic>
        <p:nvPicPr>
          <p:cNvPr id="39" name="Graphique 38">
            <a:extLst>
              <a:ext uri="{FF2B5EF4-FFF2-40B4-BE49-F238E27FC236}">
                <a16:creationId xmlns:a16="http://schemas.microsoft.com/office/drawing/2014/main" id="{9C81C322-660A-C3DD-66D1-DA090C13A53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501308" y="3354174"/>
            <a:ext cx="203515" cy="215924"/>
          </a:xfrm>
          <a:prstGeom prst="rect">
            <a:avLst/>
          </a:prstGeom>
        </p:spPr>
      </p:pic>
      <p:pic>
        <p:nvPicPr>
          <p:cNvPr id="40" name="Graphique 39">
            <a:extLst>
              <a:ext uri="{FF2B5EF4-FFF2-40B4-BE49-F238E27FC236}">
                <a16:creationId xmlns:a16="http://schemas.microsoft.com/office/drawing/2014/main" id="{EE6B72BD-6959-565B-881C-9527EE789108}"/>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3380731"/>
            <a:ext cx="203515" cy="215924"/>
          </a:xfrm>
          <a:prstGeom prst="rect">
            <a:avLst/>
          </a:prstGeom>
        </p:spPr>
      </p:pic>
      <p:sp>
        <p:nvSpPr>
          <p:cNvPr id="41" name="Rectangle 40">
            <a:extLst>
              <a:ext uri="{FF2B5EF4-FFF2-40B4-BE49-F238E27FC236}">
                <a16:creationId xmlns:a16="http://schemas.microsoft.com/office/drawing/2014/main" id="{FF69EAF5-DF51-2392-6E4D-0A5F1A109C02}"/>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2" name="Rectangle 41">
            <a:extLst>
              <a:ext uri="{FF2B5EF4-FFF2-40B4-BE49-F238E27FC236}">
                <a16:creationId xmlns:a16="http://schemas.microsoft.com/office/drawing/2014/main" id="{98028C3E-0EFD-C117-666B-77860DD15ED6}"/>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43" name="Rectangle 42">
            <a:extLst>
              <a:ext uri="{FF2B5EF4-FFF2-40B4-BE49-F238E27FC236}">
                <a16:creationId xmlns:a16="http://schemas.microsoft.com/office/drawing/2014/main" id="{FECB4141-64E2-7F2B-DF0A-EFFC48D4A4EE}"/>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
        <p:nvSpPr>
          <p:cNvPr id="9" name="Rectangle 8">
            <a:extLst>
              <a:ext uri="{FF2B5EF4-FFF2-40B4-BE49-F238E27FC236}">
                <a16:creationId xmlns:a16="http://schemas.microsoft.com/office/drawing/2014/main" id="{A9324E0C-A9AD-F782-5418-EC0D2B56C853}"/>
              </a:ext>
            </a:extLst>
          </p:cNvPr>
          <p:cNvSpPr/>
          <p:nvPr/>
        </p:nvSpPr>
        <p:spPr>
          <a:xfrm>
            <a:off x="6506861" y="4718859"/>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LES + </a:t>
            </a:r>
          </a:p>
        </p:txBody>
      </p:sp>
      <p:pic>
        <p:nvPicPr>
          <p:cNvPr id="11" name="Graphique 10">
            <a:extLst>
              <a:ext uri="{FF2B5EF4-FFF2-40B4-BE49-F238E27FC236}">
                <a16:creationId xmlns:a16="http://schemas.microsoft.com/office/drawing/2014/main" id="{F4FAD2F2-6840-EBF0-3D4B-4F9027A5C2D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4900285"/>
            <a:ext cx="203515" cy="215924"/>
          </a:xfrm>
          <a:prstGeom prst="rect">
            <a:avLst/>
          </a:prstGeom>
        </p:spPr>
      </p:pic>
      <p:sp>
        <p:nvSpPr>
          <p:cNvPr id="14" name="Rectangle 13">
            <a:extLst>
              <a:ext uri="{FF2B5EF4-FFF2-40B4-BE49-F238E27FC236}">
                <a16:creationId xmlns:a16="http://schemas.microsoft.com/office/drawing/2014/main" id="{038BFA60-49B5-D303-1619-61B7A269A0DA}"/>
              </a:ext>
            </a:extLst>
          </p:cNvPr>
          <p:cNvSpPr/>
          <p:nvPr/>
        </p:nvSpPr>
        <p:spPr>
          <a:xfrm>
            <a:off x="5987409" y="4717700"/>
            <a:ext cx="360979" cy="338301"/>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Graphique 3" descr="Case cochée avec un remplissage uni">
            <a:extLst>
              <a:ext uri="{FF2B5EF4-FFF2-40B4-BE49-F238E27FC236}">
                <a16:creationId xmlns:a16="http://schemas.microsoft.com/office/drawing/2014/main" id="{399D42EE-E721-AD64-E472-99D84461193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987408" y="4713663"/>
            <a:ext cx="360979" cy="360979"/>
          </a:xfrm>
          <a:prstGeom prst="rect">
            <a:avLst/>
          </a:prstGeom>
        </p:spPr>
      </p:pic>
    </p:spTree>
    <p:extLst>
      <p:ext uri="{BB962C8B-B14F-4D97-AF65-F5344CB8AC3E}">
        <p14:creationId xmlns:p14="http://schemas.microsoft.com/office/powerpoint/2010/main" val="37607551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571A-844A-132B-AA68-979A9546873D}"/>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F1DC4789-5BE8-BC72-5E4A-BD107DBE4E7D}"/>
              </a:ext>
            </a:extLst>
          </p:cNvPr>
          <p:cNvSpPr>
            <a:spLocks noGrp="1"/>
          </p:cNvSpPr>
          <p:nvPr>
            <p:ph type="body" sz="quarter" idx="11"/>
          </p:nvPr>
        </p:nvSpPr>
        <p:spPr>
          <a:xfrm>
            <a:off x="584871" y="215746"/>
            <a:ext cx="4403526" cy="797254"/>
          </a:xfrm>
        </p:spPr>
        <p:txBody>
          <a:bodyPr>
            <a:normAutofit/>
          </a:bodyPr>
          <a:lstStyle/>
          <a:p>
            <a:pPr>
              <a:lnSpc>
                <a:spcPct val="100000"/>
              </a:lnSpc>
              <a:spcBef>
                <a:spcPts val="0"/>
              </a:spcBef>
            </a:pPr>
            <a:r>
              <a:rPr lang="fr-FR" dirty="0">
                <a:latin typeface="Century Gothic" panose="020B0502020202020204" pitchFamily="34" charset="0"/>
              </a:rPr>
              <a:t>COMMANDE</a:t>
            </a:r>
          </a:p>
          <a:p>
            <a:pPr>
              <a:lnSpc>
                <a:spcPct val="100000"/>
              </a:lnSpc>
              <a:spcBef>
                <a:spcPts val="0"/>
              </a:spcBef>
            </a:pPr>
            <a:r>
              <a:rPr lang="fr-FR" sz="1800" b="0" dirty="0">
                <a:latin typeface="Century Gothic" panose="020B0502020202020204" pitchFamily="34" charset="0"/>
              </a:rPr>
              <a:t>VOTRE PROPOSITION</a:t>
            </a:r>
          </a:p>
        </p:txBody>
      </p:sp>
      <p:sp>
        <p:nvSpPr>
          <p:cNvPr id="25" name="Espace réservé du contenu 2">
            <a:extLst>
              <a:ext uri="{FF2B5EF4-FFF2-40B4-BE49-F238E27FC236}">
                <a16:creationId xmlns:a16="http://schemas.microsoft.com/office/drawing/2014/main" id="{D4DD870D-99F6-9A75-44DA-C499C58E1F84}"/>
              </a:ext>
            </a:extLst>
          </p:cNvPr>
          <p:cNvSpPr txBox="1">
            <a:spLocks/>
          </p:cNvSpPr>
          <p:nvPr/>
        </p:nvSpPr>
        <p:spPr>
          <a:xfrm>
            <a:off x="726065" y="1301999"/>
            <a:ext cx="6643616"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confirmer votre accord pour cette proposition personnalisée, étudiée pour répondre à vos attentes :</a:t>
            </a:r>
          </a:p>
        </p:txBody>
      </p:sp>
      <p:cxnSp>
        <p:nvCxnSpPr>
          <p:cNvPr id="26" name="Connecteur droit 25">
            <a:extLst>
              <a:ext uri="{FF2B5EF4-FFF2-40B4-BE49-F238E27FC236}">
                <a16:creationId xmlns:a16="http://schemas.microsoft.com/office/drawing/2014/main" id="{F3F1D159-28A3-3043-76D3-09FC324472CC}"/>
              </a:ext>
            </a:extLst>
          </p:cNvPr>
          <p:cNvCxnSpPr>
            <a:cxnSpLocks/>
          </p:cNvCxnSpPr>
          <p:nvPr/>
        </p:nvCxnSpPr>
        <p:spPr>
          <a:xfrm>
            <a:off x="661771" y="1290721"/>
            <a:ext cx="0" cy="707194"/>
          </a:xfrm>
          <a:prstGeom prst="line">
            <a:avLst/>
          </a:prstGeom>
          <a:noFill/>
          <a:ln w="25400" cap="flat" cmpd="sng" algn="ctr">
            <a:solidFill>
              <a:srgbClr val="7030A0"/>
            </a:solidFill>
            <a:prstDash val="solid"/>
            <a:miter lim="800000"/>
          </a:ln>
          <a:effectLst/>
        </p:spPr>
      </p:cxnSp>
      <p:sp>
        <p:nvSpPr>
          <p:cNvPr id="5" name="Rectangle 4">
            <a:extLst>
              <a:ext uri="{FF2B5EF4-FFF2-40B4-BE49-F238E27FC236}">
                <a16:creationId xmlns:a16="http://schemas.microsoft.com/office/drawing/2014/main" id="{4619E384-CE6F-CC6B-DF28-9EEB164091A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graphicFrame>
        <p:nvGraphicFramePr>
          <p:cNvPr id="9" name="Tableau 8">
            <a:extLst>
              <a:ext uri="{FF2B5EF4-FFF2-40B4-BE49-F238E27FC236}">
                <a16:creationId xmlns:a16="http://schemas.microsoft.com/office/drawing/2014/main" id="{DF64DC74-4752-A33D-5A90-7A19C887DCD7}"/>
              </a:ext>
            </a:extLst>
          </p:cNvPr>
          <p:cNvGraphicFramePr>
            <a:graphicFrameLocks noGrp="1"/>
          </p:cNvGraphicFramePr>
          <p:nvPr>
            <p:extLst>
              <p:ext uri="{D42A27DB-BD31-4B8C-83A1-F6EECF244321}">
                <p14:modId xmlns:p14="http://schemas.microsoft.com/office/powerpoint/2010/main" val="2140372091"/>
              </p:ext>
            </p:extLst>
          </p:nvPr>
        </p:nvGraphicFramePr>
        <p:xfrm>
          <a:off x="846138" y="2350411"/>
          <a:ext cx="8462754" cy="1101700"/>
        </p:xfrm>
        <a:graphic>
          <a:graphicData uri="http://schemas.openxmlformats.org/drawingml/2006/table">
            <a:tbl>
              <a:tblPr firstRow="1" bandRow="1"/>
              <a:tblGrid>
                <a:gridCol w="6372750">
                  <a:extLst>
                    <a:ext uri="{9D8B030D-6E8A-4147-A177-3AD203B41FA5}">
                      <a16:colId xmlns:a16="http://schemas.microsoft.com/office/drawing/2014/main" val="1388680963"/>
                    </a:ext>
                  </a:extLst>
                </a:gridCol>
                <a:gridCol w="2090004">
                  <a:extLst>
                    <a:ext uri="{9D8B030D-6E8A-4147-A177-3AD203B41FA5}">
                      <a16:colId xmlns:a16="http://schemas.microsoft.com/office/drawing/2014/main" val="4262916439"/>
                    </a:ext>
                  </a:extLst>
                </a:gridCol>
              </a:tblGrid>
              <a:tr h="243840">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662008187"/>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NOM DES SOLUTIONS VENDUES</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985111899"/>
                  </a:ext>
                </a:extLst>
              </a:tr>
              <a:tr h="421310">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79854567"/>
                  </a:ext>
                </a:extLst>
              </a:tr>
            </a:tbl>
          </a:graphicData>
        </a:graphic>
      </p:graphicFrame>
      <p:sp>
        <p:nvSpPr>
          <p:cNvPr id="12" name="Rectangle 11">
            <a:extLst>
              <a:ext uri="{FF2B5EF4-FFF2-40B4-BE49-F238E27FC236}">
                <a16:creationId xmlns:a16="http://schemas.microsoft.com/office/drawing/2014/main" id="{0BE28793-D272-35E6-F639-7D2131EA7A49}"/>
              </a:ext>
            </a:extLst>
          </p:cNvPr>
          <p:cNvSpPr/>
          <p:nvPr/>
        </p:nvSpPr>
        <p:spPr>
          <a:xfrm>
            <a:off x="5545679" y="4107562"/>
            <a:ext cx="3763213" cy="2443139"/>
          </a:xfrm>
          <a:prstGeom prst="rect">
            <a:avLst/>
          </a:prstGeom>
          <a:solidFill>
            <a:schemeClr val="bg1"/>
          </a:solidFill>
          <a:ln>
            <a:solidFill>
              <a:schemeClr val="tx2"/>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3" name="ZoneTexte 12">
            <a:extLst>
              <a:ext uri="{FF2B5EF4-FFF2-40B4-BE49-F238E27FC236}">
                <a16:creationId xmlns:a16="http://schemas.microsoft.com/office/drawing/2014/main" id="{6CA8F299-EAD8-F44C-1AC0-C156C99BFE79}"/>
              </a:ext>
            </a:extLst>
          </p:cNvPr>
          <p:cNvSpPr txBox="1"/>
          <p:nvPr/>
        </p:nvSpPr>
        <p:spPr>
          <a:xfrm>
            <a:off x="5545679" y="4175430"/>
            <a:ext cx="2777299" cy="830997"/>
          </a:xfrm>
          <a:prstGeom prst="rect">
            <a:avLst/>
          </a:prstGeom>
          <a:noFill/>
        </p:spPr>
        <p:txBody>
          <a:bodyPr wrap="none" rtlCol="0">
            <a:spAutoFit/>
          </a:bodyPr>
          <a:lstStyle/>
          <a:p>
            <a:r>
              <a:rPr lang="fr-FR" sz="1200" b="1" dirty="0">
                <a:latin typeface="Arial Nova" panose="020B0504020202020204" pitchFamily="34" charset="0"/>
              </a:rPr>
              <a:t>Bon pour accord</a:t>
            </a:r>
          </a:p>
          <a:p>
            <a:r>
              <a:rPr lang="fr-FR" sz="1200" dirty="0">
                <a:latin typeface="Arial Nova" panose="020B0504020202020204" pitchFamily="34" charset="0"/>
              </a:rPr>
              <a:t>Date </a:t>
            </a:r>
          </a:p>
          <a:p>
            <a:r>
              <a:rPr lang="fr-FR" sz="1200" dirty="0">
                <a:latin typeface="Arial Nova" panose="020B0504020202020204" pitchFamily="34" charset="0"/>
              </a:rPr>
              <a:t>Nom, prénom et fonction du signataire</a:t>
            </a:r>
          </a:p>
          <a:p>
            <a:r>
              <a:rPr lang="fr-FR" sz="1200" dirty="0">
                <a:latin typeface="Arial Nova" panose="020B0504020202020204" pitchFamily="34" charset="0"/>
              </a:rPr>
              <a:t>Signature et cachet</a:t>
            </a:r>
          </a:p>
        </p:txBody>
      </p:sp>
      <p:sp>
        <p:nvSpPr>
          <p:cNvPr id="14" name="ZoneTexte 13">
            <a:extLst>
              <a:ext uri="{FF2B5EF4-FFF2-40B4-BE49-F238E27FC236}">
                <a16:creationId xmlns:a16="http://schemas.microsoft.com/office/drawing/2014/main" id="{09B4CB37-7983-FBF9-400D-1D0E67B08DD2}"/>
              </a:ext>
            </a:extLst>
          </p:cNvPr>
          <p:cNvSpPr txBox="1"/>
          <p:nvPr/>
        </p:nvSpPr>
        <p:spPr>
          <a:xfrm>
            <a:off x="753872" y="4077583"/>
            <a:ext cx="3159839" cy="261610"/>
          </a:xfrm>
          <a:prstGeom prst="rect">
            <a:avLst/>
          </a:prstGeom>
          <a:noFill/>
        </p:spPr>
        <p:txBody>
          <a:bodyPr wrap="none" rtlCol="0">
            <a:spAutoFit/>
          </a:bodyPr>
          <a:lstStyle/>
          <a:p>
            <a:r>
              <a:rPr lang="fr-FR" sz="1100" b="1" dirty="0">
                <a:latin typeface="Arial Nova" panose="020B0504020202020204" pitchFamily="34" charset="0"/>
              </a:rPr>
              <a:t>Frais d’accès aux service et mise en service :</a:t>
            </a:r>
          </a:p>
        </p:txBody>
      </p:sp>
      <p:sp>
        <p:nvSpPr>
          <p:cNvPr id="15" name="ZoneTexte 14">
            <a:extLst>
              <a:ext uri="{FF2B5EF4-FFF2-40B4-BE49-F238E27FC236}">
                <a16:creationId xmlns:a16="http://schemas.microsoft.com/office/drawing/2014/main" id="{ACAE46B7-D0B1-9C7E-16DD-B6EA9B68603B}"/>
              </a:ext>
            </a:extLst>
          </p:cNvPr>
          <p:cNvSpPr txBox="1"/>
          <p:nvPr/>
        </p:nvSpPr>
        <p:spPr>
          <a:xfrm>
            <a:off x="753872" y="4442385"/>
            <a:ext cx="1656223" cy="261610"/>
          </a:xfrm>
          <a:prstGeom prst="rect">
            <a:avLst/>
          </a:prstGeom>
          <a:noFill/>
        </p:spPr>
        <p:txBody>
          <a:bodyPr wrap="none" rtlCol="0">
            <a:spAutoFit/>
          </a:bodyPr>
          <a:lstStyle/>
          <a:p>
            <a:r>
              <a:rPr lang="fr-FR" sz="1100" b="1" dirty="0">
                <a:latin typeface="Arial Nova" panose="020B0504020202020204" pitchFamily="34" charset="0"/>
              </a:rPr>
              <a:t>Durée d’engagement :</a:t>
            </a:r>
          </a:p>
        </p:txBody>
      </p:sp>
      <p:sp>
        <p:nvSpPr>
          <p:cNvPr id="16" name="ZoneTexte 15">
            <a:extLst>
              <a:ext uri="{FF2B5EF4-FFF2-40B4-BE49-F238E27FC236}">
                <a16:creationId xmlns:a16="http://schemas.microsoft.com/office/drawing/2014/main" id="{18BF1AA4-8820-B18B-84B2-99DB334E0508}"/>
              </a:ext>
            </a:extLst>
          </p:cNvPr>
          <p:cNvSpPr txBox="1"/>
          <p:nvPr/>
        </p:nvSpPr>
        <p:spPr>
          <a:xfrm>
            <a:off x="753872" y="4845677"/>
            <a:ext cx="1023037" cy="261610"/>
          </a:xfrm>
          <a:prstGeom prst="rect">
            <a:avLst/>
          </a:prstGeom>
          <a:noFill/>
        </p:spPr>
        <p:txBody>
          <a:bodyPr wrap="none" rtlCol="0">
            <a:spAutoFit/>
          </a:bodyPr>
          <a:lstStyle/>
          <a:p>
            <a:r>
              <a:rPr lang="fr-FR" sz="1100" b="1" dirty="0">
                <a:latin typeface="Arial Nova" panose="020B0504020202020204" pitchFamily="34" charset="0"/>
              </a:rPr>
              <a:t>Facturation :</a:t>
            </a:r>
          </a:p>
        </p:txBody>
      </p:sp>
      <p:sp>
        <p:nvSpPr>
          <p:cNvPr id="19" name="ZoneTexte 18">
            <a:extLst>
              <a:ext uri="{FF2B5EF4-FFF2-40B4-BE49-F238E27FC236}">
                <a16:creationId xmlns:a16="http://schemas.microsoft.com/office/drawing/2014/main" id="{FA701CE2-97D5-B269-58DA-B84EDE213AC5}"/>
              </a:ext>
            </a:extLst>
          </p:cNvPr>
          <p:cNvSpPr txBox="1"/>
          <p:nvPr/>
        </p:nvSpPr>
        <p:spPr>
          <a:xfrm>
            <a:off x="732978" y="5494234"/>
            <a:ext cx="4369610" cy="1061829"/>
          </a:xfrm>
          <a:prstGeom prst="rect">
            <a:avLst/>
          </a:prstGeom>
          <a:noFill/>
        </p:spPr>
        <p:txBody>
          <a:bodyPr wrap="square" rtlCol="0">
            <a:spAutoFit/>
          </a:bodyPr>
          <a:lstStyle/>
          <a:p>
            <a:r>
              <a:rPr lang="fr-FR" sz="1050" dirty="0">
                <a:latin typeface="Arial Nova" panose="020B0504020202020204" pitchFamily="34" charset="0"/>
              </a:rPr>
              <a:t>Le Client reconnait avoir pris connaissance et accepter sans réserve les Conditions Générales et les Conditions spécifiques se rapportant aux produits et services visés dans ce Bon de commande. La signature de celui-ci vaut engagement ferme et définitif du Client sur l'ensemble des termes et conditions de l'offre. Le Client accepte un paiement par prélèvement bancaire et joins à cette fin un relevé d'identité bancaire.</a:t>
            </a:r>
          </a:p>
        </p:txBody>
      </p:sp>
      <p:pic>
        <p:nvPicPr>
          <p:cNvPr id="2" name="Image 1">
            <a:extLst>
              <a:ext uri="{FF2B5EF4-FFF2-40B4-BE49-F238E27FC236}">
                <a16:creationId xmlns:a16="http://schemas.microsoft.com/office/drawing/2014/main" id="{405F1643-7EA9-2771-BEB2-43589BBB9CA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3" name="Rectangle 2">
            <a:extLst>
              <a:ext uri="{FF2B5EF4-FFF2-40B4-BE49-F238E27FC236}">
                <a16:creationId xmlns:a16="http://schemas.microsoft.com/office/drawing/2014/main" id="{2AB92045-915F-C0ED-D303-4A28D03F8474}"/>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 name="ZoneTexte 3">
            <a:extLst>
              <a:ext uri="{FF2B5EF4-FFF2-40B4-BE49-F238E27FC236}">
                <a16:creationId xmlns:a16="http://schemas.microsoft.com/office/drawing/2014/main" id="{E390E96C-B70B-C1B1-9D66-55B2D5AB33CC}"/>
              </a:ext>
            </a:extLst>
          </p:cNvPr>
          <p:cNvSpPr txBox="1"/>
          <p:nvPr/>
        </p:nvSpPr>
        <p:spPr>
          <a:xfrm>
            <a:off x="753872" y="5223541"/>
            <a:ext cx="4299575" cy="261610"/>
          </a:xfrm>
          <a:prstGeom prst="rect">
            <a:avLst/>
          </a:prstGeom>
          <a:noFill/>
        </p:spPr>
        <p:txBody>
          <a:bodyPr wrap="none" rtlCol="0">
            <a:spAutoFit/>
          </a:bodyPr>
          <a:lstStyle/>
          <a:p>
            <a:r>
              <a:rPr lang="fr-FR" sz="1100" b="1" dirty="0">
                <a:latin typeface="Arial Nova" panose="020B0504020202020204" pitchFamily="34" charset="0"/>
              </a:rPr>
              <a:t>Échéance du prélèvement : </a:t>
            </a:r>
            <a:r>
              <a:rPr lang="fr-FR" sz="1000" dirty="0">
                <a:latin typeface="Arial Nova" panose="020B0504020202020204" pitchFamily="34" charset="0"/>
              </a:rPr>
              <a:t>Règlement par prélèvement </a:t>
            </a:r>
            <a:r>
              <a:rPr lang="fr-FR" sz="1000" dirty="0">
                <a:highlight>
                  <a:srgbClr val="FFFF00"/>
                </a:highlight>
                <a:latin typeface="Arial Nova" panose="020B0504020202020204" pitchFamily="34" charset="0"/>
              </a:rPr>
              <a:t>[périodicité]</a:t>
            </a:r>
            <a:endParaRPr lang="fr-FR" sz="1100" b="1" dirty="0">
              <a:highlight>
                <a:srgbClr val="FFFF00"/>
              </a:highlight>
              <a:latin typeface="Arial Nova" panose="020B0504020202020204" pitchFamily="34" charset="0"/>
            </a:endParaRPr>
          </a:p>
        </p:txBody>
      </p:sp>
      <p:sp>
        <p:nvSpPr>
          <p:cNvPr id="7" name="ZoneTexte 6">
            <a:extLst>
              <a:ext uri="{FF2B5EF4-FFF2-40B4-BE49-F238E27FC236}">
                <a16:creationId xmlns:a16="http://schemas.microsoft.com/office/drawing/2014/main" id="{0FF9AB31-BC16-B05D-02AA-4A4CCE040FCF}"/>
              </a:ext>
            </a:extLst>
          </p:cNvPr>
          <p:cNvSpPr txBox="1"/>
          <p:nvPr/>
        </p:nvSpPr>
        <p:spPr>
          <a:xfrm>
            <a:off x="753872" y="6692383"/>
            <a:ext cx="8555020" cy="830997"/>
          </a:xfrm>
          <a:prstGeom prst="rect">
            <a:avLst/>
          </a:prstGeom>
          <a:noFill/>
        </p:spPr>
        <p:txBody>
          <a:bodyPr wrap="square">
            <a:spAutoFit/>
          </a:bodyPr>
          <a:lstStyle/>
          <a:p>
            <a:pPr algn="just"/>
            <a:r>
              <a:rPr lang="fr-FR" sz="800" dirty="0"/>
              <a:t>Les données à caractère personnel collectées dans le cadre des présentes sont nécessaires pour l'exécution de la commande reçue du Client et font l'objet d'un usage strictement réservé à </a:t>
            </a:r>
            <a:r>
              <a:rPr lang="fr-FR" sz="800" dirty="0" err="1"/>
              <a:t>Koesio</a:t>
            </a:r>
            <a:r>
              <a:rPr lang="fr-FR" sz="800" dirty="0"/>
              <a:t>. Conformément à la loi "Informatique et Libertés" du 6 janvier 1978 modifiée et au Règlement Européen sur la Protection des Données n°2016/679, toute personne concernée dispose à tout moment d'un droit d'accès, d'opposition, de rectification, de copie et de suppression ainsi qu'un droit à la portabilité et à la limitation du traitement des données la concernant, y compris le droit de définir des directives, spécifiques ou générales, relatives au sort de mes données post-mortem, en adressant sa demande via le formulaire disponible sur koesio.com soit par voie postale (cf. adresse de </a:t>
            </a:r>
            <a:r>
              <a:rPr lang="fr-FR" sz="800" dirty="0" err="1"/>
              <a:t>koesio</a:t>
            </a:r>
            <a:r>
              <a:rPr lang="fr-FR" sz="800" dirty="0"/>
              <a:t> mentionnée en tête des présentes ou disponible sur koesio.com). Toute personne concernée peut introduire une réclamation auprès de la CNIL dans le cas où ses données personnelles ne seraient pas traitées de manière conforme à la réglementation. Pour plus d'information le Client est invité à consulter la Politique de protection des données personnelles de </a:t>
            </a:r>
            <a:r>
              <a:rPr lang="fr-FR" sz="800" dirty="0" err="1"/>
              <a:t>Koesio</a:t>
            </a:r>
            <a:r>
              <a:rPr lang="fr-FR" sz="800" dirty="0"/>
              <a:t> disponible sur koesio.com</a:t>
            </a:r>
          </a:p>
        </p:txBody>
      </p:sp>
    </p:spTree>
    <p:extLst>
      <p:ext uri="{BB962C8B-B14F-4D97-AF65-F5344CB8AC3E}">
        <p14:creationId xmlns:p14="http://schemas.microsoft.com/office/powerpoint/2010/main" val="34180822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785E3-1601-D8DC-8AC7-08D5CC495291}"/>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97F1DEF5-6DBD-249C-6DAA-6482FF45E0B5}"/>
              </a:ext>
            </a:extLst>
          </p:cNvPr>
          <p:cNvSpPr txBox="1">
            <a:spLocks/>
          </p:cNvSpPr>
          <p:nvPr/>
        </p:nvSpPr>
        <p:spPr>
          <a:xfrm>
            <a:off x="1599902" y="2985622"/>
            <a:ext cx="4407198"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Koesio vous accompagne dans vos enjeux numériques</a:t>
            </a:r>
          </a:p>
        </p:txBody>
      </p:sp>
      <p:sp>
        <p:nvSpPr>
          <p:cNvPr id="4" name="Rectangle 3">
            <a:extLst>
              <a:ext uri="{FF2B5EF4-FFF2-40B4-BE49-F238E27FC236}">
                <a16:creationId xmlns:a16="http://schemas.microsoft.com/office/drawing/2014/main" id="{C13B1F5B-EF5C-A815-4A70-EAAD2C58C60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6" name="Image 5">
            <a:extLst>
              <a:ext uri="{FF2B5EF4-FFF2-40B4-BE49-F238E27FC236}">
                <a16:creationId xmlns:a16="http://schemas.microsoft.com/office/drawing/2014/main" id="{99EF226B-A24C-2CA4-CC2E-864560A78F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8B0887B9-58C9-CFDE-090C-F1A5388318C7}"/>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F58F9ECA-E043-339B-50A3-F6E77C631268}"/>
              </a:ext>
            </a:extLst>
          </p:cNvPr>
          <p:cNvSpPr/>
          <p:nvPr/>
        </p:nvSpPr>
        <p:spPr>
          <a:xfrm>
            <a:off x="6168735" y="2643545"/>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639C00F-3242-C77F-4C4F-559700418DC4}"/>
              </a:ext>
            </a:extLst>
          </p:cNvPr>
          <p:cNvSpPr/>
          <p:nvPr/>
        </p:nvSpPr>
        <p:spPr>
          <a:xfrm>
            <a:off x="4523076" y="5914016"/>
            <a:ext cx="1645659" cy="164565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Image 6" descr="Une image contenant habits, Visage humain, personne, sourire&#10;&#10;Le contenu généré par l’IA peut être incorrect.">
            <a:extLst>
              <a:ext uri="{FF2B5EF4-FFF2-40B4-BE49-F238E27FC236}">
                <a16:creationId xmlns:a16="http://schemas.microsoft.com/office/drawing/2014/main" id="{8C352D7F-9452-0D70-EA05-0D7DB7FF3529}"/>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052484" y="170777"/>
            <a:ext cx="5743239" cy="5743239"/>
          </a:xfrm>
          <a:prstGeom prst="rect">
            <a:avLst/>
          </a:prstGeom>
        </p:spPr>
      </p:pic>
    </p:spTree>
    <p:extLst>
      <p:ext uri="{BB962C8B-B14F-4D97-AF65-F5344CB8AC3E}">
        <p14:creationId xmlns:p14="http://schemas.microsoft.com/office/powerpoint/2010/main" val="2161170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E9E1-A0B7-D0CD-7DDF-6762DC02B51E}"/>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49A2C608-42D2-07F9-BE93-86CB53397BA8}"/>
              </a:ext>
            </a:extLst>
          </p:cNvPr>
          <p:cNvGrpSpPr/>
          <p:nvPr/>
        </p:nvGrpSpPr>
        <p:grpSpPr>
          <a:xfrm>
            <a:off x="5485670" y="2911256"/>
            <a:ext cx="4307221" cy="3187283"/>
            <a:chOff x="218022" y="2103185"/>
            <a:chExt cx="5036307" cy="3726796"/>
          </a:xfrm>
        </p:grpSpPr>
        <p:sp>
          <p:nvSpPr>
            <p:cNvPr id="36" name="Rectangle 35">
              <a:extLst>
                <a:ext uri="{FF2B5EF4-FFF2-40B4-BE49-F238E27FC236}">
                  <a16:creationId xmlns:a16="http://schemas.microsoft.com/office/drawing/2014/main" id="{F5F4BA96-6E58-A28A-F14F-7EC9AEA7D7AF}"/>
                </a:ext>
              </a:extLst>
            </p:cNvPr>
            <p:cNvSpPr/>
            <p:nvPr/>
          </p:nvSpPr>
          <p:spPr>
            <a:xfrm>
              <a:off x="3525371" y="415195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3806B0D5-18B1-6FEE-E379-7684E47C8DEC}"/>
                </a:ext>
              </a:extLst>
            </p:cNvPr>
            <p:cNvSpPr/>
            <p:nvPr/>
          </p:nvSpPr>
          <p:spPr>
            <a:xfrm>
              <a:off x="2387803" y="3037306"/>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5DAEDF27-BCB3-3E5E-98CC-A281871DF7F6}"/>
                </a:ext>
              </a:extLst>
            </p:cNvPr>
            <p:cNvGrpSpPr/>
            <p:nvPr/>
          </p:nvGrpSpPr>
          <p:grpSpPr>
            <a:xfrm>
              <a:off x="218022" y="3609424"/>
              <a:ext cx="1291986" cy="1116353"/>
              <a:chOff x="3167259" y="4757935"/>
              <a:chExt cx="1813982" cy="1567390"/>
            </a:xfrm>
          </p:grpSpPr>
          <p:sp>
            <p:nvSpPr>
              <p:cNvPr id="59" name="Rectangle 58">
                <a:extLst>
                  <a:ext uri="{FF2B5EF4-FFF2-40B4-BE49-F238E27FC236}">
                    <a16:creationId xmlns:a16="http://schemas.microsoft.com/office/drawing/2014/main" id="{4B5CB016-F080-7A9A-5780-4C16B76502A9}"/>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C33A5FFB-0E95-53EF-C16A-B7EA22DD76BC}"/>
                  </a:ext>
                </a:extLst>
              </p:cNvPr>
              <p:cNvSpPr txBox="1"/>
              <p:nvPr/>
            </p:nvSpPr>
            <p:spPr>
              <a:xfrm>
                <a:off x="3167259" y="5422727"/>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collaborateurs</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informatiques</a:t>
                </a:r>
              </a:p>
            </p:txBody>
          </p:sp>
          <p:sp>
            <p:nvSpPr>
              <p:cNvPr id="61" name="ZoneTexte 60">
                <a:extLst>
                  <a:ext uri="{FF2B5EF4-FFF2-40B4-BE49-F238E27FC236}">
                    <a16:creationId xmlns:a16="http://schemas.microsoft.com/office/drawing/2014/main" id="{7B8A93F5-55A7-0E88-36A9-D9DAC92BF6D1}"/>
                  </a:ext>
                </a:extLst>
              </p:cNvPr>
              <p:cNvSpPr txBox="1"/>
              <p:nvPr/>
            </p:nvSpPr>
            <p:spPr>
              <a:xfrm>
                <a:off x="3209670" y="4979844"/>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1000</a:t>
                </a:r>
              </a:p>
            </p:txBody>
          </p:sp>
        </p:grpSp>
        <p:grpSp>
          <p:nvGrpSpPr>
            <p:cNvPr id="39" name="Groupe 38">
              <a:extLst>
                <a:ext uri="{FF2B5EF4-FFF2-40B4-BE49-F238E27FC236}">
                  <a16:creationId xmlns:a16="http://schemas.microsoft.com/office/drawing/2014/main" id="{B4016718-2106-C5B3-7B49-1E59251CA223}"/>
                </a:ext>
              </a:extLst>
            </p:cNvPr>
            <p:cNvGrpSpPr/>
            <p:nvPr/>
          </p:nvGrpSpPr>
          <p:grpSpPr>
            <a:xfrm>
              <a:off x="1371183" y="2649148"/>
              <a:ext cx="1116354" cy="940724"/>
              <a:chOff x="4644036" y="3412813"/>
              <a:chExt cx="1567391" cy="1320800"/>
            </a:xfrm>
          </p:grpSpPr>
          <p:sp>
            <p:nvSpPr>
              <p:cNvPr id="56" name="Rectangle 55">
                <a:extLst>
                  <a:ext uri="{FF2B5EF4-FFF2-40B4-BE49-F238E27FC236}">
                    <a16:creationId xmlns:a16="http://schemas.microsoft.com/office/drawing/2014/main" id="{A47A22B4-FEAF-2BA7-0BA4-919B92CE4ED7}"/>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2A4A9BB9-2C3F-0216-8704-421726358C52}"/>
                  </a:ext>
                </a:extLst>
              </p:cNvPr>
              <p:cNvSpPr txBox="1"/>
              <p:nvPr/>
            </p:nvSpPr>
            <p:spPr>
              <a:xfrm>
                <a:off x="4767333" y="4031855"/>
                <a:ext cx="1336021" cy="416850"/>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M€ de CA</a:t>
                </a:r>
              </a:p>
            </p:txBody>
          </p:sp>
          <p:sp>
            <p:nvSpPr>
              <p:cNvPr id="58" name="ZoneTexte 57">
                <a:extLst>
                  <a:ext uri="{FF2B5EF4-FFF2-40B4-BE49-F238E27FC236}">
                    <a16:creationId xmlns:a16="http://schemas.microsoft.com/office/drawing/2014/main" id="{B7A46F56-9831-5320-8930-A0BEC6B8AB44}"/>
                  </a:ext>
                </a:extLst>
              </p:cNvPr>
              <p:cNvSpPr txBox="1"/>
              <p:nvPr/>
            </p:nvSpPr>
            <p:spPr>
              <a:xfrm>
                <a:off x="4644036" y="3674683"/>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450 </a:t>
                </a:r>
              </a:p>
            </p:txBody>
          </p:sp>
        </p:grpSp>
        <p:grpSp>
          <p:nvGrpSpPr>
            <p:cNvPr id="40" name="Groupe 39">
              <a:extLst>
                <a:ext uri="{FF2B5EF4-FFF2-40B4-BE49-F238E27FC236}">
                  <a16:creationId xmlns:a16="http://schemas.microsoft.com/office/drawing/2014/main" id="{85A7B732-DD74-8789-F1E8-FE67E767234D}"/>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CBA2D50B-F592-922A-A5A3-2BA6DFF9ADA5}"/>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515B2F68-9863-0F45-200F-8EBF6C324C6E}"/>
                  </a:ext>
                </a:extLst>
              </p:cNvPr>
              <p:cNvSpPr txBox="1"/>
              <p:nvPr/>
            </p:nvSpPr>
            <p:spPr>
              <a:xfrm>
                <a:off x="2127764" y="4095113"/>
                <a:ext cx="1336020" cy="351269"/>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Datacenters</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CB79A269-69B9-0319-4AC2-5DB478D7387F}"/>
                  </a:ext>
                </a:extLst>
              </p:cNvPr>
              <p:cNvSpPr txBox="1"/>
              <p:nvPr/>
            </p:nvSpPr>
            <p:spPr>
              <a:xfrm>
                <a:off x="2127765" y="37855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a:t>
                </a:r>
              </a:p>
            </p:txBody>
          </p:sp>
        </p:grpSp>
        <p:grpSp>
          <p:nvGrpSpPr>
            <p:cNvPr id="41" name="Groupe 40">
              <a:extLst>
                <a:ext uri="{FF2B5EF4-FFF2-40B4-BE49-F238E27FC236}">
                  <a16:creationId xmlns:a16="http://schemas.microsoft.com/office/drawing/2014/main" id="{E65A0E00-6BA7-8865-B1DC-4EFD5CB8CC8E}"/>
                </a:ext>
              </a:extLst>
            </p:cNvPr>
            <p:cNvGrpSpPr/>
            <p:nvPr/>
          </p:nvGrpSpPr>
          <p:grpSpPr>
            <a:xfrm>
              <a:off x="3468034" y="2634496"/>
              <a:ext cx="1116354" cy="940723"/>
              <a:chOff x="3323236" y="4757935"/>
              <a:chExt cx="1567391" cy="1320800"/>
            </a:xfrm>
          </p:grpSpPr>
          <p:sp>
            <p:nvSpPr>
              <p:cNvPr id="50" name="Rectangle 49">
                <a:extLst>
                  <a:ext uri="{FF2B5EF4-FFF2-40B4-BE49-F238E27FC236}">
                    <a16:creationId xmlns:a16="http://schemas.microsoft.com/office/drawing/2014/main" id="{72161A86-0798-8F2D-0949-8279098BB7A2}"/>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2F87650E-C0AC-5E8A-7874-B0D6FCD00B2F}"/>
                  </a:ext>
                </a:extLst>
              </p:cNvPr>
              <p:cNvSpPr txBox="1"/>
              <p:nvPr/>
            </p:nvSpPr>
            <p:spPr>
              <a:xfrm>
                <a:off x="3446533" y="5295885"/>
                <a:ext cx="1336020" cy="682118"/>
              </a:xfrm>
              <a:prstGeom prst="rect">
                <a:avLst/>
              </a:prstGeom>
              <a:noFill/>
            </p:spPr>
            <p:txBody>
              <a:bodyPr wrap="square" rtlCol="0">
                <a:spAutoFit/>
              </a:bodyPr>
              <a:lstStyle/>
              <a:p>
                <a:pPr algn="ctr" defTabSz="781976">
                  <a:buClr>
                    <a:srgbClr val="3799E8"/>
                  </a:buClr>
                  <a:defRPr/>
                </a:pPr>
                <a:r>
                  <a:rPr lang="fr-FR" sz="1050" kern="0" dirty="0" err="1">
                    <a:solidFill>
                      <a:schemeClr val="bg1"/>
                    </a:solidFill>
                    <a:latin typeface="Arial Nova" panose="020B0504020202020204" pitchFamily="34" charset="0"/>
                    <a:cs typeface="Arial" panose="020B0604020202020204" pitchFamily="34" charset="0"/>
                  </a:rPr>
                  <a:t>Users</a:t>
                </a:r>
                <a:r>
                  <a:rPr lang="fr-FR" sz="1050" kern="0" dirty="0">
                    <a:solidFill>
                      <a:schemeClr val="bg1"/>
                    </a:solidFill>
                    <a:latin typeface="Arial Nova" panose="020B0504020202020204" pitchFamily="34" charset="0"/>
                    <a:cs typeface="Arial" panose="020B0604020202020204" pitchFamily="34" charset="0"/>
                  </a:rPr>
                  <a:t> managés</a:t>
                </a:r>
              </a:p>
            </p:txBody>
          </p:sp>
          <p:sp>
            <p:nvSpPr>
              <p:cNvPr id="52" name="ZoneTexte 51">
                <a:extLst>
                  <a:ext uri="{FF2B5EF4-FFF2-40B4-BE49-F238E27FC236}">
                    <a16:creationId xmlns:a16="http://schemas.microsoft.com/office/drawing/2014/main" id="{F593B589-3BB3-512C-AFA2-7DBB013EF365}"/>
                  </a:ext>
                </a:extLst>
              </p:cNvPr>
              <p:cNvSpPr txBox="1"/>
              <p:nvPr/>
            </p:nvSpPr>
            <p:spPr>
              <a:xfrm>
                <a:off x="3323236" y="4869214"/>
                <a:ext cx="1567391"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10 000</a:t>
                </a:r>
              </a:p>
            </p:txBody>
          </p:sp>
        </p:grpSp>
        <p:sp>
          <p:nvSpPr>
            <p:cNvPr id="42" name="Rectangle 41">
              <a:extLst>
                <a:ext uri="{FF2B5EF4-FFF2-40B4-BE49-F238E27FC236}">
                  <a16:creationId xmlns:a16="http://schemas.microsoft.com/office/drawing/2014/main" id="{5A2FCF93-CDDF-B380-D7D0-CA159CF90EE6}"/>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56A02A08-F783-E6CB-9FB1-2D49D93B35D8}"/>
                </a:ext>
              </a:extLst>
            </p:cNvPr>
            <p:cNvSpPr/>
            <p:nvPr/>
          </p:nvSpPr>
          <p:spPr>
            <a:xfrm>
              <a:off x="4507413" y="3575219"/>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78469E32-1AFF-99D2-A951-BA6D1E50B486}"/>
                </a:ext>
              </a:extLst>
            </p:cNvPr>
            <p:cNvSpPr/>
            <p:nvPr/>
          </p:nvSpPr>
          <p:spPr>
            <a:xfrm>
              <a:off x="905715" y="2103185"/>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DD1E1650-A894-1D8C-D43A-A0C5982D8318}"/>
                </a:ext>
              </a:extLst>
            </p:cNvPr>
            <p:cNvGrpSpPr/>
            <p:nvPr/>
          </p:nvGrpSpPr>
          <p:grpSpPr>
            <a:xfrm>
              <a:off x="4050849" y="4713627"/>
              <a:ext cx="1203480" cy="1116354"/>
              <a:chOff x="2076222" y="3424366"/>
              <a:chExt cx="1423882" cy="1320800"/>
            </a:xfrm>
          </p:grpSpPr>
          <p:sp>
            <p:nvSpPr>
              <p:cNvPr id="47" name="Rectangle 46">
                <a:extLst>
                  <a:ext uri="{FF2B5EF4-FFF2-40B4-BE49-F238E27FC236}">
                    <a16:creationId xmlns:a16="http://schemas.microsoft.com/office/drawing/2014/main" id="{D1CAB370-B70A-CE88-94E0-33457B496D01}"/>
                  </a:ext>
                </a:extLst>
              </p:cNvPr>
              <p:cNvSpPr/>
              <p:nvPr/>
            </p:nvSpPr>
            <p:spPr>
              <a:xfrm>
                <a:off x="2127764" y="3424366"/>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54D3E4F-6594-8459-8A64-C8E1CCA52047}"/>
                  </a:ext>
                </a:extLst>
              </p:cNvPr>
              <p:cNvSpPr txBox="1"/>
              <p:nvPr/>
            </p:nvSpPr>
            <p:spPr>
              <a:xfrm>
                <a:off x="2120153" y="3969505"/>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serveurs supervisés</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AD2F365A-764B-FB57-1045-3626ECE9D563}"/>
                  </a:ext>
                </a:extLst>
              </p:cNvPr>
              <p:cNvSpPr txBox="1"/>
              <p:nvPr/>
            </p:nvSpPr>
            <p:spPr>
              <a:xfrm>
                <a:off x="2076222" y="3693778"/>
                <a:ext cx="1423882"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5 000</a:t>
                </a:r>
              </a:p>
            </p:txBody>
          </p:sp>
        </p:grpSp>
      </p:grpSp>
      <p:sp>
        <p:nvSpPr>
          <p:cNvPr id="70" name="Espace réservé du texte 1">
            <a:extLst>
              <a:ext uri="{FF2B5EF4-FFF2-40B4-BE49-F238E27FC236}">
                <a16:creationId xmlns:a16="http://schemas.microsoft.com/office/drawing/2014/main" id="{29DEE302-95E6-A7F9-9B1E-603EA0F3637E}"/>
              </a:ext>
            </a:extLst>
          </p:cNvPr>
          <p:cNvSpPr txBox="1">
            <a:spLocks/>
          </p:cNvSpPr>
          <p:nvPr/>
        </p:nvSpPr>
        <p:spPr>
          <a:xfrm>
            <a:off x="692906" y="191723"/>
            <a:ext cx="715100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IT </a:t>
            </a:r>
            <a:r>
              <a:rPr lang="fr-FR" sz="2051" dirty="0">
                <a:solidFill>
                  <a:srgbClr val="E94B57"/>
                </a:solidFill>
                <a:latin typeface="Century Gothic" panose="020B0502020202020204" pitchFamily="34" charset="0"/>
              </a:rPr>
              <a:t>Informatique &amp; Sécurité</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90D5CBDF-8D76-F3BB-72F5-3F675EE8399B}"/>
              </a:ext>
            </a:extLst>
          </p:cNvPr>
          <p:cNvSpPr txBox="1"/>
          <p:nvPr/>
        </p:nvSpPr>
        <p:spPr>
          <a:xfrm>
            <a:off x="692906" y="1364836"/>
            <a:ext cx="7819508" cy="738664"/>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Notre croissance sur les métiers de l’informatique a démarré dès 2002, et s’est particulièrement accrue depuis 2018, pour nous permettre de devenir leader dans les métiers numériques en France, autour d’une mission. </a:t>
            </a:r>
            <a:r>
              <a:rPr lang="fr-FR" sz="1400" b="1" dirty="0">
                <a:latin typeface="Arial Nova" panose="020B0504020202020204" pitchFamily="34" charset="0"/>
                <a:sym typeface="Open Sans"/>
              </a:rPr>
              <a:t>Un seul guichet pour tous vos enjeux numériques !</a:t>
            </a:r>
          </a:p>
        </p:txBody>
      </p:sp>
      <p:sp>
        <p:nvSpPr>
          <p:cNvPr id="3" name="ZoneTexte 2">
            <a:extLst>
              <a:ext uri="{FF2B5EF4-FFF2-40B4-BE49-F238E27FC236}">
                <a16:creationId xmlns:a16="http://schemas.microsoft.com/office/drawing/2014/main" id="{775FB574-5E38-BACD-CC61-650F257AB3AC}"/>
              </a:ext>
            </a:extLst>
          </p:cNvPr>
          <p:cNvSpPr txBox="1"/>
          <p:nvPr/>
        </p:nvSpPr>
        <p:spPr>
          <a:xfrm>
            <a:off x="930677" y="2696364"/>
            <a:ext cx="4249632" cy="3723840"/>
          </a:xfrm>
          <a:prstGeom prst="rect">
            <a:avLst/>
          </a:prstGeom>
          <a:noFill/>
        </p:spPr>
        <p:txBody>
          <a:bodyPr wrap="square">
            <a:spAutoFit/>
          </a:bodyPr>
          <a:lstStyle/>
          <a:p>
            <a:r>
              <a:rPr lang="fr-FR" sz="1999" b="1" dirty="0" err="1">
                <a:latin typeface="Arial Nova" panose="020B0504020202020204" pitchFamily="34" charset="0"/>
                <a:sym typeface="Open Sans"/>
              </a:rPr>
              <a:t>Koesio</a:t>
            </a:r>
            <a:r>
              <a:rPr lang="fr-FR" sz="1999" b="1" dirty="0">
                <a:latin typeface="Arial Nova" panose="020B0504020202020204" pitchFamily="34" charset="0"/>
                <a:sym typeface="Open Sans"/>
              </a:rPr>
              <a:t>, une synergie parfaite des métiers informatiques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notre expertise en services managés, nous </a:t>
            </a:r>
            <a:r>
              <a:rPr lang="fr-FR" sz="1400" b="1" dirty="0">
                <a:latin typeface="Arial Nova" panose="020B0504020202020204" pitchFamily="34" charset="0"/>
              </a:rPr>
              <a:t>pilotons proactivement vos postes informatiques</a:t>
            </a:r>
            <a:r>
              <a:rPr lang="fr-FR" sz="1400" dirty="0">
                <a:latin typeface="Arial Nova" panose="020B0504020202020204" pitchFamily="34" charset="0"/>
              </a:rPr>
              <a:t>, à distance avec un service illimité.</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nos volumes d’achat, nous vous donnons accès au </a:t>
            </a:r>
            <a:r>
              <a:rPr lang="fr-FR" sz="1400" b="1" dirty="0">
                <a:latin typeface="Arial Nova" panose="020B0504020202020204" pitchFamily="34" charset="0"/>
              </a:rPr>
              <a:t>plus</a:t>
            </a:r>
            <a:r>
              <a:rPr lang="fr-FR" sz="1400" dirty="0">
                <a:latin typeface="Arial Nova" panose="020B0504020202020204" pitchFamily="34" charset="0"/>
              </a:rPr>
              <a:t> </a:t>
            </a:r>
            <a:r>
              <a:rPr lang="fr-FR" sz="1400" b="1" dirty="0">
                <a:latin typeface="Arial Nova" panose="020B0504020202020204" pitchFamily="34" charset="0"/>
              </a:rPr>
              <a:t>grand stock d’équipements informatiques et négocient au mieux les prix</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experts informatiques régionaux configurent, suivent et agissent pour vous </a:t>
            </a:r>
            <a:r>
              <a:rPr lang="fr-FR" sz="1400" b="1" dirty="0">
                <a:latin typeface="Arial Nova" panose="020B0504020202020204" pitchFamily="34" charset="0"/>
              </a:rPr>
              <a:t>garantir le maintien en conditions opérationnelles de votre IT</a:t>
            </a:r>
          </a:p>
        </p:txBody>
      </p:sp>
      <p:sp>
        <p:nvSpPr>
          <p:cNvPr id="4" name="Rectangle 3">
            <a:extLst>
              <a:ext uri="{FF2B5EF4-FFF2-40B4-BE49-F238E27FC236}">
                <a16:creationId xmlns:a16="http://schemas.microsoft.com/office/drawing/2014/main" id="{AC92B68D-89F1-FF68-EB4F-2C7B496D75E6}"/>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2F37630A-98EE-3171-2D25-62AAA36AEF2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E01D55E8-F50B-AA6A-548F-7B881F3902C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4302802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3B6C7-ED8A-7600-7C10-556FD460198B}"/>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AC9BC1E2-44E6-0CDF-31A7-23E1976F48F5}"/>
              </a:ext>
            </a:extLst>
          </p:cNvPr>
          <p:cNvGrpSpPr/>
          <p:nvPr/>
        </p:nvGrpSpPr>
        <p:grpSpPr>
          <a:xfrm>
            <a:off x="5564328" y="2877540"/>
            <a:ext cx="4324570" cy="3217089"/>
            <a:chOff x="241299" y="2080487"/>
            <a:chExt cx="5056594" cy="3761648"/>
          </a:xfrm>
        </p:grpSpPr>
        <p:sp>
          <p:nvSpPr>
            <p:cNvPr id="36" name="Rectangle 35">
              <a:extLst>
                <a:ext uri="{FF2B5EF4-FFF2-40B4-BE49-F238E27FC236}">
                  <a16:creationId xmlns:a16="http://schemas.microsoft.com/office/drawing/2014/main" id="{E651D44A-28B2-C78F-223D-3A3C4922FB2A}"/>
                </a:ext>
              </a:extLst>
            </p:cNvPr>
            <p:cNvSpPr/>
            <p:nvPr/>
          </p:nvSpPr>
          <p:spPr>
            <a:xfrm>
              <a:off x="3525371" y="416410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D6E0867E-9EF5-8550-C89D-E05309A238F0}"/>
                </a:ext>
              </a:extLst>
            </p:cNvPr>
            <p:cNvSpPr/>
            <p:nvPr/>
          </p:nvSpPr>
          <p:spPr>
            <a:xfrm>
              <a:off x="2387803" y="303730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7350E52B-65CA-FD73-56C6-6BE35D9AE8A2}"/>
                </a:ext>
              </a:extLst>
            </p:cNvPr>
            <p:cNvGrpSpPr/>
            <p:nvPr/>
          </p:nvGrpSpPr>
          <p:grpSpPr>
            <a:xfrm>
              <a:off x="241299" y="3609424"/>
              <a:ext cx="1291986" cy="1116353"/>
              <a:chOff x="3199940" y="4757935"/>
              <a:chExt cx="1813982" cy="1567390"/>
            </a:xfrm>
          </p:grpSpPr>
          <p:sp>
            <p:nvSpPr>
              <p:cNvPr id="59" name="Rectangle 58">
                <a:extLst>
                  <a:ext uri="{FF2B5EF4-FFF2-40B4-BE49-F238E27FC236}">
                    <a16:creationId xmlns:a16="http://schemas.microsoft.com/office/drawing/2014/main" id="{4693DBCD-F75A-120D-EF6D-015CDD5AF598}"/>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2B25ECAC-60E0-B75D-85CA-BB8D2044D731}"/>
                  </a:ext>
                </a:extLst>
              </p:cNvPr>
              <p:cNvSpPr txBox="1"/>
              <p:nvPr/>
            </p:nvSpPr>
            <p:spPr>
              <a:xfrm>
                <a:off x="3199940" y="5441160"/>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Fibres </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dédiées</a:t>
                </a:r>
              </a:p>
            </p:txBody>
          </p:sp>
          <p:sp>
            <p:nvSpPr>
              <p:cNvPr id="61" name="ZoneTexte 60">
                <a:extLst>
                  <a:ext uri="{FF2B5EF4-FFF2-40B4-BE49-F238E27FC236}">
                    <a16:creationId xmlns:a16="http://schemas.microsoft.com/office/drawing/2014/main" id="{C71929E4-441C-0A9C-2AD2-D33E3CBD8EDB}"/>
                  </a:ext>
                </a:extLst>
              </p:cNvPr>
              <p:cNvSpPr txBox="1"/>
              <p:nvPr/>
            </p:nvSpPr>
            <p:spPr>
              <a:xfrm>
                <a:off x="3242351" y="4998276"/>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2000 km</a:t>
                </a:r>
              </a:p>
            </p:txBody>
          </p:sp>
        </p:grpSp>
        <p:grpSp>
          <p:nvGrpSpPr>
            <p:cNvPr id="39" name="Groupe 38">
              <a:extLst>
                <a:ext uri="{FF2B5EF4-FFF2-40B4-BE49-F238E27FC236}">
                  <a16:creationId xmlns:a16="http://schemas.microsoft.com/office/drawing/2014/main" id="{53E91CFA-6BD5-3A14-632F-5FB05E07E0AA}"/>
                </a:ext>
              </a:extLst>
            </p:cNvPr>
            <p:cNvGrpSpPr/>
            <p:nvPr/>
          </p:nvGrpSpPr>
          <p:grpSpPr>
            <a:xfrm>
              <a:off x="1371183" y="2649151"/>
              <a:ext cx="1116354" cy="961351"/>
              <a:chOff x="4644036" y="3412813"/>
              <a:chExt cx="1567391" cy="1349760"/>
            </a:xfrm>
          </p:grpSpPr>
          <p:sp>
            <p:nvSpPr>
              <p:cNvPr id="56" name="Rectangle 55">
                <a:extLst>
                  <a:ext uri="{FF2B5EF4-FFF2-40B4-BE49-F238E27FC236}">
                    <a16:creationId xmlns:a16="http://schemas.microsoft.com/office/drawing/2014/main" id="{3DB97B6E-6D66-3EBC-A438-43E4A3312D9A}"/>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19C0C794-2D0E-8E81-CEC4-C05E8E3545F6}"/>
                  </a:ext>
                </a:extLst>
              </p:cNvPr>
              <p:cNvSpPr txBox="1"/>
              <p:nvPr/>
            </p:nvSpPr>
            <p:spPr>
              <a:xfrm>
                <a:off x="4767333" y="3815188"/>
                <a:ext cx="1336021" cy="947385"/>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Points de présence opérateur</a:t>
                </a:r>
              </a:p>
            </p:txBody>
          </p:sp>
          <p:sp>
            <p:nvSpPr>
              <p:cNvPr id="58" name="ZoneTexte 57">
                <a:extLst>
                  <a:ext uri="{FF2B5EF4-FFF2-40B4-BE49-F238E27FC236}">
                    <a16:creationId xmlns:a16="http://schemas.microsoft.com/office/drawing/2014/main" id="{EF7744BF-AF26-FE83-39BC-38FED3780BC7}"/>
                  </a:ext>
                </a:extLst>
              </p:cNvPr>
              <p:cNvSpPr txBox="1"/>
              <p:nvPr/>
            </p:nvSpPr>
            <p:spPr>
              <a:xfrm>
                <a:off x="4644036" y="3458017"/>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70 </a:t>
                </a:r>
              </a:p>
            </p:txBody>
          </p:sp>
        </p:grpSp>
        <p:grpSp>
          <p:nvGrpSpPr>
            <p:cNvPr id="40" name="Groupe 39">
              <a:extLst>
                <a:ext uri="{FF2B5EF4-FFF2-40B4-BE49-F238E27FC236}">
                  <a16:creationId xmlns:a16="http://schemas.microsoft.com/office/drawing/2014/main" id="{F6E99939-A62A-4075-F01F-F32F1828742B}"/>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A9EB162F-876D-18F1-1B65-F0D55F7CF7FF}"/>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8D58FB5E-1059-D076-0970-02ACC55818E7}"/>
                  </a:ext>
                </a:extLst>
              </p:cNvPr>
              <p:cNvSpPr txBox="1"/>
              <p:nvPr/>
            </p:nvSpPr>
            <p:spPr>
              <a:xfrm>
                <a:off x="2127764" y="3966512"/>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Clients télécom</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395BFDC8-F485-E25A-7F9E-2898B9F52939}"/>
                  </a:ext>
                </a:extLst>
              </p:cNvPr>
              <p:cNvSpPr txBox="1"/>
              <p:nvPr/>
            </p:nvSpPr>
            <p:spPr>
              <a:xfrm>
                <a:off x="2127765" y="36569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10 000</a:t>
                </a:r>
              </a:p>
            </p:txBody>
          </p:sp>
        </p:grpSp>
        <p:grpSp>
          <p:nvGrpSpPr>
            <p:cNvPr id="41" name="Groupe 40">
              <a:extLst>
                <a:ext uri="{FF2B5EF4-FFF2-40B4-BE49-F238E27FC236}">
                  <a16:creationId xmlns:a16="http://schemas.microsoft.com/office/drawing/2014/main" id="{42EE1E27-C6C9-C00B-A3FB-A8EA3C966266}"/>
                </a:ext>
              </a:extLst>
            </p:cNvPr>
            <p:cNvGrpSpPr/>
            <p:nvPr/>
          </p:nvGrpSpPr>
          <p:grpSpPr>
            <a:xfrm>
              <a:off x="3555850" y="2634496"/>
              <a:ext cx="951563" cy="940723"/>
              <a:chOff x="3446532" y="4757935"/>
              <a:chExt cx="1336020" cy="1320800"/>
            </a:xfrm>
          </p:grpSpPr>
          <p:sp>
            <p:nvSpPr>
              <p:cNvPr id="50" name="Rectangle 49">
                <a:extLst>
                  <a:ext uri="{FF2B5EF4-FFF2-40B4-BE49-F238E27FC236}">
                    <a16:creationId xmlns:a16="http://schemas.microsoft.com/office/drawing/2014/main" id="{8696C3CF-095A-6591-81E6-94FFEE0A8929}"/>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0D7BB17E-7C71-90EE-39A7-4C136F2B9A75}"/>
                  </a:ext>
                </a:extLst>
              </p:cNvPr>
              <p:cNvSpPr txBox="1"/>
              <p:nvPr/>
            </p:nvSpPr>
            <p:spPr>
              <a:xfrm>
                <a:off x="3446532" y="5295884"/>
                <a:ext cx="1336020" cy="682117"/>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experts métier</a:t>
                </a:r>
              </a:p>
            </p:txBody>
          </p:sp>
          <p:sp>
            <p:nvSpPr>
              <p:cNvPr id="52" name="ZoneTexte 51">
                <a:extLst>
                  <a:ext uri="{FF2B5EF4-FFF2-40B4-BE49-F238E27FC236}">
                    <a16:creationId xmlns:a16="http://schemas.microsoft.com/office/drawing/2014/main" id="{52684A49-05E1-41F3-AA8D-FA111EEDD942}"/>
                  </a:ext>
                </a:extLst>
              </p:cNvPr>
              <p:cNvSpPr txBox="1"/>
              <p:nvPr/>
            </p:nvSpPr>
            <p:spPr>
              <a:xfrm>
                <a:off x="3446532" y="4871875"/>
                <a:ext cx="1325618"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400</a:t>
                </a:r>
              </a:p>
            </p:txBody>
          </p:sp>
        </p:grpSp>
        <p:sp>
          <p:nvSpPr>
            <p:cNvPr id="42" name="Rectangle 41">
              <a:extLst>
                <a:ext uri="{FF2B5EF4-FFF2-40B4-BE49-F238E27FC236}">
                  <a16:creationId xmlns:a16="http://schemas.microsoft.com/office/drawing/2014/main" id="{7E50550D-7F5F-978E-776A-653197341E65}"/>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EBD6C03B-65F1-4131-C31C-2AABAAF6C64F}"/>
                </a:ext>
              </a:extLst>
            </p:cNvPr>
            <p:cNvSpPr/>
            <p:nvPr/>
          </p:nvSpPr>
          <p:spPr>
            <a:xfrm>
              <a:off x="4500005" y="3562762"/>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4AC9910B-D0E5-163C-0A72-B8C31D39FC53}"/>
                </a:ext>
              </a:extLst>
            </p:cNvPr>
            <p:cNvSpPr/>
            <p:nvPr/>
          </p:nvSpPr>
          <p:spPr>
            <a:xfrm>
              <a:off x="924230" y="2080487"/>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45967717-1782-493E-5AD2-97EB8D5A5567}"/>
                </a:ext>
              </a:extLst>
            </p:cNvPr>
            <p:cNvGrpSpPr/>
            <p:nvPr/>
          </p:nvGrpSpPr>
          <p:grpSpPr>
            <a:xfrm>
              <a:off x="4094413" y="4725780"/>
              <a:ext cx="1203480" cy="1116355"/>
              <a:chOff x="2127764" y="3438741"/>
              <a:chExt cx="1423882" cy="1320800"/>
            </a:xfrm>
          </p:grpSpPr>
          <p:sp>
            <p:nvSpPr>
              <p:cNvPr id="47" name="Rectangle 46">
                <a:extLst>
                  <a:ext uri="{FF2B5EF4-FFF2-40B4-BE49-F238E27FC236}">
                    <a16:creationId xmlns:a16="http://schemas.microsoft.com/office/drawing/2014/main" id="{5D35C2A6-398E-1FAB-5215-C534210FFCA6}"/>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190B31A-D086-8F7E-A2C6-7BF2B9F8786E}"/>
                  </a:ext>
                </a:extLst>
              </p:cNvPr>
              <p:cNvSpPr txBox="1"/>
              <p:nvPr/>
            </p:nvSpPr>
            <p:spPr>
              <a:xfrm>
                <a:off x="2150302" y="4117651"/>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Minutes </a:t>
                </a:r>
              </a:p>
              <a:p>
                <a:pPr algn="ctr" defTabSz="781976">
                  <a:defRPr/>
                </a:pPr>
                <a:r>
                  <a:rPr lang="fr-FR" sz="1050" kern="0" dirty="0">
                    <a:solidFill>
                      <a:schemeClr val="bg1"/>
                    </a:solidFill>
                    <a:latin typeface="Arial Nova" panose="020B0504020202020204" pitchFamily="34" charset="0"/>
                    <a:cs typeface="Arial" panose="020B0604020202020204" pitchFamily="34" charset="0"/>
                  </a:rPr>
                  <a:t>voix</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DD274F41-3C42-9D5A-5343-C5EBE9840968}"/>
                  </a:ext>
                </a:extLst>
              </p:cNvPr>
              <p:cNvSpPr txBox="1"/>
              <p:nvPr/>
            </p:nvSpPr>
            <p:spPr>
              <a:xfrm>
                <a:off x="2127764" y="3480210"/>
                <a:ext cx="1423882" cy="76640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20</a:t>
                </a:r>
              </a:p>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Millions</a:t>
                </a:r>
              </a:p>
            </p:txBody>
          </p:sp>
        </p:grpSp>
      </p:grpSp>
      <p:sp>
        <p:nvSpPr>
          <p:cNvPr id="70" name="Espace réservé du texte 1">
            <a:extLst>
              <a:ext uri="{FF2B5EF4-FFF2-40B4-BE49-F238E27FC236}">
                <a16:creationId xmlns:a16="http://schemas.microsoft.com/office/drawing/2014/main" id="{CEA649CC-DF0B-674D-75C0-BAEDBAA37721}"/>
              </a:ext>
            </a:extLst>
          </p:cNvPr>
          <p:cNvSpPr txBox="1">
            <a:spLocks/>
          </p:cNvSpPr>
          <p:nvPr/>
        </p:nvSpPr>
        <p:spPr>
          <a:xfrm>
            <a:off x="582087" y="201777"/>
            <a:ext cx="771328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Télécom </a:t>
            </a:r>
            <a:r>
              <a:rPr lang="fr-FR" sz="2051" dirty="0">
                <a:solidFill>
                  <a:srgbClr val="E94B57"/>
                </a:solidFill>
                <a:latin typeface="Century Gothic" panose="020B0502020202020204" pitchFamily="34" charset="0"/>
              </a:rPr>
              <a:t>Opérateur &amp; Téléphonie</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8EAC1F59-2FF3-07F5-BBC0-570A06B4BF7B}"/>
              </a:ext>
            </a:extLst>
          </p:cNvPr>
          <p:cNvSpPr txBox="1"/>
          <p:nvPr/>
        </p:nvSpPr>
        <p:spPr>
          <a:xfrm>
            <a:off x="582087" y="1205966"/>
            <a:ext cx="7819508" cy="954107"/>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Nous avons créé dès 2012 </a:t>
            </a:r>
            <a:r>
              <a:rPr lang="fr-FR" sz="1400" b="1" dirty="0">
                <a:latin typeface="Arial Nova" panose="020B0504020202020204" pitchFamily="34" charset="0"/>
                <a:sym typeface="Open Sans"/>
              </a:rPr>
              <a:t>l’usine Télécom Koesio Networks</a:t>
            </a:r>
            <a:r>
              <a:rPr lang="fr-FR" sz="1400" dirty="0">
                <a:latin typeface="Arial Nova" panose="020B0504020202020204" pitchFamily="34" charset="0"/>
                <a:sym typeface="Open Sans"/>
              </a:rPr>
              <a:t> qui opère la mise en production des liens internet, de la voix et des forfaits mobiles, conscient des enjeux vitaux que représente la communication unifiée. Ainsi, nos </a:t>
            </a:r>
            <a:r>
              <a:rPr lang="fr-FR" sz="1400" b="1" dirty="0">
                <a:latin typeface="Arial Nova" panose="020B0504020202020204" pitchFamily="34" charset="0"/>
                <a:sym typeface="Open Sans"/>
              </a:rPr>
              <a:t>entités régionales </a:t>
            </a:r>
            <a:r>
              <a:rPr lang="fr-FR" sz="1400" dirty="0">
                <a:latin typeface="Arial Nova" panose="020B0504020202020204" pitchFamily="34" charset="0"/>
                <a:sym typeface="Open Sans"/>
              </a:rPr>
              <a:t>peuvent ainsi se concentrer sur leur cœur de métier : </a:t>
            </a:r>
            <a:r>
              <a:rPr lang="fr-FR" sz="1400" b="1" dirty="0">
                <a:latin typeface="Arial Nova" panose="020B0504020202020204" pitchFamily="34" charset="0"/>
                <a:sym typeface="Open Sans"/>
              </a:rPr>
              <a:t>le conseil et la satisfaction de nos clients.</a:t>
            </a:r>
          </a:p>
        </p:txBody>
      </p:sp>
      <p:sp>
        <p:nvSpPr>
          <p:cNvPr id="3" name="ZoneTexte 2">
            <a:extLst>
              <a:ext uri="{FF2B5EF4-FFF2-40B4-BE49-F238E27FC236}">
                <a16:creationId xmlns:a16="http://schemas.microsoft.com/office/drawing/2014/main" id="{7E4DE61D-6987-62A0-49DA-09EC796278EF}"/>
              </a:ext>
            </a:extLst>
          </p:cNvPr>
          <p:cNvSpPr txBox="1"/>
          <p:nvPr/>
        </p:nvSpPr>
        <p:spPr>
          <a:xfrm>
            <a:off x="717325" y="2495276"/>
            <a:ext cx="4430015" cy="4801058"/>
          </a:xfrm>
          <a:prstGeom prst="rect">
            <a:avLst/>
          </a:prstGeom>
          <a:noFill/>
        </p:spPr>
        <p:txBody>
          <a:bodyPr wrap="square">
            <a:spAutoFit/>
          </a:bodyPr>
          <a:lstStyle/>
          <a:p>
            <a:r>
              <a:rPr lang="fr-FR" sz="1999" b="1" dirty="0">
                <a:latin typeface="Arial Nova" panose="020B0504020202020204" pitchFamily="34" charset="0"/>
                <a:sym typeface="Open Sans"/>
              </a:rPr>
              <a:t>La force de notre offre </a:t>
            </a:r>
          </a:p>
          <a:p>
            <a:r>
              <a:rPr lang="fr-FR" sz="1999" b="1" dirty="0">
                <a:latin typeface="Arial Nova" panose="020B0504020202020204" pitchFamily="34" charset="0"/>
                <a:sym typeface="Open Sans"/>
              </a:rPr>
              <a:t>Opérateur &amp; Téléphonie</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Fort de </a:t>
            </a:r>
            <a:r>
              <a:rPr lang="fr-FR" sz="1400" b="1" dirty="0">
                <a:latin typeface="Arial Nova" panose="020B0504020202020204" pitchFamily="34" charset="0"/>
              </a:rPr>
              <a:t>notre propre fibre </a:t>
            </a:r>
            <a:r>
              <a:rPr lang="fr-FR" sz="1400" b="1" dirty="0" err="1">
                <a:latin typeface="Arial Nova" panose="020B0504020202020204" pitchFamily="34" charset="0"/>
              </a:rPr>
              <a:t>Koesio</a:t>
            </a:r>
            <a:r>
              <a:rPr lang="fr-FR" sz="1400" dirty="0">
                <a:latin typeface="Arial Nova" panose="020B0504020202020204" pitchFamily="34" charset="0"/>
              </a:rPr>
              <a:t>, nous avons mis en place une </a:t>
            </a:r>
            <a:r>
              <a:rPr lang="fr-FR" sz="1400" b="1" dirty="0">
                <a:latin typeface="Arial Nova" panose="020B0504020202020204" pitchFamily="34" charset="0"/>
              </a:rPr>
              <a:t>infrastructure Télécom puissante </a:t>
            </a:r>
            <a:r>
              <a:rPr lang="fr-FR" sz="1400" dirty="0">
                <a:latin typeface="Arial Nova" panose="020B0504020202020204" pitchFamily="34" charset="0"/>
              </a:rPr>
              <a:t>(70 points de présence POP) pour garantir la qualité et la résilience de nos liens.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Parmi les rares titulaires d’une </a:t>
            </a:r>
            <a:r>
              <a:rPr lang="fr-FR" sz="1400" b="1" dirty="0">
                <a:latin typeface="Arial Nova" panose="020B0504020202020204" pitchFamily="34" charset="0"/>
              </a:rPr>
              <a:t>MVNO avec Orange</a:t>
            </a:r>
            <a:r>
              <a:rPr lang="fr-FR" sz="1400" dirty="0">
                <a:latin typeface="Arial Nova" panose="020B0504020202020204" pitchFamily="34" charset="0"/>
              </a:rPr>
              <a:t>, nous apportons le service client dédié de proximité pour nos </a:t>
            </a:r>
            <a:r>
              <a:rPr lang="fr-FR" sz="1400" b="1" dirty="0">
                <a:latin typeface="Arial Nova" panose="020B0504020202020204" pitchFamily="34" charset="0"/>
              </a:rPr>
              <a:t>forfaits mobiles</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Grâce à nos </a:t>
            </a:r>
            <a:r>
              <a:rPr lang="fr-FR" sz="1400" b="1" dirty="0">
                <a:latin typeface="Arial Nova" panose="020B0504020202020204" pitchFamily="34" charset="0"/>
              </a:rPr>
              <a:t>offres informatiques</a:t>
            </a:r>
            <a:r>
              <a:rPr lang="fr-FR" sz="1400" dirty="0">
                <a:latin typeface="Arial Nova" panose="020B0504020202020204" pitchFamily="34" charset="0"/>
              </a:rPr>
              <a:t>, nous complétons nos propositions de </a:t>
            </a:r>
            <a:r>
              <a:rPr lang="fr-FR" sz="1400" b="1" dirty="0">
                <a:latin typeface="Arial Nova" panose="020B0504020202020204" pitchFamily="34" charset="0"/>
              </a:rPr>
              <a:t>solutions de sécurité </a:t>
            </a:r>
            <a:r>
              <a:rPr lang="fr-FR" sz="1400" dirty="0">
                <a:latin typeface="Arial Nova" panose="020B0504020202020204" pitchFamily="34" charset="0"/>
              </a:rPr>
              <a:t>essentielles pour vous protéger.</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a:t>
            </a:r>
            <a:r>
              <a:rPr lang="fr-FR" sz="1400" b="1" dirty="0">
                <a:latin typeface="Arial Nova" panose="020B0504020202020204" pitchFamily="34" charset="0"/>
              </a:rPr>
              <a:t>contrats de maintenance </a:t>
            </a:r>
            <a:r>
              <a:rPr lang="fr-FR" sz="1400" dirty="0">
                <a:latin typeface="Arial Nova" panose="020B0504020202020204" pitchFamily="34" charset="0"/>
              </a:rPr>
              <a:t>vous permettent une </a:t>
            </a:r>
            <a:r>
              <a:rPr lang="fr-FR" sz="1400" b="1" dirty="0">
                <a:latin typeface="Arial Nova" panose="020B0504020202020204" pitchFamily="34" charset="0"/>
              </a:rPr>
              <a:t>garantie de votre matériel de téléphonie</a:t>
            </a:r>
            <a:r>
              <a:rPr lang="fr-FR" sz="1400" dirty="0">
                <a:latin typeface="Arial Nova" panose="020B0504020202020204" pitchFamily="34" charset="0"/>
              </a:rPr>
              <a:t>, et nos offres de financement un renouvellement régulier de votre matériel, à la vitesse des innovations technologiques.</a:t>
            </a:r>
          </a:p>
        </p:txBody>
      </p:sp>
      <p:sp>
        <p:nvSpPr>
          <p:cNvPr id="4" name="Rectangle 3">
            <a:extLst>
              <a:ext uri="{FF2B5EF4-FFF2-40B4-BE49-F238E27FC236}">
                <a16:creationId xmlns:a16="http://schemas.microsoft.com/office/drawing/2014/main" id="{23193EF4-DB40-C246-53CE-00FC12D83A72}"/>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B9F55453-A8A3-CCED-1850-9F26E559024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81363B31-356C-8B60-0CAA-1663F46B97DA}"/>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36703099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A795F79-E10F-8CC4-179B-FEC73D03879E}"/>
              </a:ext>
            </a:extLst>
          </p:cNvPr>
          <p:cNvSpPr/>
          <p:nvPr/>
        </p:nvSpPr>
        <p:spPr>
          <a:xfrm>
            <a:off x="203745" y="3563937"/>
            <a:ext cx="10487838" cy="3995737"/>
          </a:xfrm>
          <a:prstGeom prst="rect">
            <a:avLst/>
          </a:prstGeom>
          <a:solidFill>
            <a:srgbClr val="E94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26">
            <a:extLst>
              <a:ext uri="{FF2B5EF4-FFF2-40B4-BE49-F238E27FC236}">
                <a16:creationId xmlns:a16="http://schemas.microsoft.com/office/drawing/2014/main" id="{892C5C24-1C82-FEF1-BC0D-952984EB2FB1}"/>
              </a:ext>
            </a:extLst>
          </p:cNvPr>
          <p:cNvSpPr/>
          <p:nvPr/>
        </p:nvSpPr>
        <p:spPr>
          <a:xfrm>
            <a:off x="7342698" y="2152335"/>
            <a:ext cx="2419200" cy="241751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space réservé du texte 1">
            <a:extLst>
              <a:ext uri="{FF2B5EF4-FFF2-40B4-BE49-F238E27FC236}">
                <a16:creationId xmlns:a16="http://schemas.microsoft.com/office/drawing/2014/main" id="{384D4F7E-06D1-47E8-1A68-C21F8BF8AF2D}"/>
              </a:ext>
            </a:extLst>
          </p:cNvPr>
          <p:cNvSpPr txBox="1">
            <a:spLocks/>
          </p:cNvSpPr>
          <p:nvPr/>
        </p:nvSpPr>
        <p:spPr>
          <a:xfrm>
            <a:off x="755239" y="834857"/>
            <a:ext cx="7151005" cy="388572"/>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3600" dirty="0">
                <a:latin typeface="Century Gothic" panose="020B0502020202020204" pitchFamily="34" charset="0"/>
              </a:rPr>
              <a:t>          </a:t>
            </a:r>
            <a:r>
              <a:rPr lang="fr-FR" sz="3600" dirty="0" err="1">
                <a:latin typeface="Century Gothic" panose="020B0502020202020204" pitchFamily="34" charset="0"/>
              </a:rPr>
              <a:t>oi</a:t>
            </a:r>
            <a:r>
              <a:rPr lang="fr-FR" sz="3600" dirty="0">
                <a:latin typeface="Century Gothic" panose="020B0502020202020204" pitchFamily="34" charset="0"/>
              </a:rPr>
              <a:t> de neuf ?</a:t>
            </a:r>
          </a:p>
        </p:txBody>
      </p:sp>
      <p:sp>
        <p:nvSpPr>
          <p:cNvPr id="10" name="Espace réservé du texte 3">
            <a:extLst>
              <a:ext uri="{FF2B5EF4-FFF2-40B4-BE49-F238E27FC236}">
                <a16:creationId xmlns:a16="http://schemas.microsoft.com/office/drawing/2014/main" id="{49A9A943-31DC-0978-7867-40A7EAFA9D19}"/>
              </a:ext>
            </a:extLst>
          </p:cNvPr>
          <p:cNvSpPr txBox="1">
            <a:spLocks/>
          </p:cNvSpPr>
          <p:nvPr/>
        </p:nvSpPr>
        <p:spPr>
          <a:xfrm>
            <a:off x="1499858" y="5246754"/>
            <a:ext cx="1805371" cy="1239707"/>
          </a:xfrm>
          <a:prstGeom prst="rect">
            <a:avLst/>
          </a:prstGeom>
        </p:spPr>
        <p:txBody>
          <a:bodyPr vert="horz" lIns="91440" tIns="45720" rIns="91440" bIns="45720" rtlCol="0" anchor="t"/>
          <a:lstStyle>
            <a:defPPr>
              <a:defRPr lang="en-US"/>
            </a:defPPr>
            <a:lvl1pPr marL="0" algn="r" defTabSz="457200" rtl="0" eaLnBrk="1" latinLnBrk="0" hangingPunct="1">
              <a:defRPr sz="1131"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b="1" dirty="0">
                <a:solidFill>
                  <a:schemeClr val="bg1"/>
                </a:solidFill>
                <a:latin typeface="Arial Nova" panose="020B0504020202020204" pitchFamily="34" charset="0"/>
              </a:rPr>
              <a:t>L’informatique managée des TPE / PME pour apporter le service à vos utilisateurs.</a:t>
            </a:r>
          </a:p>
        </p:txBody>
      </p:sp>
      <p:sp>
        <p:nvSpPr>
          <p:cNvPr id="11" name="Espace réservé du texte 10">
            <a:extLst>
              <a:ext uri="{FF2B5EF4-FFF2-40B4-BE49-F238E27FC236}">
                <a16:creationId xmlns:a16="http://schemas.microsoft.com/office/drawing/2014/main" id="{95AF983E-8E2D-7DDE-99CB-9FD4810131E8}"/>
              </a:ext>
            </a:extLst>
          </p:cNvPr>
          <p:cNvSpPr txBox="1">
            <a:spLocks/>
          </p:cNvSpPr>
          <p:nvPr/>
        </p:nvSpPr>
        <p:spPr>
          <a:xfrm>
            <a:off x="1264561" y="4813316"/>
            <a:ext cx="2275967" cy="364159"/>
          </a:xfrm>
          <a:prstGeom prst="rect">
            <a:avLst/>
          </a:prstGeom>
        </p:spPr>
        <p:txBody>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Be </a:t>
            </a:r>
            <a:r>
              <a:rPr lang="fr-FR" b="1" dirty="0" err="1">
                <a:solidFill>
                  <a:schemeClr val="bg1"/>
                </a:solidFill>
                <a:latin typeface="Arial Nova" panose="020B0504020202020204" pitchFamily="34" charset="0"/>
              </a:rPr>
              <a:t>Proactiv</a:t>
            </a:r>
            <a:endParaRPr lang="fr-FR" b="1" dirty="0">
              <a:solidFill>
                <a:schemeClr val="bg1"/>
              </a:solidFill>
              <a:latin typeface="Arial Nova" panose="020B0504020202020204" pitchFamily="34" charset="0"/>
            </a:endParaRPr>
          </a:p>
        </p:txBody>
      </p:sp>
      <p:sp>
        <p:nvSpPr>
          <p:cNvPr id="14" name="Espace réservé du texte 6">
            <a:extLst>
              <a:ext uri="{FF2B5EF4-FFF2-40B4-BE49-F238E27FC236}">
                <a16:creationId xmlns:a16="http://schemas.microsoft.com/office/drawing/2014/main" id="{FBD3AFA6-D43E-DAA6-881D-908FABB59D7A}"/>
              </a:ext>
            </a:extLst>
          </p:cNvPr>
          <p:cNvSpPr txBox="1">
            <a:spLocks/>
          </p:cNvSpPr>
          <p:nvPr/>
        </p:nvSpPr>
        <p:spPr>
          <a:xfrm>
            <a:off x="4389246"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a:solidFill>
                  <a:schemeClr val="bg1"/>
                </a:solidFill>
                <a:latin typeface="Arial Nova" panose="020B0504020202020204" pitchFamily="34" charset="0"/>
              </a:rPr>
              <a:t>L’écran tactile </a:t>
            </a:r>
          </a:p>
          <a:p>
            <a:pPr marL="0" indent="0" algn="ctr" defTabSz="457189">
              <a:spcBef>
                <a:spcPts val="0"/>
              </a:spcBef>
              <a:buNone/>
            </a:pPr>
            <a:r>
              <a:rPr lang="fr-FR" sz="1200" b="1" dirty="0">
                <a:solidFill>
                  <a:schemeClr val="bg1"/>
                </a:solidFill>
                <a:latin typeface="Arial Nova" panose="020B0504020202020204" pitchFamily="34" charset="0"/>
              </a:rPr>
              <a:t>by </a:t>
            </a: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vous apporte design et efficacité pour vos salles de réunion.</a:t>
            </a:r>
          </a:p>
        </p:txBody>
      </p:sp>
      <p:sp>
        <p:nvSpPr>
          <p:cNvPr id="16" name="Espace réservé du texte 11">
            <a:extLst>
              <a:ext uri="{FF2B5EF4-FFF2-40B4-BE49-F238E27FC236}">
                <a16:creationId xmlns:a16="http://schemas.microsoft.com/office/drawing/2014/main" id="{4271D354-A69A-E584-B067-833413A2DC40}"/>
              </a:ext>
            </a:extLst>
          </p:cNvPr>
          <p:cNvSpPr txBox="1">
            <a:spLocks/>
          </p:cNvSpPr>
          <p:nvPr/>
        </p:nvSpPr>
        <p:spPr>
          <a:xfrm>
            <a:off x="4389247" y="4900231"/>
            <a:ext cx="2275967" cy="364159"/>
          </a:xfrm>
          <a:prstGeom prst="rect">
            <a:avLst/>
          </a:prstGeom>
        </p:spPr>
        <p:txBody>
          <a:bodyPr>
            <a:normAutofit fontScale="77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Screen ISI </a:t>
            </a:r>
            <a:r>
              <a:rPr lang="fr-FR" b="1" dirty="0" err="1">
                <a:solidFill>
                  <a:schemeClr val="bg1"/>
                </a:solidFill>
                <a:latin typeface="Arial Nova" panose="020B0504020202020204" pitchFamily="34" charset="0"/>
              </a:rPr>
              <a:t>Touch</a:t>
            </a:r>
            <a:endParaRPr lang="fr-FR" b="1" dirty="0">
              <a:solidFill>
                <a:schemeClr val="bg1"/>
              </a:solidFill>
              <a:latin typeface="Arial Nova" panose="020B0504020202020204" pitchFamily="34" charset="0"/>
            </a:endParaRPr>
          </a:p>
        </p:txBody>
      </p:sp>
      <p:sp>
        <p:nvSpPr>
          <p:cNvPr id="18" name="AutoShape 4">
            <a:extLst>
              <a:ext uri="{FF2B5EF4-FFF2-40B4-BE49-F238E27FC236}">
                <a16:creationId xmlns:a16="http://schemas.microsoft.com/office/drawing/2014/main" id="{E493F19E-5AFD-68D9-3007-64E3EBD5BF63}"/>
              </a:ext>
            </a:extLst>
          </p:cNvPr>
          <p:cNvSpPr>
            <a:spLocks noChangeAspect="1" noChangeArrowheads="1"/>
          </p:cNvSpPr>
          <p:nvPr/>
        </p:nvSpPr>
        <p:spPr bwMode="auto">
          <a:xfrm>
            <a:off x="4986592" y="377271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grpSp>
        <p:nvGrpSpPr>
          <p:cNvPr id="23" name="Groupe 22">
            <a:extLst>
              <a:ext uri="{FF2B5EF4-FFF2-40B4-BE49-F238E27FC236}">
                <a16:creationId xmlns:a16="http://schemas.microsoft.com/office/drawing/2014/main" id="{5B13BD93-36CA-8171-D01B-3A4E32F9C891}"/>
              </a:ext>
            </a:extLst>
          </p:cNvPr>
          <p:cNvGrpSpPr/>
          <p:nvPr/>
        </p:nvGrpSpPr>
        <p:grpSpPr>
          <a:xfrm>
            <a:off x="4346119" y="2155772"/>
            <a:ext cx="2512790" cy="2414081"/>
            <a:chOff x="3757905" y="1274211"/>
            <a:chExt cx="3179608" cy="3054705"/>
          </a:xfrm>
        </p:grpSpPr>
        <p:sp>
          <p:nvSpPr>
            <p:cNvPr id="21" name="Rectangle 20">
              <a:extLst>
                <a:ext uri="{FF2B5EF4-FFF2-40B4-BE49-F238E27FC236}">
                  <a16:creationId xmlns:a16="http://schemas.microsoft.com/office/drawing/2014/main" id="{49E6E69A-E393-4A74-57FA-FBF44080783B}"/>
                </a:ext>
              </a:extLst>
            </p:cNvPr>
            <p:cNvSpPr/>
            <p:nvPr/>
          </p:nvSpPr>
          <p:spPr>
            <a:xfrm>
              <a:off x="3757905" y="3703234"/>
              <a:ext cx="3179608" cy="625682"/>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3A48B5A-F878-2E02-492B-4D0D26433EED}"/>
                </a:ext>
              </a:extLst>
            </p:cNvPr>
            <p:cNvSpPr/>
            <p:nvPr/>
          </p:nvSpPr>
          <p:spPr>
            <a:xfrm>
              <a:off x="3757905" y="1274211"/>
              <a:ext cx="3179608" cy="670250"/>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0" name="Image 19" descr="Une image contenant texte, capture d’écran, ligne, diagramme&#10;&#10;Description générée automatiquement">
              <a:extLst>
                <a:ext uri="{FF2B5EF4-FFF2-40B4-BE49-F238E27FC236}">
                  <a16:creationId xmlns:a16="http://schemas.microsoft.com/office/drawing/2014/main" id="{79360F83-745A-B43B-3A93-A62062C5B5FF}"/>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57905" y="1870578"/>
              <a:ext cx="3179608" cy="2119739"/>
            </a:xfrm>
            <a:prstGeom prst="rect">
              <a:avLst/>
            </a:prstGeom>
          </p:spPr>
        </p:pic>
      </p:grpSp>
      <p:pic>
        <p:nvPicPr>
          <p:cNvPr id="12" name="Picture 2">
            <a:extLst>
              <a:ext uri="{FF2B5EF4-FFF2-40B4-BE49-F238E27FC236}">
                <a16:creationId xmlns:a16="http://schemas.microsoft.com/office/drawing/2014/main" id="{747737A9-EECA-4B39-0796-722649CD6DCF}"/>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247469" y="2152335"/>
            <a:ext cx="2512790" cy="2417517"/>
          </a:xfrm>
          <a:prstGeom prst="rect">
            <a:avLst/>
          </a:prstGeom>
          <a:noFill/>
          <a:extLst>
            <a:ext uri="{909E8E84-426E-40DD-AFC4-6F175D3DCCD1}">
              <a14:hiddenFill xmlns:a14="http://schemas.microsoft.com/office/drawing/2010/main">
                <a:solidFill>
                  <a:srgbClr val="FFFFFF"/>
                </a:solidFill>
              </a14:hiddenFill>
            </a:ext>
          </a:extLst>
        </p:spPr>
      </p:pic>
      <p:pic>
        <p:nvPicPr>
          <p:cNvPr id="24" name="Image 23">
            <a:extLst>
              <a:ext uri="{FF2B5EF4-FFF2-40B4-BE49-F238E27FC236}">
                <a16:creationId xmlns:a16="http://schemas.microsoft.com/office/drawing/2014/main" id="{7E4D33BB-F222-DDFB-03BC-64BFD22C51FF}"/>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rot="486971">
            <a:off x="8146846" y="2318718"/>
            <a:ext cx="1047354" cy="2029961"/>
          </a:xfrm>
          <a:prstGeom prst="rect">
            <a:avLst/>
          </a:prstGeom>
          <a:effectLst>
            <a:outerShdw blurRad="50800" dist="38100" dir="2700000" algn="tl" rotWithShape="0">
              <a:prstClr val="black">
                <a:alpha val="40000"/>
              </a:prstClr>
            </a:outerShdw>
          </a:effectLst>
        </p:spPr>
      </p:pic>
      <p:sp>
        <p:nvSpPr>
          <p:cNvPr id="25" name="Espace réservé du texte 6">
            <a:extLst>
              <a:ext uri="{FF2B5EF4-FFF2-40B4-BE49-F238E27FC236}">
                <a16:creationId xmlns:a16="http://schemas.microsoft.com/office/drawing/2014/main" id="{FE283D48-32F8-2984-E61A-7F0F4236350D}"/>
              </a:ext>
            </a:extLst>
          </p:cNvPr>
          <p:cNvSpPr txBox="1">
            <a:spLocks/>
          </p:cNvSpPr>
          <p:nvPr/>
        </p:nvSpPr>
        <p:spPr>
          <a:xfrm>
            <a:off x="7481403"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est MVNO d’Orange pour vous apporter le meilleur des 2 mondes, le réseau n°1 et un service de proximité.</a:t>
            </a:r>
          </a:p>
        </p:txBody>
      </p:sp>
      <p:sp>
        <p:nvSpPr>
          <p:cNvPr id="26" name="Espace réservé du texte 11">
            <a:extLst>
              <a:ext uri="{FF2B5EF4-FFF2-40B4-BE49-F238E27FC236}">
                <a16:creationId xmlns:a16="http://schemas.microsoft.com/office/drawing/2014/main" id="{E98F62F7-C5A7-F6F0-2D09-002A4A71516F}"/>
              </a:ext>
            </a:extLst>
          </p:cNvPr>
          <p:cNvSpPr txBox="1">
            <a:spLocks/>
          </p:cNvSpPr>
          <p:nvPr/>
        </p:nvSpPr>
        <p:spPr>
          <a:xfrm>
            <a:off x="7481405" y="4881518"/>
            <a:ext cx="2275967" cy="364159"/>
          </a:xfrm>
          <a:prstGeom prst="rect">
            <a:avLst/>
          </a:prstGeom>
        </p:spPr>
        <p:txBody>
          <a:bodyPr>
            <a:normAutofit fontScale="92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Forfait Mobile</a:t>
            </a:r>
          </a:p>
        </p:txBody>
      </p:sp>
      <p:pic>
        <p:nvPicPr>
          <p:cNvPr id="29" name="Image 28" descr="Une image contenant logo, Graphique, graphisme, symbole&#10;&#10;Description générée automatiquement">
            <a:extLst>
              <a:ext uri="{FF2B5EF4-FFF2-40B4-BE49-F238E27FC236}">
                <a16:creationId xmlns:a16="http://schemas.microsoft.com/office/drawing/2014/main" id="{DD72E4F2-6585-CADC-1ED0-58CBF445ECDD}"/>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rot="21347017">
            <a:off x="1521639" y="843210"/>
            <a:ext cx="605962" cy="614802"/>
          </a:xfrm>
          <a:prstGeom prst="rect">
            <a:avLst/>
          </a:prstGeom>
        </p:spPr>
      </p:pic>
      <p:sp>
        <p:nvSpPr>
          <p:cNvPr id="3" name="Rectangle 2">
            <a:extLst>
              <a:ext uri="{FF2B5EF4-FFF2-40B4-BE49-F238E27FC236}">
                <a16:creationId xmlns:a16="http://schemas.microsoft.com/office/drawing/2014/main" id="{818EF81A-63B5-BABA-7CF1-BB1AD1C1B46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4" name="Image 3">
            <a:extLst>
              <a:ext uri="{FF2B5EF4-FFF2-40B4-BE49-F238E27FC236}">
                <a16:creationId xmlns:a16="http://schemas.microsoft.com/office/drawing/2014/main" id="{D0C8D0F7-6FB0-EBB7-7BDB-CBF456AF5C0E}"/>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6179308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21886-A49A-AA3D-4946-36B5C15C5F3B}"/>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AB8152CB-2E8C-E636-DB1E-2CA0FA88AE74}"/>
              </a:ext>
            </a:extLst>
          </p:cNvPr>
          <p:cNvSpPr txBox="1">
            <a:spLocks/>
          </p:cNvSpPr>
          <p:nvPr/>
        </p:nvSpPr>
        <p:spPr>
          <a:xfrm>
            <a:off x="1555902" y="2985622"/>
            <a:ext cx="4578197"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ANNEXES</a:t>
            </a:r>
          </a:p>
          <a:p>
            <a:r>
              <a:rPr lang="fr-FR" sz="3600" b="1" dirty="0">
                <a:solidFill>
                  <a:schemeClr val="tx1"/>
                </a:solidFill>
                <a:latin typeface="Century Gothic" panose="020B0502020202020204" pitchFamily="34" charset="0"/>
              </a:rPr>
              <a:t>Fiches produits</a:t>
            </a:r>
          </a:p>
        </p:txBody>
      </p:sp>
      <p:sp>
        <p:nvSpPr>
          <p:cNvPr id="6" name="Rectangle 5">
            <a:extLst>
              <a:ext uri="{FF2B5EF4-FFF2-40B4-BE49-F238E27FC236}">
                <a16:creationId xmlns:a16="http://schemas.microsoft.com/office/drawing/2014/main" id="{83F885EF-70EF-A791-FAAF-96D85048FF1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77AD372B-65CF-BEAF-DC74-12D1848F3EF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F1BA9365-C364-3C0E-E9EC-9E8728A7134F}"/>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24A05A93-14E1-DFFA-C02D-1FFCA446256D}"/>
              </a:ext>
            </a:extLst>
          </p:cNvPr>
          <p:cNvSpPr/>
          <p:nvPr/>
        </p:nvSpPr>
        <p:spPr>
          <a:xfrm>
            <a:off x="5775683" y="2769466"/>
            <a:ext cx="3270471" cy="3270471"/>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038C48B8-E826-7F1B-F554-45C7934D7F81}"/>
              </a:ext>
            </a:extLst>
          </p:cNvPr>
          <p:cNvSpPr/>
          <p:nvPr/>
        </p:nvSpPr>
        <p:spPr>
          <a:xfrm>
            <a:off x="9046154" y="1123807"/>
            <a:ext cx="1645659" cy="1645659"/>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descr="Une image contenant personne&#10;&#10;Description générée automatiquement">
            <a:extLst>
              <a:ext uri="{FF2B5EF4-FFF2-40B4-BE49-F238E27FC236}">
                <a16:creationId xmlns:a16="http://schemas.microsoft.com/office/drawing/2014/main" id="{D3134360-4ED5-C04E-7126-42E8ADB342E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561683" y="1909262"/>
            <a:ext cx="3607601" cy="4130675"/>
          </a:xfrm>
          <a:prstGeom prst="rect">
            <a:avLst/>
          </a:prstGeom>
        </p:spPr>
      </p:pic>
    </p:spTree>
    <p:extLst>
      <p:ext uri="{BB962C8B-B14F-4D97-AF65-F5344CB8AC3E}">
        <p14:creationId xmlns:p14="http://schemas.microsoft.com/office/powerpoint/2010/main" val="13841546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9EF477E2-C40B-53F2-4E73-E528D3A2C405}"/>
              </a:ext>
            </a:extLst>
          </p:cNvPr>
          <p:cNvSpPr/>
          <p:nvPr/>
        </p:nvSpPr>
        <p:spPr>
          <a:xfrm>
            <a:off x="773907" y="6260361"/>
            <a:ext cx="9144000" cy="950379"/>
          </a:xfrm>
          <a:prstGeom prst="rect">
            <a:avLst/>
          </a:prstGeom>
          <a:solidFill>
            <a:srgbClr val="E94C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539"/>
          </a:p>
        </p:txBody>
      </p:sp>
      <p:grpSp>
        <p:nvGrpSpPr>
          <p:cNvPr id="20" name="Groupe 19">
            <a:extLst>
              <a:ext uri="{FF2B5EF4-FFF2-40B4-BE49-F238E27FC236}">
                <a16:creationId xmlns:a16="http://schemas.microsoft.com/office/drawing/2014/main" id="{DD2BCCD6-264C-4806-801D-90037C7EBF61}"/>
              </a:ext>
            </a:extLst>
          </p:cNvPr>
          <p:cNvGrpSpPr/>
          <p:nvPr/>
        </p:nvGrpSpPr>
        <p:grpSpPr>
          <a:xfrm>
            <a:off x="4650338" y="3501649"/>
            <a:ext cx="5129126" cy="1008348"/>
            <a:chOff x="1309238" y="2095978"/>
            <a:chExt cx="4435954" cy="1179032"/>
          </a:xfrm>
        </p:grpSpPr>
        <p:sp>
          <p:nvSpPr>
            <p:cNvPr id="26" name="ZoneTexte 2">
              <a:extLst>
                <a:ext uri="{FF2B5EF4-FFF2-40B4-BE49-F238E27FC236}">
                  <a16:creationId xmlns:a16="http://schemas.microsoft.com/office/drawing/2014/main" id="{A86139E5-BF60-458F-9C83-52F185D91958}"/>
                </a:ext>
              </a:extLst>
            </p:cNvPr>
            <p:cNvSpPr txBox="1"/>
            <p:nvPr/>
          </p:nvSpPr>
          <p:spPr>
            <a:xfrm>
              <a:off x="1309239" y="2397817"/>
              <a:ext cx="3090948" cy="877193"/>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{{simulation.projet.utilisateur.agence.adresse1}}</a:t>
              </a:r>
            </a:p>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{{simulation.projet.utilisateur.agence.adresse2}}</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simulation.projet.utilisateur.agence.codePostal</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simulation.projet.utilisateur.agence.ville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simulation.projet.utilisateur.agence.telephone</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sp>
          <p:nvSpPr>
            <p:cNvPr id="27" name="ZoneTexte 3">
              <a:extLst>
                <a:ext uri="{FF2B5EF4-FFF2-40B4-BE49-F238E27FC236}">
                  <a16:creationId xmlns:a16="http://schemas.microsoft.com/office/drawing/2014/main" id="{B98D8036-2BAB-486D-8B68-E5D222374095}"/>
                </a:ext>
              </a:extLst>
            </p:cNvPr>
            <p:cNvSpPr txBox="1"/>
            <p:nvPr/>
          </p:nvSpPr>
          <p:spPr>
            <a:xfrm>
              <a:off x="1309238" y="2095978"/>
              <a:ext cx="4435954" cy="261808"/>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Agence de {{</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simulation.projet.utilisateur.agence.nom</a:t>
              </a:r>
              <a:r>
                <a:rPr lang="fr-FR" sz="855" dirty="0">
                  <a:solidFill>
                    <a:schemeClr val="bg2">
                      <a:lumMod val="25000"/>
                    </a:schemeClr>
                  </a:solidFill>
                  <a:latin typeface="Century Gothic" panose="020B0502020202020204" pitchFamily="34" charset="0"/>
                  <a:cs typeface="Arial" panose="020B0604020202020204" pitchFamily="34" charset="0"/>
                </a:rPr>
                <a:t>}}</a:t>
              </a:r>
            </a:p>
          </p:txBody>
        </p:sp>
      </p:grpSp>
      <p:sp>
        <p:nvSpPr>
          <p:cNvPr id="21" name="ZoneTexte 4">
            <a:extLst>
              <a:ext uri="{FF2B5EF4-FFF2-40B4-BE49-F238E27FC236}">
                <a16:creationId xmlns:a16="http://schemas.microsoft.com/office/drawing/2014/main" id="{7A1E36F9-11B4-4546-8BD5-9E3F780AF026}"/>
              </a:ext>
            </a:extLst>
          </p:cNvPr>
          <p:cNvSpPr txBox="1"/>
          <p:nvPr/>
        </p:nvSpPr>
        <p:spPr>
          <a:xfrm>
            <a:off x="4650340" y="2163897"/>
            <a:ext cx="5129126" cy="223907"/>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b="1" dirty="0">
                <a:solidFill>
                  <a:schemeClr val="bg2">
                    <a:lumMod val="25000"/>
                  </a:schemeClr>
                </a:solidFill>
                <a:latin typeface="Century Gothic" panose="020B0502020202020204" pitchFamily="34" charset="0"/>
                <a:cs typeface="Arial" panose="020B0604020202020204" pitchFamily="34" charset="0"/>
              </a:rPr>
              <a:t>{{</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simulation.projet.utilisateur.prenom</a:t>
            </a:r>
            <a:r>
              <a:rPr lang="fr-FR" sz="855" b="1" dirty="0">
                <a:solidFill>
                  <a:schemeClr val="bg2">
                    <a:lumMod val="25000"/>
                  </a:schemeClr>
                </a:solidFill>
                <a:latin typeface="Century Gothic" panose="020B0502020202020204" pitchFamily="34" charset="0"/>
                <a:cs typeface="Arial" panose="020B0604020202020204" pitchFamily="34" charset="0"/>
              </a:rPr>
              <a:t>}} {{</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simulation.projet.utilisateur.nom</a:t>
            </a:r>
            <a:r>
              <a:rPr lang="fr-FR" sz="855" b="1" dirty="0">
                <a:solidFill>
                  <a:schemeClr val="bg2">
                    <a:lumMod val="25000"/>
                  </a:schemeClr>
                </a:solidFill>
                <a:latin typeface="Century Gothic" panose="020B0502020202020204" pitchFamily="34" charset="0"/>
                <a:cs typeface="Arial" panose="020B0604020202020204" pitchFamily="34" charset="0"/>
              </a:rPr>
              <a:t>}}</a:t>
            </a:r>
          </a:p>
        </p:txBody>
      </p:sp>
      <p:sp>
        <p:nvSpPr>
          <p:cNvPr id="22" name="ZoneTexte 5">
            <a:extLst>
              <a:ext uri="{FF2B5EF4-FFF2-40B4-BE49-F238E27FC236}">
                <a16:creationId xmlns:a16="http://schemas.microsoft.com/office/drawing/2014/main" id="{7CE2E556-393F-47B6-8154-E2C9CBD516AD}"/>
              </a:ext>
            </a:extLst>
          </p:cNvPr>
          <p:cNvSpPr txBox="1"/>
          <p:nvPr/>
        </p:nvSpPr>
        <p:spPr>
          <a:xfrm>
            <a:off x="4650339" y="2560222"/>
            <a:ext cx="2845448" cy="487056"/>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simulation.projet.utilisateur.fonction.libelle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simulation.projet.utilisateur.telephone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simulation.projet.utilisateur.email</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pic>
        <p:nvPicPr>
          <p:cNvPr id="23" name="Image 22" descr="simulation.projet.utilisateur.imageModel">
            <a:extLst>
              <a:ext uri="{FF2B5EF4-FFF2-40B4-BE49-F238E27FC236}">
                <a16:creationId xmlns:a16="http://schemas.microsoft.com/office/drawing/2014/main" id="{540CED81-BD0A-453E-9948-FA30A2C1CC94}"/>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8001056" y="2514167"/>
            <a:ext cx="551863" cy="554193"/>
          </a:xfrm>
          <a:prstGeom prst="ellipse">
            <a:avLst/>
          </a:prstGeom>
          <a:noFill/>
          <a:ln w="9525">
            <a:solidFill>
              <a:schemeClr val="bg1"/>
            </a:solidFill>
          </a:ln>
        </p:spPr>
      </p:pic>
      <p:pic>
        <p:nvPicPr>
          <p:cNvPr id="24" name="Image 23" descr="Une image contenant texte, clipart&#10;&#10;Description générée automatiquement">
            <a:extLst>
              <a:ext uri="{FF2B5EF4-FFF2-40B4-BE49-F238E27FC236}">
                <a16:creationId xmlns:a16="http://schemas.microsoft.com/office/drawing/2014/main" id="{4684AE28-7531-4A2C-B937-8E66BC2244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1694374" y="2801184"/>
            <a:ext cx="2083766" cy="908637"/>
          </a:xfrm>
          <a:prstGeom prst="rect">
            <a:avLst/>
          </a:prstGeom>
        </p:spPr>
      </p:pic>
      <p:cxnSp>
        <p:nvCxnSpPr>
          <p:cNvPr id="25" name="Connecteur droit 24">
            <a:extLst>
              <a:ext uri="{FF2B5EF4-FFF2-40B4-BE49-F238E27FC236}">
                <a16:creationId xmlns:a16="http://schemas.microsoft.com/office/drawing/2014/main" id="{EC0E3490-8873-4409-8CA5-98FA58BB64E0}"/>
              </a:ext>
            </a:extLst>
          </p:cNvPr>
          <p:cNvCxnSpPr/>
          <p:nvPr/>
        </p:nvCxnSpPr>
        <p:spPr>
          <a:xfrm>
            <a:off x="4197771" y="2275851"/>
            <a:ext cx="0" cy="2109093"/>
          </a:xfrm>
          <a:prstGeom prst="line">
            <a:avLst/>
          </a:prstGeom>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4F944ED9-DC5E-3F49-E7CD-3129A8E1A59A}"/>
              </a:ext>
            </a:extLst>
          </p:cNvPr>
          <p:cNvSpPr txBox="1"/>
          <p:nvPr/>
        </p:nvSpPr>
        <p:spPr>
          <a:xfrm>
            <a:off x="1042730" y="6610547"/>
            <a:ext cx="6134015" cy="276679"/>
          </a:xfrm>
          <a:prstGeom prst="rect">
            <a:avLst/>
          </a:prstGeom>
          <a:noFill/>
        </p:spPr>
        <p:txBody>
          <a:bodyPr wrap="square" rtlCol="0">
            <a:spAutoFit/>
          </a:bodyPr>
          <a:lstStyle/>
          <a:p>
            <a:r>
              <a:rPr lang="fr-FR" sz="1198" b="1" dirty="0">
                <a:solidFill>
                  <a:schemeClr val="bg1"/>
                </a:solidFill>
                <a:latin typeface="Century Gothic" panose="020B0502020202020204" pitchFamily="34" charset="0"/>
              </a:rPr>
              <a:t>Retrouvez toute notre actualité sur www.koesio.com et sur nos réseaux sociaux !</a:t>
            </a:r>
          </a:p>
        </p:txBody>
      </p:sp>
      <p:cxnSp>
        <p:nvCxnSpPr>
          <p:cNvPr id="31" name="Connecteur droit 30">
            <a:extLst>
              <a:ext uri="{FF2B5EF4-FFF2-40B4-BE49-F238E27FC236}">
                <a16:creationId xmlns:a16="http://schemas.microsoft.com/office/drawing/2014/main" id="{5BA8092E-CF58-00B3-09CA-1F27773E2355}"/>
              </a:ext>
            </a:extLst>
          </p:cNvPr>
          <p:cNvCxnSpPr>
            <a:cxnSpLocks/>
          </p:cNvCxnSpPr>
          <p:nvPr/>
        </p:nvCxnSpPr>
        <p:spPr>
          <a:xfrm>
            <a:off x="7409808" y="6571268"/>
            <a:ext cx="0" cy="335082"/>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32" name="Image 31" descr="Une image contenant texte, clipart&#10;&#10;Description générée automatiquement">
            <a:extLst>
              <a:ext uri="{FF2B5EF4-FFF2-40B4-BE49-F238E27FC236}">
                <a16:creationId xmlns:a16="http://schemas.microsoft.com/office/drawing/2014/main" id="{2F3AE8E1-CF08-2DA7-D528-0BA5BE9FFC24}"/>
              </a:ext>
            </a:extLst>
          </p:cNvPr>
          <p:cNvPicPr>
            <a:picLocks noChangeAspect="1"/>
          </p:cNvPicPr>
          <p:nvPr/>
        </p:nvPicPr>
        <p:blipFill>
          <a:blip r:embed="rId5"/>
          <a:stretch>
            <a:fillRect/>
          </a:stretch>
        </p:blipFill>
        <p:spPr>
          <a:xfrm>
            <a:off x="7987064" y="6610545"/>
            <a:ext cx="274666" cy="274666"/>
          </a:xfrm>
          <a:prstGeom prst="rect">
            <a:avLst/>
          </a:prstGeom>
        </p:spPr>
      </p:pic>
      <p:pic>
        <p:nvPicPr>
          <p:cNvPr id="33" name="Image 32">
            <a:extLst>
              <a:ext uri="{FF2B5EF4-FFF2-40B4-BE49-F238E27FC236}">
                <a16:creationId xmlns:a16="http://schemas.microsoft.com/office/drawing/2014/main" id="{FA676583-F7C5-260E-EFB8-91769338208C}"/>
              </a:ext>
            </a:extLst>
          </p:cNvPr>
          <p:cNvPicPr>
            <a:picLocks noChangeAspect="1"/>
          </p:cNvPicPr>
          <p:nvPr/>
        </p:nvPicPr>
        <p:blipFill>
          <a:blip r:embed="rId6"/>
          <a:stretch>
            <a:fillRect/>
          </a:stretch>
        </p:blipFill>
        <p:spPr>
          <a:xfrm>
            <a:off x="8507706" y="6610545"/>
            <a:ext cx="274666" cy="274666"/>
          </a:xfrm>
          <a:prstGeom prst="rect">
            <a:avLst/>
          </a:prstGeom>
        </p:spPr>
      </p:pic>
      <p:pic>
        <p:nvPicPr>
          <p:cNvPr id="35" name="Image 34" descr="Une image contenant texte, clipart&#10;&#10;Description générée automatiquement">
            <a:extLst>
              <a:ext uri="{FF2B5EF4-FFF2-40B4-BE49-F238E27FC236}">
                <a16:creationId xmlns:a16="http://schemas.microsoft.com/office/drawing/2014/main" id="{4046D5FB-63AC-EE00-060B-CEB255E77E7F}"/>
              </a:ext>
            </a:extLst>
          </p:cNvPr>
          <p:cNvPicPr>
            <a:picLocks noChangeAspect="1"/>
          </p:cNvPicPr>
          <p:nvPr/>
        </p:nvPicPr>
        <p:blipFill>
          <a:blip r:embed="rId7"/>
          <a:stretch>
            <a:fillRect/>
          </a:stretch>
        </p:blipFill>
        <p:spPr>
          <a:xfrm>
            <a:off x="9028347" y="6610545"/>
            <a:ext cx="274666" cy="274666"/>
          </a:xfrm>
          <a:prstGeom prst="rect">
            <a:avLst/>
          </a:prstGeom>
        </p:spPr>
      </p:pic>
      <p:sp>
        <p:nvSpPr>
          <p:cNvPr id="3" name="Rectangle 2">
            <a:extLst>
              <a:ext uri="{FF2B5EF4-FFF2-40B4-BE49-F238E27FC236}">
                <a16:creationId xmlns:a16="http://schemas.microsoft.com/office/drawing/2014/main" id="{D027FA17-FC54-F58E-CCF3-358839F736C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Tree>
    <p:extLst>
      <p:ext uri="{BB962C8B-B14F-4D97-AF65-F5344CB8AC3E}">
        <p14:creationId xmlns:p14="http://schemas.microsoft.com/office/powerpoint/2010/main" val="3183021329"/>
      </p:ext>
    </p:extLst>
  </p:cSld>
  <p:clrMapOvr>
    <a:masterClrMapping/>
  </p:clrMapOvr>
</p:sld>
</file>

<file path=ppt/theme/theme1.xml><?xml version="1.0" encoding="utf-8"?>
<a:theme xmlns:a="http://schemas.openxmlformats.org/drawingml/2006/main" name="2_Thème Office 2013 – 2022">
  <a:themeElements>
    <a:clrScheme name="Koesio">
      <a:dk1>
        <a:srgbClr val="434341"/>
      </a:dk1>
      <a:lt1>
        <a:srgbClr val="FFFFFF"/>
      </a:lt1>
      <a:dk2>
        <a:srgbClr val="6E398E"/>
      </a:dk2>
      <a:lt2>
        <a:srgbClr val="E94B57"/>
      </a:lt2>
      <a:accent1>
        <a:srgbClr val="946AAB"/>
      </a:accent1>
      <a:accent2>
        <a:srgbClr val="F7A823"/>
      </a:accent2>
      <a:accent3>
        <a:srgbClr val="FFD618"/>
      </a:accent3>
      <a:accent4>
        <a:srgbClr val="95C11F"/>
      </a:accent4>
      <a:accent5>
        <a:srgbClr val="F7BFD9"/>
      </a:accent5>
      <a:accent6>
        <a:srgbClr val="6FCBF3"/>
      </a:accent6>
      <a:hlink>
        <a:srgbClr val="6E398E"/>
      </a:hlink>
      <a:folHlink>
        <a:srgbClr val="946AAB"/>
      </a:folHlink>
    </a:clrScheme>
    <a:fontScheme name="Thème 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1177</Words>
  <Application>Microsoft Office PowerPoint</Application>
  <PresentationFormat>Personnalisé</PresentationFormat>
  <Paragraphs>326</Paragraphs>
  <Slides>24</Slides>
  <Notes>4</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14</vt:i4>
      </vt:variant>
    </vt:vector>
  </HeadingPairs>
  <TitlesOfParts>
    <vt:vector size="21" baseType="lpstr">
      <vt:lpstr>Aptos</vt:lpstr>
      <vt:lpstr>Arial</vt:lpstr>
      <vt:lpstr>Arial Nova</vt:lpstr>
      <vt:lpstr>Calibri</vt:lpstr>
      <vt:lpstr>Calibri Light</vt:lpstr>
      <vt:lpstr>Century Gothic</vt:lpstr>
      <vt:lpstr>2_Thème Office 2013 – 2022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CORBEAUX Virginie</dc:creator>
  <cp:lastModifiedBy>Jeremy TREDANT</cp:lastModifiedBy>
  <cp:revision>72</cp:revision>
  <dcterms:created xsi:type="dcterms:W3CDTF">2024-10-29T15:06:39Z</dcterms:created>
  <dcterms:modified xsi:type="dcterms:W3CDTF">2026-01-08T20:21:29Z</dcterms:modified>
</cp:coreProperties>
</file>