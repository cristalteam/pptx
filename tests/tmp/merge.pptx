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slides/slide16.xml" ContentType="application/vnd.openxmlformats-officedocument.presentationml.slide+xml"/>
  <Override PartName="/ppt/slideLayouts/slideLayout12.xml" ContentType="application/vnd.openxmlformats-officedocument.presentationml.slideLayout+xml"/>
  <Override PartName="/ppt/slides/slide17.xml" ContentType="application/vnd.openxmlformats-officedocument.presentationml.slide+xml"/>
  <Override PartName="/ppt/slideLayouts/slideLayout13.xml" ContentType="application/vnd.openxmlformats-officedocument.presentationml.slideLayout+xml"/>
  <Override PartName="/ppt/slides/slide18.xml" ContentType="application/vnd.openxmlformats-officedocument.presentationml.slide+xml"/>
  <Override PartName="/ppt/slideLayouts/slideLayout14.xml" ContentType="application/vnd.openxmlformats-officedocument.presentationml.slideLayout+xml"/>
  <Override PartName="/ppt/slides/slide19.xml" ContentType="application/vnd.openxmlformats-officedocument.presentationml.slide+xml"/>
  <Override PartName="/ppt/slides/slide20.xml" ContentType="application/vnd.openxmlformats-officedocument.presentationml.slide+xml"/>
  <Override PartName="/ppt/notesSlides/notesSlide2.xml" ContentType="application/vnd.openxmlformats-officedocument.presentationml.notesSlide+xml"/>
  <Override PartName="/ppt/slides/slide21.xml" ContentType="application/vnd.openxmlformats-officedocument.presentationml.slide+xml"/>
  <Override PartName="/ppt/notesSlides/notesSlide3.xml" ContentType="application/vnd.openxmlformats-officedocument.presentationml.notes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Slides/notesSlide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2"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0691813" cy="7559675"/>
  <p:notesSz cx="6858000" cy="9144000"/>
  <p:defaultTextStyle>
    <a:defPPr>
      <a:defRPr lang="en-US"/>
    </a:defPPr>
    <a:lvl1pPr marL="0" algn="l" defTabSz="521437" rtl="0" eaLnBrk="1" latinLnBrk="0" hangingPunct="1">
      <a:defRPr sz="2053" kern="1200">
        <a:solidFill>
          <a:schemeClr val="tx1"/>
        </a:solidFill>
        <a:latin typeface="+mn-lt"/>
        <a:ea typeface="+mn-ea"/>
        <a:cs typeface="+mn-cs"/>
      </a:defRPr>
    </a:lvl1pPr>
    <a:lvl2pPr marL="521437" algn="l" defTabSz="521437" rtl="0" eaLnBrk="1" latinLnBrk="0" hangingPunct="1">
      <a:defRPr sz="2053" kern="1200">
        <a:solidFill>
          <a:schemeClr val="tx1"/>
        </a:solidFill>
        <a:latin typeface="+mn-lt"/>
        <a:ea typeface="+mn-ea"/>
        <a:cs typeface="+mn-cs"/>
      </a:defRPr>
    </a:lvl2pPr>
    <a:lvl3pPr marL="1042873" algn="l" defTabSz="521437" rtl="0" eaLnBrk="1" latinLnBrk="0" hangingPunct="1">
      <a:defRPr sz="2053" kern="1200">
        <a:solidFill>
          <a:schemeClr val="tx1"/>
        </a:solidFill>
        <a:latin typeface="+mn-lt"/>
        <a:ea typeface="+mn-ea"/>
        <a:cs typeface="+mn-cs"/>
      </a:defRPr>
    </a:lvl3pPr>
    <a:lvl4pPr marL="1564310" algn="l" defTabSz="521437" rtl="0" eaLnBrk="1" latinLnBrk="0" hangingPunct="1">
      <a:defRPr sz="2053" kern="1200">
        <a:solidFill>
          <a:schemeClr val="tx1"/>
        </a:solidFill>
        <a:latin typeface="+mn-lt"/>
        <a:ea typeface="+mn-ea"/>
        <a:cs typeface="+mn-cs"/>
      </a:defRPr>
    </a:lvl4pPr>
    <a:lvl5pPr marL="2085746" algn="l" defTabSz="521437" rtl="0" eaLnBrk="1" latinLnBrk="0" hangingPunct="1">
      <a:defRPr sz="2053" kern="1200">
        <a:solidFill>
          <a:schemeClr val="tx1"/>
        </a:solidFill>
        <a:latin typeface="+mn-lt"/>
        <a:ea typeface="+mn-ea"/>
        <a:cs typeface="+mn-cs"/>
      </a:defRPr>
    </a:lvl5pPr>
    <a:lvl6pPr marL="2607183" algn="l" defTabSz="521437" rtl="0" eaLnBrk="1" latinLnBrk="0" hangingPunct="1">
      <a:defRPr sz="2053" kern="1200">
        <a:solidFill>
          <a:schemeClr val="tx1"/>
        </a:solidFill>
        <a:latin typeface="+mn-lt"/>
        <a:ea typeface="+mn-ea"/>
        <a:cs typeface="+mn-cs"/>
      </a:defRPr>
    </a:lvl6pPr>
    <a:lvl7pPr marL="3128620" algn="l" defTabSz="521437" rtl="0" eaLnBrk="1" latinLnBrk="0" hangingPunct="1">
      <a:defRPr sz="2053" kern="1200">
        <a:solidFill>
          <a:schemeClr val="tx1"/>
        </a:solidFill>
        <a:latin typeface="+mn-lt"/>
        <a:ea typeface="+mn-ea"/>
        <a:cs typeface="+mn-cs"/>
      </a:defRPr>
    </a:lvl7pPr>
    <a:lvl8pPr marL="3650056" algn="l" defTabSz="521437" rtl="0" eaLnBrk="1" latinLnBrk="0" hangingPunct="1">
      <a:defRPr sz="2053" kern="1200">
        <a:solidFill>
          <a:schemeClr val="tx1"/>
        </a:solidFill>
        <a:latin typeface="+mn-lt"/>
        <a:ea typeface="+mn-ea"/>
        <a:cs typeface="+mn-cs"/>
      </a:defRPr>
    </a:lvl8pPr>
    <a:lvl9pPr marL="4171493" algn="l" defTabSz="521437" rtl="0" eaLnBrk="1" latinLnBrk="0" hangingPunct="1">
      <a:defRPr sz="205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68" userDrawn="1">
          <p15:clr>
            <a:srgbClr val="A4A3A4"/>
          </p15:clr>
        </p15:guide>
        <p15:guide id="2" pos="3277" userDrawn="1">
          <p15:clr>
            <a:srgbClr val="A4A3A4"/>
          </p15:clr>
        </p15:guide>
        <p15:guide id="3" pos="981" userDrawn="1">
          <p15:clr>
            <a:srgbClr val="A4A3A4"/>
          </p15:clr>
        </p15:guide>
        <p15:guide id="4" pos="2519" userDrawn="1">
          <p15:clr>
            <a:srgbClr val="A4A3A4"/>
          </p15:clr>
        </p15:guide>
        <p15:guide id="5" pos="6285" userDrawn="1">
          <p15:clr>
            <a:srgbClr val="A4A3A4"/>
          </p15:clr>
        </p15:guide>
        <p15:guide id="6" pos="533" userDrawn="1">
          <p15:clr>
            <a:srgbClr val="A4A3A4"/>
          </p15:clr>
        </p15:guide>
        <p15:guide id="7" orient="horz" pos="3220" userDrawn="1">
          <p15:clr>
            <a:srgbClr val="A4A3A4"/>
          </p15:clr>
        </p15:guide>
      </p15:sldGuideLst>
    </p:ext>
    <p:ext uri="{521415D9-36F7-43E2-AB2F-B90AF26B5E84}">
      <p14:sectionLst xmlns:p14="http://schemas.microsoft.com/office/powerpoint/2010/main">
        <p14:section name="LA PROPALE TELECOM" id="{B0071AC5-CA5C-4B84-8CE8-7C94260FF46F}">
          <p14:sldIdLst>
            <p14:sldId id="256"/>
            <p14:sldId id="257"/>
            <p14:sldId id="258"/>
            <p14:sldId id="259"/>
            <p14:sldId id="260"/>
            <p14:sldId id="261"/>
            <p14:sldId id="262"/>
            <p14:sldId id="263"/>
            <p14:sldId id="264"/>
            <p14:sldId id="265"/>
            <p14:sldId id="266"/>
            <p14:sldId id="267"/>
            <p14:sldId id="268"/>
            <p14:sldId id="269"/>
          </p14:sldIdLst>
        </p14:section>
        <p14:section name="Synthèse Financière" id="{D8B3750C-8AF9-4BCC-9CA5-30A4E1A4A7E4}">
          <p14:sldIdLst>
            <p14:sldId id="270"/>
            <p14:sldId id="271"/>
            <p14:sldId id="272"/>
            <p14:sldId id="273"/>
            <p14:sldId id="274"/>
            <p14:sldId id="275"/>
            <p14:sldId id="276"/>
            <p14:sldId id="277"/>
            <p14:sldId id="278"/>
          </p14:sldIdLst>
        </p14:section>
        <p14:section name="FIN" id="{F9BB27DB-5C58-47A1-A1B8-D46C8599990A}">
          <p14:sldIdLst>
            <p14:sldId id="27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FFD618"/>
    <a:srgbClr val="2F52A0"/>
    <a:srgbClr val="EE730D"/>
    <a:srgbClr val="F29FC4"/>
    <a:srgbClr val="FBFBFB"/>
    <a:srgbClr val="946AAB"/>
    <a:srgbClr val="6D378B"/>
    <a:srgbClr val="6FCBF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34682A-0780-4E8B-8D98-0D280E4D050C}" v="154" dt="2025-03-19T10:51:42.8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16" autoAdjust="0"/>
    <p:restoredTop sz="94660"/>
  </p:normalViewPr>
  <p:slideViewPr>
    <p:cSldViewPr snapToGrid="0" showGuides="1">
      <p:cViewPr varScale="1">
        <p:scale>
          <a:sx n="97" d="100"/>
          <a:sy n="97" d="100"/>
        </p:scale>
        <p:origin x="3470" y="254"/>
      </p:cViewPr>
      <p:guideLst>
        <p:guide orient="horz" pos="2268"/>
        <p:guide pos="3277"/>
        <p:guide pos="981"/>
        <p:guide pos="2519"/>
        <p:guide pos="6285"/>
        <p:guide pos="533"/>
        <p:guide orient="horz" pos="32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1" Type="http://schemas.openxmlformats.org/officeDocument/2006/relationships/slideMaster" Target="slideMasters/slideMaster1.xml"/><Relationship Id="rId26" Type="http://schemas.openxmlformats.org/officeDocument/2006/relationships/viewProps" Target="viewProps.xml"/><Relationship Id="rId27" Type="http://schemas.microsoft.com/office/2015/10/relationships/revisionInfo" Target="revisionInfo.xml"/><Relationship Id="rId28" Type="http://schemas.openxmlformats.org/officeDocument/2006/relationships/presProps" Target="presProps.xml"/><Relationship Id="rId29" Type="http://schemas.openxmlformats.org/officeDocument/2006/relationships/notesMaster" Target="notesMasters/notesMaster1.xml"/><Relationship Id="rId30" Type="http://schemas.openxmlformats.org/officeDocument/2006/relationships/tableStyles" Target="tableStyles.xml"/><Relationship Id="rId3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B330D-6C84-4A98-BFF1-626FD29DE139}" type="datetimeFigureOut">
              <a:rPr lang="fr-FR" smtClean="0"/>
              <a:t>08/01/2026</a:t>
            </a:fld>
            <a:endParaRPr lang="fr-FR"/>
          </a:p>
        </p:txBody>
      </p:sp>
      <p:sp>
        <p:nvSpPr>
          <p:cNvPr id="4" name="Espace réservé de l'image des diapositives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12FD6F-AB77-4C7E-891F-50C789B4267C}" type="slidenum">
              <a:rPr lang="fr-FR" smtClean="0"/>
              <a:t>‹N°›</a:t>
            </a:fld>
            <a:endParaRPr lang="fr-FR"/>
          </a:p>
        </p:txBody>
      </p:sp>
    </p:spTree>
    <p:extLst>
      <p:ext uri="{BB962C8B-B14F-4D97-AF65-F5344CB8AC3E}">
        <p14:creationId xmlns:p14="http://schemas.microsoft.com/office/powerpoint/2010/main" val="3192172107"/>
      </p:ext>
    </p:extLst>
  </p:cSld>
  <p:clrMap bg1="lt1" tx1="dk1" bg2="lt2" tx2="dk2" accent1="accent1" accent2="accent2" accent3="accent3" accent4="accent4" accent5="accent5" accent6="accent6" hlink="hlink" folHlink="folHlink"/>
  <p:notesStyle>
    <a:lvl1pPr marL="0" algn="l" defTabSz="1042873" rtl="0" eaLnBrk="1" latinLnBrk="0" hangingPunct="1">
      <a:defRPr sz="1369" kern="1200">
        <a:solidFill>
          <a:schemeClr val="tx1"/>
        </a:solidFill>
        <a:latin typeface="+mn-lt"/>
        <a:ea typeface="+mn-ea"/>
        <a:cs typeface="+mn-cs"/>
      </a:defRPr>
    </a:lvl1pPr>
    <a:lvl2pPr marL="521437" algn="l" defTabSz="1042873" rtl="0" eaLnBrk="1" latinLnBrk="0" hangingPunct="1">
      <a:defRPr sz="1369" kern="1200">
        <a:solidFill>
          <a:schemeClr val="tx1"/>
        </a:solidFill>
        <a:latin typeface="+mn-lt"/>
        <a:ea typeface="+mn-ea"/>
        <a:cs typeface="+mn-cs"/>
      </a:defRPr>
    </a:lvl2pPr>
    <a:lvl3pPr marL="1042873" algn="l" defTabSz="1042873" rtl="0" eaLnBrk="1" latinLnBrk="0" hangingPunct="1">
      <a:defRPr sz="1369" kern="1200">
        <a:solidFill>
          <a:schemeClr val="tx1"/>
        </a:solidFill>
        <a:latin typeface="+mn-lt"/>
        <a:ea typeface="+mn-ea"/>
        <a:cs typeface="+mn-cs"/>
      </a:defRPr>
    </a:lvl3pPr>
    <a:lvl4pPr marL="1564310" algn="l" defTabSz="1042873" rtl="0" eaLnBrk="1" latinLnBrk="0" hangingPunct="1">
      <a:defRPr sz="1369" kern="1200">
        <a:solidFill>
          <a:schemeClr val="tx1"/>
        </a:solidFill>
        <a:latin typeface="+mn-lt"/>
        <a:ea typeface="+mn-ea"/>
        <a:cs typeface="+mn-cs"/>
      </a:defRPr>
    </a:lvl4pPr>
    <a:lvl5pPr marL="2085746" algn="l" defTabSz="1042873" rtl="0" eaLnBrk="1" latinLnBrk="0" hangingPunct="1">
      <a:defRPr sz="1369" kern="1200">
        <a:solidFill>
          <a:schemeClr val="tx1"/>
        </a:solidFill>
        <a:latin typeface="+mn-lt"/>
        <a:ea typeface="+mn-ea"/>
        <a:cs typeface="+mn-cs"/>
      </a:defRPr>
    </a:lvl5pPr>
    <a:lvl6pPr marL="2607183" algn="l" defTabSz="1042873" rtl="0" eaLnBrk="1" latinLnBrk="0" hangingPunct="1">
      <a:defRPr sz="1369" kern="1200">
        <a:solidFill>
          <a:schemeClr val="tx1"/>
        </a:solidFill>
        <a:latin typeface="+mn-lt"/>
        <a:ea typeface="+mn-ea"/>
        <a:cs typeface="+mn-cs"/>
      </a:defRPr>
    </a:lvl6pPr>
    <a:lvl7pPr marL="3128620" algn="l" defTabSz="1042873" rtl="0" eaLnBrk="1" latinLnBrk="0" hangingPunct="1">
      <a:defRPr sz="1369" kern="1200">
        <a:solidFill>
          <a:schemeClr val="tx1"/>
        </a:solidFill>
        <a:latin typeface="+mn-lt"/>
        <a:ea typeface="+mn-ea"/>
        <a:cs typeface="+mn-cs"/>
      </a:defRPr>
    </a:lvl7pPr>
    <a:lvl8pPr marL="3650056" algn="l" defTabSz="1042873" rtl="0" eaLnBrk="1" latinLnBrk="0" hangingPunct="1">
      <a:defRPr sz="1369" kern="1200">
        <a:solidFill>
          <a:schemeClr val="tx1"/>
        </a:solidFill>
        <a:latin typeface="+mn-lt"/>
        <a:ea typeface="+mn-ea"/>
        <a:cs typeface="+mn-cs"/>
      </a:defRPr>
    </a:lvl8pPr>
    <a:lvl9pPr marL="4171493" algn="l" defTabSz="1042873" rtl="0" eaLnBrk="1" latinLnBrk="0" hangingPunct="1">
      <a:defRPr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512FD6F-AB77-4C7E-891F-50C789B4267C}" type="slidenum">
              <a:rPr lang="fr-FR" smtClean="0"/>
              <a:t>11</a:t>
            </a:fld>
            <a:endParaRPr lang="fr-FR"/>
          </a:p>
        </p:txBody>
      </p:sp>
    </p:spTree>
    <p:extLst>
      <p:ext uri="{BB962C8B-B14F-4D97-AF65-F5344CB8AC3E}">
        <p14:creationId xmlns:p14="http://schemas.microsoft.com/office/powerpoint/2010/main" val="673460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94848-5D7E-EB15-2916-BE91DDE09EF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9245EB0-FD40-8534-96F1-A54319C2321D}"/>
              </a:ext>
            </a:extLst>
          </p:cNvPr>
          <p:cNvSpPr>
            <a:spLocks noGrp="1" noRot="1" noChangeAspect="1"/>
          </p:cNvSpPr>
          <p:nvPr>
            <p:ph type="sldImg"/>
          </p:nvPr>
        </p:nvSpPr>
        <p:spPr>
          <a:xfrm>
            <a:off x="1247775" y="1143000"/>
            <a:ext cx="4362450" cy="3086100"/>
          </a:xfrm>
        </p:spPr>
      </p:sp>
      <p:sp>
        <p:nvSpPr>
          <p:cNvPr id="3" name="Espace réservé des notes 2">
            <a:extLst>
              <a:ext uri="{FF2B5EF4-FFF2-40B4-BE49-F238E27FC236}">
                <a16:creationId xmlns:a16="http://schemas.microsoft.com/office/drawing/2014/main" id="{FC88B573-57D3-65CD-763C-BD850794443D}"/>
              </a:ext>
            </a:extLst>
          </p:cNvPr>
          <p:cNvSpPr>
            <a:spLocks noGrp="1"/>
          </p:cNvSpPr>
          <p:nvPr>
            <p:ph type="body" idx="1"/>
          </p:nvPr>
        </p:nvSpPr>
        <p:spPr/>
        <p:txBody>
          <a:bodyPr/>
          <a:lstStyle/>
          <a:p>
            <a:r>
              <a:rPr lang="fr-FR" dirty="0" err="1"/>
              <a:t>Nbe</a:t>
            </a:r>
            <a:r>
              <a:rPr lang="fr-FR" dirty="0"/>
              <a:t> bpa</a:t>
            </a:r>
          </a:p>
          <a:p>
            <a:r>
              <a:rPr lang="fr-FR" dirty="0" err="1"/>
              <a:t>Nbe</a:t>
            </a:r>
            <a:r>
              <a:rPr lang="fr-FR" dirty="0"/>
              <a:t> firewall à mettre</a:t>
            </a:r>
          </a:p>
        </p:txBody>
      </p:sp>
      <p:sp>
        <p:nvSpPr>
          <p:cNvPr id="4" name="Espace réservé du numéro de diapositive 3">
            <a:extLst>
              <a:ext uri="{FF2B5EF4-FFF2-40B4-BE49-F238E27FC236}">
                <a16:creationId xmlns:a16="http://schemas.microsoft.com/office/drawing/2014/main" id="{39D65547-95F8-17DE-32D7-1912157C44AC}"/>
              </a:ext>
            </a:extLst>
          </p:cNvPr>
          <p:cNvSpPr>
            <a:spLocks noGrp="1"/>
          </p:cNvSpPr>
          <p:nvPr>
            <p:ph type="sldNum" sz="quarter" idx="5"/>
          </p:nvPr>
        </p:nvSpPr>
        <p:spPr/>
        <p:txBody>
          <a:bodyPr/>
          <a:lstStyle/>
          <a:p>
            <a:fld id="{9512FD6F-AB77-4C7E-891F-50C789B4267C}" type="slidenum">
              <a:rPr lang="fr-FR" smtClean="0"/>
              <a:t>6</a:t>
            </a:fld>
            <a:endParaRPr lang="fr-FR"/>
          </a:p>
        </p:txBody>
      </p:sp>
    </p:spTree>
    <p:extLst>
      <p:ext uri="{BB962C8B-B14F-4D97-AF65-F5344CB8AC3E}">
        <p14:creationId xmlns:p14="http://schemas.microsoft.com/office/powerpoint/2010/main" val="2933480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D038B-00F9-4E7B-FA47-C0F9F66FA00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77D49CC-9B53-DAB6-A2FD-160708460706}"/>
              </a:ext>
            </a:extLst>
          </p:cNvPr>
          <p:cNvSpPr>
            <a:spLocks noGrp="1" noRot="1" noChangeAspect="1"/>
          </p:cNvSpPr>
          <p:nvPr>
            <p:ph type="sldImg"/>
          </p:nvPr>
        </p:nvSpPr>
        <p:spPr>
          <a:xfrm>
            <a:off x="1247775" y="1143000"/>
            <a:ext cx="4362450" cy="3086100"/>
          </a:xfrm>
        </p:spPr>
      </p:sp>
      <p:sp>
        <p:nvSpPr>
          <p:cNvPr id="3" name="Espace réservé des notes 2">
            <a:extLst>
              <a:ext uri="{FF2B5EF4-FFF2-40B4-BE49-F238E27FC236}">
                <a16:creationId xmlns:a16="http://schemas.microsoft.com/office/drawing/2014/main" id="{C20DB7DE-29B4-A64F-7100-7D095FC61C4E}"/>
              </a:ext>
            </a:extLst>
          </p:cNvPr>
          <p:cNvSpPr>
            <a:spLocks noGrp="1"/>
          </p:cNvSpPr>
          <p:nvPr>
            <p:ph type="body" idx="1"/>
          </p:nvPr>
        </p:nvSpPr>
        <p:spPr/>
        <p:txBody>
          <a:bodyPr/>
          <a:lstStyle/>
          <a:p>
            <a:r>
              <a:rPr lang="fr-FR" dirty="0" err="1"/>
              <a:t>Nbe</a:t>
            </a:r>
            <a:r>
              <a:rPr lang="fr-FR" dirty="0"/>
              <a:t> bpa</a:t>
            </a:r>
          </a:p>
          <a:p>
            <a:r>
              <a:rPr lang="fr-FR" dirty="0" err="1"/>
              <a:t>Nbe</a:t>
            </a:r>
            <a:r>
              <a:rPr lang="fr-FR" dirty="0"/>
              <a:t> firewall à mettre</a:t>
            </a:r>
          </a:p>
        </p:txBody>
      </p:sp>
      <p:sp>
        <p:nvSpPr>
          <p:cNvPr id="4" name="Espace réservé du numéro de diapositive 3">
            <a:extLst>
              <a:ext uri="{FF2B5EF4-FFF2-40B4-BE49-F238E27FC236}">
                <a16:creationId xmlns:a16="http://schemas.microsoft.com/office/drawing/2014/main" id="{B84CDB7A-E823-90DB-86FE-FBAFAE20D4AF}"/>
              </a:ext>
            </a:extLst>
          </p:cNvPr>
          <p:cNvSpPr>
            <a:spLocks noGrp="1"/>
          </p:cNvSpPr>
          <p:nvPr>
            <p:ph type="sldNum" sz="quarter" idx="5"/>
          </p:nvPr>
        </p:nvSpPr>
        <p:spPr/>
        <p:txBody>
          <a:bodyPr/>
          <a:lstStyle/>
          <a:p>
            <a:fld id="{9512FD6F-AB77-4C7E-891F-50C789B4267C}" type="slidenum">
              <a:rPr lang="fr-FR" smtClean="0"/>
              <a:t>7</a:t>
            </a:fld>
            <a:endParaRPr lang="fr-FR"/>
          </a:p>
        </p:txBody>
      </p:sp>
    </p:spTree>
    <p:extLst>
      <p:ext uri="{BB962C8B-B14F-4D97-AF65-F5344CB8AC3E}">
        <p14:creationId xmlns:p14="http://schemas.microsoft.com/office/powerpoint/2010/main" val="817136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512FD6F-AB77-4C7E-891F-50C789B4267C}" type="slidenum">
              <a:rPr lang="fr-FR" smtClean="0"/>
              <a:t>1</a:t>
            </a:fld>
            <a:endParaRPr lang="fr-FR"/>
          </a:p>
        </p:txBody>
      </p:sp>
    </p:spTree>
    <p:extLst>
      <p:ext uri="{BB962C8B-B14F-4D97-AF65-F5344CB8AC3E}">
        <p14:creationId xmlns:p14="http://schemas.microsoft.com/office/powerpoint/2010/main" val="1160819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1237197"/>
            <a:ext cx="9088041" cy="2631887"/>
          </a:xfrm>
        </p:spPr>
        <p:txBody>
          <a:bodyPr anchor="b"/>
          <a:lstStyle>
            <a:lvl1pPr algn="ctr">
              <a:defRPr sz="6614"/>
            </a:lvl1pPr>
          </a:lstStyle>
          <a:p>
            <a:r>
              <a:rPr lang="fr-FR"/>
              <a:t>Modifiez le style du titre</a:t>
            </a:r>
            <a:endParaRPr lang="en-US" dirty="0"/>
          </a:p>
        </p:txBody>
      </p:sp>
      <p:sp>
        <p:nvSpPr>
          <p:cNvPr id="3" name="Subtitle 2"/>
          <p:cNvSpPr>
            <a:spLocks noGrp="1"/>
          </p:cNvSpPr>
          <p:nvPr>
            <p:ph type="subTitle" idx="1"/>
          </p:nvPr>
        </p:nvSpPr>
        <p:spPr>
          <a:xfrm>
            <a:off x="1336477" y="3970580"/>
            <a:ext cx="8018860" cy="1825171"/>
          </a:xfrm>
        </p:spPr>
        <p:txBody>
          <a:bodyPr/>
          <a:lstStyle>
            <a:lvl1pPr marL="0" indent="0" algn="ctr">
              <a:buNone/>
              <a:defRPr sz="2646"/>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FE3C962-9C9D-46DF-A443-FF18222A4B08}" type="datetimeFigureOut">
              <a:rPr lang="fr-FR" smtClean="0"/>
              <a:t>08/01/2026</a:t>
            </a:fld>
            <a:endParaRPr lang="fr-FR"/>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dirty="0"/>
          </a:p>
        </p:txBody>
      </p:sp>
    </p:spTree>
    <p:extLst>
      <p:ext uri="{BB962C8B-B14F-4D97-AF65-F5344CB8AC3E}">
        <p14:creationId xmlns:p14="http://schemas.microsoft.com/office/powerpoint/2010/main" val="3856612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FE3C962-9C9D-46DF-A443-FF18222A4B08}" type="datetimeFigureOut">
              <a:rPr lang="fr-FR" smtClean="0"/>
              <a:t>08/01/2026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1618037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729494" y="1884671"/>
            <a:ext cx="9221689" cy="3144614"/>
          </a:xfrm>
        </p:spPr>
        <p:txBody>
          <a:bodyPr anchor="b"/>
          <a:lstStyle>
            <a:lvl1pPr>
              <a:defRPr sz="6614"/>
            </a:lvl1pPr>
          </a:lstStyle>
          <a:p>
            <a:r>
              <a:rPr lang="fr-FR"/>
              <a:t>Modifiez le style du titre</a:t>
            </a:r>
            <a:endParaRPr lang="en-US" dirty="0"/>
          </a:p>
        </p:txBody>
      </p:sp>
      <p:sp>
        <p:nvSpPr>
          <p:cNvPr id="3" name="Text Placeholder 2"/>
          <p:cNvSpPr>
            <a:spLocks noGrp="1"/>
          </p:cNvSpPr>
          <p:nvPr>
            <p:ph type="body" idx="1"/>
          </p:nvPr>
        </p:nvSpPr>
        <p:spPr>
          <a:xfrm>
            <a:off x="729494" y="5059035"/>
            <a:ext cx="9221689" cy="1653678"/>
          </a:xfrm>
        </p:spPr>
        <p:txBody>
          <a:bodyPr/>
          <a:lstStyle>
            <a:lvl1pPr marL="0" indent="0">
              <a:buNone/>
              <a:defRPr sz="2646">
                <a:solidFill>
                  <a:schemeClr val="tx1"/>
                </a:solidFill>
              </a:defRPr>
            </a:lvl1pPr>
            <a:lvl2pPr marL="503972" indent="0">
              <a:buNone/>
              <a:defRPr sz="2205">
                <a:solidFill>
                  <a:schemeClr val="tx1">
                    <a:tint val="75000"/>
                  </a:schemeClr>
                </a:solidFill>
              </a:defRPr>
            </a:lvl2pPr>
            <a:lvl3pPr marL="1007943" indent="0">
              <a:buNone/>
              <a:defRPr sz="1984">
                <a:solidFill>
                  <a:schemeClr val="tx1">
                    <a:tint val="75000"/>
                  </a:schemeClr>
                </a:solidFill>
              </a:defRPr>
            </a:lvl3pPr>
            <a:lvl4pPr marL="1511915" indent="0">
              <a:buNone/>
              <a:defRPr sz="1764">
                <a:solidFill>
                  <a:schemeClr val="tx1">
                    <a:tint val="75000"/>
                  </a:schemeClr>
                </a:solidFill>
              </a:defRPr>
            </a:lvl4pPr>
            <a:lvl5pPr marL="2015886" indent="0">
              <a:buNone/>
              <a:defRPr sz="1764">
                <a:solidFill>
                  <a:schemeClr val="tx1">
                    <a:tint val="75000"/>
                  </a:schemeClr>
                </a:solidFill>
              </a:defRPr>
            </a:lvl5pPr>
            <a:lvl6pPr marL="2519858" indent="0">
              <a:buNone/>
              <a:defRPr sz="1764">
                <a:solidFill>
                  <a:schemeClr val="tx1">
                    <a:tint val="75000"/>
                  </a:schemeClr>
                </a:solidFill>
              </a:defRPr>
            </a:lvl6pPr>
            <a:lvl7pPr marL="3023829" indent="0">
              <a:buNone/>
              <a:defRPr sz="1764">
                <a:solidFill>
                  <a:schemeClr val="tx1">
                    <a:tint val="75000"/>
                  </a:schemeClr>
                </a:solidFill>
              </a:defRPr>
            </a:lvl7pPr>
            <a:lvl8pPr marL="3527801" indent="0">
              <a:buNone/>
              <a:defRPr sz="1764">
                <a:solidFill>
                  <a:schemeClr val="tx1">
                    <a:tint val="75000"/>
                  </a:schemeClr>
                </a:solidFill>
              </a:defRPr>
            </a:lvl8pPr>
            <a:lvl9pPr marL="4031772" indent="0">
              <a:buNone/>
              <a:defRPr sz="1764">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FE3C962-9C9D-46DF-A443-FF18222A4B08}" type="datetimeFigureOut">
              <a:rPr lang="fr-FR" smtClean="0"/>
              <a:t>08/01/2026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2217632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735062" y="2012414"/>
            <a:ext cx="4544021" cy="479654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412730" y="2012414"/>
            <a:ext cx="4544021" cy="479654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FE3C962-9C9D-46DF-A443-FF18222A4B08}" type="datetimeFigureOut">
              <a:rPr lang="fr-FR" smtClean="0"/>
              <a:t>08/01/2026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2714780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736455" y="402484"/>
            <a:ext cx="9221689" cy="1461188"/>
          </a:xfrm>
        </p:spPr>
        <p:txBody>
          <a:bodyPr/>
          <a:lstStyle/>
          <a:p>
            <a:r>
              <a:rPr lang="fr-FR"/>
              <a:t>Modifiez le style du titre</a:t>
            </a:r>
            <a:endParaRPr lang="en-US" dirty="0"/>
          </a:p>
        </p:txBody>
      </p:sp>
      <p:sp>
        <p:nvSpPr>
          <p:cNvPr id="3" name="Text Placeholder 2"/>
          <p:cNvSpPr>
            <a:spLocks noGrp="1"/>
          </p:cNvSpPr>
          <p:nvPr>
            <p:ph type="body" idx="1"/>
          </p:nvPr>
        </p:nvSpPr>
        <p:spPr>
          <a:xfrm>
            <a:off x="736456" y="1853171"/>
            <a:ext cx="4523137"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4" name="Content Placeholder 3"/>
          <p:cNvSpPr>
            <a:spLocks noGrp="1"/>
          </p:cNvSpPr>
          <p:nvPr>
            <p:ph sz="half" idx="2"/>
          </p:nvPr>
        </p:nvSpPr>
        <p:spPr>
          <a:xfrm>
            <a:off x="736456" y="2761381"/>
            <a:ext cx="4523137" cy="40615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412731" y="1853171"/>
            <a:ext cx="4545413"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6" name="Content Placeholder 5"/>
          <p:cNvSpPr>
            <a:spLocks noGrp="1"/>
          </p:cNvSpPr>
          <p:nvPr>
            <p:ph sz="quarter" idx="4"/>
          </p:nvPr>
        </p:nvSpPr>
        <p:spPr>
          <a:xfrm>
            <a:off x="5412731" y="2761381"/>
            <a:ext cx="4545413" cy="40615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FE3C962-9C9D-46DF-A443-FF18222A4B08}" type="datetimeFigureOut">
              <a:rPr lang="fr-FR" smtClean="0"/>
              <a:t>08/01/2026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3441521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FE3C962-9C9D-46DF-A443-FF18222A4B08}" type="datetimeFigureOut">
              <a:rPr lang="fr-FR" smtClean="0"/>
              <a:t>08/01/2026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2190708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E3C962-9C9D-46DF-A443-FF18222A4B08}" type="datetimeFigureOut">
              <a:rPr lang="fr-FR" smtClean="0"/>
              <a:t>08/01/2026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779205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36455" y="503978"/>
            <a:ext cx="3448388" cy="1763924"/>
          </a:xfrm>
        </p:spPr>
        <p:txBody>
          <a:bodyPr anchor="b"/>
          <a:lstStyle>
            <a:lvl1pPr>
              <a:defRPr sz="3527"/>
            </a:lvl1pPr>
          </a:lstStyle>
          <a:p>
            <a:r>
              <a:rPr lang="fr-FR"/>
              <a:t>Modifiez le style du titre</a:t>
            </a:r>
            <a:endParaRPr lang="en-US" dirty="0"/>
          </a:p>
        </p:txBody>
      </p:sp>
      <p:sp>
        <p:nvSpPr>
          <p:cNvPr id="3" name="Content Placeholder 2"/>
          <p:cNvSpPr>
            <a:spLocks noGrp="1"/>
          </p:cNvSpPr>
          <p:nvPr>
            <p:ph idx="1"/>
          </p:nvPr>
        </p:nvSpPr>
        <p:spPr>
          <a:xfrm>
            <a:off x="4545413" y="1088455"/>
            <a:ext cx="5412730" cy="5372269"/>
          </a:xfrm>
        </p:spPr>
        <p:txBody>
          <a:bodyPr/>
          <a:lstStyle>
            <a:lvl1pPr>
              <a:defRPr sz="3527"/>
            </a:lvl1pPr>
            <a:lvl2pPr>
              <a:defRPr sz="3086"/>
            </a:lvl2pPr>
            <a:lvl3pPr>
              <a:defRPr sz="2646"/>
            </a:lvl3pPr>
            <a:lvl4pPr>
              <a:defRPr sz="2205"/>
            </a:lvl4pPr>
            <a:lvl5pPr>
              <a:defRPr sz="2205"/>
            </a:lvl5pPr>
            <a:lvl6pPr>
              <a:defRPr sz="2205"/>
            </a:lvl6pPr>
            <a:lvl7pPr>
              <a:defRPr sz="2205"/>
            </a:lvl7pPr>
            <a:lvl8pPr>
              <a:defRPr sz="2205"/>
            </a:lvl8pPr>
            <a:lvl9pPr>
              <a:defRPr sz="2205"/>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FE3C962-9C9D-46DF-A443-FF18222A4B08}" type="datetimeFigureOut">
              <a:rPr lang="fr-FR" smtClean="0"/>
              <a:t>08/01/2026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1517033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36455" y="503978"/>
            <a:ext cx="3448388" cy="1763924"/>
          </a:xfrm>
        </p:spPr>
        <p:txBody>
          <a:bodyPr anchor="b"/>
          <a:lstStyle>
            <a:lvl1pPr>
              <a:defRPr sz="3527"/>
            </a:lvl1pPr>
          </a:lstStyle>
          <a:p>
            <a:r>
              <a:rPr lang="fr-FR"/>
              <a:t>Modifiez le style du titre</a:t>
            </a:r>
            <a:endParaRPr lang="en-US" dirty="0"/>
          </a:p>
        </p:txBody>
      </p:sp>
      <p:sp>
        <p:nvSpPr>
          <p:cNvPr id="3" name="Picture Placeholder 2"/>
          <p:cNvSpPr>
            <a:spLocks noGrp="1" noChangeAspect="1"/>
          </p:cNvSpPr>
          <p:nvPr>
            <p:ph type="pic" idx="1"/>
          </p:nvPr>
        </p:nvSpPr>
        <p:spPr>
          <a:xfrm>
            <a:off x="4545413" y="1088455"/>
            <a:ext cx="5412730" cy="5372269"/>
          </a:xfrm>
        </p:spPr>
        <p:txBody>
          <a:bodyPr anchor="t"/>
          <a:lstStyle>
            <a:lvl1pPr marL="0" indent="0">
              <a:buNone/>
              <a:defRPr sz="3527"/>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r>
              <a:rPr lang="fr-FR"/>
              <a:t>Cliquez sur l'icône pour ajouter une image</a:t>
            </a:r>
            <a:endParaRPr lang="en-US" dirty="0"/>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FE3C962-9C9D-46DF-A443-FF18222A4B08}" type="datetimeFigureOut">
              <a:rPr lang="fr-FR" smtClean="0"/>
              <a:t>08/01/2026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188037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FE3C962-9C9D-46DF-A443-FF18222A4B08}" type="datetimeFigureOut">
              <a:rPr lang="fr-FR" smtClean="0"/>
              <a:t>08/01/2026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2226103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402483"/>
            <a:ext cx="2305422" cy="6406475"/>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35063" y="402483"/>
            <a:ext cx="6782619" cy="640647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FE3C962-9C9D-46DF-A443-FF18222A4B08}" type="datetimeFigureOut">
              <a:rPr lang="fr-FR" smtClean="0"/>
              <a:t>08/01/2026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3820301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ONTENU VERT">
    <p:spTree>
      <p:nvGrpSpPr>
        <p:cNvPr id="1" name=""/>
        <p:cNvGrpSpPr/>
        <p:nvPr/>
      </p:nvGrpSpPr>
      <p:grpSpPr>
        <a:xfrm>
          <a:off x="0" y="0"/>
          <a:ext cx="0" cy="0"/>
          <a:chOff x="0" y="0"/>
          <a:chExt cx="0" cy="0"/>
        </a:xfrm>
      </p:grpSpPr>
      <p:sp>
        <p:nvSpPr>
          <p:cNvPr id="6" name="Espace réservé du texte 31">
            <a:extLst>
              <a:ext uri="{FF2B5EF4-FFF2-40B4-BE49-F238E27FC236}">
                <a16:creationId xmlns:a16="http://schemas.microsoft.com/office/drawing/2014/main" id="{01D4BEEE-C528-26A8-8441-EC58C49F22EF}"/>
              </a:ext>
            </a:extLst>
          </p:cNvPr>
          <p:cNvSpPr>
            <a:spLocks noGrp="1"/>
          </p:cNvSpPr>
          <p:nvPr>
            <p:ph type="body" sz="quarter" idx="11" hasCustomPrompt="1"/>
          </p:nvPr>
        </p:nvSpPr>
        <p:spPr>
          <a:xfrm>
            <a:off x="707598" y="753176"/>
            <a:ext cx="4261665" cy="664669"/>
          </a:xfrm>
          <a:prstGeom prst="rect">
            <a:avLst/>
          </a:prstGeom>
        </p:spPr>
        <p:txBody>
          <a:bodyPr>
            <a:normAutofit/>
          </a:bodyPr>
          <a:lstStyle>
            <a:lvl1pPr marL="0" indent="0">
              <a:buNone/>
              <a:defRPr sz="2100" b="1">
                <a:solidFill>
                  <a:schemeClr val="tx1"/>
                </a:solidFill>
                <a:latin typeface="+mj-lt"/>
              </a:defRPr>
            </a:lvl1pPr>
          </a:lstStyle>
          <a:p>
            <a:pPr lvl="0"/>
            <a:r>
              <a:rPr lang="fr-FR" dirty="0"/>
              <a:t>Insérez votre titre</a:t>
            </a:r>
          </a:p>
        </p:txBody>
      </p:sp>
      <p:sp>
        <p:nvSpPr>
          <p:cNvPr id="2" name="Espace réservé du texte 6">
            <a:extLst>
              <a:ext uri="{FF2B5EF4-FFF2-40B4-BE49-F238E27FC236}">
                <a16:creationId xmlns:a16="http://schemas.microsoft.com/office/drawing/2014/main" id="{C75EC255-9E3E-FDA9-8664-14249714B5BE}"/>
              </a:ext>
            </a:extLst>
          </p:cNvPr>
          <p:cNvSpPr>
            <a:spLocks noGrp="1"/>
          </p:cNvSpPr>
          <p:nvPr>
            <p:ph type="body" sz="quarter" idx="13"/>
          </p:nvPr>
        </p:nvSpPr>
        <p:spPr>
          <a:xfrm>
            <a:off x="707599" y="1679931"/>
            <a:ext cx="4771956" cy="5148477"/>
          </a:xfrm>
          <a:prstGeom prst="rect">
            <a:avLst/>
          </a:prstGeom>
        </p:spPr>
        <p:txBody>
          <a:bodyPr/>
          <a:lstStyle>
            <a:lvl1pPr marL="171446" indent="-171446">
              <a:buClr>
                <a:schemeClr val="bg2"/>
              </a:buClr>
              <a:buFont typeface="Arial Nova" panose="020B0504020202020204" pitchFamily="34" charset="0"/>
              <a:buChar char="&gt;"/>
              <a:defRPr sz="1800">
                <a:latin typeface="+mn-lt"/>
              </a:defRPr>
            </a:lvl1pPr>
            <a:lvl2pPr marL="514338" indent="-171446">
              <a:buClr>
                <a:schemeClr val="bg2"/>
              </a:buClr>
              <a:buFont typeface="Arial Nova" panose="020B0504020202020204" pitchFamily="34" charset="0"/>
              <a:buChar char="&gt;"/>
              <a:defRPr sz="1500">
                <a:latin typeface="+mn-lt"/>
              </a:defRPr>
            </a:lvl2pPr>
            <a:lvl3pPr marL="857230" indent="-171446">
              <a:buClr>
                <a:schemeClr val="bg2"/>
              </a:buClr>
              <a:buFont typeface="Arial Nova" panose="020B0504020202020204" pitchFamily="34" charset="0"/>
              <a:buChar char="&gt;"/>
              <a:defRPr sz="1350">
                <a:latin typeface="+mn-lt"/>
              </a:defRPr>
            </a:lvl3pPr>
            <a:lvl4pPr marL="1200122" indent="-171446">
              <a:buClr>
                <a:schemeClr val="bg2"/>
              </a:buClr>
              <a:buFont typeface="Arial Nova" panose="020B0504020202020204" pitchFamily="34" charset="0"/>
              <a:buChar char="&gt;"/>
              <a:defRPr sz="1050">
                <a:latin typeface="+mn-lt"/>
              </a:defRPr>
            </a:lvl4pPr>
            <a:lvl5pPr marL="1543013" indent="-171446">
              <a:buClr>
                <a:schemeClr val="bg2"/>
              </a:buClr>
              <a:buFont typeface="Arial Nova" panose="020B0504020202020204" pitchFamily="34" charset="0"/>
              <a:buChar char="&gt;"/>
              <a:defRPr sz="1050">
                <a:latin typeface="+mn-lt"/>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pour une image  4">
            <a:extLst>
              <a:ext uri="{FF2B5EF4-FFF2-40B4-BE49-F238E27FC236}">
                <a16:creationId xmlns:a16="http://schemas.microsoft.com/office/drawing/2014/main" id="{874A3F1B-998C-6FEB-BC1D-019E6E18139F}"/>
              </a:ext>
            </a:extLst>
          </p:cNvPr>
          <p:cNvSpPr>
            <a:spLocks noGrp="1"/>
          </p:cNvSpPr>
          <p:nvPr>
            <p:ph type="pic" sz="quarter" idx="10" hasCustomPrompt="1"/>
          </p:nvPr>
        </p:nvSpPr>
        <p:spPr>
          <a:xfrm>
            <a:off x="6185078" y="1679931"/>
            <a:ext cx="3566806" cy="4317065"/>
          </a:xfrm>
          <a:prstGeom prst="rect">
            <a:avLst/>
          </a:prstGeom>
        </p:spPr>
        <p:txBody>
          <a:bodyPr anchor="ctr"/>
          <a:lstStyle>
            <a:lvl1pPr marL="0" indent="0">
              <a:buNone/>
              <a:defRPr/>
            </a:lvl1pPr>
          </a:lstStyle>
          <a:p>
            <a:pPr marL="0" marR="0" lvl="0" indent="0" algn="l" defTabSz="685784"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dirty="0"/>
              <a:t>Insérez une image si vous le souhaitez</a:t>
            </a:r>
          </a:p>
        </p:txBody>
      </p:sp>
    </p:spTree>
    <p:extLst>
      <p:ext uri="{BB962C8B-B14F-4D97-AF65-F5344CB8AC3E}">
        <p14:creationId xmlns:p14="http://schemas.microsoft.com/office/powerpoint/2010/main" val="1071115316"/>
      </p:ext>
    </p:extLst>
  </p:cSld>
  <p:clrMapOvr>
    <a:masterClrMapping/>
  </p:clrMapOvr>
  <p:extLst>
    <p:ext uri="{DCECCB84-F9BA-43D5-87BE-67443E8EF086}">
      <p15:sldGuideLst xmlns:p15="http://schemas.microsoft.com/office/powerpoint/2012/main">
        <p15:guide id="1" orient="horz" pos="2381">
          <p15:clr>
            <a:srgbClr val="FBAE40"/>
          </p15:clr>
        </p15:guide>
        <p15:guide id="2" pos="336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CONTENU VERT">
    <p:spTree>
      <p:nvGrpSpPr>
        <p:cNvPr id="1" name=""/>
        <p:cNvGrpSpPr/>
        <p:nvPr/>
      </p:nvGrpSpPr>
      <p:grpSpPr>
        <a:xfrm>
          <a:off x="0" y="0"/>
          <a:ext cx="0" cy="0"/>
          <a:chOff x="0" y="0"/>
          <a:chExt cx="0" cy="0"/>
        </a:xfrm>
      </p:grpSpPr>
      <p:sp>
        <p:nvSpPr>
          <p:cNvPr id="6" name="Espace réservé du texte 31">
            <a:extLst>
              <a:ext uri="{FF2B5EF4-FFF2-40B4-BE49-F238E27FC236}">
                <a16:creationId xmlns:a16="http://schemas.microsoft.com/office/drawing/2014/main" id="{01D4BEEE-C528-26A8-8441-EC58C49F22EF}"/>
              </a:ext>
            </a:extLst>
          </p:cNvPr>
          <p:cNvSpPr>
            <a:spLocks noGrp="1"/>
          </p:cNvSpPr>
          <p:nvPr>
            <p:ph type="body" sz="quarter" idx="11" hasCustomPrompt="1"/>
          </p:nvPr>
        </p:nvSpPr>
        <p:spPr>
          <a:xfrm>
            <a:off x="707598" y="753176"/>
            <a:ext cx="4261665" cy="664669"/>
          </a:xfrm>
          <a:prstGeom prst="rect">
            <a:avLst/>
          </a:prstGeom>
        </p:spPr>
        <p:txBody>
          <a:bodyPr>
            <a:normAutofit/>
          </a:bodyPr>
          <a:lstStyle>
            <a:lvl1pPr marL="0" indent="0">
              <a:buNone/>
              <a:defRPr sz="2100" b="1">
                <a:solidFill>
                  <a:schemeClr val="tx1"/>
                </a:solidFill>
                <a:latin typeface="+mj-lt"/>
              </a:defRPr>
            </a:lvl1pPr>
          </a:lstStyle>
          <a:p>
            <a:pPr lvl="0"/>
            <a:r>
              <a:rPr lang="fr-FR" dirty="0"/>
              <a:t>Insérez votre titre</a:t>
            </a:r>
          </a:p>
        </p:txBody>
      </p:sp>
      <p:sp>
        <p:nvSpPr>
          <p:cNvPr id="2" name="Espace réservé du texte 6">
            <a:extLst>
              <a:ext uri="{FF2B5EF4-FFF2-40B4-BE49-F238E27FC236}">
                <a16:creationId xmlns:a16="http://schemas.microsoft.com/office/drawing/2014/main" id="{C75EC255-9E3E-FDA9-8664-14249714B5BE}"/>
              </a:ext>
            </a:extLst>
          </p:cNvPr>
          <p:cNvSpPr>
            <a:spLocks noGrp="1"/>
          </p:cNvSpPr>
          <p:nvPr>
            <p:ph type="body" sz="quarter" idx="13"/>
          </p:nvPr>
        </p:nvSpPr>
        <p:spPr>
          <a:xfrm>
            <a:off x="707599" y="1679931"/>
            <a:ext cx="4771956" cy="5148477"/>
          </a:xfrm>
          <a:prstGeom prst="rect">
            <a:avLst/>
          </a:prstGeom>
        </p:spPr>
        <p:txBody>
          <a:bodyPr/>
          <a:lstStyle>
            <a:lvl1pPr marL="171446" indent="-171446">
              <a:buClr>
                <a:schemeClr val="bg2"/>
              </a:buClr>
              <a:buFont typeface="Arial Nova" panose="020B0504020202020204" pitchFamily="34" charset="0"/>
              <a:buChar char="&gt;"/>
              <a:defRPr sz="1800">
                <a:latin typeface="+mn-lt"/>
              </a:defRPr>
            </a:lvl1pPr>
            <a:lvl2pPr marL="514338" indent="-171446">
              <a:buClr>
                <a:schemeClr val="bg2"/>
              </a:buClr>
              <a:buFont typeface="Arial Nova" panose="020B0504020202020204" pitchFamily="34" charset="0"/>
              <a:buChar char="&gt;"/>
              <a:defRPr sz="1500">
                <a:latin typeface="+mn-lt"/>
              </a:defRPr>
            </a:lvl2pPr>
            <a:lvl3pPr marL="857230" indent="-171446">
              <a:buClr>
                <a:schemeClr val="bg2"/>
              </a:buClr>
              <a:buFont typeface="Arial Nova" panose="020B0504020202020204" pitchFamily="34" charset="0"/>
              <a:buChar char="&gt;"/>
              <a:defRPr sz="1350">
                <a:latin typeface="+mn-lt"/>
              </a:defRPr>
            </a:lvl3pPr>
            <a:lvl4pPr marL="1200122" indent="-171446">
              <a:buClr>
                <a:schemeClr val="bg2"/>
              </a:buClr>
              <a:buFont typeface="Arial Nova" panose="020B0504020202020204" pitchFamily="34" charset="0"/>
              <a:buChar char="&gt;"/>
              <a:defRPr sz="1050">
                <a:latin typeface="+mn-lt"/>
              </a:defRPr>
            </a:lvl4pPr>
            <a:lvl5pPr marL="1543013" indent="-171446">
              <a:buClr>
                <a:schemeClr val="bg2"/>
              </a:buClr>
              <a:buFont typeface="Arial Nova" panose="020B0504020202020204" pitchFamily="34" charset="0"/>
              <a:buChar char="&gt;"/>
              <a:defRPr sz="1050">
                <a:latin typeface="+mn-lt"/>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pour une image  4">
            <a:extLst>
              <a:ext uri="{FF2B5EF4-FFF2-40B4-BE49-F238E27FC236}">
                <a16:creationId xmlns:a16="http://schemas.microsoft.com/office/drawing/2014/main" id="{874A3F1B-998C-6FEB-BC1D-019E6E18139F}"/>
              </a:ext>
            </a:extLst>
          </p:cNvPr>
          <p:cNvSpPr>
            <a:spLocks noGrp="1"/>
          </p:cNvSpPr>
          <p:nvPr>
            <p:ph type="pic" sz="quarter" idx="10" hasCustomPrompt="1"/>
          </p:nvPr>
        </p:nvSpPr>
        <p:spPr>
          <a:xfrm>
            <a:off x="6185078" y="1679931"/>
            <a:ext cx="3566806" cy="4317065"/>
          </a:xfrm>
          <a:prstGeom prst="rect">
            <a:avLst/>
          </a:prstGeom>
        </p:spPr>
        <p:txBody>
          <a:bodyPr anchor="ctr"/>
          <a:lstStyle>
            <a:lvl1pPr marL="0" indent="0">
              <a:buNone/>
              <a:defRPr/>
            </a:lvl1pPr>
          </a:lstStyle>
          <a:p>
            <a:pPr marL="0" marR="0" lvl="0" indent="0" algn="l" defTabSz="685784"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dirty="0"/>
              <a:t>Insérez une image si vous le souhaitez</a:t>
            </a:r>
          </a:p>
        </p:txBody>
      </p:sp>
    </p:spTree>
    <p:extLst>
      <p:ext uri="{BB962C8B-B14F-4D97-AF65-F5344CB8AC3E}">
        <p14:creationId xmlns:p14="http://schemas.microsoft.com/office/powerpoint/2010/main" val="1071115316"/>
      </p:ext>
    </p:extLst>
  </p:cSld>
  <p:clrMapOvr>
    <a:masterClrMapping/>
  </p:clrMapOvr>
  <p:extLst>
    <p:ext uri="{DCECCB84-F9BA-43D5-87BE-67443E8EF086}">
      <p15:sldGuideLst xmlns:p15="http://schemas.microsoft.com/office/powerpoint/2012/main">
        <p15:guide id="1" orient="horz" pos="2381">
          <p15:clr>
            <a:srgbClr val="FBAE40"/>
          </p15:clr>
        </p15:guide>
        <p15:guide id="2" pos="336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ONTENU VERT">
    <p:spTree>
      <p:nvGrpSpPr>
        <p:cNvPr id="1" name=""/>
        <p:cNvGrpSpPr/>
        <p:nvPr/>
      </p:nvGrpSpPr>
      <p:grpSpPr>
        <a:xfrm>
          <a:off x="0" y="0"/>
          <a:ext cx="0" cy="0"/>
          <a:chOff x="0" y="0"/>
          <a:chExt cx="0" cy="0"/>
        </a:xfrm>
      </p:grpSpPr>
      <p:sp>
        <p:nvSpPr>
          <p:cNvPr id="6" name="Espace réservé du texte 31">
            <a:extLst>
              <a:ext uri="{FF2B5EF4-FFF2-40B4-BE49-F238E27FC236}">
                <a16:creationId xmlns:a16="http://schemas.microsoft.com/office/drawing/2014/main" id="{01D4BEEE-C528-26A8-8441-EC58C49F22EF}"/>
              </a:ext>
            </a:extLst>
          </p:cNvPr>
          <p:cNvSpPr>
            <a:spLocks noGrp="1"/>
          </p:cNvSpPr>
          <p:nvPr>
            <p:ph type="body" sz="quarter" idx="11" hasCustomPrompt="1"/>
          </p:nvPr>
        </p:nvSpPr>
        <p:spPr>
          <a:xfrm>
            <a:off x="707598" y="753176"/>
            <a:ext cx="4261665" cy="664669"/>
          </a:xfrm>
          <a:prstGeom prst="rect">
            <a:avLst/>
          </a:prstGeom>
        </p:spPr>
        <p:txBody>
          <a:bodyPr>
            <a:normAutofit/>
          </a:bodyPr>
          <a:lstStyle>
            <a:lvl1pPr marL="0" indent="0">
              <a:buNone/>
              <a:defRPr sz="2100" b="1">
                <a:solidFill>
                  <a:schemeClr val="tx1"/>
                </a:solidFill>
                <a:latin typeface="+mj-lt"/>
              </a:defRPr>
            </a:lvl1pPr>
          </a:lstStyle>
          <a:p>
            <a:pPr lvl="0"/>
            <a:r>
              <a:rPr lang="fr-FR" dirty="0"/>
              <a:t>Insérez votre titre</a:t>
            </a:r>
          </a:p>
        </p:txBody>
      </p:sp>
      <p:sp>
        <p:nvSpPr>
          <p:cNvPr id="2" name="Espace réservé du texte 6">
            <a:extLst>
              <a:ext uri="{FF2B5EF4-FFF2-40B4-BE49-F238E27FC236}">
                <a16:creationId xmlns:a16="http://schemas.microsoft.com/office/drawing/2014/main" id="{C75EC255-9E3E-FDA9-8664-14249714B5BE}"/>
              </a:ext>
            </a:extLst>
          </p:cNvPr>
          <p:cNvSpPr>
            <a:spLocks noGrp="1"/>
          </p:cNvSpPr>
          <p:nvPr>
            <p:ph type="body" sz="quarter" idx="13"/>
          </p:nvPr>
        </p:nvSpPr>
        <p:spPr>
          <a:xfrm>
            <a:off x="707599" y="1679931"/>
            <a:ext cx="4771956" cy="5148477"/>
          </a:xfrm>
          <a:prstGeom prst="rect">
            <a:avLst/>
          </a:prstGeom>
        </p:spPr>
        <p:txBody>
          <a:bodyPr/>
          <a:lstStyle>
            <a:lvl1pPr marL="171446" indent="-171446">
              <a:buClr>
                <a:schemeClr val="bg2"/>
              </a:buClr>
              <a:buFont typeface="Arial Nova" panose="020B0504020202020204" pitchFamily="34" charset="0"/>
              <a:buChar char="&gt;"/>
              <a:defRPr sz="1800">
                <a:latin typeface="+mn-lt"/>
              </a:defRPr>
            </a:lvl1pPr>
            <a:lvl2pPr marL="514338" indent="-171446">
              <a:buClr>
                <a:schemeClr val="bg2"/>
              </a:buClr>
              <a:buFont typeface="Arial Nova" panose="020B0504020202020204" pitchFamily="34" charset="0"/>
              <a:buChar char="&gt;"/>
              <a:defRPr sz="1500">
                <a:latin typeface="+mn-lt"/>
              </a:defRPr>
            </a:lvl2pPr>
            <a:lvl3pPr marL="857230" indent="-171446">
              <a:buClr>
                <a:schemeClr val="bg2"/>
              </a:buClr>
              <a:buFont typeface="Arial Nova" panose="020B0504020202020204" pitchFamily="34" charset="0"/>
              <a:buChar char="&gt;"/>
              <a:defRPr sz="1350">
                <a:latin typeface="+mn-lt"/>
              </a:defRPr>
            </a:lvl3pPr>
            <a:lvl4pPr marL="1200122" indent="-171446">
              <a:buClr>
                <a:schemeClr val="bg2"/>
              </a:buClr>
              <a:buFont typeface="Arial Nova" panose="020B0504020202020204" pitchFamily="34" charset="0"/>
              <a:buChar char="&gt;"/>
              <a:defRPr sz="1050">
                <a:latin typeface="+mn-lt"/>
              </a:defRPr>
            </a:lvl4pPr>
            <a:lvl5pPr marL="1543013" indent="-171446">
              <a:buClr>
                <a:schemeClr val="bg2"/>
              </a:buClr>
              <a:buFont typeface="Arial Nova" panose="020B0504020202020204" pitchFamily="34" charset="0"/>
              <a:buChar char="&gt;"/>
              <a:defRPr sz="1050">
                <a:latin typeface="+mn-lt"/>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pour une image  4">
            <a:extLst>
              <a:ext uri="{FF2B5EF4-FFF2-40B4-BE49-F238E27FC236}">
                <a16:creationId xmlns:a16="http://schemas.microsoft.com/office/drawing/2014/main" id="{874A3F1B-998C-6FEB-BC1D-019E6E18139F}"/>
              </a:ext>
            </a:extLst>
          </p:cNvPr>
          <p:cNvSpPr>
            <a:spLocks noGrp="1"/>
          </p:cNvSpPr>
          <p:nvPr>
            <p:ph type="pic" sz="quarter" idx="10" hasCustomPrompt="1"/>
          </p:nvPr>
        </p:nvSpPr>
        <p:spPr>
          <a:xfrm>
            <a:off x="6185078" y="1679931"/>
            <a:ext cx="3566806" cy="4317065"/>
          </a:xfrm>
          <a:prstGeom prst="rect">
            <a:avLst/>
          </a:prstGeom>
        </p:spPr>
        <p:txBody>
          <a:bodyPr anchor="ctr"/>
          <a:lstStyle>
            <a:lvl1pPr marL="0" indent="0">
              <a:buNone/>
              <a:defRPr/>
            </a:lvl1pPr>
          </a:lstStyle>
          <a:p>
            <a:pPr marL="0" marR="0" lvl="0" indent="0" algn="l" defTabSz="685784"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dirty="0"/>
              <a:t>Insérez une image si vous le souhaitez</a:t>
            </a:r>
          </a:p>
        </p:txBody>
      </p:sp>
    </p:spTree>
    <p:extLst>
      <p:ext uri="{BB962C8B-B14F-4D97-AF65-F5344CB8AC3E}">
        <p14:creationId xmlns:p14="http://schemas.microsoft.com/office/powerpoint/2010/main" val="1071115316"/>
      </p:ext>
    </p:extLst>
  </p:cSld>
  <p:clrMapOvr>
    <a:masterClrMapping/>
  </p:clrMapOvr>
  <p:extLst>
    <p:ext uri="{DCECCB84-F9BA-43D5-87BE-67443E8EF086}">
      <p15:sldGuideLst xmlns:p15="http://schemas.microsoft.com/office/powerpoint/2012/main">
        <p15:guide id="1" orient="horz" pos="2381">
          <p15:clr>
            <a:srgbClr val="FBAE40"/>
          </p15:clr>
        </p15:guide>
        <p15:guide id="2" pos="336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402484"/>
            <a:ext cx="9221689" cy="1461188"/>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735062" y="2012414"/>
            <a:ext cx="9221689" cy="479654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35062" y="7006700"/>
            <a:ext cx="2405658" cy="402483"/>
          </a:xfrm>
          <a:prstGeom prst="rect">
            <a:avLst/>
          </a:prstGeom>
        </p:spPr>
        <p:txBody>
          <a:bodyPr vert="horz" lIns="91440" tIns="45720" rIns="91440" bIns="45720" rtlCol="0" anchor="ctr"/>
          <a:lstStyle>
            <a:lvl1pPr algn="l">
              <a:defRPr sz="1323">
                <a:solidFill>
                  <a:schemeClr val="tx1">
                    <a:tint val="75000"/>
                  </a:schemeClr>
                </a:solidFill>
              </a:defRPr>
            </a:lvl1pPr>
          </a:lstStyle>
          <a:p>
            <a:fld id="{CFE3C962-9C9D-46DF-A443-FF18222A4B08}" type="datetimeFigureOut">
              <a:rPr lang="fr-FR" smtClean="0"/>
              <a:t>08/01/2026</a:t>
            </a:fld>
            <a:endParaRPr lang="fr-FR"/>
          </a:p>
        </p:txBody>
      </p:sp>
      <p:sp>
        <p:nvSpPr>
          <p:cNvPr id="5" name="Footer Placeholder 4"/>
          <p:cNvSpPr>
            <a:spLocks noGrp="1"/>
          </p:cNvSpPr>
          <p:nvPr>
            <p:ph type="ftr" sz="quarter" idx="3"/>
          </p:nvPr>
        </p:nvSpPr>
        <p:spPr>
          <a:xfrm>
            <a:off x="3541663" y="7006700"/>
            <a:ext cx="3608487" cy="402483"/>
          </a:xfrm>
          <a:prstGeom prst="rect">
            <a:avLst/>
          </a:prstGeom>
        </p:spPr>
        <p:txBody>
          <a:bodyPr vert="horz" lIns="91440" tIns="45720" rIns="91440" bIns="45720" rtlCol="0" anchor="ctr"/>
          <a:lstStyle>
            <a:lvl1pPr algn="ctr">
              <a:defRPr sz="1323">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551093" y="7006700"/>
            <a:ext cx="2405658" cy="402483"/>
          </a:xfrm>
          <a:prstGeom prst="rect">
            <a:avLst/>
          </a:prstGeom>
        </p:spPr>
        <p:txBody>
          <a:bodyPr vert="horz" lIns="91440" tIns="45720" rIns="91440" bIns="45720" rtlCol="0" anchor="ctr"/>
          <a:lstStyle>
            <a:lvl1pPr algn="r">
              <a:defRPr sz="1323">
                <a:solidFill>
                  <a:schemeClr val="tx1">
                    <a:tint val="75000"/>
                  </a:schemeClr>
                </a:solidFill>
              </a:defRPr>
            </a:lvl1pPr>
          </a:lstStyle>
          <a:p>
            <a:fld id="{5D775FE0-13D7-4BC4-85BA-C41BB144B18E}" type="slidenum">
              <a:rPr lang="fr-FR" smtClean="0"/>
              <a:t>‹N°›</a:t>
            </a:fld>
            <a:endParaRPr lang="fr-FR"/>
          </a:p>
        </p:txBody>
      </p:sp>
    </p:spTree>
    <p:extLst>
      <p:ext uri="{BB962C8B-B14F-4D97-AF65-F5344CB8AC3E}">
        <p14:creationId xmlns:p14="http://schemas.microsoft.com/office/powerpoint/2010/main" val="829090544"/>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3"/>
    <p:sldLayoutId id="2147483792" r:id="rId14"/>
    <p:sldLayoutId id="2147483793" r:id="rId15"/>
  </p:sldLayoutIdLst>
  <p:txStyles>
    <p:titleStyle>
      <a:lvl1pPr algn="l" defTabSz="1007943" rtl="0" eaLnBrk="1" latinLnBrk="0" hangingPunct="1">
        <a:lnSpc>
          <a:spcPct val="90000"/>
        </a:lnSpc>
        <a:spcBef>
          <a:spcPct val="0"/>
        </a:spcBef>
        <a:buNone/>
        <a:defRPr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1" userDrawn="1">
          <p15:clr>
            <a:srgbClr val="F26B43"/>
          </p15:clr>
        </p15:guide>
        <p15:guide id="2" pos="3368"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18" Type="http://schemas.openxmlformats.org/officeDocument/2006/relationships/image" Target="../media/image25.png"/><Relationship Id="rId3" Type="http://schemas.openxmlformats.org/officeDocument/2006/relationships/image" Target="../media/image10.png"/><Relationship Id="rId7" Type="http://schemas.openxmlformats.org/officeDocument/2006/relationships/image" Target="../media/image14.svg"/><Relationship Id="rId12" Type="http://schemas.openxmlformats.org/officeDocument/2006/relationships/image" Target="../media/image19.png"/><Relationship Id="rId17" Type="http://schemas.openxmlformats.org/officeDocument/2006/relationships/image" Target="../media/image24.svg"/><Relationship Id="rId2" Type="http://schemas.openxmlformats.org/officeDocument/2006/relationships/image" Target="../media/image9.jpg"/><Relationship Id="rId16" Type="http://schemas.openxmlformats.org/officeDocument/2006/relationships/image" Target="../media/image23.png"/><Relationship Id="rId20"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5" Type="http://schemas.openxmlformats.org/officeDocument/2006/relationships/image" Target="../media/image22.svg"/><Relationship Id="rId10" Type="http://schemas.openxmlformats.org/officeDocument/2006/relationships/image" Target="../media/image17.png"/><Relationship Id="rId19" Type="http://schemas.openxmlformats.org/officeDocument/2006/relationships/image" Target="../media/image26.svg"/><Relationship Id="rId4" Type="http://schemas.openxmlformats.org/officeDocument/2006/relationships/image" Target="../media/image11.png"/><Relationship Id="rId9" Type="http://schemas.openxmlformats.org/officeDocument/2006/relationships/image" Target="../media/image16.svg"/><Relationship Id="rId14"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8.png"/><Relationship Id="rId18" Type="http://schemas.openxmlformats.org/officeDocument/2006/relationships/image" Target="../media/image43.png"/><Relationship Id="rId3" Type="http://schemas.openxmlformats.org/officeDocument/2006/relationships/image" Target="../media/image29.jpeg"/><Relationship Id="rId21" Type="http://schemas.openxmlformats.org/officeDocument/2006/relationships/image" Target="../media/image46.svg"/><Relationship Id="rId7" Type="http://schemas.openxmlformats.org/officeDocument/2006/relationships/image" Target="../media/image32.png"/><Relationship Id="rId12" Type="http://schemas.openxmlformats.org/officeDocument/2006/relationships/image" Target="../media/image37.svg"/><Relationship Id="rId17" Type="http://schemas.openxmlformats.org/officeDocument/2006/relationships/image" Target="../media/image42.svg"/><Relationship Id="rId2" Type="http://schemas.openxmlformats.org/officeDocument/2006/relationships/image" Target="../media/image28.jpeg"/><Relationship Id="rId16" Type="http://schemas.openxmlformats.org/officeDocument/2006/relationships/image" Target="../media/image41.png"/><Relationship Id="rId20"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36.png"/><Relationship Id="rId5" Type="http://schemas.openxmlformats.org/officeDocument/2006/relationships/image" Target="../media/image31.jpeg"/><Relationship Id="rId15" Type="http://schemas.openxmlformats.org/officeDocument/2006/relationships/image" Target="../media/image40.svg"/><Relationship Id="rId10" Type="http://schemas.openxmlformats.org/officeDocument/2006/relationships/image" Target="../media/image35.svg"/><Relationship Id="rId19" Type="http://schemas.openxmlformats.org/officeDocument/2006/relationships/image" Target="../media/image44.svg"/><Relationship Id="rId4" Type="http://schemas.openxmlformats.org/officeDocument/2006/relationships/image" Target="../media/image30.jpeg"/><Relationship Id="rId9" Type="http://schemas.openxmlformats.org/officeDocument/2006/relationships/image" Target="../media/image34.png"/><Relationship Id="rId14" Type="http://schemas.openxmlformats.org/officeDocument/2006/relationships/image" Target="../media/image39.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svg"/><Relationship Id="rId3" Type="http://schemas.openxmlformats.org/officeDocument/2006/relationships/image" Target="../media/image7.png"/><Relationship Id="rId7" Type="http://schemas.openxmlformats.org/officeDocument/2006/relationships/image" Target="../media/image51.svg"/><Relationship Id="rId12" Type="http://schemas.openxmlformats.org/officeDocument/2006/relationships/image" Target="../media/image56.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svg"/><Relationship Id="rId5" Type="http://schemas.openxmlformats.org/officeDocument/2006/relationships/image" Target="../media/image49.svg"/><Relationship Id="rId15" Type="http://schemas.openxmlformats.org/officeDocument/2006/relationships/image" Target="../media/image59.sv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svg"/><Relationship Id="rId14" Type="http://schemas.openxmlformats.org/officeDocument/2006/relationships/image" Target="../media/image5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1.jpeg"/><Relationship Id="rId7" Type="http://schemas.openxmlformats.org/officeDocument/2006/relationships/image" Target="../media/image7.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jpeg"/><Relationship Id="rId4" Type="http://schemas.openxmlformats.org/officeDocument/2006/relationships/image" Target="../media/image6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69.svg"/><Relationship Id="rId13" Type="http://schemas.openxmlformats.org/officeDocument/2006/relationships/image" Target="../media/image74.png"/><Relationship Id="rId3" Type="http://schemas.openxmlformats.org/officeDocument/2006/relationships/image" Target="../media/image65.png"/><Relationship Id="rId7" Type="http://schemas.openxmlformats.org/officeDocument/2006/relationships/image" Target="../media/image68.png"/><Relationship Id="rId12" Type="http://schemas.openxmlformats.org/officeDocument/2006/relationships/image" Target="../media/image73.svg"/><Relationship Id="rId2" Type="http://schemas.openxmlformats.org/officeDocument/2006/relationships/notesSlide" Target="../notesSlides/notesSlide1.xml"/><Relationship Id="rId16" Type="http://schemas.openxmlformats.org/officeDocument/2006/relationships/image" Target="../media/image77.svg"/><Relationship Id="rId1" Type="http://schemas.openxmlformats.org/officeDocument/2006/relationships/slideLayout" Target="../slideLayouts/slideLayout2.xml"/><Relationship Id="rId6" Type="http://schemas.openxmlformats.org/officeDocument/2006/relationships/image" Target="../media/image67.svg"/><Relationship Id="rId11" Type="http://schemas.openxmlformats.org/officeDocument/2006/relationships/image" Target="../media/image72.png"/><Relationship Id="rId5" Type="http://schemas.openxmlformats.org/officeDocument/2006/relationships/image" Target="../media/image66.png"/><Relationship Id="rId15" Type="http://schemas.openxmlformats.org/officeDocument/2006/relationships/image" Target="../media/image76.png"/><Relationship Id="rId10" Type="http://schemas.openxmlformats.org/officeDocument/2006/relationships/image" Target="../media/image71.svg"/><Relationship Id="rId4" Type="http://schemas.openxmlformats.org/officeDocument/2006/relationships/image" Target="../media/image7.png"/><Relationship Id="rId9" Type="http://schemas.openxmlformats.org/officeDocument/2006/relationships/image" Target="../media/image70.png"/><Relationship Id="rId14" Type="http://schemas.openxmlformats.org/officeDocument/2006/relationships/image" Target="../media/image75.sv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5.svg"/><Relationship Id="rId18" Type="http://schemas.openxmlformats.org/officeDocument/2006/relationships/image" Target="../media/image58.png"/><Relationship Id="rId26" Type="http://schemas.openxmlformats.org/officeDocument/2006/relationships/image" Target="../media/image66.png"/><Relationship Id="rId3" Type="http://schemas.openxmlformats.org/officeDocument/2006/relationships/image" Target="../media/image7.png"/><Relationship Id="rId21" Type="http://schemas.openxmlformats.org/officeDocument/2006/relationships/image" Target="../media/image91.svg"/><Relationship Id="rId7" Type="http://schemas.openxmlformats.org/officeDocument/2006/relationships/image" Target="../media/image81.svg"/><Relationship Id="rId12" Type="http://schemas.openxmlformats.org/officeDocument/2006/relationships/image" Target="../media/image84.png"/><Relationship Id="rId17" Type="http://schemas.openxmlformats.org/officeDocument/2006/relationships/image" Target="../media/image89.svg"/><Relationship Id="rId25" Type="http://schemas.openxmlformats.org/officeDocument/2006/relationships/image" Target="../media/image95.svg"/><Relationship Id="rId2" Type="http://schemas.openxmlformats.org/officeDocument/2006/relationships/image" Target="../media/image38.png"/><Relationship Id="rId16" Type="http://schemas.openxmlformats.org/officeDocument/2006/relationships/image" Target="../media/image88.png"/><Relationship Id="rId20" Type="http://schemas.openxmlformats.org/officeDocument/2006/relationships/image" Target="../media/image90.png"/><Relationship Id="rId29" Type="http://schemas.openxmlformats.org/officeDocument/2006/relationships/image" Target="../media/image97.svg"/><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44.svg"/><Relationship Id="rId24" Type="http://schemas.openxmlformats.org/officeDocument/2006/relationships/image" Target="../media/image94.png"/><Relationship Id="rId5" Type="http://schemas.openxmlformats.org/officeDocument/2006/relationships/image" Target="../media/image79.svg"/><Relationship Id="rId15" Type="http://schemas.openxmlformats.org/officeDocument/2006/relationships/image" Target="../media/image87.svg"/><Relationship Id="rId23" Type="http://schemas.openxmlformats.org/officeDocument/2006/relationships/image" Target="../media/image93.svg"/><Relationship Id="rId28" Type="http://schemas.openxmlformats.org/officeDocument/2006/relationships/image" Target="../media/image96.png"/><Relationship Id="rId10" Type="http://schemas.openxmlformats.org/officeDocument/2006/relationships/image" Target="../media/image43.png"/><Relationship Id="rId19" Type="http://schemas.openxmlformats.org/officeDocument/2006/relationships/image" Target="../media/image59.svg"/><Relationship Id="rId4" Type="http://schemas.openxmlformats.org/officeDocument/2006/relationships/image" Target="../media/image78.png"/><Relationship Id="rId9" Type="http://schemas.openxmlformats.org/officeDocument/2006/relationships/image" Target="../media/image83.svg"/><Relationship Id="rId14" Type="http://schemas.openxmlformats.org/officeDocument/2006/relationships/image" Target="../media/image86.png"/><Relationship Id="rId22" Type="http://schemas.openxmlformats.org/officeDocument/2006/relationships/image" Target="../media/image92.png"/><Relationship Id="rId27" Type="http://schemas.openxmlformats.org/officeDocument/2006/relationships/image" Target="../media/image67.sv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9.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00.png"/><Relationship Id="rId3" Type="http://schemas.openxmlformats.org/officeDocument/2006/relationships/image" Target="../media/image101.svg"/><Relationship Id="rId7" Type="http://schemas.openxmlformats.org/officeDocument/2006/relationships/image" Target="../media/image102.svg"/><Relationship Id="rId12" Type="http://schemas.openxmlformats.org/officeDocument/2006/relationships/image" Target="../media/image103.svg"/><Relationship Id="rId2" Type="http://schemas.openxmlformats.org/officeDocument/2006/relationships/image" Target="../media/image104.png"/><Relationship Id="rId1" Type="http://schemas.openxmlformats.org/officeDocument/2006/relationships/slideLayout" Target="../slideLayouts/slideLayout13.xml"/><Relationship Id="rId6" Type="http://schemas.openxmlformats.org/officeDocument/2006/relationships/image" Target="../media/image105.png"/><Relationship Id="rId11" Type="http://schemas.openxmlformats.org/officeDocument/2006/relationships/image" Target="../media/image106.png"/><Relationship Id="rId5" Type="http://schemas.openxmlformats.org/officeDocument/2006/relationships/image" Target="../media/image107.png"/><Relationship Id="rId10" Type="http://schemas.openxmlformats.org/officeDocument/2006/relationships/image" Target="../media/image108.svg"/><Relationship Id="rId4" Type="http://schemas.openxmlformats.org/officeDocument/2006/relationships/image" Target="../media/image99.png"/><Relationship Id="rId9" Type="http://schemas.openxmlformats.org/officeDocument/2006/relationships/image" Target="../media/image109.png"/><Relationship Id="rId14" Type="http://schemas.openxmlformats.org/officeDocument/2006/relationships/image" Target="../media/image110.svg"/></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image" Target="../media/image11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14.jpeg"/><Relationship Id="rId4" Type="http://schemas.openxmlformats.org/officeDocument/2006/relationships/image" Target="../media/image115.png"/></Relationships>

</file>

<file path=ppt/slides/_rels/slide2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7.jpeg"/><Relationship Id="rId7" Type="http://schemas.openxmlformats.org/officeDocument/2006/relationships/image" Target="../media/image1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9.png"/><Relationship Id="rId5" Type="http://schemas.openxmlformats.org/officeDocument/2006/relationships/image" Target="../media/image120.png"/><Relationship Id="rId4" Type="http://schemas.openxmlformats.org/officeDocument/2006/relationships/image" Target="../media/image12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ZoneTexte 35">
            <a:extLst>
              <a:ext uri="{FF2B5EF4-FFF2-40B4-BE49-F238E27FC236}">
                <a16:creationId xmlns:a16="http://schemas.microsoft.com/office/drawing/2014/main" id="{5CC54840-7A9C-4B53-8620-8A8509347D53}"/>
              </a:ext>
            </a:extLst>
          </p:cNvPr>
          <p:cNvSpPr txBox="1"/>
          <p:nvPr/>
        </p:nvSpPr>
        <p:spPr>
          <a:xfrm>
            <a:off x="5423666" y="2346268"/>
            <a:ext cx="4494243" cy="407932"/>
          </a:xfrm>
          <a:prstGeom prst="rect">
            <a:avLst/>
          </a:prstGeom>
          <a:noFill/>
        </p:spPr>
        <p:txBody>
          <a:bodyPr wrap="square" rtlCol="0">
            <a:spAutoFit/>
          </a:bodyPr>
          <a:lstStyle>
            <a:defPPr>
              <a:defRPr lang="en-US"/>
            </a:defPPr>
            <a:lvl1pPr>
              <a:defRPr>
                <a:solidFill>
                  <a:srgbClr val="353535"/>
                </a:solidFill>
              </a:defRPr>
            </a:lvl1pPr>
          </a:lstStyle>
          <a:p>
            <a:pPr defTabSz="390987"/>
            <a:r>
              <a:rPr lang="fr-FR" sz="2051" b="1" dirty="0">
                <a:solidFill>
                  <a:srgbClr val="E94C57"/>
                </a:solidFill>
                <a:latin typeface="Century Gothic" panose="020B0502020202020204" pitchFamily="34" charset="0"/>
                <a:cs typeface="Arial" panose="020B0604020202020204" pitchFamily="34" charset="0"/>
              </a:rPr>
              <a:t>ÉTUDE PERSONNALISÉE</a:t>
            </a:r>
          </a:p>
        </p:txBody>
      </p:sp>
      <p:sp>
        <p:nvSpPr>
          <p:cNvPr id="37" name="ZoneTexte 36">
            <a:extLst>
              <a:ext uri="{FF2B5EF4-FFF2-40B4-BE49-F238E27FC236}">
                <a16:creationId xmlns:a16="http://schemas.microsoft.com/office/drawing/2014/main" id="{64B7E121-52D4-57C4-7010-DC4573E414DA}"/>
              </a:ext>
            </a:extLst>
          </p:cNvPr>
          <p:cNvSpPr txBox="1"/>
          <p:nvPr/>
        </p:nvSpPr>
        <p:spPr>
          <a:xfrm>
            <a:off x="5448623" y="2678793"/>
            <a:ext cx="1705562" cy="223907"/>
          </a:xfrm>
          <a:prstGeom prst="rect">
            <a:avLst/>
          </a:prstGeom>
          <a:noFill/>
        </p:spPr>
        <p:txBody>
          <a:bodyPr wrap="square" rtlCol="0" anchor="ctr">
            <a:spAutoFit/>
          </a:bodyPr>
          <a:lstStyle>
            <a:defPPr>
              <a:defRPr lang="en-US"/>
            </a:defPPr>
            <a:lvl1pPr>
              <a:defRPr sz="1400" b="1">
                <a:solidFill>
                  <a:srgbClr val="353535"/>
                </a:solidFill>
              </a:defRPr>
            </a:lvl1pPr>
          </a:lstStyle>
          <a:p>
            <a:pPr defTabSz="390987"/>
            <a:r>
              <a:rPr lang="fr-FR" sz="855" dirty="0">
                <a:solidFill>
                  <a:srgbClr val="E7E6E6">
                    <a:lumMod val="25000"/>
                  </a:srgbClr>
                </a:solidFill>
                <a:latin typeface="Century Gothic" panose="020B0502020202020204" pitchFamily="34" charset="0"/>
                <a:cs typeface="Arial" panose="020B0604020202020204" pitchFamily="34" charset="0"/>
              </a:rPr>
              <a:t>Date d’édition de l’offre :</a:t>
            </a:r>
          </a:p>
        </p:txBody>
      </p:sp>
      <p:sp>
        <p:nvSpPr>
          <p:cNvPr id="39" name="ZoneTexte 38">
            <a:extLst>
              <a:ext uri="{FF2B5EF4-FFF2-40B4-BE49-F238E27FC236}">
                <a16:creationId xmlns:a16="http://schemas.microsoft.com/office/drawing/2014/main" id="{87F0DD2D-306C-5A82-159B-398D94100376}"/>
              </a:ext>
            </a:extLst>
          </p:cNvPr>
          <p:cNvSpPr txBox="1"/>
          <p:nvPr/>
        </p:nvSpPr>
        <p:spPr>
          <a:xfrm>
            <a:off x="6962840" y="2676435"/>
            <a:ext cx="1822969" cy="223907"/>
          </a:xfrm>
          <a:prstGeom prst="rect">
            <a:avLst/>
          </a:prstGeom>
          <a:noFill/>
        </p:spPr>
        <p:txBody>
          <a:bodyPr wrap="square" rtlCol="0" anchor="ctr">
            <a:spAutoFit/>
          </a:bodyPr>
          <a:lstStyle>
            <a:defPPr>
              <a:defRPr lang="en-US"/>
            </a:defPPr>
            <a:lvl1pPr>
              <a:defRPr sz="1100">
                <a:solidFill>
                  <a:srgbClr val="353535"/>
                </a:solidFill>
                <a:latin typeface="+mj-lt"/>
                <a:ea typeface="Lato Semibold" panose="020F0502020204030203" pitchFamily="34" charset="0"/>
                <a:cs typeface="Lato Semibold" panose="020F0502020204030203" pitchFamily="34" charset="0"/>
              </a:defRPr>
            </a:lvl1pPr>
          </a:lstStyle>
          <a:p>
            <a:pPr defTabSz="390987"/>
            <a:r>
              <a:rPr lang="fr-FR" sz="855" dirty="0">
                <a:solidFill>
                  <a:srgbClr val="E7E6E6">
                    <a:lumMod val="25000"/>
                  </a:srgbClr>
                </a:solidFill>
                <a:latin typeface="Century Gothic" panose="020B0502020202020204" pitchFamily="34" charset="0"/>
                <a:cs typeface="Arial" panose="020B0604020202020204" pitchFamily="34" charset="0"/>
              </a:rPr>
              <a:t>{{date}} </a:t>
            </a:r>
          </a:p>
        </p:txBody>
      </p:sp>
      <p:sp>
        <p:nvSpPr>
          <p:cNvPr id="40" name="ZoneTexte 39">
            <a:extLst>
              <a:ext uri="{FF2B5EF4-FFF2-40B4-BE49-F238E27FC236}">
                <a16:creationId xmlns:a16="http://schemas.microsoft.com/office/drawing/2014/main" id="{5A7BF358-E2F4-BE57-F27E-7C62249A308A}"/>
              </a:ext>
            </a:extLst>
          </p:cNvPr>
          <p:cNvSpPr txBox="1"/>
          <p:nvPr/>
        </p:nvSpPr>
        <p:spPr>
          <a:xfrm>
            <a:off x="5423666" y="3120070"/>
            <a:ext cx="4204061" cy="223907"/>
          </a:xfrm>
          <a:prstGeom prst="rect">
            <a:avLst/>
          </a:prstGeom>
          <a:noFill/>
        </p:spPr>
        <p:txBody>
          <a:bodyPr wrap="square" rtlCol="0" anchor="ctr">
            <a:spAutoFit/>
          </a:bodyPr>
          <a:lstStyle/>
          <a:p>
            <a:pPr defTabSz="390987"/>
            <a:r>
              <a:rPr lang="fr-FR" sz="855" b="1" dirty="0">
                <a:solidFill>
                  <a:prstClr val="black"/>
                </a:solidFill>
                <a:latin typeface="Century Gothic" panose="020B0502020202020204" pitchFamily="34" charset="0"/>
                <a:cs typeface="Arial" panose="020B0604020202020204" pitchFamily="34" charset="0"/>
              </a:rPr>
              <a:t>{{</a:t>
            </a:r>
            <a:r>
              <a:rPr lang="fr-FR" sz="855" b="1" dirty="0" err="1">
                <a:solidFill>
                  <a:prstClr val="black"/>
                </a:solidFill>
                <a:latin typeface="Century Gothic" panose="020B0502020202020204" pitchFamily="34" charset="0"/>
                <a:cs typeface="Arial" panose="020B0604020202020204" pitchFamily="34" charset="0"/>
              </a:rPr>
              <a:t>simulation.projet.nomProjet</a:t>
            </a:r>
            <a:r>
              <a:rPr lang="fr-FR" sz="855" b="1" dirty="0">
                <a:solidFill>
                  <a:prstClr val="black"/>
                </a:solidFill>
                <a:latin typeface="Century Gothic" panose="020B0502020202020204" pitchFamily="34" charset="0"/>
                <a:cs typeface="Arial" panose="020B0604020202020204" pitchFamily="34" charset="0"/>
              </a:rPr>
              <a:t>}} </a:t>
            </a:r>
          </a:p>
        </p:txBody>
      </p:sp>
      <p:sp>
        <p:nvSpPr>
          <p:cNvPr id="42" name="ZoneTexte 41">
            <a:extLst>
              <a:ext uri="{FF2B5EF4-FFF2-40B4-BE49-F238E27FC236}">
                <a16:creationId xmlns:a16="http://schemas.microsoft.com/office/drawing/2014/main" id="{BE339342-D8CA-824B-B8E7-1FF07368217D}"/>
              </a:ext>
            </a:extLst>
          </p:cNvPr>
          <p:cNvSpPr txBox="1"/>
          <p:nvPr/>
        </p:nvSpPr>
        <p:spPr>
          <a:xfrm>
            <a:off x="5448624" y="4694949"/>
            <a:ext cx="3237127" cy="355482"/>
          </a:xfrm>
          <a:prstGeom prst="rect">
            <a:avLst/>
          </a:prstGeom>
          <a:noFill/>
        </p:spPr>
        <p:txBody>
          <a:bodyPr wrap="square" numCol="1" rtlCol="0" anchor="t">
            <a:spAutoFit/>
          </a:bodyPr>
          <a:lstStyle>
            <a:defPPr>
              <a:defRPr lang="en-US"/>
            </a:defPPr>
            <a:lvl1pPr>
              <a:defRPr sz="1100">
                <a:solidFill>
                  <a:srgbClr val="353535"/>
                </a:solidFill>
                <a:latin typeface="+mj-lt"/>
                <a:ea typeface="Lato Semibold" panose="020F0502020204030203" pitchFamily="34" charset="0"/>
                <a:cs typeface="Lato Semibold" panose="020F0502020204030203" pitchFamily="34" charset="0"/>
              </a:defRPr>
            </a:lvl1pPr>
          </a:lstStyle>
          <a:p>
            <a:pPr defTabSz="390987"/>
            <a:r>
              <a:rPr lang="fr-FR" sz="855" dirty="0">
                <a:solidFill>
                  <a:prstClr val="black"/>
                </a:solidFill>
                <a:latin typeface="Century Gothic" panose="020B0502020202020204" pitchFamily="34" charset="0"/>
                <a:cs typeface="Arial" panose="020B0604020202020204" pitchFamily="34" charset="0"/>
              </a:rPr>
              <a:t>{{</a:t>
            </a:r>
            <a:r>
              <a:rPr lang="fr-FR" sz="855" dirty="0" err="1">
                <a:solidFill>
                  <a:prstClr val="black"/>
                </a:solidFill>
                <a:latin typeface="Century Gothic" panose="020B0502020202020204" pitchFamily="34" charset="0"/>
                <a:cs typeface="Arial" panose="020B0604020202020204" pitchFamily="34" charset="0"/>
              </a:rPr>
              <a:t>simulation.projet.contact.nom</a:t>
            </a:r>
            <a:r>
              <a:rPr lang="fr-FR" sz="855" dirty="0">
                <a:solidFill>
                  <a:prstClr val="black"/>
                </a:solidFill>
                <a:latin typeface="Century Gothic" panose="020B0502020202020204" pitchFamily="34" charset="0"/>
                <a:cs typeface="Arial" panose="020B0604020202020204" pitchFamily="34" charset="0"/>
              </a:rPr>
              <a:t>}} {{</a:t>
            </a:r>
            <a:r>
              <a:rPr lang="fr-FR" sz="855" dirty="0" err="1">
                <a:solidFill>
                  <a:prstClr val="black"/>
                </a:solidFill>
                <a:latin typeface="Century Gothic" panose="020B0502020202020204" pitchFamily="34" charset="0"/>
                <a:cs typeface="Arial" panose="020B0604020202020204" pitchFamily="34" charset="0"/>
              </a:rPr>
              <a:t>simulation.projet.contact.prenom</a:t>
            </a:r>
            <a:r>
              <a:rPr lang="fr-FR" sz="855" dirty="0">
                <a:solidFill>
                  <a:prstClr val="black"/>
                </a:solidFill>
                <a:latin typeface="Century Gothic" panose="020B0502020202020204" pitchFamily="34" charset="0"/>
                <a:cs typeface="Arial" panose="020B0604020202020204" pitchFamily="34" charset="0"/>
              </a:rPr>
              <a:t>}} </a:t>
            </a:r>
          </a:p>
        </p:txBody>
      </p:sp>
      <p:sp>
        <p:nvSpPr>
          <p:cNvPr id="43" name="ZoneTexte 42">
            <a:extLst>
              <a:ext uri="{FF2B5EF4-FFF2-40B4-BE49-F238E27FC236}">
                <a16:creationId xmlns:a16="http://schemas.microsoft.com/office/drawing/2014/main" id="{688D49CD-CEDE-475F-CE2D-4DA1C275FD94}"/>
              </a:ext>
            </a:extLst>
          </p:cNvPr>
          <p:cNvSpPr txBox="1"/>
          <p:nvPr/>
        </p:nvSpPr>
        <p:spPr>
          <a:xfrm>
            <a:off x="5448623" y="4504243"/>
            <a:ext cx="1748086" cy="223907"/>
          </a:xfrm>
          <a:prstGeom prst="rect">
            <a:avLst/>
          </a:prstGeom>
          <a:noFill/>
        </p:spPr>
        <p:txBody>
          <a:bodyPr wrap="square" rtlCol="0" anchor="ctr">
            <a:spAutoFit/>
          </a:bodyPr>
          <a:lstStyle>
            <a:defPPr>
              <a:defRPr lang="en-US"/>
            </a:defPPr>
            <a:lvl1pPr>
              <a:defRPr sz="1400" b="1">
                <a:solidFill>
                  <a:srgbClr val="353535"/>
                </a:solidFill>
              </a:defRPr>
            </a:lvl1pPr>
          </a:lstStyle>
          <a:p>
            <a:pPr defTabSz="390987"/>
            <a:r>
              <a:rPr lang="fr-FR" sz="855" dirty="0">
                <a:solidFill>
                  <a:prstClr val="black"/>
                </a:solidFill>
                <a:latin typeface="Century Gothic" panose="020B0502020202020204" pitchFamily="34" charset="0"/>
                <a:cs typeface="Arial" panose="020B0604020202020204" pitchFamily="34" charset="0"/>
              </a:rPr>
              <a:t>À l’attention de :</a:t>
            </a:r>
          </a:p>
        </p:txBody>
      </p:sp>
      <p:sp>
        <p:nvSpPr>
          <p:cNvPr id="44" name="Ellipse 43">
            <a:extLst>
              <a:ext uri="{FF2B5EF4-FFF2-40B4-BE49-F238E27FC236}">
                <a16:creationId xmlns:a16="http://schemas.microsoft.com/office/drawing/2014/main" id="{2D26F997-04E2-270D-7350-CE47B70F1B44}"/>
              </a:ext>
            </a:extLst>
          </p:cNvPr>
          <p:cNvSpPr/>
          <p:nvPr/>
        </p:nvSpPr>
        <p:spPr>
          <a:xfrm flipV="1">
            <a:off x="5937653" y="4021122"/>
            <a:ext cx="84388" cy="8438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390987"/>
            <a:endParaRPr lang="fr-FR" sz="855">
              <a:solidFill>
                <a:prstClr val="black"/>
              </a:solidFill>
              <a:latin typeface="Century Gothic" panose="020B0502020202020204" pitchFamily="34" charset="0"/>
            </a:endParaRPr>
          </a:p>
        </p:txBody>
      </p:sp>
      <p:grpSp>
        <p:nvGrpSpPr>
          <p:cNvPr id="45" name="Groupe 44">
            <a:extLst>
              <a:ext uri="{FF2B5EF4-FFF2-40B4-BE49-F238E27FC236}">
                <a16:creationId xmlns:a16="http://schemas.microsoft.com/office/drawing/2014/main" id="{F70D14D9-BB44-2993-85A3-AA456253D35D}"/>
              </a:ext>
            </a:extLst>
          </p:cNvPr>
          <p:cNvGrpSpPr/>
          <p:nvPr/>
        </p:nvGrpSpPr>
        <p:grpSpPr>
          <a:xfrm>
            <a:off x="5423665" y="3496330"/>
            <a:ext cx="3751674" cy="836229"/>
            <a:chOff x="5995758" y="4151449"/>
            <a:chExt cx="3777415" cy="977781"/>
          </a:xfrm>
        </p:grpSpPr>
        <p:sp>
          <p:nvSpPr>
            <p:cNvPr id="46" name="ZoneTexte 45">
              <a:extLst>
                <a:ext uri="{FF2B5EF4-FFF2-40B4-BE49-F238E27FC236}">
                  <a16:creationId xmlns:a16="http://schemas.microsoft.com/office/drawing/2014/main" id="{D4A39A64-6A89-8D3F-88E8-D716006756D6}"/>
                </a:ext>
              </a:extLst>
            </p:cNvPr>
            <p:cNvSpPr txBox="1"/>
            <p:nvPr/>
          </p:nvSpPr>
          <p:spPr>
            <a:xfrm>
              <a:off x="5995758" y="4151449"/>
              <a:ext cx="3777415" cy="261808"/>
            </a:xfrm>
            <a:prstGeom prst="rect">
              <a:avLst/>
            </a:prstGeom>
            <a:noFill/>
          </p:spPr>
          <p:txBody>
            <a:bodyPr wrap="square" rtlCol="0" anchor="ctr">
              <a:spAutoFit/>
            </a:bodyPr>
            <a:lstStyle/>
            <a:p>
              <a:pPr defTabSz="390987"/>
              <a:r>
                <a:rPr lang="fr-FR" sz="855" b="1" dirty="0">
                  <a:solidFill>
                    <a:prstClr val="black"/>
                  </a:solidFill>
                  <a:latin typeface="Century Gothic" panose="020B0502020202020204" pitchFamily="34" charset="0"/>
                  <a:cs typeface="Arial" panose="020B0604020202020204" pitchFamily="34" charset="0"/>
                </a:rPr>
                <a:t>{{</a:t>
              </a:r>
              <a:r>
                <a:rPr lang="fr-FR" sz="855" b="1" dirty="0" err="1">
                  <a:solidFill>
                    <a:prstClr val="black"/>
                  </a:solidFill>
                  <a:latin typeface="Century Gothic" panose="020B0502020202020204" pitchFamily="34" charset="0"/>
                  <a:cs typeface="Arial" panose="020B0604020202020204" pitchFamily="34" charset="0"/>
                </a:rPr>
                <a:t>simulation.projet.organisation.raisonSociale</a:t>
              </a:r>
              <a:r>
                <a:rPr lang="fr-FR" sz="855" b="1" dirty="0">
                  <a:solidFill>
                    <a:prstClr val="black"/>
                  </a:solidFill>
                  <a:latin typeface="Century Gothic" panose="020B0502020202020204" pitchFamily="34" charset="0"/>
                  <a:cs typeface="Arial" panose="020B0604020202020204" pitchFamily="34" charset="0"/>
                </a:rPr>
                <a:t>}} </a:t>
              </a:r>
            </a:p>
          </p:txBody>
        </p:sp>
        <p:sp>
          <p:nvSpPr>
            <p:cNvPr id="47" name="ZoneTexte 46">
              <a:extLst>
                <a:ext uri="{FF2B5EF4-FFF2-40B4-BE49-F238E27FC236}">
                  <a16:creationId xmlns:a16="http://schemas.microsoft.com/office/drawing/2014/main" id="{474899F4-78BE-E0CB-DA42-ACE554826DFF}"/>
                </a:ext>
              </a:extLst>
            </p:cNvPr>
            <p:cNvSpPr txBox="1"/>
            <p:nvPr/>
          </p:nvSpPr>
          <p:spPr>
            <a:xfrm>
              <a:off x="5995758" y="4405881"/>
              <a:ext cx="3676747" cy="723349"/>
            </a:xfrm>
            <a:prstGeom prst="rect">
              <a:avLst/>
            </a:prstGeom>
            <a:noFill/>
          </p:spPr>
          <p:txBody>
            <a:bodyPr wrap="square" numCol="1" rtlCol="0" anchor="t">
              <a:spAutoFit/>
            </a:bodyPr>
            <a:lstStyle>
              <a:defPPr>
                <a:defRPr lang="en-US"/>
              </a:defPPr>
              <a:lvl1pPr>
                <a:defRPr sz="1100">
                  <a:solidFill>
                    <a:srgbClr val="353535"/>
                  </a:solidFill>
                  <a:latin typeface="+mj-lt"/>
                  <a:ea typeface="Lato Semibold" panose="020F0502020204030203" pitchFamily="34" charset="0"/>
                  <a:cs typeface="Lato Semibold" panose="020F0502020204030203" pitchFamily="34" charset="0"/>
                </a:defRPr>
              </a:lvl1pPr>
            </a:lstStyle>
            <a:p>
              <a:pPr defTabSz="390987"/>
              <a:r>
                <a:rPr lang="fr-FR" sz="855" dirty="0">
                  <a:solidFill>
                    <a:prstClr val="black"/>
                  </a:solidFill>
                  <a:latin typeface="Century Gothic" panose="020B0502020202020204" pitchFamily="34" charset="0"/>
                  <a:cs typeface="Arial" panose="020B0604020202020204" pitchFamily="34" charset="0"/>
                </a:rPr>
                <a:t>{{simulation.projet.organisation.adresse1}}</a:t>
              </a:r>
            </a:p>
            <a:p>
              <a:pPr defTabSz="390987"/>
              <a:r>
                <a:rPr lang="fr-FR" sz="855" dirty="0">
                  <a:solidFill>
                    <a:prstClr val="black"/>
                  </a:solidFill>
                  <a:latin typeface="Century Gothic" panose="020B0502020202020204" pitchFamily="34" charset="0"/>
                  <a:cs typeface="Arial" panose="020B0604020202020204" pitchFamily="34" charset="0"/>
                </a:rPr>
                <a:t>{{simulation.projet.organisation.adresse2}}</a:t>
              </a:r>
            </a:p>
            <a:p>
              <a:pPr defTabSz="390987"/>
              <a:r>
                <a:rPr lang="fr-FR" sz="855" dirty="0">
                  <a:solidFill>
                    <a:prstClr val="black"/>
                  </a:solidFill>
                  <a:latin typeface="Century Gothic" panose="020B0502020202020204" pitchFamily="34" charset="0"/>
                  <a:cs typeface="Arial" panose="020B0604020202020204" pitchFamily="34" charset="0"/>
                </a:rPr>
                <a:t>{{</a:t>
              </a:r>
              <a:r>
                <a:rPr lang="fr-FR" sz="855" dirty="0" err="1">
                  <a:solidFill>
                    <a:prstClr val="black"/>
                  </a:solidFill>
                  <a:latin typeface="Century Gothic" panose="020B0502020202020204" pitchFamily="34" charset="0"/>
                  <a:cs typeface="Arial" panose="020B0604020202020204" pitchFamily="34" charset="0"/>
                </a:rPr>
                <a:t>simulation.projet.organisation.codePostal</a:t>
              </a:r>
              <a:r>
                <a:rPr lang="fr-FR" sz="855" dirty="0">
                  <a:solidFill>
                    <a:prstClr val="black"/>
                  </a:solidFill>
                  <a:latin typeface="Century Gothic" panose="020B0502020202020204" pitchFamily="34" charset="0"/>
                  <a:cs typeface="Arial" panose="020B0604020202020204" pitchFamily="34" charset="0"/>
                </a:rPr>
                <a:t>}} {{</a:t>
              </a:r>
              <a:r>
                <a:rPr lang="fr-FR" sz="855" dirty="0" err="1">
                  <a:solidFill>
                    <a:prstClr val="black"/>
                  </a:solidFill>
                  <a:latin typeface="Century Gothic" panose="020B0502020202020204" pitchFamily="34" charset="0"/>
                  <a:cs typeface="Arial" panose="020B0604020202020204" pitchFamily="34" charset="0"/>
                </a:rPr>
                <a:t>simulation.projet.organisation.ville</a:t>
              </a:r>
              <a:r>
                <a:rPr lang="fr-FR" sz="855" dirty="0">
                  <a:solidFill>
                    <a:prstClr val="black"/>
                  </a:solidFill>
                  <a:latin typeface="Century Gothic" panose="020B0502020202020204" pitchFamily="34" charset="0"/>
                  <a:cs typeface="Arial" panose="020B0604020202020204" pitchFamily="34" charset="0"/>
                </a:rPr>
                <a:t>}} </a:t>
              </a:r>
            </a:p>
          </p:txBody>
        </p:sp>
      </p:grpSp>
      <p:sp>
        <p:nvSpPr>
          <p:cNvPr id="48" name="ZoneTexte 47">
            <a:extLst>
              <a:ext uri="{FF2B5EF4-FFF2-40B4-BE49-F238E27FC236}">
                <a16:creationId xmlns:a16="http://schemas.microsoft.com/office/drawing/2014/main" id="{38B05EA3-7F24-817E-0B7B-45861E4E3A92}"/>
              </a:ext>
            </a:extLst>
          </p:cNvPr>
          <p:cNvSpPr txBox="1"/>
          <p:nvPr/>
        </p:nvSpPr>
        <p:spPr>
          <a:xfrm>
            <a:off x="5448624" y="5353713"/>
            <a:ext cx="2954907" cy="618631"/>
          </a:xfrm>
          <a:prstGeom prst="rect">
            <a:avLst/>
          </a:prstGeom>
          <a:noFill/>
        </p:spPr>
        <p:txBody>
          <a:bodyPr wrap="square" rtlCol="0" anchor="t">
            <a:spAutoFit/>
          </a:bodyPr>
          <a:lstStyle>
            <a:defPPr>
              <a:defRPr lang="en-US"/>
            </a:defPPr>
            <a:lvl1pPr>
              <a:defRPr sz="1100">
                <a:solidFill>
                  <a:srgbClr val="353535"/>
                </a:solidFill>
                <a:latin typeface="+mj-lt"/>
                <a:ea typeface="Lato Semibold" panose="020F0502020204030203" pitchFamily="34" charset="0"/>
                <a:cs typeface="Lato Semibold" panose="020F0502020204030203" pitchFamily="34" charset="0"/>
              </a:defRPr>
            </a:lvl1pPr>
          </a:lstStyle>
          <a:p>
            <a:pPr defTabSz="390987"/>
            <a:r>
              <a:rPr lang="fr-FR" sz="855" dirty="0">
                <a:solidFill>
                  <a:prstClr val="black"/>
                </a:solidFill>
                <a:latin typeface="Century Gothic" panose="020B0502020202020204" pitchFamily="34" charset="0"/>
                <a:cs typeface="Arial" panose="020B0604020202020204" pitchFamily="34" charset="0"/>
              </a:rPr>
              <a:t>{{</a:t>
            </a:r>
            <a:r>
              <a:rPr lang="fr-FR" sz="855" dirty="0" err="1">
                <a:solidFill>
                  <a:prstClr val="black"/>
                </a:solidFill>
                <a:latin typeface="Century Gothic" panose="020B0502020202020204" pitchFamily="34" charset="0"/>
                <a:cs typeface="Arial" panose="020B0604020202020204" pitchFamily="34" charset="0"/>
              </a:rPr>
              <a:t>simulation.projet.utilisateur.prenom</a:t>
            </a:r>
            <a:r>
              <a:rPr lang="fr-FR" sz="855" dirty="0">
                <a:solidFill>
                  <a:prstClr val="black"/>
                </a:solidFill>
                <a:latin typeface="Century Gothic" panose="020B0502020202020204" pitchFamily="34" charset="0"/>
                <a:cs typeface="Arial" panose="020B0604020202020204" pitchFamily="34" charset="0"/>
              </a:rPr>
              <a:t>}} {{</a:t>
            </a:r>
            <a:r>
              <a:rPr lang="fr-FR" sz="855" dirty="0" err="1">
                <a:solidFill>
                  <a:prstClr val="black"/>
                </a:solidFill>
                <a:latin typeface="Century Gothic" panose="020B0502020202020204" pitchFamily="34" charset="0"/>
                <a:cs typeface="Arial" panose="020B0604020202020204" pitchFamily="34" charset="0"/>
              </a:rPr>
              <a:t>simulation.projet.utilisateur.nom</a:t>
            </a:r>
            <a:r>
              <a:rPr lang="fr-FR" sz="855" dirty="0">
                <a:solidFill>
                  <a:prstClr val="black"/>
                </a:solidFill>
                <a:latin typeface="Century Gothic" panose="020B0502020202020204" pitchFamily="34" charset="0"/>
                <a:cs typeface="Arial" panose="020B0604020202020204" pitchFamily="34" charset="0"/>
              </a:rPr>
              <a:t>}}</a:t>
            </a:r>
          </a:p>
          <a:p>
            <a:pPr defTabSz="390987"/>
            <a:r>
              <a:rPr lang="fr-FR" sz="855" dirty="0">
                <a:solidFill>
                  <a:prstClr val="black"/>
                </a:solidFill>
                <a:latin typeface="Century Gothic" panose="020B0502020202020204" pitchFamily="34" charset="0"/>
                <a:cs typeface="Arial" panose="020B0604020202020204" pitchFamily="34" charset="0"/>
              </a:rPr>
              <a:t>{{</a:t>
            </a:r>
            <a:r>
              <a:rPr lang="fr-FR" sz="855" dirty="0" err="1">
                <a:solidFill>
                  <a:prstClr val="black"/>
                </a:solidFill>
                <a:latin typeface="Century Gothic" panose="020B0502020202020204" pitchFamily="34" charset="0"/>
                <a:cs typeface="Arial" panose="020B0604020202020204" pitchFamily="34" charset="0"/>
              </a:rPr>
              <a:t>simulation.projet.utilisateur.telephone</a:t>
            </a:r>
            <a:r>
              <a:rPr lang="fr-FR" sz="855" dirty="0">
                <a:solidFill>
                  <a:prstClr val="black"/>
                </a:solidFill>
                <a:latin typeface="Century Gothic" panose="020B0502020202020204" pitchFamily="34" charset="0"/>
                <a:cs typeface="Arial" panose="020B0604020202020204" pitchFamily="34" charset="0"/>
              </a:rPr>
              <a:t>}}</a:t>
            </a:r>
          </a:p>
          <a:p>
            <a:pPr defTabSz="390987"/>
            <a:r>
              <a:rPr lang="fr-FR" sz="855" dirty="0">
                <a:solidFill>
                  <a:prstClr val="black"/>
                </a:solidFill>
                <a:latin typeface="Century Gothic" panose="020B0502020202020204" pitchFamily="34" charset="0"/>
                <a:cs typeface="Arial" panose="020B0604020202020204" pitchFamily="34" charset="0"/>
              </a:rPr>
              <a:t>{{</a:t>
            </a:r>
            <a:r>
              <a:rPr lang="fr-FR" sz="855" dirty="0" err="1">
                <a:solidFill>
                  <a:prstClr val="black"/>
                </a:solidFill>
                <a:latin typeface="Century Gothic" panose="020B0502020202020204" pitchFamily="34" charset="0"/>
                <a:cs typeface="Arial" panose="020B0604020202020204" pitchFamily="34" charset="0"/>
              </a:rPr>
              <a:t>simulation.projet.utilisateur.email</a:t>
            </a:r>
            <a:r>
              <a:rPr lang="fr-FR" sz="855" dirty="0">
                <a:solidFill>
                  <a:prstClr val="black"/>
                </a:solidFill>
                <a:latin typeface="Century Gothic" panose="020B0502020202020204" pitchFamily="34" charset="0"/>
                <a:cs typeface="Arial" panose="020B0604020202020204" pitchFamily="34" charset="0"/>
              </a:rPr>
              <a:t>}} </a:t>
            </a:r>
          </a:p>
        </p:txBody>
      </p:sp>
      <p:sp>
        <p:nvSpPr>
          <p:cNvPr id="49" name="ZoneTexte 48">
            <a:extLst>
              <a:ext uri="{FF2B5EF4-FFF2-40B4-BE49-F238E27FC236}">
                <a16:creationId xmlns:a16="http://schemas.microsoft.com/office/drawing/2014/main" id="{EDBE787A-A814-F03E-E736-66B779407BAA}"/>
              </a:ext>
            </a:extLst>
          </p:cNvPr>
          <p:cNvSpPr txBox="1"/>
          <p:nvPr/>
        </p:nvSpPr>
        <p:spPr>
          <a:xfrm>
            <a:off x="5448623" y="5162697"/>
            <a:ext cx="1748086" cy="223907"/>
          </a:xfrm>
          <a:prstGeom prst="rect">
            <a:avLst/>
          </a:prstGeom>
          <a:noFill/>
        </p:spPr>
        <p:txBody>
          <a:bodyPr wrap="square" rtlCol="0" anchor="ctr">
            <a:spAutoFit/>
          </a:bodyPr>
          <a:lstStyle>
            <a:defPPr>
              <a:defRPr lang="en-US"/>
            </a:defPPr>
            <a:lvl1pPr>
              <a:defRPr sz="1400" b="1">
                <a:solidFill>
                  <a:srgbClr val="353535"/>
                </a:solidFill>
              </a:defRPr>
            </a:lvl1pPr>
          </a:lstStyle>
          <a:p>
            <a:pPr defTabSz="390987"/>
            <a:r>
              <a:rPr lang="fr-FR" sz="855" dirty="0">
                <a:solidFill>
                  <a:prstClr val="black"/>
                </a:solidFill>
                <a:latin typeface="Century Gothic" panose="020B0502020202020204" pitchFamily="34" charset="0"/>
                <a:cs typeface="Arial" panose="020B0604020202020204" pitchFamily="34" charset="0"/>
              </a:rPr>
              <a:t>Offre présentée par :</a:t>
            </a:r>
          </a:p>
        </p:txBody>
      </p:sp>
      <p:sp>
        <p:nvSpPr>
          <p:cNvPr id="50" name="Ellipse 49">
            <a:extLst>
              <a:ext uri="{FF2B5EF4-FFF2-40B4-BE49-F238E27FC236}">
                <a16:creationId xmlns:a16="http://schemas.microsoft.com/office/drawing/2014/main" id="{2AC41B73-EE3F-9E8D-8FA8-7D2B20FFC92A}"/>
              </a:ext>
            </a:extLst>
          </p:cNvPr>
          <p:cNvSpPr/>
          <p:nvPr/>
        </p:nvSpPr>
        <p:spPr>
          <a:xfrm flipV="1">
            <a:off x="5937653" y="2998776"/>
            <a:ext cx="84388" cy="8438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390987"/>
            <a:endParaRPr lang="fr-FR" sz="855">
              <a:solidFill>
                <a:prstClr val="black"/>
              </a:solidFill>
              <a:latin typeface="Century Gothic" panose="020B0502020202020204" pitchFamily="34" charset="0"/>
            </a:endParaRPr>
          </a:p>
        </p:txBody>
      </p:sp>
      <p:pic>
        <p:nvPicPr>
          <p:cNvPr id="51" name="Image 50" descr="Une image contenant texte, clipart&#10;&#10;Description générée automatiquement">
            <a:extLst>
              <a:ext uri="{FF2B5EF4-FFF2-40B4-BE49-F238E27FC236}">
                <a16:creationId xmlns:a16="http://schemas.microsoft.com/office/drawing/2014/main" id="{A03C3216-2A5C-8296-DB2F-2EAAAAB1C48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404335" y="1218121"/>
            <a:ext cx="1558505" cy="679594"/>
          </a:xfrm>
          <a:prstGeom prst="rect">
            <a:avLst/>
          </a:prstGeom>
        </p:spPr>
      </p:pic>
      <p:sp>
        <p:nvSpPr>
          <p:cNvPr id="54" name="Rectangle 53" descr="simulation.projet.organisation.image" title="simulation.projet.organisation.image">
            <a:extLst>
              <a:ext uri="{FF2B5EF4-FFF2-40B4-BE49-F238E27FC236}">
                <a16:creationId xmlns:a16="http://schemas.microsoft.com/office/drawing/2014/main" id="{4564F8D9-F6AD-E76B-1653-2F83D0D91DC1}"/>
              </a:ext>
            </a:extLst>
          </p:cNvPr>
          <p:cNvSpPr/>
          <p:nvPr/>
        </p:nvSpPr>
        <p:spPr>
          <a:xfrm>
            <a:off x="7582055" y="1157020"/>
            <a:ext cx="1705562" cy="8517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90987"/>
            <a:endParaRPr lang="fr-FR" sz="1539">
              <a:solidFill>
                <a:prstClr val="white"/>
              </a:solidFill>
              <a:latin typeface="Calibri" panose="020F0502020204030204"/>
            </a:endParaRPr>
          </a:p>
        </p:txBody>
      </p:sp>
      <p:sp>
        <p:nvSpPr>
          <p:cNvPr id="2" name="ZoneTexte 1">
            <a:extLst>
              <a:ext uri="{FF2B5EF4-FFF2-40B4-BE49-F238E27FC236}">
                <a16:creationId xmlns:a16="http://schemas.microsoft.com/office/drawing/2014/main" id="{44A3A6CA-1279-5D1C-617A-B17D5E4791DC}"/>
              </a:ext>
            </a:extLst>
          </p:cNvPr>
          <p:cNvSpPr txBox="1"/>
          <p:nvPr/>
        </p:nvSpPr>
        <p:spPr>
          <a:xfrm>
            <a:off x="5448623" y="2800546"/>
            <a:ext cx="1705562" cy="223907"/>
          </a:xfrm>
          <a:prstGeom prst="rect">
            <a:avLst/>
          </a:prstGeom>
          <a:noFill/>
        </p:spPr>
        <p:txBody>
          <a:bodyPr wrap="square" rtlCol="0" anchor="ctr">
            <a:spAutoFit/>
          </a:bodyPr>
          <a:lstStyle>
            <a:defPPr>
              <a:defRPr lang="en-US"/>
            </a:defPPr>
            <a:lvl1pPr>
              <a:defRPr sz="1400" b="1">
                <a:solidFill>
                  <a:srgbClr val="353535"/>
                </a:solidFill>
              </a:defRPr>
            </a:lvl1pPr>
          </a:lstStyle>
          <a:p>
            <a:pPr defTabSz="390987"/>
            <a:r>
              <a:rPr lang="fr-FR" sz="855" dirty="0">
                <a:solidFill>
                  <a:srgbClr val="E7E6E6">
                    <a:lumMod val="25000"/>
                  </a:srgbClr>
                </a:solidFill>
                <a:latin typeface="Century Gothic" panose="020B0502020202020204" pitchFamily="34" charset="0"/>
                <a:cs typeface="Arial" panose="020B0604020202020204" pitchFamily="34" charset="0"/>
              </a:rPr>
              <a:t>Validité de l’offre : 1 mois</a:t>
            </a:r>
          </a:p>
        </p:txBody>
      </p:sp>
      <p:grpSp>
        <p:nvGrpSpPr>
          <p:cNvPr id="10" name="Groupe 9">
            <a:extLst>
              <a:ext uri="{FF2B5EF4-FFF2-40B4-BE49-F238E27FC236}">
                <a16:creationId xmlns:a16="http://schemas.microsoft.com/office/drawing/2014/main" id="{D3ADA18A-DE26-5907-027A-90F81AB51B38}"/>
              </a:ext>
            </a:extLst>
          </p:cNvPr>
          <p:cNvGrpSpPr/>
          <p:nvPr/>
        </p:nvGrpSpPr>
        <p:grpSpPr>
          <a:xfrm>
            <a:off x="195634" y="0"/>
            <a:ext cx="4597175" cy="7559675"/>
            <a:chOff x="178333" y="0"/>
            <a:chExt cx="5115594" cy="8412172"/>
          </a:xfrm>
        </p:grpSpPr>
        <p:pic>
          <p:nvPicPr>
            <p:cNvPr id="3" name="Image 2">
              <a:extLst>
                <a:ext uri="{FF2B5EF4-FFF2-40B4-BE49-F238E27FC236}">
                  <a16:creationId xmlns:a16="http://schemas.microsoft.com/office/drawing/2014/main" id="{8EC8255A-E473-3552-7B83-D30D6DEB3C0F}"/>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78333" y="0"/>
              <a:ext cx="5111587" cy="3406272"/>
            </a:xfrm>
            <a:prstGeom prst="rect">
              <a:avLst/>
            </a:prstGeom>
          </p:spPr>
        </p:pic>
        <p:pic>
          <p:nvPicPr>
            <p:cNvPr id="4" name="Image 3">
              <a:extLst>
                <a:ext uri="{FF2B5EF4-FFF2-40B4-BE49-F238E27FC236}">
                  <a16:creationId xmlns:a16="http://schemas.microsoft.com/office/drawing/2014/main" id="{BC62A945-0E03-794F-8DED-8EA2E63D9EFC}"/>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187085" y="5050431"/>
              <a:ext cx="5106842" cy="3361741"/>
            </a:xfrm>
            <a:prstGeom prst="rect">
              <a:avLst/>
            </a:prstGeom>
          </p:spPr>
        </p:pic>
        <p:pic>
          <p:nvPicPr>
            <p:cNvPr id="6" name="Image 5">
              <a:extLst>
                <a:ext uri="{FF2B5EF4-FFF2-40B4-BE49-F238E27FC236}">
                  <a16:creationId xmlns:a16="http://schemas.microsoft.com/office/drawing/2014/main" id="{9CE23816-19BC-A961-3FD3-50150DD71B00}"/>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3592801" y="3406272"/>
              <a:ext cx="1698003" cy="1681992"/>
            </a:xfrm>
            <a:prstGeom prst="rect">
              <a:avLst/>
            </a:prstGeom>
          </p:spPr>
        </p:pic>
        <p:pic>
          <p:nvPicPr>
            <p:cNvPr id="7" name="Image 6">
              <a:extLst>
                <a:ext uri="{FF2B5EF4-FFF2-40B4-BE49-F238E27FC236}">
                  <a16:creationId xmlns:a16="http://schemas.microsoft.com/office/drawing/2014/main" id="{6A334966-AFF1-3025-85CA-AFFC28119DFB}"/>
                </a:ext>
              </a:extLst>
            </p:cNvPr>
            <p:cNvPicPr>
              <a:picLocks noChangeAspect="1"/>
            </p:cNvPicPr>
            <p:nvPr/>
          </p:nvPicPr>
          <p:blipFill>
            <a:blip r:embed="rId6" cstate="print">
              <a:extLst>
                <a:ext uri="{28A0092B-C50C-407E-A947-70E740481C1C}">
                  <a14:useLocalDpi xmlns:a14="http://schemas.microsoft.com/office/drawing/2010/main"/>
                </a:ext>
              </a:extLst>
            </a:blip>
            <a:srcRect/>
            <a:stretch/>
          </p:blipFill>
          <p:spPr>
            <a:xfrm>
              <a:off x="187085" y="3406617"/>
              <a:ext cx="1717121" cy="1668081"/>
            </a:xfrm>
            <a:prstGeom prst="rect">
              <a:avLst/>
            </a:prstGeom>
          </p:spPr>
        </p:pic>
        <p:pic>
          <p:nvPicPr>
            <p:cNvPr id="5" name="Image 4">
              <a:extLst>
                <a:ext uri="{FF2B5EF4-FFF2-40B4-BE49-F238E27FC236}">
                  <a16:creationId xmlns:a16="http://schemas.microsoft.com/office/drawing/2014/main" id="{DDD25EBE-C5DA-B00B-750F-DFBA8B760E9F}"/>
                </a:ext>
              </a:extLst>
            </p:cNvPr>
            <p:cNvPicPr>
              <a:picLocks noChangeAspect="1"/>
            </p:cNvPicPr>
            <p:nvPr/>
          </p:nvPicPr>
          <p:blipFill>
            <a:blip r:embed="rId7" cstate="print">
              <a:extLst>
                <a:ext uri="{28A0092B-C50C-407E-A947-70E740481C1C}">
                  <a14:useLocalDpi xmlns:a14="http://schemas.microsoft.com/office/drawing/2010/main"/>
                </a:ext>
              </a:extLst>
            </a:blip>
            <a:srcRect/>
            <a:stretch/>
          </p:blipFill>
          <p:spPr>
            <a:xfrm>
              <a:off x="1903458" y="3408581"/>
              <a:ext cx="1698003" cy="1681992"/>
            </a:xfrm>
            <a:prstGeom prst="rect">
              <a:avLst/>
            </a:prstGeom>
          </p:spPr>
        </p:pic>
      </p:grpSp>
      <p:sp>
        <p:nvSpPr>
          <p:cNvPr id="9" name="Rectangle 8">
            <a:extLst>
              <a:ext uri="{FF2B5EF4-FFF2-40B4-BE49-F238E27FC236}">
                <a16:creationId xmlns:a16="http://schemas.microsoft.com/office/drawing/2014/main" id="{BB2415E8-0418-998F-9F0D-149E9BC92015}"/>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11" name="Image 10">
            <a:extLst>
              <a:ext uri="{FF2B5EF4-FFF2-40B4-BE49-F238E27FC236}">
                <a16:creationId xmlns:a16="http://schemas.microsoft.com/office/drawing/2014/main" id="{CD8BFED4-C10F-9135-5699-5096ACA9714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Tree>
    <p:extLst>
      <p:ext uri="{BB962C8B-B14F-4D97-AF65-F5344CB8AC3E}">
        <p14:creationId xmlns:p14="http://schemas.microsoft.com/office/powerpoint/2010/main" val="2350447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197EF8C7-A33D-C349-4167-360B00E015CE}"/>
              </a:ext>
            </a:extLst>
          </p:cNvPr>
          <p:cNvSpPr txBox="1">
            <a:spLocks/>
          </p:cNvSpPr>
          <p:nvPr/>
        </p:nvSpPr>
        <p:spPr>
          <a:xfrm>
            <a:off x="1510747" y="2858060"/>
            <a:ext cx="3415382" cy="1141878"/>
          </a:xfrm>
          <a:prstGeom prst="rect">
            <a:avLst/>
          </a:prstGeom>
        </p:spPr>
        <p:txBody>
          <a:bodyPr vert="horz" lIns="78203" tIns="39101" rIns="78203" bIns="39101" rtlCol="0" anchor="ctr"/>
          <a:lstStyle>
            <a:defPPr>
              <a:defRPr lang="en-US"/>
            </a:defPPr>
            <a:lvl1pPr marL="0" algn="l" defTabSz="457200" rtl="0" eaLnBrk="1" latinLnBrk="0" hangingPunct="1">
              <a:defRPr sz="1323"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390987"/>
            <a:r>
              <a:rPr lang="fr-FR" sz="3600" b="1" dirty="0">
                <a:solidFill>
                  <a:prstClr val="black"/>
                </a:solidFill>
                <a:latin typeface="Century Gothic" panose="020B0502020202020204" pitchFamily="34" charset="0"/>
              </a:rPr>
              <a:t>Présentation </a:t>
            </a:r>
          </a:p>
          <a:p>
            <a:pPr defTabSz="390987"/>
            <a:r>
              <a:rPr lang="fr-FR" sz="3600" b="1" dirty="0">
                <a:solidFill>
                  <a:prstClr val="black"/>
                </a:solidFill>
                <a:latin typeface="Century Gothic" panose="020B0502020202020204" pitchFamily="34" charset="0"/>
              </a:rPr>
              <a:t>de l’entreprise</a:t>
            </a:r>
          </a:p>
        </p:txBody>
      </p:sp>
      <p:sp>
        <p:nvSpPr>
          <p:cNvPr id="7" name="Rectangle 6">
            <a:extLst>
              <a:ext uri="{FF2B5EF4-FFF2-40B4-BE49-F238E27FC236}">
                <a16:creationId xmlns:a16="http://schemas.microsoft.com/office/drawing/2014/main" id="{86F0E767-8BB0-9442-6D4D-E7BAB9D05198}"/>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4" name="Rectangle 3">
            <a:extLst>
              <a:ext uri="{FF2B5EF4-FFF2-40B4-BE49-F238E27FC236}">
                <a16:creationId xmlns:a16="http://schemas.microsoft.com/office/drawing/2014/main" id="{64BF1DED-D2C6-25E9-081E-3BB98B60E794}"/>
              </a:ext>
            </a:extLst>
          </p:cNvPr>
          <p:cNvSpPr/>
          <p:nvPr/>
        </p:nvSpPr>
        <p:spPr>
          <a:xfrm>
            <a:off x="0" y="3052966"/>
            <a:ext cx="1225118" cy="752067"/>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pic>
        <p:nvPicPr>
          <p:cNvPr id="8" name="Image 7">
            <a:extLst>
              <a:ext uri="{FF2B5EF4-FFF2-40B4-BE49-F238E27FC236}">
                <a16:creationId xmlns:a16="http://schemas.microsoft.com/office/drawing/2014/main" id="{D217A770-E1D6-3DFE-8F91-6780FB18A02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10" name="Rectangle 9">
            <a:extLst>
              <a:ext uri="{FF2B5EF4-FFF2-40B4-BE49-F238E27FC236}">
                <a16:creationId xmlns:a16="http://schemas.microsoft.com/office/drawing/2014/main" id="{F8EF8903-A0EA-85B4-6943-D6E0DB5D4A0E}"/>
              </a:ext>
            </a:extLst>
          </p:cNvPr>
          <p:cNvSpPr/>
          <p:nvPr/>
        </p:nvSpPr>
        <p:spPr>
          <a:xfrm>
            <a:off x="5775683" y="2769466"/>
            <a:ext cx="3270471" cy="327047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874C1E82-F55C-B778-D037-1CC1C460A36B}"/>
              </a:ext>
            </a:extLst>
          </p:cNvPr>
          <p:cNvSpPr/>
          <p:nvPr/>
        </p:nvSpPr>
        <p:spPr>
          <a:xfrm>
            <a:off x="9046154" y="1123807"/>
            <a:ext cx="1645659" cy="164565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descr="Une image contenant personne, Visage humain, Blazer, habits&#10;&#10;Le contenu généré par l’IA peut être incorrect.">
            <a:extLst>
              <a:ext uri="{FF2B5EF4-FFF2-40B4-BE49-F238E27FC236}">
                <a16:creationId xmlns:a16="http://schemas.microsoft.com/office/drawing/2014/main" id="{4544F399-605E-DB10-1735-167833BDEA5D}"/>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5070599" y="137901"/>
            <a:ext cx="4384621" cy="5902036"/>
          </a:xfrm>
          <a:prstGeom prst="rect">
            <a:avLst/>
          </a:prstGeom>
        </p:spPr>
      </p:pic>
    </p:spTree>
    <p:extLst>
      <p:ext uri="{BB962C8B-B14F-4D97-AF65-F5344CB8AC3E}">
        <p14:creationId xmlns:p14="http://schemas.microsoft.com/office/powerpoint/2010/main" val="2986748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9" name="Groupe 188">
            <a:extLst>
              <a:ext uri="{FF2B5EF4-FFF2-40B4-BE49-F238E27FC236}">
                <a16:creationId xmlns:a16="http://schemas.microsoft.com/office/drawing/2014/main" id="{804B5D71-5D9E-4BB9-A118-8EAB2A864002}"/>
              </a:ext>
            </a:extLst>
          </p:cNvPr>
          <p:cNvGrpSpPr/>
          <p:nvPr/>
        </p:nvGrpSpPr>
        <p:grpSpPr>
          <a:xfrm>
            <a:off x="3716041" y="2572158"/>
            <a:ext cx="3203210" cy="2228333"/>
            <a:chOff x="3274308" y="1337521"/>
            <a:chExt cx="4452372" cy="3097320"/>
          </a:xfrm>
        </p:grpSpPr>
        <p:sp>
          <p:nvSpPr>
            <p:cNvPr id="220" name="Rectangle 219">
              <a:extLst>
                <a:ext uri="{FF2B5EF4-FFF2-40B4-BE49-F238E27FC236}">
                  <a16:creationId xmlns:a16="http://schemas.microsoft.com/office/drawing/2014/main" id="{5FE7C024-5CC4-4C53-A854-E3A4ED8D0332}"/>
                </a:ext>
              </a:extLst>
            </p:cNvPr>
            <p:cNvSpPr/>
            <p:nvPr/>
          </p:nvSpPr>
          <p:spPr>
            <a:xfrm>
              <a:off x="3274308" y="2201134"/>
              <a:ext cx="2226186" cy="22261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390987"/>
              <a:endParaRPr lang="fr-FR" sz="1539">
                <a:solidFill>
                  <a:prstClr val="white"/>
                </a:solidFill>
                <a:latin typeface="Arial Nova" panose="020B0504020202020204" pitchFamily="34" charset="0"/>
                <a:cs typeface="Arial" panose="020B0604020202020204" pitchFamily="34" charset="0"/>
              </a:endParaRPr>
            </a:p>
          </p:txBody>
        </p:sp>
        <p:pic>
          <p:nvPicPr>
            <p:cNvPr id="221" name="Image 220" descr="Une image contenant texte, clipart, graphiques vectoriels&#10;&#10;Description générée automatiquement">
              <a:extLst>
                <a:ext uri="{FF2B5EF4-FFF2-40B4-BE49-F238E27FC236}">
                  <a16:creationId xmlns:a16="http://schemas.microsoft.com/office/drawing/2014/main" id="{01625E29-6D93-47C6-9554-BE5ACD5499D7}"/>
                </a:ext>
              </a:extLst>
            </p:cNvPr>
            <p:cNvPicPr>
              <a:picLocks noChangeAspect="1"/>
            </p:cNvPicPr>
            <p:nvPr/>
          </p:nvPicPr>
          <p:blipFill>
            <a:blip r:embed="rId2"/>
            <a:stretch>
              <a:fillRect/>
            </a:stretch>
          </p:blipFill>
          <p:spPr>
            <a:xfrm>
              <a:off x="5500494" y="2201134"/>
              <a:ext cx="2226186" cy="2233707"/>
            </a:xfrm>
            <a:prstGeom prst="rect">
              <a:avLst/>
            </a:prstGeom>
          </p:spPr>
        </p:pic>
        <p:pic>
          <p:nvPicPr>
            <p:cNvPr id="222" name="Image 221" descr="Une image contenant personne&#10;&#10;Description générée automatiquement">
              <a:extLst>
                <a:ext uri="{FF2B5EF4-FFF2-40B4-BE49-F238E27FC236}">
                  <a16:creationId xmlns:a16="http://schemas.microsoft.com/office/drawing/2014/main" id="{A5F13AFD-AF0C-406D-A0A0-5CE138D10C4D}"/>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768085" y="1337521"/>
              <a:ext cx="3464819" cy="3097320"/>
            </a:xfrm>
            <a:prstGeom prst="rect">
              <a:avLst/>
            </a:prstGeom>
          </p:spPr>
        </p:pic>
      </p:grpSp>
      <p:sp>
        <p:nvSpPr>
          <p:cNvPr id="190" name="ZoneTexte 12">
            <a:extLst>
              <a:ext uri="{FF2B5EF4-FFF2-40B4-BE49-F238E27FC236}">
                <a16:creationId xmlns:a16="http://schemas.microsoft.com/office/drawing/2014/main" id="{B62DEBA0-40CB-489E-842F-0C01FB1800E3}"/>
              </a:ext>
            </a:extLst>
          </p:cNvPr>
          <p:cNvSpPr txBox="1"/>
          <p:nvPr/>
        </p:nvSpPr>
        <p:spPr>
          <a:xfrm>
            <a:off x="985830" y="1990383"/>
            <a:ext cx="2101677" cy="160043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390987"/>
            <a:endParaRPr lang="fr-FR" sz="1400" b="1" baseline="30000" dirty="0">
              <a:solidFill>
                <a:srgbClr val="000000"/>
              </a:solidFill>
              <a:latin typeface="Arial Nova" panose="020B0504020202020204" pitchFamily="34" charset="0"/>
              <a:cs typeface="Arial" panose="020B0604020202020204" pitchFamily="34" charset="0"/>
            </a:endParaRP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solidFill>
                  <a:srgbClr val="434341"/>
                </a:solidFill>
                <a:latin typeface="Arial Nova" panose="020B0504020202020204" pitchFamily="34" charset="0"/>
                <a:cs typeface="Arial" panose="020B0604020202020204" pitchFamily="34" charset="0"/>
              </a:rPr>
              <a:t>Imprimantes A4 et A3 </a:t>
            </a: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latin typeface="Arial Nova" panose="020B0504020202020204" pitchFamily="34" charset="0"/>
                <a:cs typeface="Arial" panose="020B0604020202020204" pitchFamily="34" charset="0"/>
              </a:rPr>
              <a:t>P</a:t>
            </a:r>
            <a:r>
              <a:rPr lang="fr-FR" sz="1400" baseline="30000" dirty="0">
                <a:solidFill>
                  <a:srgbClr val="434341"/>
                </a:solidFill>
                <a:latin typeface="Arial Nova" panose="020B0504020202020204" pitchFamily="34" charset="0"/>
                <a:cs typeface="Arial" panose="020B0604020202020204" pitchFamily="34" charset="0"/>
              </a:rPr>
              <a:t>hotocopieurs A4 et A3 </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Imprimantes grand format</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Gestion de parc d’impression</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Presse numérique &amp; traceurs</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Scanners</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Consommables</a:t>
            </a:r>
          </a:p>
          <a:p>
            <a:pPr defTabSz="390987"/>
            <a:endParaRPr lang="fr-FR" sz="1400" baseline="30000" dirty="0">
              <a:solidFill>
                <a:srgbClr val="434341"/>
              </a:solidFill>
              <a:latin typeface="Arial Nova" panose="020B0504020202020204" pitchFamily="34" charset="0"/>
              <a:cs typeface="Arial" panose="020B0604020202020204" pitchFamily="34" charset="0"/>
            </a:endParaRPr>
          </a:p>
          <a:p>
            <a:pPr defTabSz="390987"/>
            <a:endParaRPr lang="fr-FR" sz="1400" dirty="0">
              <a:solidFill>
                <a:prstClr val="black"/>
              </a:solidFill>
              <a:latin typeface="Arial Nova" panose="020B0504020202020204" pitchFamily="34" charset="0"/>
              <a:cs typeface="Arial" panose="020B0604020202020204" pitchFamily="34" charset="0"/>
            </a:endParaRPr>
          </a:p>
        </p:txBody>
      </p:sp>
      <p:sp>
        <p:nvSpPr>
          <p:cNvPr id="191" name="ZoneTexte 14">
            <a:extLst>
              <a:ext uri="{FF2B5EF4-FFF2-40B4-BE49-F238E27FC236}">
                <a16:creationId xmlns:a16="http://schemas.microsoft.com/office/drawing/2014/main" id="{5D7A0C58-1D48-4EF1-966D-B2A1D56D61BA}"/>
              </a:ext>
            </a:extLst>
          </p:cNvPr>
          <p:cNvSpPr txBox="1"/>
          <p:nvPr/>
        </p:nvSpPr>
        <p:spPr>
          <a:xfrm>
            <a:off x="7231722" y="1659226"/>
            <a:ext cx="2401293" cy="124136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390987"/>
            <a:endParaRPr lang="fr-FR" sz="1400" b="1" baseline="30000" dirty="0">
              <a:solidFill>
                <a:srgbClr val="000000"/>
              </a:solidFill>
              <a:latin typeface="Arial Nova" panose="020B0504020202020204" pitchFamily="34" charset="0"/>
              <a:cs typeface="Arial" panose="020B0604020202020204" pitchFamily="34" charset="0"/>
            </a:endParaRP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Liens Internet (</a:t>
            </a:r>
            <a:r>
              <a:rPr lang="fr-FR" sz="1400" baseline="30000" dirty="0" err="1">
                <a:solidFill>
                  <a:srgbClr val="434341"/>
                </a:solidFill>
                <a:latin typeface="Arial Nova" panose="020B0504020202020204" pitchFamily="34" charset="0"/>
                <a:cs typeface="Arial" panose="020B0604020202020204" pitchFamily="34" charset="0"/>
              </a:rPr>
              <a:t>adsl</a:t>
            </a:r>
            <a:r>
              <a:rPr lang="fr-FR" sz="1400" baseline="30000" dirty="0">
                <a:solidFill>
                  <a:srgbClr val="434341"/>
                </a:solidFill>
                <a:latin typeface="Arial Nova" panose="020B0504020202020204" pitchFamily="34" charset="0"/>
                <a:cs typeface="Arial" panose="020B0604020202020204" pitchFamily="34" charset="0"/>
              </a:rPr>
              <a:t>, fibre …)</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Téléphonie fixe</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Forfaits mobile</a:t>
            </a: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latin typeface="Arial Nova" panose="020B0504020202020204" pitchFamily="34" charset="0"/>
                <a:cs typeface="Arial" panose="020B0604020202020204" pitchFamily="34" charset="0"/>
              </a:rPr>
              <a:t>Interconnexion de sites</a:t>
            </a: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latin typeface="Arial Nova" panose="020B0504020202020204" pitchFamily="34" charset="0"/>
                <a:cs typeface="Arial" panose="020B0604020202020204" pitchFamily="34" charset="0"/>
              </a:rPr>
              <a:t>Visioconférence</a:t>
            </a:r>
            <a:endParaRPr lang="fr-FR" sz="1400" baseline="30000" dirty="0">
              <a:solidFill>
                <a:srgbClr val="E94B57"/>
              </a:solidFill>
              <a:latin typeface="Arial Nova" panose="020B0504020202020204" pitchFamily="34" charset="0"/>
              <a:cs typeface="Arial" panose="020B0604020202020204" pitchFamily="34" charset="0"/>
            </a:endParaRP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latin typeface="Arial Nova" panose="020B0504020202020204" pitchFamily="34" charset="0"/>
                <a:cs typeface="Arial" panose="020B0604020202020204" pitchFamily="34" charset="0"/>
              </a:rPr>
              <a:t>Postes téléphoniques &amp; casques</a:t>
            </a:r>
            <a:endParaRPr lang="fr-FR" sz="1400" baseline="30000" dirty="0">
              <a:solidFill>
                <a:srgbClr val="E94B57"/>
              </a:solidFill>
              <a:latin typeface="Arial Nova" panose="020B0504020202020204" pitchFamily="34" charset="0"/>
              <a:cs typeface="Arial" panose="020B0604020202020204" pitchFamily="34" charset="0"/>
            </a:endParaRP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a:t>
            </a:r>
            <a:r>
              <a:rPr lang="fr-FR" sz="1400" baseline="30000" dirty="0" err="1">
                <a:solidFill>
                  <a:srgbClr val="434341"/>
                </a:solidFill>
                <a:latin typeface="Arial Nova" panose="020B0504020202020204" pitchFamily="34" charset="0"/>
                <a:cs typeface="Arial" panose="020B0604020202020204" pitchFamily="34" charset="0"/>
              </a:rPr>
              <a:t>Softphonie</a:t>
            </a:r>
            <a:r>
              <a:rPr lang="fr-FR" sz="1400" baseline="30000" dirty="0">
                <a:solidFill>
                  <a:srgbClr val="434341"/>
                </a:solidFill>
                <a:latin typeface="Arial Nova" panose="020B0504020202020204" pitchFamily="34" charset="0"/>
                <a:cs typeface="Arial" panose="020B0604020202020204" pitchFamily="34" charset="0"/>
              </a:rPr>
              <a:t> et téléphonie cloud</a:t>
            </a:r>
          </a:p>
        </p:txBody>
      </p:sp>
      <p:sp>
        <p:nvSpPr>
          <p:cNvPr id="192" name="ZoneTexte 16">
            <a:extLst>
              <a:ext uri="{FF2B5EF4-FFF2-40B4-BE49-F238E27FC236}">
                <a16:creationId xmlns:a16="http://schemas.microsoft.com/office/drawing/2014/main" id="{E10D4F72-5F37-4B82-A76D-8939DD40EE60}"/>
              </a:ext>
            </a:extLst>
          </p:cNvPr>
          <p:cNvSpPr txBox="1"/>
          <p:nvPr/>
        </p:nvSpPr>
        <p:spPr>
          <a:xfrm>
            <a:off x="927096" y="5796408"/>
            <a:ext cx="2264271" cy="81047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solidFill>
                  <a:srgbClr val="434341"/>
                </a:solidFill>
                <a:latin typeface="Arial Nova" panose="020B0504020202020204" pitchFamily="34" charset="0"/>
                <a:cs typeface="Arial" panose="020B0604020202020204" pitchFamily="34" charset="0"/>
              </a:rPr>
              <a:t>Gestion : comptabilité, finance, RH, ERP, production… </a:t>
            </a: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solidFill>
                  <a:srgbClr val="434341"/>
                </a:solidFill>
                <a:latin typeface="Arial Nova" panose="020B0504020202020204" pitchFamily="34" charset="0"/>
                <a:cs typeface="Arial" panose="020B0604020202020204" pitchFamily="34" charset="0"/>
              </a:rPr>
              <a:t>CRM</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Business intelligence</a:t>
            </a:r>
          </a:p>
          <a:p>
            <a:pPr defTabSz="390987"/>
            <a:endParaRPr lang="fr-FR" sz="1400" baseline="30000" dirty="0">
              <a:solidFill>
                <a:srgbClr val="434341"/>
              </a:solidFill>
              <a:latin typeface="Arial Nova" panose="020B0504020202020204" pitchFamily="34" charset="0"/>
              <a:cs typeface="Arial" panose="020B0604020202020204" pitchFamily="34" charset="0"/>
            </a:endParaRPr>
          </a:p>
        </p:txBody>
      </p:sp>
      <p:sp>
        <p:nvSpPr>
          <p:cNvPr id="193" name="ZoneTexte 18">
            <a:extLst>
              <a:ext uri="{FF2B5EF4-FFF2-40B4-BE49-F238E27FC236}">
                <a16:creationId xmlns:a16="http://schemas.microsoft.com/office/drawing/2014/main" id="{F571674E-37FB-4E8B-AF6F-E402BBBE91DC}"/>
              </a:ext>
            </a:extLst>
          </p:cNvPr>
          <p:cNvSpPr txBox="1"/>
          <p:nvPr/>
        </p:nvSpPr>
        <p:spPr>
          <a:xfrm>
            <a:off x="921977" y="5075889"/>
            <a:ext cx="2233609" cy="102592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Dématérialisation des documents</a:t>
            </a: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solidFill>
                  <a:srgbClr val="434341"/>
                </a:solidFill>
                <a:latin typeface="Arial Nova" panose="020B0504020202020204" pitchFamily="34" charset="0"/>
                <a:cs typeface="Arial" panose="020B0604020202020204" pitchFamily="34" charset="0"/>
              </a:rPr>
              <a:t>Signature électronique</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Automatisation des processus</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Gestion électronique des documents</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Composition et édition du document</a:t>
            </a:r>
          </a:p>
          <a:p>
            <a:pPr defTabSz="390987"/>
            <a:endParaRPr lang="fr-FR" sz="1400" dirty="0">
              <a:solidFill>
                <a:prstClr val="black"/>
              </a:solidFill>
              <a:latin typeface="Arial Nova" panose="020B0504020202020204" pitchFamily="34" charset="0"/>
              <a:cs typeface="Arial" panose="020B0604020202020204" pitchFamily="34" charset="0"/>
            </a:endParaRPr>
          </a:p>
        </p:txBody>
      </p:sp>
      <p:sp>
        <p:nvSpPr>
          <p:cNvPr id="194" name="ZoneTexte 20">
            <a:extLst>
              <a:ext uri="{FF2B5EF4-FFF2-40B4-BE49-F238E27FC236}">
                <a16:creationId xmlns:a16="http://schemas.microsoft.com/office/drawing/2014/main" id="{F7995F77-6589-422A-87C1-83D768D495B2}"/>
              </a:ext>
            </a:extLst>
          </p:cNvPr>
          <p:cNvSpPr txBox="1"/>
          <p:nvPr/>
        </p:nvSpPr>
        <p:spPr>
          <a:xfrm>
            <a:off x="7809098" y="5072638"/>
            <a:ext cx="2356104" cy="13131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Utilisateurs</a:t>
            </a: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solidFill>
                  <a:srgbClr val="434341"/>
                </a:solidFill>
                <a:latin typeface="Arial Nova" panose="020B0504020202020204" pitchFamily="34" charset="0"/>
                <a:cs typeface="Arial" panose="020B0604020202020204" pitchFamily="34" charset="0"/>
              </a:rPr>
              <a:t>Sécurité proactive</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RGPD</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Equipement audio &amp; visioconférence</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Écrans tactiles</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Affichage dynamique</a:t>
            </a:r>
          </a:p>
          <a:p>
            <a:pPr defTabSz="390987"/>
            <a:endParaRPr lang="fr-FR" sz="1400" baseline="30000" dirty="0">
              <a:solidFill>
                <a:srgbClr val="434341"/>
              </a:solidFill>
              <a:latin typeface="Arial Nova" panose="020B0504020202020204" pitchFamily="34" charset="0"/>
              <a:cs typeface="Arial" panose="020B0604020202020204" pitchFamily="34" charset="0"/>
            </a:endParaRPr>
          </a:p>
          <a:p>
            <a:pPr defTabSz="390987"/>
            <a:endParaRPr lang="fr-FR" sz="1400" dirty="0">
              <a:solidFill>
                <a:prstClr val="black"/>
              </a:solidFill>
              <a:latin typeface="Arial Nova" panose="020B0504020202020204" pitchFamily="34" charset="0"/>
              <a:cs typeface="Arial" panose="020B0604020202020204" pitchFamily="34" charset="0"/>
            </a:endParaRPr>
          </a:p>
        </p:txBody>
      </p:sp>
      <p:sp>
        <p:nvSpPr>
          <p:cNvPr id="200" name="ZoneTexte 32">
            <a:extLst>
              <a:ext uri="{FF2B5EF4-FFF2-40B4-BE49-F238E27FC236}">
                <a16:creationId xmlns:a16="http://schemas.microsoft.com/office/drawing/2014/main" id="{3BD0D439-6B25-41A7-8560-B469443A8DB0}"/>
              </a:ext>
            </a:extLst>
          </p:cNvPr>
          <p:cNvSpPr txBox="1"/>
          <p:nvPr/>
        </p:nvSpPr>
        <p:spPr>
          <a:xfrm>
            <a:off x="7806438" y="4201292"/>
            <a:ext cx="2481633" cy="95410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Infrastructure (serveurs, stockage, réseaux…)</a:t>
            </a: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solidFill>
                  <a:srgbClr val="434341"/>
                </a:solidFill>
                <a:latin typeface="Arial Nova" panose="020B0504020202020204" pitchFamily="34" charset="0"/>
                <a:cs typeface="Arial" panose="020B0604020202020204" pitchFamily="34" charset="0"/>
              </a:rPr>
              <a:t>Environnement utilisateur : postes de travail, outils collaboratifs…</a:t>
            </a: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solidFill>
                  <a:srgbClr val="434341"/>
                </a:solidFill>
                <a:latin typeface="Arial Nova" panose="020B0504020202020204" pitchFamily="34" charset="0"/>
                <a:cs typeface="Arial" panose="020B0604020202020204" pitchFamily="34" charset="0"/>
              </a:rPr>
              <a:t>Hébergement &amp; Cloud</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Services managés</a:t>
            </a:r>
          </a:p>
        </p:txBody>
      </p:sp>
      <p:pic>
        <p:nvPicPr>
          <p:cNvPr id="202" name="Graphique 39">
            <a:extLst>
              <a:ext uri="{FF2B5EF4-FFF2-40B4-BE49-F238E27FC236}">
                <a16:creationId xmlns:a16="http://schemas.microsoft.com/office/drawing/2014/main" id="{A204F90A-065D-4063-81E3-28E6EAA9400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16243" y="2481337"/>
            <a:ext cx="706592" cy="706592"/>
          </a:xfrm>
          <a:prstGeom prst="rect">
            <a:avLst/>
          </a:prstGeom>
        </p:spPr>
      </p:pic>
      <p:pic>
        <p:nvPicPr>
          <p:cNvPr id="203" name="Graphique 41">
            <a:extLst>
              <a:ext uri="{FF2B5EF4-FFF2-40B4-BE49-F238E27FC236}">
                <a16:creationId xmlns:a16="http://schemas.microsoft.com/office/drawing/2014/main" id="{5058263D-CE35-4163-82DB-5621BD8D954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16244" y="2113993"/>
            <a:ext cx="367343" cy="367343"/>
          </a:xfrm>
          <a:prstGeom prst="rect">
            <a:avLst/>
          </a:prstGeom>
        </p:spPr>
      </p:pic>
      <p:pic>
        <p:nvPicPr>
          <p:cNvPr id="207" name="Graphique 47">
            <a:extLst>
              <a:ext uri="{FF2B5EF4-FFF2-40B4-BE49-F238E27FC236}">
                <a16:creationId xmlns:a16="http://schemas.microsoft.com/office/drawing/2014/main" id="{82A2AE6E-6F38-4890-A630-ED89A53CEAC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75797" y="5482611"/>
            <a:ext cx="352103" cy="352103"/>
          </a:xfrm>
          <a:prstGeom prst="rect">
            <a:avLst/>
          </a:prstGeom>
        </p:spPr>
      </p:pic>
      <p:pic>
        <p:nvPicPr>
          <p:cNvPr id="209" name="Graphique 50">
            <a:extLst>
              <a:ext uri="{FF2B5EF4-FFF2-40B4-BE49-F238E27FC236}">
                <a16:creationId xmlns:a16="http://schemas.microsoft.com/office/drawing/2014/main" id="{4D1D5E16-19FD-4427-B79C-F6E53FB3ECA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364280" y="5158561"/>
            <a:ext cx="709053" cy="709053"/>
          </a:xfrm>
          <a:prstGeom prst="rect">
            <a:avLst/>
          </a:prstGeom>
        </p:spPr>
      </p:pic>
      <p:pic>
        <p:nvPicPr>
          <p:cNvPr id="210" name="Graphique 52">
            <a:extLst>
              <a:ext uri="{FF2B5EF4-FFF2-40B4-BE49-F238E27FC236}">
                <a16:creationId xmlns:a16="http://schemas.microsoft.com/office/drawing/2014/main" id="{C4918393-7FEE-40D5-B3C6-46C1750A7F6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22036" y="2137753"/>
            <a:ext cx="704729" cy="704729"/>
          </a:xfrm>
          <a:prstGeom prst="rect">
            <a:avLst/>
          </a:prstGeom>
        </p:spPr>
      </p:pic>
      <p:pic>
        <p:nvPicPr>
          <p:cNvPr id="212" name="Graphique 59">
            <a:extLst>
              <a:ext uri="{FF2B5EF4-FFF2-40B4-BE49-F238E27FC236}">
                <a16:creationId xmlns:a16="http://schemas.microsoft.com/office/drawing/2014/main" id="{D7D4F7C0-4EAE-4B9B-9429-3EA977EFF33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909653" y="4768575"/>
            <a:ext cx="720262" cy="720262"/>
          </a:xfrm>
          <a:prstGeom prst="rect">
            <a:avLst/>
          </a:prstGeom>
        </p:spPr>
      </p:pic>
      <p:pic>
        <p:nvPicPr>
          <p:cNvPr id="213" name="Graphique 62">
            <a:extLst>
              <a:ext uri="{FF2B5EF4-FFF2-40B4-BE49-F238E27FC236}">
                <a16:creationId xmlns:a16="http://schemas.microsoft.com/office/drawing/2014/main" id="{657BD877-908D-4D59-8EEC-6188C115A3B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712000" y="4795080"/>
            <a:ext cx="360319" cy="360319"/>
          </a:xfrm>
          <a:prstGeom prst="rect">
            <a:avLst/>
          </a:prstGeom>
        </p:spPr>
      </p:pic>
      <p:sp>
        <p:nvSpPr>
          <p:cNvPr id="2" name="ZoneTexte 1">
            <a:extLst>
              <a:ext uri="{FF2B5EF4-FFF2-40B4-BE49-F238E27FC236}">
                <a16:creationId xmlns:a16="http://schemas.microsoft.com/office/drawing/2014/main" id="{58C35189-C4B8-2701-F6A8-E872334C766A}"/>
              </a:ext>
            </a:extLst>
          </p:cNvPr>
          <p:cNvSpPr txBox="1"/>
          <p:nvPr/>
        </p:nvSpPr>
        <p:spPr>
          <a:xfrm>
            <a:off x="7231722" y="1013934"/>
            <a:ext cx="2090859" cy="707886"/>
          </a:xfrm>
          <a:prstGeom prst="rect">
            <a:avLst/>
          </a:prstGeom>
          <a:noFill/>
        </p:spPr>
        <p:txBody>
          <a:bodyPr wrap="square" rtlCol="0">
            <a:spAutoFit/>
          </a:bodyPr>
          <a:lstStyle/>
          <a:p>
            <a:r>
              <a:rPr lang="fr-FR" sz="2000" b="1" dirty="0">
                <a:latin typeface="Arial Nova" panose="020B0504020202020204" pitchFamily="34" charset="0"/>
              </a:rPr>
              <a:t>Opérateur &amp; Téléphonie</a:t>
            </a:r>
          </a:p>
        </p:txBody>
      </p:sp>
      <p:sp>
        <p:nvSpPr>
          <p:cNvPr id="3" name="ZoneTexte 2">
            <a:extLst>
              <a:ext uri="{FF2B5EF4-FFF2-40B4-BE49-F238E27FC236}">
                <a16:creationId xmlns:a16="http://schemas.microsoft.com/office/drawing/2014/main" id="{F74C1891-DBE3-35D9-62CE-DAFCF4E331A5}"/>
              </a:ext>
            </a:extLst>
          </p:cNvPr>
          <p:cNvSpPr txBox="1"/>
          <p:nvPr/>
        </p:nvSpPr>
        <p:spPr>
          <a:xfrm>
            <a:off x="925275" y="4302959"/>
            <a:ext cx="2856885" cy="707886"/>
          </a:xfrm>
          <a:prstGeom prst="rect">
            <a:avLst/>
          </a:prstGeom>
          <a:noFill/>
        </p:spPr>
        <p:txBody>
          <a:bodyPr wrap="square" rtlCol="0">
            <a:spAutoFit/>
          </a:bodyPr>
          <a:lstStyle/>
          <a:p>
            <a:r>
              <a:rPr lang="fr-FR" sz="2000" b="1" dirty="0">
                <a:latin typeface="Arial Nova" panose="020B0504020202020204" pitchFamily="34" charset="0"/>
              </a:rPr>
              <a:t>Gestion, BI, GED &amp; Dématérialisation</a:t>
            </a:r>
          </a:p>
        </p:txBody>
      </p:sp>
      <p:sp>
        <p:nvSpPr>
          <p:cNvPr id="5" name="ZoneTexte 4">
            <a:extLst>
              <a:ext uri="{FF2B5EF4-FFF2-40B4-BE49-F238E27FC236}">
                <a16:creationId xmlns:a16="http://schemas.microsoft.com/office/drawing/2014/main" id="{77897664-87DF-B9DB-7514-10CD12501403}"/>
              </a:ext>
            </a:extLst>
          </p:cNvPr>
          <p:cNvSpPr txBox="1"/>
          <p:nvPr/>
        </p:nvSpPr>
        <p:spPr>
          <a:xfrm>
            <a:off x="7806438" y="3411676"/>
            <a:ext cx="2816674" cy="707886"/>
          </a:xfrm>
          <a:prstGeom prst="rect">
            <a:avLst/>
          </a:prstGeom>
          <a:noFill/>
        </p:spPr>
        <p:txBody>
          <a:bodyPr wrap="square" rtlCol="0">
            <a:spAutoFit/>
          </a:bodyPr>
          <a:lstStyle/>
          <a:p>
            <a:r>
              <a:rPr lang="fr-FR" sz="2000" b="1" dirty="0">
                <a:latin typeface="Arial Nova" panose="020B0504020202020204" pitchFamily="34" charset="0"/>
              </a:rPr>
              <a:t>Informatique &amp; Sécurité</a:t>
            </a:r>
          </a:p>
        </p:txBody>
      </p:sp>
      <p:pic>
        <p:nvPicPr>
          <p:cNvPr id="211" name="Graphique 54">
            <a:extLst>
              <a:ext uri="{FF2B5EF4-FFF2-40B4-BE49-F238E27FC236}">
                <a16:creationId xmlns:a16="http://schemas.microsoft.com/office/drawing/2014/main" id="{FC21A16C-448E-4028-A17E-81B119ED28B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564010" y="2834635"/>
            <a:ext cx="360319" cy="360319"/>
          </a:xfrm>
          <a:prstGeom prst="rect">
            <a:avLst/>
          </a:prstGeom>
        </p:spPr>
      </p:pic>
      <p:sp>
        <p:nvSpPr>
          <p:cNvPr id="6" name="ZoneTexte 5">
            <a:extLst>
              <a:ext uri="{FF2B5EF4-FFF2-40B4-BE49-F238E27FC236}">
                <a16:creationId xmlns:a16="http://schemas.microsoft.com/office/drawing/2014/main" id="{306C1CFD-D81E-42E4-5866-62455739EC48}"/>
              </a:ext>
            </a:extLst>
          </p:cNvPr>
          <p:cNvSpPr txBox="1"/>
          <p:nvPr/>
        </p:nvSpPr>
        <p:spPr>
          <a:xfrm>
            <a:off x="1012707" y="1678335"/>
            <a:ext cx="2856885" cy="400110"/>
          </a:xfrm>
          <a:prstGeom prst="rect">
            <a:avLst/>
          </a:prstGeom>
          <a:noFill/>
        </p:spPr>
        <p:txBody>
          <a:bodyPr wrap="square" rtlCol="0">
            <a:spAutoFit/>
          </a:bodyPr>
          <a:lstStyle/>
          <a:p>
            <a:r>
              <a:rPr lang="fr-FR" sz="2000" b="1" dirty="0">
                <a:latin typeface="Arial Nova" panose="020B0504020202020204" pitchFamily="34" charset="0"/>
              </a:rPr>
              <a:t>Impression</a:t>
            </a:r>
          </a:p>
        </p:txBody>
      </p:sp>
      <p:sp>
        <p:nvSpPr>
          <p:cNvPr id="8" name="Rectangle 7">
            <a:extLst>
              <a:ext uri="{FF2B5EF4-FFF2-40B4-BE49-F238E27FC236}">
                <a16:creationId xmlns:a16="http://schemas.microsoft.com/office/drawing/2014/main" id="{9CFAADFF-0F24-9C96-CAB1-29FCB6F9A679}"/>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9" name="Rectangle 8">
            <a:extLst>
              <a:ext uri="{FF2B5EF4-FFF2-40B4-BE49-F238E27FC236}">
                <a16:creationId xmlns:a16="http://schemas.microsoft.com/office/drawing/2014/main" id="{CD654489-15BD-7351-8E13-BB5DBE3C50BC}"/>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pic>
        <p:nvPicPr>
          <p:cNvPr id="10" name="Image 9">
            <a:extLst>
              <a:ext uri="{FF2B5EF4-FFF2-40B4-BE49-F238E27FC236}">
                <a16:creationId xmlns:a16="http://schemas.microsoft.com/office/drawing/2014/main" id="{63B460DA-CCC3-46D8-BC13-BAD8626E51CB}"/>
              </a:ext>
            </a:extLst>
          </p:cNvPr>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11" name="Titre 1">
            <a:extLst>
              <a:ext uri="{FF2B5EF4-FFF2-40B4-BE49-F238E27FC236}">
                <a16:creationId xmlns:a16="http://schemas.microsoft.com/office/drawing/2014/main" id="{B0F572B2-CD0E-63FB-1018-159BF722ED27}"/>
              </a:ext>
            </a:extLst>
          </p:cNvPr>
          <p:cNvSpPr txBox="1">
            <a:spLocks/>
          </p:cNvSpPr>
          <p:nvPr/>
        </p:nvSpPr>
        <p:spPr>
          <a:xfrm>
            <a:off x="762906" y="265328"/>
            <a:ext cx="5442188" cy="1034696"/>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Une convergence unique pour vous accompagner dans la transformation numérique</a:t>
            </a:r>
          </a:p>
        </p:txBody>
      </p:sp>
    </p:spTree>
    <p:extLst>
      <p:ext uri="{BB962C8B-B14F-4D97-AF65-F5344CB8AC3E}">
        <p14:creationId xmlns:p14="http://schemas.microsoft.com/office/powerpoint/2010/main" val="478675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62BAE92-6D50-6E60-8CC4-715E8217BBD2}"/>
              </a:ext>
            </a:extLst>
          </p:cNvPr>
          <p:cNvSpPr/>
          <p:nvPr/>
        </p:nvSpPr>
        <p:spPr>
          <a:xfrm>
            <a:off x="6168735" y="2643545"/>
            <a:ext cx="3270471" cy="327047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Image 1" descr="Une image contenant personne, tenant&#10;&#10;Description générée automatiquement">
            <a:extLst>
              <a:ext uri="{FF2B5EF4-FFF2-40B4-BE49-F238E27FC236}">
                <a16:creationId xmlns:a16="http://schemas.microsoft.com/office/drawing/2014/main" id="{54DBD9CE-4A24-6EC9-DEEA-BD2A6077D32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85788" y="1047175"/>
            <a:ext cx="3244561" cy="4866842"/>
          </a:xfrm>
          <a:prstGeom prst="rect">
            <a:avLst/>
          </a:prstGeom>
        </p:spPr>
      </p:pic>
      <p:sp>
        <p:nvSpPr>
          <p:cNvPr id="8" name="Rectangle 7">
            <a:extLst>
              <a:ext uri="{FF2B5EF4-FFF2-40B4-BE49-F238E27FC236}">
                <a16:creationId xmlns:a16="http://schemas.microsoft.com/office/drawing/2014/main" id="{0C568E65-D154-D9FF-3386-93810A658E1B}"/>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4" name="Espace réservé du texte 1">
            <a:extLst>
              <a:ext uri="{FF2B5EF4-FFF2-40B4-BE49-F238E27FC236}">
                <a16:creationId xmlns:a16="http://schemas.microsoft.com/office/drawing/2014/main" id="{72CB8F02-B1F9-29E2-2D8E-6099559496B3}"/>
              </a:ext>
            </a:extLst>
          </p:cNvPr>
          <p:cNvSpPr txBox="1">
            <a:spLocks/>
          </p:cNvSpPr>
          <p:nvPr/>
        </p:nvSpPr>
        <p:spPr>
          <a:xfrm>
            <a:off x="1510747" y="2858060"/>
            <a:ext cx="3415382" cy="1141878"/>
          </a:xfrm>
          <a:prstGeom prst="rect">
            <a:avLst/>
          </a:prstGeom>
        </p:spPr>
        <p:txBody>
          <a:bodyPr vert="horz" lIns="78203" tIns="39101" rIns="78203" bIns="39101" rtlCol="0" anchor="ctr"/>
          <a:lstStyle>
            <a:defPPr>
              <a:defRPr lang="en-US"/>
            </a:defPPr>
            <a:lvl1pPr marL="0" algn="l" defTabSz="457200" rtl="0" eaLnBrk="1" latinLnBrk="0" hangingPunct="1">
              <a:defRPr sz="1323"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390987"/>
            <a:r>
              <a:rPr lang="fr-FR" sz="3600" b="1" dirty="0">
                <a:solidFill>
                  <a:prstClr val="black"/>
                </a:solidFill>
                <a:latin typeface="Century Gothic" panose="020B0502020202020204" pitchFamily="34" charset="0"/>
              </a:rPr>
              <a:t>Votre situation actuelle</a:t>
            </a:r>
          </a:p>
        </p:txBody>
      </p:sp>
      <p:sp>
        <p:nvSpPr>
          <p:cNvPr id="6" name="Rectangle 5">
            <a:extLst>
              <a:ext uri="{FF2B5EF4-FFF2-40B4-BE49-F238E27FC236}">
                <a16:creationId xmlns:a16="http://schemas.microsoft.com/office/drawing/2014/main" id="{264B4D3B-E882-DE4C-A26D-5B70AE18AC70}"/>
              </a:ext>
            </a:extLst>
          </p:cNvPr>
          <p:cNvSpPr/>
          <p:nvPr/>
        </p:nvSpPr>
        <p:spPr>
          <a:xfrm>
            <a:off x="0" y="3052966"/>
            <a:ext cx="1225118" cy="752067"/>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pic>
        <p:nvPicPr>
          <p:cNvPr id="9" name="Image 8">
            <a:extLst>
              <a:ext uri="{FF2B5EF4-FFF2-40B4-BE49-F238E27FC236}">
                <a16:creationId xmlns:a16="http://schemas.microsoft.com/office/drawing/2014/main" id="{9134BD31-3248-02B5-0E8D-1FB22A2F686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21" name="Rectangle 20">
            <a:extLst>
              <a:ext uri="{FF2B5EF4-FFF2-40B4-BE49-F238E27FC236}">
                <a16:creationId xmlns:a16="http://schemas.microsoft.com/office/drawing/2014/main" id="{DE5CEE07-328E-33B9-2317-97F33D1C5F87}"/>
              </a:ext>
            </a:extLst>
          </p:cNvPr>
          <p:cNvSpPr/>
          <p:nvPr/>
        </p:nvSpPr>
        <p:spPr>
          <a:xfrm>
            <a:off x="4523076" y="5914016"/>
            <a:ext cx="1645659" cy="164565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475047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FE3FA-1FD9-05F7-6252-0EBB52B27DEB}"/>
            </a:ext>
          </a:extLst>
        </p:cNvPr>
        <p:cNvGrpSpPr/>
        <p:nvPr/>
      </p:nvGrpSpPr>
      <p:grpSpPr>
        <a:xfrm>
          <a:off x="0" y="0"/>
          <a:ext cx="0" cy="0"/>
          <a:chOff x="0" y="0"/>
          <a:chExt cx="0" cy="0"/>
        </a:xfrm>
      </p:grpSpPr>
      <p:sp>
        <p:nvSpPr>
          <p:cNvPr id="66" name="Rectangle 65">
            <a:extLst>
              <a:ext uri="{FF2B5EF4-FFF2-40B4-BE49-F238E27FC236}">
                <a16:creationId xmlns:a16="http://schemas.microsoft.com/office/drawing/2014/main" id="{1502AEFA-0A3A-3CA3-9DDB-0E859E909B08}"/>
              </a:ext>
            </a:extLst>
          </p:cNvPr>
          <p:cNvSpPr/>
          <p:nvPr/>
        </p:nvSpPr>
        <p:spPr>
          <a:xfrm>
            <a:off x="890220" y="4116605"/>
            <a:ext cx="4776797" cy="3152040"/>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grpSp>
        <p:nvGrpSpPr>
          <p:cNvPr id="56" name="Groupe 55">
            <a:extLst>
              <a:ext uri="{FF2B5EF4-FFF2-40B4-BE49-F238E27FC236}">
                <a16:creationId xmlns:a16="http://schemas.microsoft.com/office/drawing/2014/main" id="{B8487119-284A-5EC0-096D-B1B40DADDC04}"/>
              </a:ext>
            </a:extLst>
          </p:cNvPr>
          <p:cNvGrpSpPr/>
          <p:nvPr/>
        </p:nvGrpSpPr>
        <p:grpSpPr>
          <a:xfrm>
            <a:off x="4842332" y="4929761"/>
            <a:ext cx="888317" cy="887861"/>
            <a:chOff x="5404049" y="3343576"/>
            <a:chExt cx="1619752" cy="1618921"/>
          </a:xfrm>
        </p:grpSpPr>
        <p:pic>
          <p:nvPicPr>
            <p:cNvPr id="52" name="Image 51" descr="Une image contenant capture d’écran, texte, cercle, conception&#10;&#10;Le contenu généré par l’IA peut être incorrect.">
              <a:extLst>
                <a:ext uri="{FF2B5EF4-FFF2-40B4-BE49-F238E27FC236}">
                  <a16:creationId xmlns:a16="http://schemas.microsoft.com/office/drawing/2014/main" id="{8F697BE2-4A66-EE7E-4389-E470438199F3}"/>
                </a:ext>
              </a:extLst>
            </p:cNvPr>
            <p:cNvPicPr>
              <a:picLocks noChangeAspect="1"/>
            </p:cNvPicPr>
            <p:nvPr/>
          </p:nvPicPr>
          <p:blipFill>
            <a:blip r:embed="rId2" cstate="print">
              <a:clrChange>
                <a:clrFrom>
                  <a:srgbClr val="4EBEFE"/>
                </a:clrFrom>
                <a:clrTo>
                  <a:srgbClr val="4EBEFE">
                    <a:alpha val="0"/>
                  </a:srgbClr>
                </a:clrTo>
              </a:clrChange>
              <a:extLst>
                <a:ext uri="{28A0092B-C50C-407E-A947-70E740481C1C}">
                  <a14:useLocalDpi xmlns:a14="http://schemas.microsoft.com/office/drawing/2010/main"/>
                </a:ext>
              </a:extLst>
            </a:blip>
            <a:srcRect/>
            <a:stretch/>
          </p:blipFill>
          <p:spPr>
            <a:xfrm>
              <a:off x="5404049" y="3343576"/>
              <a:ext cx="901499" cy="942467"/>
            </a:xfrm>
            <a:prstGeom prst="rect">
              <a:avLst/>
            </a:prstGeom>
          </p:spPr>
        </p:pic>
        <p:pic>
          <p:nvPicPr>
            <p:cNvPr id="53" name="Image 52" descr="Une image contenant capture d’écran, texte, cercle, conception&#10;&#10;Le contenu généré par l’IA peut être incorrect.">
              <a:extLst>
                <a:ext uri="{FF2B5EF4-FFF2-40B4-BE49-F238E27FC236}">
                  <a16:creationId xmlns:a16="http://schemas.microsoft.com/office/drawing/2014/main" id="{6A805120-94A2-C4B3-9D03-A862CFFD2FDE}"/>
                </a:ext>
              </a:extLst>
            </p:cNvPr>
            <p:cNvPicPr>
              <a:picLocks noChangeAspect="1"/>
            </p:cNvPicPr>
            <p:nvPr/>
          </p:nvPicPr>
          <p:blipFill>
            <a:blip r:embed="rId3" cstate="print">
              <a:clrChange>
                <a:clrFrom>
                  <a:srgbClr val="4EBEFE"/>
                </a:clrFrom>
                <a:clrTo>
                  <a:srgbClr val="4EBEFE">
                    <a:alpha val="0"/>
                  </a:srgbClr>
                </a:clrTo>
              </a:clrChange>
              <a:extLst>
                <a:ext uri="{28A0092B-C50C-407E-A947-70E740481C1C}">
                  <a14:useLocalDpi xmlns:a14="http://schemas.microsoft.com/office/drawing/2010/main"/>
                </a:ext>
              </a:extLst>
            </a:blip>
            <a:srcRect/>
            <a:stretch/>
          </p:blipFill>
          <p:spPr>
            <a:xfrm>
              <a:off x="6122302" y="3550962"/>
              <a:ext cx="901499" cy="942467"/>
            </a:xfrm>
            <a:prstGeom prst="rect">
              <a:avLst/>
            </a:prstGeom>
          </p:spPr>
        </p:pic>
        <p:pic>
          <p:nvPicPr>
            <p:cNvPr id="54" name="Image 53" descr="Une image contenant capture d’écran, texte, cercle, conception&#10;&#10;Le contenu généré par l’IA peut être incorrect.">
              <a:extLst>
                <a:ext uri="{FF2B5EF4-FFF2-40B4-BE49-F238E27FC236}">
                  <a16:creationId xmlns:a16="http://schemas.microsoft.com/office/drawing/2014/main" id="{A56BCF8B-DB2A-418A-84AA-79798BF64ADB}"/>
                </a:ext>
              </a:extLst>
            </p:cNvPr>
            <p:cNvPicPr>
              <a:picLocks noChangeAspect="1"/>
            </p:cNvPicPr>
            <p:nvPr/>
          </p:nvPicPr>
          <p:blipFill>
            <a:blip r:embed="rId4" cstate="print">
              <a:clrChange>
                <a:clrFrom>
                  <a:srgbClr val="4EBEFE"/>
                </a:clrFrom>
                <a:clrTo>
                  <a:srgbClr val="4EBEFE">
                    <a:alpha val="0"/>
                  </a:srgbClr>
                </a:clrTo>
              </a:clrChange>
              <a:extLst>
                <a:ext uri="{28A0092B-C50C-407E-A947-70E740481C1C}">
                  <a14:useLocalDpi xmlns:a14="http://schemas.microsoft.com/office/drawing/2010/main"/>
                </a:ext>
              </a:extLst>
            </a:blip>
            <a:srcRect/>
            <a:stretch/>
          </p:blipFill>
          <p:spPr>
            <a:xfrm>
              <a:off x="5422422" y="4160378"/>
              <a:ext cx="767252" cy="802119"/>
            </a:xfrm>
            <a:prstGeom prst="rect">
              <a:avLst/>
            </a:prstGeom>
          </p:spPr>
        </p:pic>
        <p:pic>
          <p:nvPicPr>
            <p:cNvPr id="55" name="Image 54" descr="Une image contenant capture d’écran, texte, cercle, conception&#10;&#10;Le contenu généré par l’IA peut être incorrect.">
              <a:extLst>
                <a:ext uri="{FF2B5EF4-FFF2-40B4-BE49-F238E27FC236}">
                  <a16:creationId xmlns:a16="http://schemas.microsoft.com/office/drawing/2014/main" id="{9298B7B0-CC59-30E2-2FEA-0EBFA0FE5C30}"/>
                </a:ext>
              </a:extLst>
            </p:cNvPr>
            <p:cNvPicPr>
              <a:picLocks noChangeAspect="1"/>
            </p:cNvPicPr>
            <p:nvPr/>
          </p:nvPicPr>
          <p:blipFill>
            <a:blip r:embed="rId5" cstate="print">
              <a:clrChange>
                <a:clrFrom>
                  <a:srgbClr val="4EBEFE"/>
                </a:clrFrom>
                <a:clrTo>
                  <a:srgbClr val="4EBEFE">
                    <a:alpha val="0"/>
                  </a:srgbClr>
                </a:clrTo>
              </a:clrChange>
              <a:extLst>
                <a:ext uri="{28A0092B-C50C-407E-A947-70E740481C1C}">
                  <a14:useLocalDpi xmlns:a14="http://schemas.microsoft.com/office/drawing/2010/main"/>
                </a:ext>
              </a:extLst>
            </a:blip>
            <a:srcRect/>
            <a:stretch/>
          </p:blipFill>
          <p:spPr>
            <a:xfrm>
              <a:off x="5954770" y="4157261"/>
              <a:ext cx="767252" cy="802119"/>
            </a:xfrm>
            <a:prstGeom prst="rect">
              <a:avLst/>
            </a:prstGeom>
          </p:spPr>
        </p:pic>
      </p:grpSp>
      <p:sp>
        <p:nvSpPr>
          <p:cNvPr id="67" name="ZoneTexte 66">
            <a:extLst>
              <a:ext uri="{FF2B5EF4-FFF2-40B4-BE49-F238E27FC236}">
                <a16:creationId xmlns:a16="http://schemas.microsoft.com/office/drawing/2014/main" id="{6E371717-4BBE-3598-B963-A89C2ED4DBB9}"/>
              </a:ext>
            </a:extLst>
          </p:cNvPr>
          <p:cNvSpPr txBox="1"/>
          <p:nvPr/>
        </p:nvSpPr>
        <p:spPr>
          <a:xfrm>
            <a:off x="748488" y="3979629"/>
            <a:ext cx="1494705" cy="338554"/>
          </a:xfrm>
          <a:prstGeom prst="rect">
            <a:avLst/>
          </a:prstGeom>
          <a:noFill/>
        </p:spPr>
        <p:txBody>
          <a:bodyPr wrap="none" rtlCol="0">
            <a:spAutoFit/>
          </a:bodyPr>
          <a:lstStyle/>
          <a:p>
            <a:r>
              <a:rPr lang="fr-FR" sz="1600" b="1" dirty="0">
                <a:latin typeface="Arial Nova" panose="020B0504020202020204" pitchFamily="34" charset="0"/>
              </a:rPr>
              <a:t>VOS USAGES</a:t>
            </a:r>
          </a:p>
        </p:txBody>
      </p:sp>
      <p:sp>
        <p:nvSpPr>
          <p:cNvPr id="57" name="Rectangle 56">
            <a:extLst>
              <a:ext uri="{FF2B5EF4-FFF2-40B4-BE49-F238E27FC236}">
                <a16:creationId xmlns:a16="http://schemas.microsoft.com/office/drawing/2014/main" id="{69B5D52E-F6E1-48CB-4769-710C57D4B8C0}"/>
              </a:ext>
            </a:extLst>
          </p:cNvPr>
          <p:cNvSpPr/>
          <p:nvPr/>
        </p:nvSpPr>
        <p:spPr>
          <a:xfrm>
            <a:off x="881216" y="1358736"/>
            <a:ext cx="4776797" cy="2427085"/>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11" name="ZoneTexte 10">
            <a:extLst>
              <a:ext uri="{FF2B5EF4-FFF2-40B4-BE49-F238E27FC236}">
                <a16:creationId xmlns:a16="http://schemas.microsoft.com/office/drawing/2014/main" id="{847C2F80-B3A7-968B-61B8-758DF256117C}"/>
              </a:ext>
            </a:extLst>
          </p:cNvPr>
          <p:cNvSpPr txBox="1"/>
          <p:nvPr/>
        </p:nvSpPr>
        <p:spPr>
          <a:xfrm>
            <a:off x="4291807" y="6865048"/>
            <a:ext cx="923971" cy="276999"/>
          </a:xfrm>
          <a:prstGeom prst="rect">
            <a:avLst/>
          </a:prstGeom>
          <a:noFill/>
        </p:spPr>
        <p:txBody>
          <a:bodyPr wrap="none" rtlCol="0">
            <a:spAutoFit/>
          </a:bodyPr>
          <a:lstStyle/>
          <a:p>
            <a:r>
              <a:rPr lang="fr-FR" sz="1200" dirty="0">
                <a:latin typeface="Arial Nova" panose="020B0504020202020204" pitchFamily="34" charset="0"/>
              </a:rPr>
              <a:t>Téléphonie</a:t>
            </a:r>
          </a:p>
        </p:txBody>
      </p:sp>
      <p:sp>
        <p:nvSpPr>
          <p:cNvPr id="17" name="ZoneTexte 16">
            <a:extLst>
              <a:ext uri="{FF2B5EF4-FFF2-40B4-BE49-F238E27FC236}">
                <a16:creationId xmlns:a16="http://schemas.microsoft.com/office/drawing/2014/main" id="{BBA53CF4-BC7D-4B1A-C34F-DDE5451C2BB9}"/>
              </a:ext>
            </a:extLst>
          </p:cNvPr>
          <p:cNvSpPr txBox="1"/>
          <p:nvPr/>
        </p:nvSpPr>
        <p:spPr>
          <a:xfrm>
            <a:off x="2146531" y="6845631"/>
            <a:ext cx="779124" cy="276999"/>
          </a:xfrm>
          <a:prstGeom prst="rect">
            <a:avLst/>
          </a:prstGeom>
          <a:noFill/>
        </p:spPr>
        <p:txBody>
          <a:bodyPr wrap="none" rtlCol="0">
            <a:spAutoFit/>
          </a:bodyPr>
          <a:lstStyle/>
          <a:p>
            <a:r>
              <a:rPr lang="fr-FR" sz="1200" dirty="0">
                <a:latin typeface="Arial Nova" panose="020B0504020202020204" pitchFamily="34" charset="0"/>
              </a:rPr>
              <a:t>Logiciels</a:t>
            </a:r>
          </a:p>
        </p:txBody>
      </p:sp>
      <p:sp>
        <p:nvSpPr>
          <p:cNvPr id="26" name="ZoneTexte 25">
            <a:extLst>
              <a:ext uri="{FF2B5EF4-FFF2-40B4-BE49-F238E27FC236}">
                <a16:creationId xmlns:a16="http://schemas.microsoft.com/office/drawing/2014/main" id="{B4BBBC59-6B1C-460E-36E4-3A6A8DA84F50}"/>
              </a:ext>
            </a:extLst>
          </p:cNvPr>
          <p:cNvSpPr txBox="1"/>
          <p:nvPr/>
        </p:nvSpPr>
        <p:spPr>
          <a:xfrm>
            <a:off x="1296407" y="6830934"/>
            <a:ext cx="504690" cy="276999"/>
          </a:xfrm>
          <a:prstGeom prst="rect">
            <a:avLst/>
          </a:prstGeom>
          <a:noFill/>
        </p:spPr>
        <p:txBody>
          <a:bodyPr wrap="none" rtlCol="0">
            <a:spAutoFit/>
          </a:bodyPr>
          <a:lstStyle/>
          <a:p>
            <a:r>
              <a:rPr lang="fr-FR" sz="1200" dirty="0">
                <a:latin typeface="Arial Nova" panose="020B0504020202020204" pitchFamily="34" charset="0"/>
              </a:rPr>
              <a:t>Visio</a:t>
            </a:r>
          </a:p>
        </p:txBody>
      </p:sp>
      <p:sp>
        <p:nvSpPr>
          <p:cNvPr id="27" name="ZoneTexte 26">
            <a:extLst>
              <a:ext uri="{FF2B5EF4-FFF2-40B4-BE49-F238E27FC236}">
                <a16:creationId xmlns:a16="http://schemas.microsoft.com/office/drawing/2014/main" id="{CB794909-BFBC-EF21-DD70-B1A56F5E2CB9}"/>
              </a:ext>
            </a:extLst>
          </p:cNvPr>
          <p:cNvSpPr txBox="1"/>
          <p:nvPr/>
        </p:nvSpPr>
        <p:spPr>
          <a:xfrm>
            <a:off x="3130435" y="6838765"/>
            <a:ext cx="971228" cy="461665"/>
          </a:xfrm>
          <a:prstGeom prst="rect">
            <a:avLst/>
          </a:prstGeom>
          <a:noFill/>
        </p:spPr>
        <p:txBody>
          <a:bodyPr wrap="none" rtlCol="0">
            <a:spAutoFit/>
          </a:bodyPr>
          <a:lstStyle/>
          <a:p>
            <a:pPr algn="ctr"/>
            <a:r>
              <a:rPr lang="fr-FR" sz="1200" dirty="0">
                <a:latin typeface="Arial Nova" panose="020B0504020202020204" pitchFamily="34" charset="0"/>
              </a:rPr>
              <a:t>Partage de </a:t>
            </a:r>
          </a:p>
          <a:p>
            <a:pPr algn="ctr"/>
            <a:r>
              <a:rPr lang="fr-FR" sz="1200" dirty="0">
                <a:latin typeface="Arial Nova" panose="020B0504020202020204" pitchFamily="34" charset="0"/>
              </a:rPr>
              <a:t>données</a:t>
            </a:r>
          </a:p>
        </p:txBody>
      </p:sp>
      <p:sp>
        <p:nvSpPr>
          <p:cNvPr id="34" name="ZoneTexte 33">
            <a:extLst>
              <a:ext uri="{FF2B5EF4-FFF2-40B4-BE49-F238E27FC236}">
                <a16:creationId xmlns:a16="http://schemas.microsoft.com/office/drawing/2014/main" id="{827413DF-85A3-45A6-A50F-4641BD61D057}"/>
              </a:ext>
            </a:extLst>
          </p:cNvPr>
          <p:cNvSpPr txBox="1"/>
          <p:nvPr/>
        </p:nvSpPr>
        <p:spPr>
          <a:xfrm>
            <a:off x="3772592" y="3989104"/>
            <a:ext cx="184731" cy="408253"/>
          </a:xfrm>
          <a:prstGeom prst="rect">
            <a:avLst/>
          </a:prstGeom>
          <a:noFill/>
        </p:spPr>
        <p:txBody>
          <a:bodyPr wrap="none" rtlCol="0">
            <a:spAutoFit/>
          </a:bodyPr>
          <a:lstStyle/>
          <a:p>
            <a:endParaRPr lang="fr-FR" dirty="0">
              <a:latin typeface="Arial Nova" panose="020B0504020202020204" pitchFamily="34" charset="0"/>
            </a:endParaRPr>
          </a:p>
        </p:txBody>
      </p:sp>
      <p:sp>
        <p:nvSpPr>
          <p:cNvPr id="35" name="ZoneTexte 34">
            <a:extLst>
              <a:ext uri="{FF2B5EF4-FFF2-40B4-BE49-F238E27FC236}">
                <a16:creationId xmlns:a16="http://schemas.microsoft.com/office/drawing/2014/main" id="{8B81ABB7-90FE-F35D-0547-ABBFE936099F}"/>
              </a:ext>
            </a:extLst>
          </p:cNvPr>
          <p:cNvSpPr txBox="1"/>
          <p:nvPr/>
        </p:nvSpPr>
        <p:spPr>
          <a:xfrm>
            <a:off x="1947574" y="4247312"/>
            <a:ext cx="2259658" cy="307777"/>
          </a:xfrm>
          <a:prstGeom prst="rect">
            <a:avLst/>
          </a:prstGeom>
          <a:noFill/>
        </p:spPr>
        <p:txBody>
          <a:bodyPr wrap="none" rtlCol="0">
            <a:spAutoFit/>
          </a:bodyPr>
          <a:lstStyle/>
          <a:p>
            <a:pPr algn="ctr"/>
            <a:r>
              <a:rPr lang="fr-FR" sz="1400" u="sng" dirty="0">
                <a:latin typeface="Arial Nova" panose="020B0504020202020204" pitchFamily="34" charset="0"/>
              </a:rPr>
              <a:t>Vos types de wifi existants</a:t>
            </a:r>
          </a:p>
        </p:txBody>
      </p:sp>
      <p:sp>
        <p:nvSpPr>
          <p:cNvPr id="36" name="ZoneTexte 35">
            <a:extLst>
              <a:ext uri="{FF2B5EF4-FFF2-40B4-BE49-F238E27FC236}">
                <a16:creationId xmlns:a16="http://schemas.microsoft.com/office/drawing/2014/main" id="{77B06A27-9D62-E4A3-7CD9-0FD9AD92CEEA}"/>
              </a:ext>
            </a:extLst>
          </p:cNvPr>
          <p:cNvSpPr txBox="1"/>
          <p:nvPr/>
        </p:nvSpPr>
        <p:spPr>
          <a:xfrm>
            <a:off x="1390220" y="6020241"/>
            <a:ext cx="3692165" cy="307777"/>
          </a:xfrm>
          <a:prstGeom prst="rect">
            <a:avLst/>
          </a:prstGeom>
          <a:noFill/>
        </p:spPr>
        <p:txBody>
          <a:bodyPr wrap="none" rtlCol="0">
            <a:spAutoFit/>
          </a:bodyPr>
          <a:lstStyle/>
          <a:p>
            <a:pPr algn="ctr"/>
            <a:r>
              <a:rPr lang="fr-FR" sz="1400" u="sng" dirty="0">
                <a:latin typeface="Arial Nova" panose="020B0504020202020204" pitchFamily="34" charset="0"/>
              </a:rPr>
              <a:t>Vos usages principaux de wifi collaborateurs</a:t>
            </a:r>
          </a:p>
        </p:txBody>
      </p:sp>
      <p:sp>
        <p:nvSpPr>
          <p:cNvPr id="39" name="ZoneTexte 38">
            <a:extLst>
              <a:ext uri="{FF2B5EF4-FFF2-40B4-BE49-F238E27FC236}">
                <a16:creationId xmlns:a16="http://schemas.microsoft.com/office/drawing/2014/main" id="{7D26BEB4-8AD0-6FC6-6948-2DEDB79C6EF7}"/>
              </a:ext>
            </a:extLst>
          </p:cNvPr>
          <p:cNvSpPr txBox="1"/>
          <p:nvPr/>
        </p:nvSpPr>
        <p:spPr>
          <a:xfrm>
            <a:off x="1491645" y="2368351"/>
            <a:ext cx="1191095" cy="461665"/>
          </a:xfrm>
          <a:prstGeom prst="rect">
            <a:avLst/>
          </a:prstGeom>
          <a:noFill/>
        </p:spPr>
        <p:txBody>
          <a:bodyPr wrap="none" rtlCol="0">
            <a:spAutoFit/>
          </a:bodyPr>
          <a:lstStyle/>
          <a:p>
            <a:pPr algn="ctr"/>
            <a:r>
              <a:rPr lang="fr-FR" sz="1200" dirty="0">
                <a:latin typeface="Arial Nova" panose="020B0504020202020204" pitchFamily="34" charset="0"/>
              </a:rPr>
              <a:t>Nb utilisateurs </a:t>
            </a:r>
          </a:p>
          <a:p>
            <a:pPr algn="ctr"/>
            <a:r>
              <a:rPr lang="fr-FR" sz="1200" dirty="0">
                <a:latin typeface="Arial Nova" panose="020B0504020202020204" pitchFamily="34" charset="0"/>
              </a:rPr>
              <a:t>potentiels</a:t>
            </a:r>
          </a:p>
        </p:txBody>
      </p:sp>
      <p:sp>
        <p:nvSpPr>
          <p:cNvPr id="42" name="ZoneTexte 41">
            <a:extLst>
              <a:ext uri="{FF2B5EF4-FFF2-40B4-BE49-F238E27FC236}">
                <a16:creationId xmlns:a16="http://schemas.microsoft.com/office/drawing/2014/main" id="{102254C2-D0DB-E7AC-A962-5B6C44553AE8}"/>
              </a:ext>
            </a:extLst>
          </p:cNvPr>
          <p:cNvSpPr txBox="1"/>
          <p:nvPr/>
        </p:nvSpPr>
        <p:spPr>
          <a:xfrm>
            <a:off x="2696000" y="2368691"/>
            <a:ext cx="1191095" cy="461665"/>
          </a:xfrm>
          <a:prstGeom prst="rect">
            <a:avLst/>
          </a:prstGeom>
          <a:noFill/>
        </p:spPr>
        <p:txBody>
          <a:bodyPr wrap="none" rtlCol="0">
            <a:spAutoFit/>
          </a:bodyPr>
          <a:lstStyle/>
          <a:p>
            <a:pPr algn="ctr"/>
            <a:r>
              <a:rPr lang="fr-FR" sz="1200" dirty="0">
                <a:latin typeface="Arial Nova" panose="020B0504020202020204" pitchFamily="34" charset="0"/>
              </a:rPr>
              <a:t>Nb utilisateurs </a:t>
            </a:r>
          </a:p>
          <a:p>
            <a:pPr algn="ctr"/>
            <a:r>
              <a:rPr lang="fr-FR" sz="1200" dirty="0">
                <a:latin typeface="Arial Nova" panose="020B0504020202020204" pitchFamily="34" charset="0"/>
              </a:rPr>
              <a:t>simultanés</a:t>
            </a:r>
          </a:p>
        </p:txBody>
      </p:sp>
      <p:sp>
        <p:nvSpPr>
          <p:cNvPr id="43" name="Rectangle 42">
            <a:extLst>
              <a:ext uri="{FF2B5EF4-FFF2-40B4-BE49-F238E27FC236}">
                <a16:creationId xmlns:a16="http://schemas.microsoft.com/office/drawing/2014/main" id="{5D11F8B5-DAE3-FD7B-359B-C4FA9E445EB4}"/>
              </a:ext>
            </a:extLst>
          </p:cNvPr>
          <p:cNvSpPr/>
          <p:nvPr/>
        </p:nvSpPr>
        <p:spPr>
          <a:xfrm>
            <a:off x="2931547" y="2849342"/>
            <a:ext cx="720000" cy="7200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pic>
        <p:nvPicPr>
          <p:cNvPr id="3" name="Image 2">
            <a:extLst>
              <a:ext uri="{FF2B5EF4-FFF2-40B4-BE49-F238E27FC236}">
                <a16:creationId xmlns:a16="http://schemas.microsoft.com/office/drawing/2014/main" id="{8761F243-9439-75CC-1899-06240F4708C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5" name="Rectangle 4">
            <a:extLst>
              <a:ext uri="{FF2B5EF4-FFF2-40B4-BE49-F238E27FC236}">
                <a16:creationId xmlns:a16="http://schemas.microsoft.com/office/drawing/2014/main" id="{7FC56F24-D031-4507-D52B-36692A7BC30D}"/>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13" name="Graphique 12">
            <a:extLst>
              <a:ext uri="{FF2B5EF4-FFF2-40B4-BE49-F238E27FC236}">
                <a16:creationId xmlns:a16="http://schemas.microsoft.com/office/drawing/2014/main" id="{AD872467-0FF2-3791-F8C6-D773245F9A0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31191" t="20986"/>
          <a:stretch/>
        </p:blipFill>
        <p:spPr>
          <a:xfrm>
            <a:off x="873420" y="5026469"/>
            <a:ext cx="1124562" cy="860891"/>
          </a:xfrm>
          <a:prstGeom prst="rect">
            <a:avLst/>
          </a:prstGeom>
        </p:spPr>
      </p:pic>
      <p:pic>
        <p:nvPicPr>
          <p:cNvPr id="14" name="Graphique 13">
            <a:extLst>
              <a:ext uri="{FF2B5EF4-FFF2-40B4-BE49-F238E27FC236}">
                <a16:creationId xmlns:a16="http://schemas.microsoft.com/office/drawing/2014/main" id="{02F49F87-1F43-CA12-D79F-16B0877E84A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319199" y="4914047"/>
            <a:ext cx="875736" cy="976346"/>
          </a:xfrm>
          <a:prstGeom prst="rect">
            <a:avLst/>
          </a:prstGeom>
        </p:spPr>
      </p:pic>
      <p:grpSp>
        <p:nvGrpSpPr>
          <p:cNvPr id="15" name="Groupe 14">
            <a:extLst>
              <a:ext uri="{FF2B5EF4-FFF2-40B4-BE49-F238E27FC236}">
                <a16:creationId xmlns:a16="http://schemas.microsoft.com/office/drawing/2014/main" id="{BB10A752-A08C-1849-18CB-3F04C880DD23}"/>
              </a:ext>
            </a:extLst>
          </p:cNvPr>
          <p:cNvGrpSpPr/>
          <p:nvPr/>
        </p:nvGrpSpPr>
        <p:grpSpPr>
          <a:xfrm>
            <a:off x="3545283" y="4898308"/>
            <a:ext cx="1036036" cy="1019036"/>
            <a:chOff x="8897781" y="2137780"/>
            <a:chExt cx="2391271" cy="2478706"/>
          </a:xfrm>
        </p:grpSpPr>
        <p:pic>
          <p:nvPicPr>
            <p:cNvPr id="16" name="Graphique 15">
              <a:extLst>
                <a:ext uri="{FF2B5EF4-FFF2-40B4-BE49-F238E27FC236}">
                  <a16:creationId xmlns:a16="http://schemas.microsoft.com/office/drawing/2014/main" id="{04B70162-9F6E-46EA-0F57-BCAF89C94677}"/>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29115" b="39024"/>
            <a:stretch/>
          </p:blipFill>
          <p:spPr>
            <a:xfrm>
              <a:off x="8897781" y="2137780"/>
              <a:ext cx="1805205" cy="1552866"/>
            </a:xfrm>
            <a:prstGeom prst="rect">
              <a:avLst/>
            </a:prstGeom>
          </p:spPr>
        </p:pic>
        <p:pic>
          <p:nvPicPr>
            <p:cNvPr id="18" name="Graphique 17">
              <a:extLst>
                <a:ext uri="{FF2B5EF4-FFF2-40B4-BE49-F238E27FC236}">
                  <a16:creationId xmlns:a16="http://schemas.microsoft.com/office/drawing/2014/main" id="{AECC5CD7-F77F-3A31-C1AD-C3EEAC9BC94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29115" b="39024"/>
            <a:stretch/>
          </p:blipFill>
          <p:spPr>
            <a:xfrm>
              <a:off x="9483846" y="2328209"/>
              <a:ext cx="1805205" cy="1552866"/>
            </a:xfrm>
            <a:prstGeom prst="rect">
              <a:avLst/>
            </a:prstGeom>
          </p:spPr>
        </p:pic>
        <p:pic>
          <p:nvPicPr>
            <p:cNvPr id="19" name="Graphique 18">
              <a:extLst>
                <a:ext uri="{FF2B5EF4-FFF2-40B4-BE49-F238E27FC236}">
                  <a16:creationId xmlns:a16="http://schemas.microsoft.com/office/drawing/2014/main" id="{0FCDCE72-7F9E-FAFB-40B2-654F439E995D}"/>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29115" b="39024"/>
            <a:stretch/>
          </p:blipFill>
          <p:spPr>
            <a:xfrm>
              <a:off x="9483847" y="3063620"/>
              <a:ext cx="1805205" cy="1552866"/>
            </a:xfrm>
            <a:prstGeom prst="rect">
              <a:avLst/>
            </a:prstGeom>
          </p:spPr>
        </p:pic>
        <p:pic>
          <p:nvPicPr>
            <p:cNvPr id="20" name="Graphique 19">
              <a:extLst>
                <a:ext uri="{FF2B5EF4-FFF2-40B4-BE49-F238E27FC236}">
                  <a16:creationId xmlns:a16="http://schemas.microsoft.com/office/drawing/2014/main" id="{21B9D23B-4C8F-41AF-D9A2-BEBF2A412A5C}"/>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29115" b="39024"/>
            <a:stretch/>
          </p:blipFill>
          <p:spPr>
            <a:xfrm>
              <a:off x="9044650" y="3027567"/>
              <a:ext cx="1805205" cy="1552866"/>
            </a:xfrm>
            <a:prstGeom prst="rect">
              <a:avLst/>
            </a:prstGeom>
          </p:spPr>
        </p:pic>
      </p:grpSp>
      <p:sp>
        <p:nvSpPr>
          <p:cNvPr id="21" name="ZoneTexte 20">
            <a:extLst>
              <a:ext uri="{FF2B5EF4-FFF2-40B4-BE49-F238E27FC236}">
                <a16:creationId xmlns:a16="http://schemas.microsoft.com/office/drawing/2014/main" id="{C818CD00-DF20-B158-F12A-CC46412C6E8E}"/>
              </a:ext>
            </a:extLst>
          </p:cNvPr>
          <p:cNvSpPr txBox="1"/>
          <p:nvPr/>
        </p:nvSpPr>
        <p:spPr>
          <a:xfrm>
            <a:off x="785491" y="4544169"/>
            <a:ext cx="1339863" cy="430887"/>
          </a:xfrm>
          <a:prstGeom prst="rect">
            <a:avLst/>
          </a:prstGeom>
          <a:noFill/>
        </p:spPr>
        <p:txBody>
          <a:bodyPr wrap="square" rtlCol="0">
            <a:spAutoFit/>
          </a:bodyPr>
          <a:lstStyle/>
          <a:p>
            <a:pPr algn="ctr"/>
            <a:r>
              <a:rPr lang="fr-FR" sz="1100" b="1" dirty="0">
                <a:latin typeface="Arial Nova" panose="020B0504020202020204" pitchFamily="34" charset="0"/>
              </a:rPr>
              <a:t>WIFI </a:t>
            </a:r>
          </a:p>
          <a:p>
            <a:pPr algn="ctr"/>
            <a:r>
              <a:rPr lang="fr-FR" sz="1100" b="1" dirty="0">
                <a:latin typeface="Arial Nova" panose="020B0504020202020204" pitchFamily="34" charset="0"/>
              </a:rPr>
              <a:t>D’ENTREPRISE</a:t>
            </a:r>
          </a:p>
        </p:txBody>
      </p:sp>
      <p:sp>
        <p:nvSpPr>
          <p:cNvPr id="22" name="ZoneTexte 21">
            <a:extLst>
              <a:ext uri="{FF2B5EF4-FFF2-40B4-BE49-F238E27FC236}">
                <a16:creationId xmlns:a16="http://schemas.microsoft.com/office/drawing/2014/main" id="{EE106059-3AD8-C069-9FC1-1F7BD4F43131}"/>
              </a:ext>
            </a:extLst>
          </p:cNvPr>
          <p:cNvSpPr txBox="1"/>
          <p:nvPr/>
        </p:nvSpPr>
        <p:spPr>
          <a:xfrm>
            <a:off x="2417864" y="4544169"/>
            <a:ext cx="734055" cy="430887"/>
          </a:xfrm>
          <a:prstGeom prst="rect">
            <a:avLst/>
          </a:prstGeom>
          <a:noFill/>
        </p:spPr>
        <p:txBody>
          <a:bodyPr wrap="square" rtlCol="0">
            <a:spAutoFit/>
          </a:bodyPr>
          <a:lstStyle/>
          <a:p>
            <a:pPr algn="ctr"/>
            <a:r>
              <a:rPr lang="fr-FR" sz="1100" b="1" dirty="0">
                <a:latin typeface="Arial Nova" panose="020B0504020202020204" pitchFamily="34" charset="0"/>
              </a:rPr>
              <a:t>WIFI </a:t>
            </a:r>
          </a:p>
          <a:p>
            <a:pPr algn="ctr"/>
            <a:r>
              <a:rPr lang="fr-FR" sz="1100" b="1" dirty="0">
                <a:latin typeface="Arial Nova" panose="020B0504020202020204" pitchFamily="34" charset="0"/>
              </a:rPr>
              <a:t>INVITÉ</a:t>
            </a:r>
          </a:p>
        </p:txBody>
      </p:sp>
      <p:sp>
        <p:nvSpPr>
          <p:cNvPr id="23" name="ZoneTexte 22">
            <a:extLst>
              <a:ext uri="{FF2B5EF4-FFF2-40B4-BE49-F238E27FC236}">
                <a16:creationId xmlns:a16="http://schemas.microsoft.com/office/drawing/2014/main" id="{DE227632-13DA-0F21-0ED7-572391A49C6C}"/>
              </a:ext>
            </a:extLst>
          </p:cNvPr>
          <p:cNvSpPr txBox="1"/>
          <p:nvPr/>
        </p:nvSpPr>
        <p:spPr>
          <a:xfrm>
            <a:off x="3799114" y="4557219"/>
            <a:ext cx="686406" cy="430887"/>
          </a:xfrm>
          <a:prstGeom prst="rect">
            <a:avLst/>
          </a:prstGeom>
          <a:noFill/>
        </p:spPr>
        <p:txBody>
          <a:bodyPr wrap="none" rtlCol="0">
            <a:spAutoFit/>
          </a:bodyPr>
          <a:lstStyle/>
          <a:p>
            <a:pPr algn="ctr"/>
            <a:r>
              <a:rPr lang="fr-FR" sz="1100" b="1" dirty="0">
                <a:latin typeface="Arial Nova" panose="020B0504020202020204" pitchFamily="34" charset="0"/>
              </a:rPr>
              <a:t>WIFI </a:t>
            </a:r>
          </a:p>
          <a:p>
            <a:pPr algn="ctr"/>
            <a:r>
              <a:rPr lang="fr-FR" sz="1100" b="1" dirty="0">
                <a:latin typeface="Arial Nova" panose="020B0504020202020204" pitchFamily="34" charset="0"/>
              </a:rPr>
              <a:t>CAPTIF</a:t>
            </a:r>
          </a:p>
        </p:txBody>
      </p:sp>
      <p:sp>
        <p:nvSpPr>
          <p:cNvPr id="58" name="ZoneTexte 57">
            <a:extLst>
              <a:ext uri="{FF2B5EF4-FFF2-40B4-BE49-F238E27FC236}">
                <a16:creationId xmlns:a16="http://schemas.microsoft.com/office/drawing/2014/main" id="{6A86E46B-511F-AAFA-DFED-CCA0530881F3}"/>
              </a:ext>
            </a:extLst>
          </p:cNvPr>
          <p:cNvSpPr txBox="1"/>
          <p:nvPr/>
        </p:nvSpPr>
        <p:spPr>
          <a:xfrm>
            <a:off x="780922" y="1225412"/>
            <a:ext cx="3082190" cy="338554"/>
          </a:xfrm>
          <a:prstGeom prst="rect">
            <a:avLst/>
          </a:prstGeom>
          <a:noFill/>
        </p:spPr>
        <p:txBody>
          <a:bodyPr wrap="none" rtlCol="0">
            <a:spAutoFit/>
          </a:bodyPr>
          <a:lstStyle/>
          <a:p>
            <a:r>
              <a:rPr lang="fr-FR" sz="1600" b="1" dirty="0">
                <a:latin typeface="Arial Nova" panose="020B0504020202020204" pitchFamily="34" charset="0"/>
              </a:rPr>
              <a:t>VOTRE ÉQUIPEMENT ACTUEL</a:t>
            </a:r>
          </a:p>
        </p:txBody>
      </p:sp>
      <p:sp>
        <p:nvSpPr>
          <p:cNvPr id="61" name="Rectangle 60">
            <a:extLst>
              <a:ext uri="{FF2B5EF4-FFF2-40B4-BE49-F238E27FC236}">
                <a16:creationId xmlns:a16="http://schemas.microsoft.com/office/drawing/2014/main" id="{3FABA2B9-F2BB-CB19-36BF-94EBF04554E0}"/>
              </a:ext>
            </a:extLst>
          </p:cNvPr>
          <p:cNvSpPr/>
          <p:nvPr/>
        </p:nvSpPr>
        <p:spPr>
          <a:xfrm>
            <a:off x="1705630" y="2849342"/>
            <a:ext cx="720000" cy="7200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62" name="ZoneTexte 61">
            <a:extLst>
              <a:ext uri="{FF2B5EF4-FFF2-40B4-BE49-F238E27FC236}">
                <a16:creationId xmlns:a16="http://schemas.microsoft.com/office/drawing/2014/main" id="{D326CAEA-9115-8DAE-4BC5-4E7CEA42E092}"/>
              </a:ext>
            </a:extLst>
          </p:cNvPr>
          <p:cNvSpPr txBox="1"/>
          <p:nvPr/>
        </p:nvSpPr>
        <p:spPr>
          <a:xfrm>
            <a:off x="1034174" y="1555440"/>
            <a:ext cx="994247" cy="646331"/>
          </a:xfrm>
          <a:prstGeom prst="rect">
            <a:avLst/>
          </a:prstGeom>
          <a:noFill/>
        </p:spPr>
        <p:txBody>
          <a:bodyPr wrap="none" rtlCol="0">
            <a:spAutoFit/>
          </a:bodyPr>
          <a:lstStyle/>
          <a:p>
            <a:r>
              <a:rPr lang="fr-FR" sz="1200" dirty="0">
                <a:latin typeface="Arial Nova" panose="020B0504020202020204" pitchFamily="34" charset="0"/>
              </a:rPr>
              <a:t>Solution :</a:t>
            </a:r>
          </a:p>
          <a:p>
            <a:endParaRPr lang="fr-FR" sz="1200" dirty="0">
              <a:latin typeface="Arial Nova" panose="020B0504020202020204" pitchFamily="34" charset="0"/>
            </a:endParaRPr>
          </a:p>
          <a:p>
            <a:r>
              <a:rPr lang="fr-FR" sz="1200" dirty="0">
                <a:latin typeface="Arial Nova" panose="020B0504020202020204" pitchFamily="34" charset="0"/>
              </a:rPr>
              <a:t>Prestataire :</a:t>
            </a:r>
          </a:p>
        </p:txBody>
      </p:sp>
      <p:sp>
        <p:nvSpPr>
          <p:cNvPr id="64" name="ZoneTexte 63">
            <a:extLst>
              <a:ext uri="{FF2B5EF4-FFF2-40B4-BE49-F238E27FC236}">
                <a16:creationId xmlns:a16="http://schemas.microsoft.com/office/drawing/2014/main" id="{E2FA5E38-F29F-5318-70DF-AD284905564A}"/>
              </a:ext>
            </a:extLst>
          </p:cNvPr>
          <p:cNvSpPr txBox="1"/>
          <p:nvPr/>
        </p:nvSpPr>
        <p:spPr>
          <a:xfrm>
            <a:off x="4096369" y="2358046"/>
            <a:ext cx="941733" cy="461665"/>
          </a:xfrm>
          <a:prstGeom prst="rect">
            <a:avLst/>
          </a:prstGeom>
          <a:noFill/>
        </p:spPr>
        <p:txBody>
          <a:bodyPr wrap="none" rtlCol="0">
            <a:spAutoFit/>
          </a:bodyPr>
          <a:lstStyle/>
          <a:p>
            <a:pPr algn="ctr"/>
            <a:r>
              <a:rPr lang="fr-FR" sz="1200" dirty="0">
                <a:latin typeface="Arial Nova" panose="020B0504020202020204" pitchFamily="34" charset="0"/>
              </a:rPr>
              <a:t>Niveau de </a:t>
            </a:r>
          </a:p>
          <a:p>
            <a:pPr algn="ctr"/>
            <a:r>
              <a:rPr lang="fr-FR" sz="1200" dirty="0">
                <a:latin typeface="Arial Nova" panose="020B0504020202020204" pitchFamily="34" charset="0"/>
              </a:rPr>
              <a:t>satisfaction</a:t>
            </a:r>
          </a:p>
        </p:txBody>
      </p:sp>
      <p:sp>
        <p:nvSpPr>
          <p:cNvPr id="65" name="Rectangle 64">
            <a:extLst>
              <a:ext uri="{FF2B5EF4-FFF2-40B4-BE49-F238E27FC236}">
                <a16:creationId xmlns:a16="http://schemas.microsoft.com/office/drawing/2014/main" id="{C386CED2-8D0C-02CD-AA0C-0D037FB2D159}"/>
              </a:ext>
            </a:extLst>
          </p:cNvPr>
          <p:cNvSpPr/>
          <p:nvPr/>
        </p:nvSpPr>
        <p:spPr>
          <a:xfrm>
            <a:off x="4207232" y="2838697"/>
            <a:ext cx="720000" cy="7200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24" name="ZoneTexte 23">
            <a:extLst>
              <a:ext uri="{FF2B5EF4-FFF2-40B4-BE49-F238E27FC236}">
                <a16:creationId xmlns:a16="http://schemas.microsoft.com/office/drawing/2014/main" id="{B2263A21-B944-17D0-95C9-EB479C875335}"/>
              </a:ext>
            </a:extLst>
          </p:cNvPr>
          <p:cNvSpPr txBox="1"/>
          <p:nvPr/>
        </p:nvSpPr>
        <p:spPr>
          <a:xfrm>
            <a:off x="4983178" y="4575410"/>
            <a:ext cx="519694" cy="430887"/>
          </a:xfrm>
          <a:prstGeom prst="rect">
            <a:avLst/>
          </a:prstGeom>
          <a:noFill/>
        </p:spPr>
        <p:txBody>
          <a:bodyPr wrap="none" rtlCol="0">
            <a:spAutoFit/>
          </a:bodyPr>
          <a:lstStyle/>
          <a:p>
            <a:pPr algn="ctr"/>
            <a:r>
              <a:rPr lang="fr-FR" sz="1100" b="1" dirty="0">
                <a:latin typeface="Arial Nova" panose="020B0504020202020204" pitchFamily="34" charset="0"/>
              </a:rPr>
              <a:t>WIFI </a:t>
            </a:r>
          </a:p>
          <a:p>
            <a:pPr algn="ctr"/>
            <a:r>
              <a:rPr lang="fr-FR" sz="1100" b="1" dirty="0">
                <a:latin typeface="Arial Nova" panose="020B0504020202020204" pitchFamily="34" charset="0"/>
              </a:rPr>
              <a:t>IOT</a:t>
            </a:r>
          </a:p>
        </p:txBody>
      </p:sp>
      <p:sp>
        <p:nvSpPr>
          <p:cNvPr id="68" name="Rectangle 67">
            <a:extLst>
              <a:ext uri="{FF2B5EF4-FFF2-40B4-BE49-F238E27FC236}">
                <a16:creationId xmlns:a16="http://schemas.microsoft.com/office/drawing/2014/main" id="{880A3B4F-34FF-02DF-1C6D-3497E0C8426F}"/>
              </a:ext>
            </a:extLst>
          </p:cNvPr>
          <p:cNvSpPr/>
          <p:nvPr/>
        </p:nvSpPr>
        <p:spPr>
          <a:xfrm>
            <a:off x="6576059" y="1190019"/>
            <a:ext cx="2033017" cy="1524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7" name="ZoneTexte 36">
            <a:extLst>
              <a:ext uri="{FF2B5EF4-FFF2-40B4-BE49-F238E27FC236}">
                <a16:creationId xmlns:a16="http://schemas.microsoft.com/office/drawing/2014/main" id="{7ACFF79C-0979-9299-920B-DE5546A1AD1E}"/>
              </a:ext>
            </a:extLst>
          </p:cNvPr>
          <p:cNvSpPr txBox="1"/>
          <p:nvPr/>
        </p:nvSpPr>
        <p:spPr>
          <a:xfrm>
            <a:off x="6572821" y="963854"/>
            <a:ext cx="2268582"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Limites actuelles</a:t>
            </a:r>
          </a:p>
        </p:txBody>
      </p:sp>
      <p:sp>
        <p:nvSpPr>
          <p:cNvPr id="72" name="Rectangle 71">
            <a:extLst>
              <a:ext uri="{FF2B5EF4-FFF2-40B4-BE49-F238E27FC236}">
                <a16:creationId xmlns:a16="http://schemas.microsoft.com/office/drawing/2014/main" id="{95FB72DA-6293-BD2D-F9B0-8CA7E2829C46}"/>
              </a:ext>
            </a:extLst>
          </p:cNvPr>
          <p:cNvSpPr/>
          <p:nvPr/>
        </p:nvSpPr>
        <p:spPr>
          <a:xfrm>
            <a:off x="6572821" y="3134063"/>
            <a:ext cx="2033017" cy="1524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0" name="ZoneTexte 69">
            <a:extLst>
              <a:ext uri="{FF2B5EF4-FFF2-40B4-BE49-F238E27FC236}">
                <a16:creationId xmlns:a16="http://schemas.microsoft.com/office/drawing/2014/main" id="{5D77A3A7-5830-C0AD-CFF2-DD9325617867}"/>
              </a:ext>
            </a:extLst>
          </p:cNvPr>
          <p:cNvSpPr txBox="1"/>
          <p:nvPr/>
        </p:nvSpPr>
        <p:spPr>
          <a:xfrm>
            <a:off x="6572821" y="2907898"/>
            <a:ext cx="2813853"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Évolutions attendues</a:t>
            </a:r>
          </a:p>
        </p:txBody>
      </p:sp>
      <p:sp>
        <p:nvSpPr>
          <p:cNvPr id="73" name="Rectangle 72">
            <a:extLst>
              <a:ext uri="{FF2B5EF4-FFF2-40B4-BE49-F238E27FC236}">
                <a16:creationId xmlns:a16="http://schemas.microsoft.com/office/drawing/2014/main" id="{B7EC2186-5798-43B1-80FC-25FE242A2139}"/>
              </a:ext>
            </a:extLst>
          </p:cNvPr>
          <p:cNvSpPr/>
          <p:nvPr/>
        </p:nvSpPr>
        <p:spPr>
          <a:xfrm>
            <a:off x="6572821" y="5192106"/>
            <a:ext cx="2033017" cy="1524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4" name="ZoneTexte 73">
            <a:extLst>
              <a:ext uri="{FF2B5EF4-FFF2-40B4-BE49-F238E27FC236}">
                <a16:creationId xmlns:a16="http://schemas.microsoft.com/office/drawing/2014/main" id="{7D8FDF86-F7B9-3CF7-5534-E9261B309036}"/>
              </a:ext>
            </a:extLst>
          </p:cNvPr>
          <p:cNvSpPr txBox="1"/>
          <p:nvPr/>
        </p:nvSpPr>
        <p:spPr>
          <a:xfrm>
            <a:off x="6572821" y="4965941"/>
            <a:ext cx="3197171" cy="378565"/>
          </a:xfrm>
          <a:prstGeom prst="rect">
            <a:avLst/>
          </a:prstGeom>
          <a:noFill/>
        </p:spPr>
        <p:txBody>
          <a:bodyPr wrap="square" rtlCol="0">
            <a:spAutoFit/>
          </a:bodyPr>
          <a:lstStyle/>
          <a:p>
            <a:pPr marL="0" marR="0" lvl="0" indent="0" algn="l" defTabSz="521437" rtl="0" eaLnBrk="1" fontAlgn="auto" latinLnBrk="0" hangingPunct="1">
              <a:lnSpc>
                <a:spcPct val="107000"/>
              </a:lnSpc>
              <a:spcBef>
                <a:spcPts val="0"/>
              </a:spcBef>
              <a:spcAft>
                <a:spcPts val="800"/>
              </a:spcAft>
              <a:buClrTx/>
              <a:buSzTx/>
              <a:buFontTx/>
              <a:buNone/>
              <a:tabLst/>
              <a:defRPr/>
            </a:pPr>
            <a:r>
              <a:rPr kumimoji="0" lang="fr-FR" sz="1800" b="1" i="0" u="none" strike="noStrike" kern="100" cap="none" spc="0" normalizeH="0" baseline="0" noProof="0" dirty="0">
                <a:ln>
                  <a:noFill/>
                </a:ln>
                <a:solidFill>
                  <a:prstClr val="black"/>
                </a:solidFill>
                <a:effectLst/>
                <a:uLnTx/>
                <a:uFillTx/>
                <a:latin typeface="Arial Nova" panose="020B0504020202020204" pitchFamily="34" charset="0"/>
                <a:ea typeface="Aptos" panose="020B0004020202020204" pitchFamily="34" charset="0"/>
                <a:cs typeface="Times New Roman" panose="02020603050405020304" pitchFamily="18" charset="0"/>
              </a:rPr>
              <a:t>Enjeux de sécurité/criticité</a:t>
            </a:r>
          </a:p>
        </p:txBody>
      </p:sp>
      <p:sp>
        <p:nvSpPr>
          <p:cNvPr id="75" name="Rectangle 1">
            <a:extLst>
              <a:ext uri="{FF2B5EF4-FFF2-40B4-BE49-F238E27FC236}">
                <a16:creationId xmlns:a16="http://schemas.microsoft.com/office/drawing/2014/main" id="{7E570A2D-9395-5D19-1A8F-B03517922C01}"/>
              </a:ext>
            </a:extLst>
          </p:cNvPr>
          <p:cNvSpPr>
            <a:spLocks noChangeArrowheads="1"/>
          </p:cNvSpPr>
          <p:nvPr/>
        </p:nvSpPr>
        <p:spPr bwMode="auto">
          <a:xfrm>
            <a:off x="6504299" y="1239560"/>
            <a:ext cx="3212739"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Couverture insuffisante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Déconnexions fréquentes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Manque de performances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Est-ce que mon réseau est sécurisé ?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Je donne mon </a:t>
            </a:r>
            <a:r>
              <a:rPr kumimoji="0" lang="fr-FR" altLang="fr-FR" sz="1100" b="0" i="0" u="none" strike="noStrike" cap="none" normalizeH="0" baseline="0" dirty="0" err="1">
                <a:ln>
                  <a:noFill/>
                </a:ln>
                <a:solidFill>
                  <a:schemeClr val="tx1"/>
                </a:solidFill>
                <a:effectLst/>
                <a:latin typeface="Arial Nova" panose="020B0504020202020204" pitchFamily="34" charset="0"/>
              </a:rPr>
              <a:t>mdp</a:t>
            </a:r>
            <a:r>
              <a:rPr kumimoji="0" lang="fr-FR" altLang="fr-FR" sz="1100" b="0" i="0" u="none" strike="noStrike" cap="none" normalizeH="0" baseline="0" dirty="0">
                <a:ln>
                  <a:noFill/>
                </a:ln>
                <a:solidFill>
                  <a:schemeClr val="tx1"/>
                </a:solidFill>
                <a:effectLst/>
                <a:latin typeface="Arial Nova" panose="020B0504020202020204" pitchFamily="34" charset="0"/>
              </a:rPr>
              <a:t> à des personnes externes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Je ne suis pas satisfait de mon prestataire</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p:txBody>
      </p:sp>
      <p:sp>
        <p:nvSpPr>
          <p:cNvPr id="76" name="Rectangle 1">
            <a:extLst>
              <a:ext uri="{FF2B5EF4-FFF2-40B4-BE49-F238E27FC236}">
                <a16:creationId xmlns:a16="http://schemas.microsoft.com/office/drawing/2014/main" id="{646C0C85-5662-250C-1ED2-46E6BFF8F236}"/>
              </a:ext>
            </a:extLst>
          </p:cNvPr>
          <p:cNvSpPr>
            <a:spLocks noChangeArrowheads="1"/>
          </p:cNvSpPr>
          <p:nvPr/>
        </p:nvSpPr>
        <p:spPr bwMode="auto">
          <a:xfrm>
            <a:off x="6504299" y="3305696"/>
            <a:ext cx="2965877"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Extension de la couverture </a:t>
            </a:r>
            <a:r>
              <a:rPr kumimoji="0" lang="fr-FR" altLang="fr-FR" sz="1100" b="0" i="0" u="none" strike="noStrike" cap="none" normalizeH="0" baseline="0" dirty="0" err="1">
                <a:ln>
                  <a:noFill/>
                </a:ln>
                <a:solidFill>
                  <a:schemeClr val="tx1"/>
                </a:solidFill>
                <a:effectLst/>
                <a:latin typeface="Arial Nova" panose="020B0504020202020204" pitchFamily="34" charset="0"/>
              </a:rPr>
              <a:t>WiFi</a:t>
            </a:r>
            <a:r>
              <a:rPr kumimoji="0" lang="fr-FR" altLang="fr-FR" sz="1100" b="0" i="0" u="none" strike="noStrike" cap="none" normalizeH="0" baseline="0" dirty="0">
                <a:ln>
                  <a:noFill/>
                </a:ln>
                <a:solidFill>
                  <a:schemeClr val="tx1"/>
                </a:solidFill>
                <a:effectLst/>
                <a:latin typeface="Arial Nova" panose="020B0504020202020204" pitchFamily="34" charset="0"/>
              </a:rPr>
              <a:t>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Mise en place d’un réseau invité sécurisé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Un service plus réactif</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Une disponibilité du service client</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lang="fr-FR" altLang="fr-FR" sz="1100" dirty="0">
                <a:latin typeface="Arial Nova" panose="020B0504020202020204" pitchFamily="34" charset="0"/>
              </a:rPr>
              <a:t>Gestion d’un portail captif</a:t>
            </a:r>
            <a:endParaRPr kumimoji="0" lang="fr-FR" altLang="fr-FR" sz="1100" b="0" i="0" u="none" strike="noStrike" cap="none" normalizeH="0" baseline="0" dirty="0">
              <a:ln>
                <a:noFill/>
              </a:ln>
              <a:solidFill>
                <a:schemeClr val="tx1"/>
              </a:solidFill>
              <a:effectLst/>
              <a:latin typeface="Arial Nova" panose="020B0504020202020204" pitchFamily="34" charset="0"/>
            </a:endParaRPr>
          </a:p>
        </p:txBody>
      </p:sp>
      <p:sp>
        <p:nvSpPr>
          <p:cNvPr id="77" name="Rectangle 1">
            <a:extLst>
              <a:ext uri="{FF2B5EF4-FFF2-40B4-BE49-F238E27FC236}">
                <a16:creationId xmlns:a16="http://schemas.microsoft.com/office/drawing/2014/main" id="{68C5C9BC-2CDA-CD41-9C7E-23FE145EF575}"/>
              </a:ext>
            </a:extLst>
          </p:cNvPr>
          <p:cNvSpPr>
            <a:spLocks noChangeArrowheads="1"/>
          </p:cNvSpPr>
          <p:nvPr/>
        </p:nvSpPr>
        <p:spPr bwMode="auto">
          <a:xfrm>
            <a:off x="6598575" y="5611756"/>
            <a:ext cx="2816797"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Sécurisation des accès privés et invités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Couverture de wifi adapté à l’entreprise</a:t>
            </a:r>
          </a:p>
        </p:txBody>
      </p:sp>
      <p:sp>
        <p:nvSpPr>
          <p:cNvPr id="10" name="Titre 1">
            <a:extLst>
              <a:ext uri="{FF2B5EF4-FFF2-40B4-BE49-F238E27FC236}">
                <a16:creationId xmlns:a16="http://schemas.microsoft.com/office/drawing/2014/main" id="{E14B853D-0644-1641-12E4-64E23AA65A56}"/>
              </a:ext>
            </a:extLst>
          </p:cNvPr>
          <p:cNvSpPr txBox="1">
            <a:spLocks/>
          </p:cNvSpPr>
          <p:nvPr/>
        </p:nvSpPr>
        <p:spPr>
          <a:xfrm>
            <a:off x="1320435" y="310646"/>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WIFI</a:t>
            </a:r>
          </a:p>
        </p:txBody>
      </p:sp>
      <p:pic>
        <p:nvPicPr>
          <p:cNvPr id="12" name="Image 11">
            <a:extLst>
              <a:ext uri="{FF2B5EF4-FFF2-40B4-BE49-F238E27FC236}">
                <a16:creationId xmlns:a16="http://schemas.microsoft.com/office/drawing/2014/main" id="{AFDB2426-1CE6-79E7-BC9E-F74A0C82AF56}"/>
              </a:ext>
            </a:extLst>
          </p:cNvPr>
          <p:cNvPicPr>
            <a:picLocks noChangeAspect="1"/>
          </p:cNvPicPr>
          <p:nvPr/>
        </p:nvPicPr>
        <p:blipFill rotWithShape="1">
          <a:blip r:embed="rId13" cstate="print">
            <a:extLst>
              <a:ext uri="{28A0092B-C50C-407E-A947-70E740481C1C}">
                <a14:useLocalDpi xmlns:a14="http://schemas.microsoft.com/office/drawing/2010/main"/>
              </a:ext>
            </a:extLst>
          </a:blip>
          <a:srcRect/>
          <a:stretch/>
        </p:blipFill>
        <p:spPr>
          <a:xfrm>
            <a:off x="518640" y="225433"/>
            <a:ext cx="720000" cy="720000"/>
          </a:xfrm>
          <a:prstGeom prst="rect">
            <a:avLst/>
          </a:prstGeom>
        </p:spPr>
      </p:pic>
      <p:pic>
        <p:nvPicPr>
          <p:cNvPr id="38" name="Graphique 37">
            <a:extLst>
              <a:ext uri="{FF2B5EF4-FFF2-40B4-BE49-F238E27FC236}">
                <a16:creationId xmlns:a16="http://schemas.microsoft.com/office/drawing/2014/main" id="{9A46BD0E-4BFF-858A-CBF3-4558C069CA1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331059" y="6389664"/>
            <a:ext cx="435386" cy="413737"/>
          </a:xfrm>
          <a:prstGeom prst="rect">
            <a:avLst/>
          </a:prstGeom>
        </p:spPr>
      </p:pic>
      <p:pic>
        <p:nvPicPr>
          <p:cNvPr id="45" name="Graphique 44">
            <a:extLst>
              <a:ext uri="{FF2B5EF4-FFF2-40B4-BE49-F238E27FC236}">
                <a16:creationId xmlns:a16="http://schemas.microsoft.com/office/drawing/2014/main" id="{084CCAAB-4B9F-868E-1A68-257C48D9D7DF}"/>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379429" y="6438538"/>
            <a:ext cx="427376" cy="424323"/>
          </a:xfrm>
          <a:prstGeom prst="rect">
            <a:avLst/>
          </a:prstGeom>
        </p:spPr>
      </p:pic>
      <p:pic>
        <p:nvPicPr>
          <p:cNvPr id="51" name="Graphique 50">
            <a:extLst>
              <a:ext uri="{FF2B5EF4-FFF2-40B4-BE49-F238E27FC236}">
                <a16:creationId xmlns:a16="http://schemas.microsoft.com/office/drawing/2014/main" id="{A89ADC91-906B-349C-91E7-3056B5149D66}"/>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308874" y="6420039"/>
            <a:ext cx="508956" cy="441988"/>
          </a:xfrm>
          <a:prstGeom prst="rect">
            <a:avLst/>
          </a:prstGeom>
        </p:spPr>
      </p:pic>
      <p:pic>
        <p:nvPicPr>
          <p:cNvPr id="69" name="Graphique 68">
            <a:extLst>
              <a:ext uri="{FF2B5EF4-FFF2-40B4-BE49-F238E27FC236}">
                <a16:creationId xmlns:a16="http://schemas.microsoft.com/office/drawing/2014/main" id="{01EB024C-9E39-5AFD-3BC1-FBD6184A9FC8}"/>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4524974" y="6408984"/>
            <a:ext cx="333539" cy="416924"/>
          </a:xfrm>
          <a:prstGeom prst="rect">
            <a:avLst/>
          </a:prstGeom>
        </p:spPr>
      </p:pic>
      <p:sp>
        <p:nvSpPr>
          <p:cNvPr id="83" name="Rectangle 82">
            <a:extLst>
              <a:ext uri="{FF2B5EF4-FFF2-40B4-BE49-F238E27FC236}">
                <a16:creationId xmlns:a16="http://schemas.microsoft.com/office/drawing/2014/main" id="{74D9F4E3-D3A9-45F2-5C31-9ED46563EAF7}"/>
              </a:ext>
            </a:extLst>
          </p:cNvPr>
          <p:cNvSpPr/>
          <p:nvPr/>
        </p:nvSpPr>
        <p:spPr>
          <a:xfrm>
            <a:off x="707094" y="1249013"/>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84" name="Rectangle 83">
            <a:extLst>
              <a:ext uri="{FF2B5EF4-FFF2-40B4-BE49-F238E27FC236}">
                <a16:creationId xmlns:a16="http://schemas.microsoft.com/office/drawing/2014/main" id="{D3A6EEB1-4386-4347-35D0-1ABAB6295322}"/>
              </a:ext>
            </a:extLst>
          </p:cNvPr>
          <p:cNvSpPr/>
          <p:nvPr/>
        </p:nvSpPr>
        <p:spPr>
          <a:xfrm>
            <a:off x="657813" y="3995692"/>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Tree>
    <p:extLst>
      <p:ext uri="{BB962C8B-B14F-4D97-AF65-F5344CB8AC3E}">
        <p14:creationId xmlns:p14="http://schemas.microsoft.com/office/powerpoint/2010/main" val="364362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51712-08E0-8880-9400-3A1D96191D45}"/>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FA4A3DA8-5EC6-E99D-0AB6-B377F3284645}"/>
              </a:ext>
            </a:extLst>
          </p:cNvPr>
          <p:cNvGraphicFramePr>
            <a:graphicFrameLocks noGrp="1"/>
          </p:cNvGraphicFramePr>
          <p:nvPr>
            <p:extLst>
              <p:ext uri="{D42A27DB-BD31-4B8C-83A1-F6EECF244321}">
                <p14:modId xmlns:p14="http://schemas.microsoft.com/office/powerpoint/2010/main" val="1604735556"/>
              </p:ext>
            </p:extLst>
          </p:nvPr>
        </p:nvGraphicFramePr>
        <p:xfrm>
          <a:off x="878640" y="1687810"/>
          <a:ext cx="9306325" cy="2967317"/>
        </p:xfrm>
        <a:graphic>
          <a:graphicData uri="http://schemas.openxmlformats.org/drawingml/2006/table">
            <a:tbl>
              <a:tblPr firstRow="1" bandRow="1">
                <a:effectLst/>
                <a:tableStyleId>{F5AB1C69-6EDB-4FF4-983F-18BD219EF322}</a:tableStyleId>
              </a:tblPr>
              <a:tblGrid>
                <a:gridCol w="1228879">
                  <a:extLst>
                    <a:ext uri="{9D8B030D-6E8A-4147-A177-3AD203B41FA5}">
                      <a16:colId xmlns:a16="http://schemas.microsoft.com/office/drawing/2014/main" val="3615684430"/>
                    </a:ext>
                  </a:extLst>
                </a:gridCol>
                <a:gridCol w="1342207">
                  <a:extLst>
                    <a:ext uri="{9D8B030D-6E8A-4147-A177-3AD203B41FA5}">
                      <a16:colId xmlns:a16="http://schemas.microsoft.com/office/drawing/2014/main" val="1240341726"/>
                    </a:ext>
                  </a:extLst>
                </a:gridCol>
                <a:gridCol w="1191384">
                  <a:extLst>
                    <a:ext uri="{9D8B030D-6E8A-4147-A177-3AD203B41FA5}">
                      <a16:colId xmlns:a16="http://schemas.microsoft.com/office/drawing/2014/main" val="3418675952"/>
                    </a:ext>
                  </a:extLst>
                </a:gridCol>
                <a:gridCol w="1309730">
                  <a:extLst>
                    <a:ext uri="{9D8B030D-6E8A-4147-A177-3AD203B41FA5}">
                      <a16:colId xmlns:a16="http://schemas.microsoft.com/office/drawing/2014/main" val="3217757275"/>
                    </a:ext>
                  </a:extLst>
                </a:gridCol>
                <a:gridCol w="1309730">
                  <a:extLst>
                    <a:ext uri="{9D8B030D-6E8A-4147-A177-3AD203B41FA5}">
                      <a16:colId xmlns:a16="http://schemas.microsoft.com/office/drawing/2014/main" val="705901280"/>
                    </a:ext>
                  </a:extLst>
                </a:gridCol>
                <a:gridCol w="1309730">
                  <a:extLst>
                    <a:ext uri="{9D8B030D-6E8A-4147-A177-3AD203B41FA5}">
                      <a16:colId xmlns:a16="http://schemas.microsoft.com/office/drawing/2014/main" val="1544762168"/>
                    </a:ext>
                  </a:extLst>
                </a:gridCol>
                <a:gridCol w="837738">
                  <a:extLst>
                    <a:ext uri="{9D8B030D-6E8A-4147-A177-3AD203B41FA5}">
                      <a16:colId xmlns:a16="http://schemas.microsoft.com/office/drawing/2014/main" val="1507821284"/>
                    </a:ext>
                  </a:extLst>
                </a:gridCol>
                <a:gridCol w="776927">
                  <a:extLst>
                    <a:ext uri="{9D8B030D-6E8A-4147-A177-3AD203B41FA5}">
                      <a16:colId xmlns:a16="http://schemas.microsoft.com/office/drawing/2014/main" val="3064555056"/>
                    </a:ext>
                  </a:extLst>
                </a:gridCol>
              </a:tblGrid>
              <a:tr h="426720">
                <a:tc>
                  <a:txBody>
                    <a:bodyPr/>
                    <a:lstStyle/>
                    <a:p>
                      <a:pPr marL="0" algn="ctr" defTabSz="457200" rtl="0" eaLnBrk="1" latinLnBrk="0" hangingPunct="1"/>
                      <a:r>
                        <a:rPr lang="fr-FR" sz="1100"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Adresse</a:t>
                      </a:r>
                    </a:p>
                  </a:txBody>
                  <a:tcPr anchor="ctr">
                    <a:lnL w="12700" cap="flat" cmpd="sng" algn="ctr">
                      <a:solidFill>
                        <a:schemeClr val="bg1">
                          <a:lumMod val="85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Wifi collab.</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Wifi invité</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Wifi IOT</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Wifi Usagers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Satisfaction </a:t>
                      </a:r>
                    </a:p>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service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Engagement</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Coût mensuel</a:t>
                      </a:r>
                    </a:p>
                  </a:txBody>
                  <a:tcPr anchor="ctr">
                    <a:lnL w="28575"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extLst>
                  <a:ext uri="{0D108BD9-81ED-4DB2-BD59-A6C34878D82A}">
                    <a16:rowId xmlns:a16="http://schemas.microsoft.com/office/drawing/2014/main" val="3792040576"/>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0669157"/>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01410505"/>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486584"/>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07455821"/>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3903978"/>
                  </a:ext>
                </a:extLst>
              </a:tr>
              <a:tr h="43404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6891561"/>
                  </a:ext>
                </a:extLst>
              </a:tr>
            </a:tbl>
          </a:graphicData>
        </a:graphic>
      </p:graphicFrame>
      <p:sp>
        <p:nvSpPr>
          <p:cNvPr id="5" name="Rectangle 4">
            <a:extLst>
              <a:ext uri="{FF2B5EF4-FFF2-40B4-BE49-F238E27FC236}">
                <a16:creationId xmlns:a16="http://schemas.microsoft.com/office/drawing/2014/main" id="{874FB87D-CB1A-8225-0EAD-F16EBBB5E004}"/>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6" name="Titre 1">
            <a:extLst>
              <a:ext uri="{FF2B5EF4-FFF2-40B4-BE49-F238E27FC236}">
                <a16:creationId xmlns:a16="http://schemas.microsoft.com/office/drawing/2014/main" id="{FFAA3AF1-1C87-2C0F-0FCB-04ED3CD7CDFD}"/>
              </a:ext>
            </a:extLst>
          </p:cNvPr>
          <p:cNvSpPr txBox="1">
            <a:spLocks/>
          </p:cNvSpPr>
          <p:nvPr/>
        </p:nvSpPr>
        <p:spPr>
          <a:xfrm>
            <a:off x="1320435" y="310646"/>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WIFI</a:t>
            </a:r>
          </a:p>
        </p:txBody>
      </p:sp>
      <p:pic>
        <p:nvPicPr>
          <p:cNvPr id="8" name="Image 7">
            <a:extLst>
              <a:ext uri="{FF2B5EF4-FFF2-40B4-BE49-F238E27FC236}">
                <a16:creationId xmlns:a16="http://schemas.microsoft.com/office/drawing/2014/main" id="{D43526DB-7AA0-631E-8C0E-6884FA147958}"/>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518640" y="225433"/>
            <a:ext cx="720000" cy="720000"/>
          </a:xfrm>
          <a:prstGeom prst="rect">
            <a:avLst/>
          </a:prstGeom>
        </p:spPr>
      </p:pic>
      <p:pic>
        <p:nvPicPr>
          <p:cNvPr id="4" name="Image 3">
            <a:extLst>
              <a:ext uri="{FF2B5EF4-FFF2-40B4-BE49-F238E27FC236}">
                <a16:creationId xmlns:a16="http://schemas.microsoft.com/office/drawing/2014/main" id="{7B154605-CE31-859C-DD8E-DA894C16EE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Tree>
    <p:extLst>
      <p:ext uri="{BB962C8B-B14F-4D97-AF65-F5344CB8AC3E}">
        <p14:creationId xmlns:p14="http://schemas.microsoft.com/office/powerpoint/2010/main" val="1312229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88C62-3977-4E0B-E530-BBB17CA2E237}"/>
            </a:ext>
          </a:extLst>
        </p:cNvPr>
        <p:cNvGrpSpPr/>
        <p:nvPr/>
      </p:nvGrpSpPr>
      <p:grpSpPr>
        <a:xfrm>
          <a:off x="0" y="0"/>
          <a:ext cx="0" cy="0"/>
          <a:chOff x="0" y="0"/>
          <a:chExt cx="0" cy="0"/>
        </a:xfrm>
      </p:grpSpPr>
      <p:sp>
        <p:nvSpPr>
          <p:cNvPr id="66" name="Rectangle 65">
            <a:extLst>
              <a:ext uri="{FF2B5EF4-FFF2-40B4-BE49-F238E27FC236}">
                <a16:creationId xmlns:a16="http://schemas.microsoft.com/office/drawing/2014/main" id="{2DB1DC38-48D7-2FB2-503B-4F53F51ABB7D}"/>
              </a:ext>
            </a:extLst>
          </p:cNvPr>
          <p:cNvSpPr/>
          <p:nvPr/>
        </p:nvSpPr>
        <p:spPr>
          <a:xfrm>
            <a:off x="562409" y="4308022"/>
            <a:ext cx="4776797" cy="3152040"/>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67" name="ZoneTexte 66">
            <a:extLst>
              <a:ext uri="{FF2B5EF4-FFF2-40B4-BE49-F238E27FC236}">
                <a16:creationId xmlns:a16="http://schemas.microsoft.com/office/drawing/2014/main" id="{9172A34D-0646-A014-E7FE-42E3078DD626}"/>
              </a:ext>
            </a:extLst>
          </p:cNvPr>
          <p:cNvSpPr txBox="1"/>
          <p:nvPr/>
        </p:nvSpPr>
        <p:spPr>
          <a:xfrm>
            <a:off x="607339" y="4162601"/>
            <a:ext cx="2959528" cy="338554"/>
          </a:xfrm>
          <a:prstGeom prst="rect">
            <a:avLst/>
          </a:prstGeom>
          <a:noFill/>
        </p:spPr>
        <p:txBody>
          <a:bodyPr wrap="none" rtlCol="0">
            <a:spAutoFit/>
          </a:bodyPr>
          <a:lstStyle/>
          <a:p>
            <a:r>
              <a:rPr lang="fr-FR" sz="1600" b="1" dirty="0">
                <a:latin typeface="Arial Nova" panose="020B0504020202020204" pitchFamily="34" charset="0"/>
              </a:rPr>
              <a:t>VOS BESOINS SPÉCIFIQUES</a:t>
            </a:r>
          </a:p>
        </p:txBody>
      </p:sp>
      <p:sp>
        <p:nvSpPr>
          <p:cNvPr id="57" name="Rectangle 56">
            <a:extLst>
              <a:ext uri="{FF2B5EF4-FFF2-40B4-BE49-F238E27FC236}">
                <a16:creationId xmlns:a16="http://schemas.microsoft.com/office/drawing/2014/main" id="{6DC57CC5-7E60-9BF1-802F-28E137C983DE}"/>
              </a:ext>
            </a:extLst>
          </p:cNvPr>
          <p:cNvSpPr/>
          <p:nvPr/>
        </p:nvSpPr>
        <p:spPr>
          <a:xfrm>
            <a:off x="569903" y="1344177"/>
            <a:ext cx="4776797" cy="2427085"/>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4" name="Titre 1">
            <a:extLst>
              <a:ext uri="{FF2B5EF4-FFF2-40B4-BE49-F238E27FC236}">
                <a16:creationId xmlns:a16="http://schemas.microsoft.com/office/drawing/2014/main" id="{64A056AF-C63C-1ADF-549C-CD7C60503265}"/>
              </a:ext>
            </a:extLst>
          </p:cNvPr>
          <p:cNvSpPr txBox="1">
            <a:spLocks/>
          </p:cNvSpPr>
          <p:nvPr/>
        </p:nvSpPr>
        <p:spPr>
          <a:xfrm>
            <a:off x="1320435" y="310646"/>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TÉLÉPHONIE FIXE</a:t>
            </a:r>
          </a:p>
        </p:txBody>
      </p:sp>
      <p:sp>
        <p:nvSpPr>
          <p:cNvPr id="34" name="ZoneTexte 33">
            <a:extLst>
              <a:ext uri="{FF2B5EF4-FFF2-40B4-BE49-F238E27FC236}">
                <a16:creationId xmlns:a16="http://schemas.microsoft.com/office/drawing/2014/main" id="{98361402-B5FD-9703-8861-630AADBC8E7D}"/>
              </a:ext>
            </a:extLst>
          </p:cNvPr>
          <p:cNvSpPr txBox="1"/>
          <p:nvPr/>
        </p:nvSpPr>
        <p:spPr>
          <a:xfrm>
            <a:off x="3517571" y="4162601"/>
            <a:ext cx="184731" cy="408253"/>
          </a:xfrm>
          <a:prstGeom prst="rect">
            <a:avLst/>
          </a:prstGeom>
          <a:noFill/>
        </p:spPr>
        <p:txBody>
          <a:bodyPr wrap="none" rtlCol="0">
            <a:spAutoFit/>
          </a:bodyPr>
          <a:lstStyle/>
          <a:p>
            <a:endParaRPr lang="fr-FR" dirty="0">
              <a:latin typeface="Arial Nova" panose="020B0504020202020204" pitchFamily="34" charset="0"/>
            </a:endParaRPr>
          </a:p>
        </p:txBody>
      </p:sp>
      <p:sp>
        <p:nvSpPr>
          <p:cNvPr id="39" name="ZoneTexte 38">
            <a:extLst>
              <a:ext uri="{FF2B5EF4-FFF2-40B4-BE49-F238E27FC236}">
                <a16:creationId xmlns:a16="http://schemas.microsoft.com/office/drawing/2014/main" id="{61C5D882-E7CF-3BDC-B730-055138A12383}"/>
              </a:ext>
            </a:extLst>
          </p:cNvPr>
          <p:cNvSpPr txBox="1"/>
          <p:nvPr/>
        </p:nvSpPr>
        <p:spPr>
          <a:xfrm>
            <a:off x="1211950" y="2318326"/>
            <a:ext cx="1141659" cy="461665"/>
          </a:xfrm>
          <a:prstGeom prst="rect">
            <a:avLst/>
          </a:prstGeom>
          <a:noFill/>
        </p:spPr>
        <p:txBody>
          <a:bodyPr wrap="none" rtlCol="0">
            <a:spAutoFit/>
          </a:bodyPr>
          <a:lstStyle/>
          <a:p>
            <a:pPr algn="ctr"/>
            <a:r>
              <a:rPr lang="fr-FR" sz="1200" dirty="0">
                <a:latin typeface="Arial Nova" panose="020B0504020202020204" pitchFamily="34" charset="0"/>
              </a:rPr>
              <a:t>Nb lignes</a:t>
            </a:r>
          </a:p>
          <a:p>
            <a:pPr algn="ctr"/>
            <a:r>
              <a:rPr lang="fr-FR" sz="1200" dirty="0">
                <a:latin typeface="Arial Nova" panose="020B0504020202020204" pitchFamily="34" charset="0"/>
              </a:rPr>
              <a:t>téléphoniques</a:t>
            </a:r>
          </a:p>
        </p:txBody>
      </p:sp>
      <p:sp>
        <p:nvSpPr>
          <p:cNvPr id="42" name="ZoneTexte 41">
            <a:extLst>
              <a:ext uri="{FF2B5EF4-FFF2-40B4-BE49-F238E27FC236}">
                <a16:creationId xmlns:a16="http://schemas.microsoft.com/office/drawing/2014/main" id="{A14FFA49-E00C-C9CD-2383-C8A4CB77EA94}"/>
              </a:ext>
            </a:extLst>
          </p:cNvPr>
          <p:cNvSpPr txBox="1"/>
          <p:nvPr/>
        </p:nvSpPr>
        <p:spPr>
          <a:xfrm>
            <a:off x="2470007" y="2318666"/>
            <a:ext cx="1034257" cy="461665"/>
          </a:xfrm>
          <a:prstGeom prst="rect">
            <a:avLst/>
          </a:prstGeom>
          <a:noFill/>
        </p:spPr>
        <p:txBody>
          <a:bodyPr wrap="none" rtlCol="0">
            <a:spAutoFit/>
          </a:bodyPr>
          <a:lstStyle/>
          <a:p>
            <a:pPr algn="ctr"/>
            <a:r>
              <a:rPr lang="fr-FR" sz="1200" dirty="0">
                <a:latin typeface="Arial Nova" panose="020B0504020202020204" pitchFamily="34" charset="0"/>
              </a:rPr>
              <a:t>Nb appels</a:t>
            </a:r>
          </a:p>
          <a:p>
            <a:pPr algn="ctr"/>
            <a:r>
              <a:rPr lang="fr-FR" sz="1200" dirty="0">
                <a:latin typeface="Arial Nova" panose="020B0504020202020204" pitchFamily="34" charset="0"/>
              </a:rPr>
              <a:t> simultanées</a:t>
            </a:r>
          </a:p>
        </p:txBody>
      </p:sp>
      <p:sp>
        <p:nvSpPr>
          <p:cNvPr id="43" name="Rectangle 42">
            <a:extLst>
              <a:ext uri="{FF2B5EF4-FFF2-40B4-BE49-F238E27FC236}">
                <a16:creationId xmlns:a16="http://schemas.microsoft.com/office/drawing/2014/main" id="{BE6E9981-EDCA-9DE4-501A-497EAD65A44B}"/>
              </a:ext>
            </a:extLst>
          </p:cNvPr>
          <p:cNvSpPr/>
          <p:nvPr/>
        </p:nvSpPr>
        <p:spPr>
          <a:xfrm>
            <a:off x="2627132" y="2799317"/>
            <a:ext cx="720000" cy="7200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5" name="Rectangle 4">
            <a:extLst>
              <a:ext uri="{FF2B5EF4-FFF2-40B4-BE49-F238E27FC236}">
                <a16:creationId xmlns:a16="http://schemas.microsoft.com/office/drawing/2014/main" id="{A59A2A03-816D-34BF-CF78-591DC001EA68}"/>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58" name="ZoneTexte 57">
            <a:extLst>
              <a:ext uri="{FF2B5EF4-FFF2-40B4-BE49-F238E27FC236}">
                <a16:creationId xmlns:a16="http://schemas.microsoft.com/office/drawing/2014/main" id="{C706208D-748E-2B4F-79DC-FE2878927310}"/>
              </a:ext>
            </a:extLst>
          </p:cNvPr>
          <p:cNvSpPr txBox="1"/>
          <p:nvPr/>
        </p:nvSpPr>
        <p:spPr>
          <a:xfrm>
            <a:off x="643962" y="1219912"/>
            <a:ext cx="3082190" cy="338554"/>
          </a:xfrm>
          <a:prstGeom prst="rect">
            <a:avLst/>
          </a:prstGeom>
          <a:noFill/>
        </p:spPr>
        <p:txBody>
          <a:bodyPr wrap="none" rtlCol="0">
            <a:spAutoFit/>
          </a:bodyPr>
          <a:lstStyle/>
          <a:p>
            <a:r>
              <a:rPr lang="fr-FR" sz="1600" b="1" dirty="0">
                <a:latin typeface="Arial Nova" panose="020B0504020202020204" pitchFamily="34" charset="0"/>
              </a:rPr>
              <a:t>VOTRE ÉQUIPEMENT ACTUEL</a:t>
            </a:r>
          </a:p>
        </p:txBody>
      </p:sp>
      <p:sp>
        <p:nvSpPr>
          <p:cNvPr id="61" name="Rectangle 60">
            <a:extLst>
              <a:ext uri="{FF2B5EF4-FFF2-40B4-BE49-F238E27FC236}">
                <a16:creationId xmlns:a16="http://schemas.microsoft.com/office/drawing/2014/main" id="{41E0EF15-75AE-E884-C098-8902EC4C20E4}"/>
              </a:ext>
            </a:extLst>
          </p:cNvPr>
          <p:cNvSpPr/>
          <p:nvPr/>
        </p:nvSpPr>
        <p:spPr>
          <a:xfrm>
            <a:off x="1401215" y="2799317"/>
            <a:ext cx="720000" cy="7200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62" name="ZoneTexte 61">
            <a:extLst>
              <a:ext uri="{FF2B5EF4-FFF2-40B4-BE49-F238E27FC236}">
                <a16:creationId xmlns:a16="http://schemas.microsoft.com/office/drawing/2014/main" id="{940EAD81-AC29-4767-34DD-DF99B81B710F}"/>
              </a:ext>
            </a:extLst>
          </p:cNvPr>
          <p:cNvSpPr txBox="1"/>
          <p:nvPr/>
        </p:nvSpPr>
        <p:spPr>
          <a:xfrm>
            <a:off x="722861" y="1540881"/>
            <a:ext cx="1555234" cy="646331"/>
          </a:xfrm>
          <a:prstGeom prst="rect">
            <a:avLst/>
          </a:prstGeom>
          <a:noFill/>
        </p:spPr>
        <p:txBody>
          <a:bodyPr wrap="none" rtlCol="0">
            <a:spAutoFit/>
          </a:bodyPr>
          <a:lstStyle/>
          <a:p>
            <a:r>
              <a:rPr lang="fr-FR" sz="1200" dirty="0">
                <a:latin typeface="Arial Nova" panose="020B0504020202020204" pitchFamily="34" charset="0"/>
              </a:rPr>
              <a:t>Type de téléphonie :</a:t>
            </a:r>
          </a:p>
          <a:p>
            <a:endParaRPr lang="fr-FR" sz="1200" dirty="0">
              <a:latin typeface="Arial Nova" panose="020B0504020202020204" pitchFamily="34" charset="0"/>
            </a:endParaRPr>
          </a:p>
          <a:p>
            <a:r>
              <a:rPr lang="fr-FR" sz="1200" dirty="0">
                <a:latin typeface="Arial Nova" panose="020B0504020202020204" pitchFamily="34" charset="0"/>
              </a:rPr>
              <a:t>Marque : </a:t>
            </a:r>
          </a:p>
        </p:txBody>
      </p:sp>
      <p:sp>
        <p:nvSpPr>
          <p:cNvPr id="64" name="ZoneTexte 63">
            <a:extLst>
              <a:ext uri="{FF2B5EF4-FFF2-40B4-BE49-F238E27FC236}">
                <a16:creationId xmlns:a16="http://schemas.microsoft.com/office/drawing/2014/main" id="{40EB1F28-A808-EAF3-5B38-8651E5AD5EAD}"/>
              </a:ext>
            </a:extLst>
          </p:cNvPr>
          <p:cNvSpPr txBox="1"/>
          <p:nvPr/>
        </p:nvSpPr>
        <p:spPr>
          <a:xfrm>
            <a:off x="3887624" y="2308021"/>
            <a:ext cx="750398" cy="461665"/>
          </a:xfrm>
          <a:prstGeom prst="rect">
            <a:avLst/>
          </a:prstGeom>
          <a:noFill/>
        </p:spPr>
        <p:txBody>
          <a:bodyPr wrap="none" rtlCol="0">
            <a:spAutoFit/>
          </a:bodyPr>
          <a:lstStyle/>
          <a:p>
            <a:pPr algn="ctr"/>
            <a:r>
              <a:rPr lang="fr-FR" sz="1200" dirty="0">
                <a:latin typeface="Arial Nova" panose="020B0504020202020204" pitchFamily="34" charset="0"/>
              </a:rPr>
              <a:t>Volume </a:t>
            </a:r>
          </a:p>
          <a:p>
            <a:pPr algn="ctr"/>
            <a:r>
              <a:rPr lang="fr-FR" sz="1200" dirty="0">
                <a:latin typeface="Arial Nova" panose="020B0504020202020204" pitchFamily="34" charset="0"/>
              </a:rPr>
              <a:t>d’appels</a:t>
            </a:r>
          </a:p>
        </p:txBody>
      </p:sp>
      <p:sp>
        <p:nvSpPr>
          <p:cNvPr id="65" name="Rectangle 64">
            <a:extLst>
              <a:ext uri="{FF2B5EF4-FFF2-40B4-BE49-F238E27FC236}">
                <a16:creationId xmlns:a16="http://schemas.microsoft.com/office/drawing/2014/main" id="{E2E86C8E-EA0B-5237-CB27-4D61E0B1AD6C}"/>
              </a:ext>
            </a:extLst>
          </p:cNvPr>
          <p:cNvSpPr/>
          <p:nvPr/>
        </p:nvSpPr>
        <p:spPr>
          <a:xfrm>
            <a:off x="3902817" y="2788672"/>
            <a:ext cx="720000" cy="7200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68" name="Rectangle 67">
            <a:extLst>
              <a:ext uri="{FF2B5EF4-FFF2-40B4-BE49-F238E27FC236}">
                <a16:creationId xmlns:a16="http://schemas.microsoft.com/office/drawing/2014/main" id="{32550CB5-6801-122C-F399-60053AC9CE8C}"/>
              </a:ext>
            </a:extLst>
          </p:cNvPr>
          <p:cNvSpPr/>
          <p:nvPr/>
        </p:nvSpPr>
        <p:spPr>
          <a:xfrm>
            <a:off x="6067454" y="1014716"/>
            <a:ext cx="2033017" cy="1524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7" name="ZoneTexte 36">
            <a:extLst>
              <a:ext uri="{FF2B5EF4-FFF2-40B4-BE49-F238E27FC236}">
                <a16:creationId xmlns:a16="http://schemas.microsoft.com/office/drawing/2014/main" id="{D07812E0-BB36-FBEE-C3EC-738A5D999107}"/>
              </a:ext>
            </a:extLst>
          </p:cNvPr>
          <p:cNvSpPr txBox="1"/>
          <p:nvPr/>
        </p:nvSpPr>
        <p:spPr>
          <a:xfrm>
            <a:off x="6064216" y="788551"/>
            <a:ext cx="2268582"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Limites actuelles</a:t>
            </a:r>
          </a:p>
        </p:txBody>
      </p:sp>
      <p:sp>
        <p:nvSpPr>
          <p:cNvPr id="72" name="Rectangle 71">
            <a:extLst>
              <a:ext uri="{FF2B5EF4-FFF2-40B4-BE49-F238E27FC236}">
                <a16:creationId xmlns:a16="http://schemas.microsoft.com/office/drawing/2014/main" id="{1874CABB-B955-9EDD-4C79-F659B318A6C6}"/>
              </a:ext>
            </a:extLst>
          </p:cNvPr>
          <p:cNvSpPr/>
          <p:nvPr/>
        </p:nvSpPr>
        <p:spPr>
          <a:xfrm>
            <a:off x="6064216" y="2958760"/>
            <a:ext cx="2033017" cy="1524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0" name="ZoneTexte 69">
            <a:extLst>
              <a:ext uri="{FF2B5EF4-FFF2-40B4-BE49-F238E27FC236}">
                <a16:creationId xmlns:a16="http://schemas.microsoft.com/office/drawing/2014/main" id="{86A47B4A-ACAE-CC50-9C3A-97D78C80A1A9}"/>
              </a:ext>
            </a:extLst>
          </p:cNvPr>
          <p:cNvSpPr txBox="1"/>
          <p:nvPr/>
        </p:nvSpPr>
        <p:spPr>
          <a:xfrm>
            <a:off x="6064216" y="2732595"/>
            <a:ext cx="2813853"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Évolutions attendues</a:t>
            </a:r>
          </a:p>
        </p:txBody>
      </p:sp>
      <p:sp>
        <p:nvSpPr>
          <p:cNvPr id="73" name="Rectangle 72">
            <a:extLst>
              <a:ext uri="{FF2B5EF4-FFF2-40B4-BE49-F238E27FC236}">
                <a16:creationId xmlns:a16="http://schemas.microsoft.com/office/drawing/2014/main" id="{1CA24A22-E015-E8AA-B764-0AB35D47F6B0}"/>
              </a:ext>
            </a:extLst>
          </p:cNvPr>
          <p:cNvSpPr/>
          <p:nvPr/>
        </p:nvSpPr>
        <p:spPr>
          <a:xfrm>
            <a:off x="6064216" y="5016803"/>
            <a:ext cx="2033017" cy="1524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4" name="ZoneTexte 73">
            <a:extLst>
              <a:ext uri="{FF2B5EF4-FFF2-40B4-BE49-F238E27FC236}">
                <a16:creationId xmlns:a16="http://schemas.microsoft.com/office/drawing/2014/main" id="{0406AA3B-7663-2AAB-920F-63AD968FF68B}"/>
              </a:ext>
            </a:extLst>
          </p:cNvPr>
          <p:cNvSpPr txBox="1"/>
          <p:nvPr/>
        </p:nvSpPr>
        <p:spPr>
          <a:xfrm>
            <a:off x="6064216" y="4790638"/>
            <a:ext cx="3197171" cy="378565"/>
          </a:xfrm>
          <a:prstGeom prst="rect">
            <a:avLst/>
          </a:prstGeom>
          <a:noFill/>
        </p:spPr>
        <p:txBody>
          <a:bodyPr wrap="square" rtlCol="0">
            <a:spAutoFit/>
          </a:bodyPr>
          <a:lstStyle/>
          <a:p>
            <a:pPr marL="0" marR="0" lvl="0" indent="0" algn="l" defTabSz="521437" rtl="0" eaLnBrk="1" fontAlgn="auto" latinLnBrk="0" hangingPunct="1">
              <a:lnSpc>
                <a:spcPct val="107000"/>
              </a:lnSpc>
              <a:spcBef>
                <a:spcPts val="0"/>
              </a:spcBef>
              <a:spcAft>
                <a:spcPts val="800"/>
              </a:spcAft>
              <a:buClrTx/>
              <a:buSzTx/>
              <a:buFontTx/>
              <a:buNone/>
              <a:tabLst/>
              <a:defRPr/>
            </a:pPr>
            <a:r>
              <a:rPr kumimoji="0" lang="fr-FR" sz="1800" b="1" i="0" u="none" strike="noStrike" kern="100" cap="none" spc="0" normalizeH="0" baseline="0" noProof="0" dirty="0">
                <a:ln>
                  <a:noFill/>
                </a:ln>
                <a:solidFill>
                  <a:prstClr val="black"/>
                </a:solidFill>
                <a:effectLst/>
                <a:uLnTx/>
                <a:uFillTx/>
                <a:latin typeface="Arial Nova" panose="020B0504020202020204" pitchFamily="34" charset="0"/>
                <a:ea typeface="Aptos" panose="020B0004020202020204" pitchFamily="34" charset="0"/>
                <a:cs typeface="Times New Roman" panose="02020603050405020304" pitchFamily="18" charset="0"/>
              </a:rPr>
              <a:t>Enjeux de sécurité/criticité</a:t>
            </a:r>
          </a:p>
        </p:txBody>
      </p:sp>
      <p:sp>
        <p:nvSpPr>
          <p:cNvPr id="75" name="Rectangle 1">
            <a:extLst>
              <a:ext uri="{FF2B5EF4-FFF2-40B4-BE49-F238E27FC236}">
                <a16:creationId xmlns:a16="http://schemas.microsoft.com/office/drawing/2014/main" id="{0D2B6955-6E52-1385-8550-B6197267B047}"/>
              </a:ext>
            </a:extLst>
          </p:cNvPr>
          <p:cNvSpPr>
            <a:spLocks noChangeArrowheads="1"/>
          </p:cNvSpPr>
          <p:nvPr/>
        </p:nvSpPr>
        <p:spPr bwMode="auto">
          <a:xfrm>
            <a:off x="5995694" y="1233535"/>
            <a:ext cx="4259499"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Qualité d’appel médiocre (écho, latence, coupures)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Insuffisance de lignes simultanées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Manque de fonctionnalités (standard, messagerie, supervision)</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Difficulté d’intégration avec d’autres outils (CRM, Teams, ERP)</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Coût trop élevé</a:t>
            </a:r>
          </a:p>
        </p:txBody>
      </p:sp>
      <p:sp>
        <p:nvSpPr>
          <p:cNvPr id="76" name="Rectangle 1">
            <a:extLst>
              <a:ext uri="{FF2B5EF4-FFF2-40B4-BE49-F238E27FC236}">
                <a16:creationId xmlns:a16="http://schemas.microsoft.com/office/drawing/2014/main" id="{D14B022A-E5D9-DFA8-E8FA-1912CC9A1C2B}"/>
              </a:ext>
            </a:extLst>
          </p:cNvPr>
          <p:cNvSpPr>
            <a:spLocks noChangeArrowheads="1"/>
          </p:cNvSpPr>
          <p:nvPr/>
        </p:nvSpPr>
        <p:spPr bwMode="auto">
          <a:xfrm>
            <a:off x="5995694" y="3130393"/>
            <a:ext cx="412164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Augmentation du nombre de lignes / extensions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Migration vers une solution Cloud (</a:t>
            </a:r>
            <a:r>
              <a:rPr kumimoji="0" lang="fr-FR" altLang="fr-FR" sz="1100" b="0" i="0" u="none" strike="noStrike" cap="none" normalizeH="0" baseline="0" dirty="0" err="1">
                <a:ln>
                  <a:noFill/>
                </a:ln>
                <a:solidFill>
                  <a:schemeClr val="tx1"/>
                </a:solidFill>
                <a:effectLst/>
                <a:latin typeface="Arial Nova" panose="020B0504020202020204" pitchFamily="34" charset="0"/>
              </a:rPr>
              <a:t>Centrex</a:t>
            </a:r>
            <a:r>
              <a:rPr kumimoji="0" lang="fr-FR" altLang="fr-FR" sz="1100" b="0" i="0" u="none" strike="noStrike" cap="none" normalizeH="0" baseline="0" dirty="0">
                <a:ln>
                  <a:noFill/>
                </a:ln>
                <a:solidFill>
                  <a:schemeClr val="tx1"/>
                </a:solidFill>
                <a:effectLst/>
                <a:latin typeface="Arial Nova" panose="020B0504020202020204" pitchFamily="34" charset="0"/>
              </a:rPr>
              <a:t>, </a:t>
            </a:r>
            <a:r>
              <a:rPr kumimoji="0" lang="fr-FR" altLang="fr-FR" sz="1100" b="0" i="0" u="none" strike="noStrike" cap="none" normalizeH="0" baseline="0" dirty="0" err="1">
                <a:ln>
                  <a:noFill/>
                </a:ln>
                <a:solidFill>
                  <a:schemeClr val="tx1"/>
                </a:solidFill>
                <a:effectLst/>
                <a:latin typeface="Arial Nova" panose="020B0504020202020204" pitchFamily="34" charset="0"/>
              </a:rPr>
              <a:t>VoIP</a:t>
            </a:r>
            <a:r>
              <a:rPr kumimoji="0" lang="fr-FR" altLang="fr-FR" sz="1100" b="0" i="0" u="none" strike="noStrike" cap="none" normalizeH="0" baseline="0" dirty="0">
                <a:ln>
                  <a:noFill/>
                </a:ln>
                <a:solidFill>
                  <a:schemeClr val="tx1"/>
                </a:solidFill>
                <a:effectLst/>
                <a:latin typeface="Arial Nova" panose="020B0504020202020204" pitchFamily="34" charset="0"/>
              </a:rPr>
              <a:t> hébergée)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Intégration avec Microsoft Teams / CRM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Ajout de fonctionnalités avancées (SVI, messagerie unifiée)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Amélioration de la redondance et de la continuité de service </a:t>
            </a:r>
          </a:p>
        </p:txBody>
      </p:sp>
      <p:sp>
        <p:nvSpPr>
          <p:cNvPr id="77" name="Rectangle 1">
            <a:extLst>
              <a:ext uri="{FF2B5EF4-FFF2-40B4-BE49-F238E27FC236}">
                <a16:creationId xmlns:a16="http://schemas.microsoft.com/office/drawing/2014/main" id="{56E41BC6-A1A4-1AAA-0FD0-39411C7840B6}"/>
              </a:ext>
            </a:extLst>
          </p:cNvPr>
          <p:cNvSpPr>
            <a:spLocks noChangeArrowheads="1"/>
          </p:cNvSpPr>
          <p:nvPr/>
        </p:nvSpPr>
        <p:spPr bwMode="auto">
          <a:xfrm>
            <a:off x="6089970" y="5267176"/>
            <a:ext cx="3158237"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Protection contre le hacking </a:t>
            </a:r>
            <a:r>
              <a:rPr kumimoji="0" lang="fr-FR" altLang="fr-FR" sz="1100" b="0" i="0" u="none" strike="noStrike" cap="none" normalizeH="0" baseline="0" dirty="0" err="1">
                <a:ln>
                  <a:noFill/>
                </a:ln>
                <a:solidFill>
                  <a:schemeClr val="tx1"/>
                </a:solidFill>
                <a:effectLst/>
                <a:latin typeface="Arial Nova" panose="020B0504020202020204" pitchFamily="34" charset="0"/>
              </a:rPr>
              <a:t>VoIP</a:t>
            </a:r>
            <a:r>
              <a:rPr kumimoji="0" lang="fr-FR" altLang="fr-FR" sz="1100" b="0" i="0" u="none" strike="noStrike" cap="none" normalizeH="0" baseline="0" dirty="0">
                <a:ln>
                  <a:noFill/>
                </a:ln>
                <a:solidFill>
                  <a:schemeClr val="tx1"/>
                </a:solidFill>
                <a:effectLst/>
                <a:latin typeface="Arial Nova" panose="020B0504020202020204" pitchFamily="34" charset="0"/>
              </a:rPr>
              <a:t>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Fiabilité du service pour les appels critiques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Confidentialité des communications internes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Plan de secours en cas de panne </a:t>
            </a:r>
          </a:p>
        </p:txBody>
      </p:sp>
      <p:pic>
        <p:nvPicPr>
          <p:cNvPr id="6" name="Image 5" descr="Une image contenant orange, Graphique, symbole, conception&#10;&#10;Description générée automatiquement">
            <a:extLst>
              <a:ext uri="{FF2B5EF4-FFF2-40B4-BE49-F238E27FC236}">
                <a16:creationId xmlns:a16="http://schemas.microsoft.com/office/drawing/2014/main" id="{E353188E-2682-5EE3-30E7-51EC9912B75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40031" y="220722"/>
            <a:ext cx="720000" cy="720000"/>
          </a:xfrm>
          <a:prstGeom prst="rect">
            <a:avLst/>
          </a:prstGeom>
        </p:spPr>
      </p:pic>
      <p:sp>
        <p:nvSpPr>
          <p:cNvPr id="9" name="ZoneTexte 8">
            <a:extLst>
              <a:ext uri="{FF2B5EF4-FFF2-40B4-BE49-F238E27FC236}">
                <a16:creationId xmlns:a16="http://schemas.microsoft.com/office/drawing/2014/main" id="{1D08E882-38DD-70AC-23D0-9A04ED92980B}"/>
              </a:ext>
            </a:extLst>
          </p:cNvPr>
          <p:cNvSpPr txBox="1"/>
          <p:nvPr/>
        </p:nvSpPr>
        <p:spPr>
          <a:xfrm>
            <a:off x="951189" y="5149827"/>
            <a:ext cx="1005675" cy="600164"/>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Messagerie vocale et répondeur </a:t>
            </a:r>
          </a:p>
        </p:txBody>
      </p:sp>
      <p:sp>
        <p:nvSpPr>
          <p:cNvPr id="12" name="ZoneTexte 11">
            <a:extLst>
              <a:ext uri="{FF2B5EF4-FFF2-40B4-BE49-F238E27FC236}">
                <a16:creationId xmlns:a16="http://schemas.microsoft.com/office/drawing/2014/main" id="{A12EC5D3-3A72-CE42-5F4B-9DAA018A278F}"/>
              </a:ext>
            </a:extLst>
          </p:cNvPr>
          <p:cNvSpPr txBox="1"/>
          <p:nvPr/>
        </p:nvSpPr>
        <p:spPr>
          <a:xfrm>
            <a:off x="1916277" y="5167256"/>
            <a:ext cx="1532243" cy="600164"/>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Standard </a:t>
            </a:r>
          </a:p>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automatique </a:t>
            </a:r>
          </a:p>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et SVI</a:t>
            </a:r>
          </a:p>
        </p:txBody>
      </p:sp>
      <p:sp>
        <p:nvSpPr>
          <p:cNvPr id="28" name="ZoneTexte 27">
            <a:extLst>
              <a:ext uri="{FF2B5EF4-FFF2-40B4-BE49-F238E27FC236}">
                <a16:creationId xmlns:a16="http://schemas.microsoft.com/office/drawing/2014/main" id="{9B0E09AF-0251-9F50-55FF-A15857DB9261}"/>
              </a:ext>
            </a:extLst>
          </p:cNvPr>
          <p:cNvSpPr txBox="1"/>
          <p:nvPr/>
        </p:nvSpPr>
        <p:spPr>
          <a:xfrm>
            <a:off x="2033977" y="6581503"/>
            <a:ext cx="1301924" cy="600164"/>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Call Center</a:t>
            </a:r>
          </a:p>
          <a:p>
            <a:pPr marL="0" marR="0" lvl="0" indent="0" algn="ctr" defTabSz="914400" rtl="0" eaLnBrk="0" fontAlgn="base" latinLnBrk="0" hangingPunct="0">
              <a:lnSpc>
                <a:spcPct val="100000"/>
              </a:lnSpc>
              <a:spcBef>
                <a:spcPct val="0"/>
              </a:spcBef>
              <a:spcAft>
                <a:spcPct val="0"/>
              </a:spcAft>
              <a:buClrTx/>
              <a:buSzTx/>
              <a:tabLst/>
            </a:pPr>
            <a:r>
              <a:rPr lang="fr-FR" altLang="fr-FR" sz="1100" dirty="0">
                <a:latin typeface="Arial Nova" panose="020B0504020202020204" pitchFamily="34" charset="0"/>
              </a:rPr>
              <a:t>(supervision </a:t>
            </a:r>
          </a:p>
          <a:p>
            <a:pPr marL="0" marR="0" lvl="0" indent="0" algn="ctr" defTabSz="914400" rtl="0" eaLnBrk="0" fontAlgn="base" latinLnBrk="0" hangingPunct="0">
              <a:lnSpc>
                <a:spcPct val="100000"/>
              </a:lnSpc>
              <a:spcBef>
                <a:spcPct val="0"/>
              </a:spcBef>
              <a:spcAft>
                <a:spcPct val="0"/>
              </a:spcAft>
              <a:buClrTx/>
              <a:buSzTx/>
              <a:tabLst/>
            </a:pPr>
            <a:r>
              <a:rPr lang="fr-FR" altLang="fr-FR" sz="1100" dirty="0">
                <a:latin typeface="Arial Nova" panose="020B0504020202020204" pitchFamily="34" charset="0"/>
              </a:rPr>
              <a:t>&amp; statistiques)</a:t>
            </a:r>
            <a:endParaRPr kumimoji="0" lang="fr-FR" altLang="fr-FR" sz="1100" b="0" i="0" u="none" strike="noStrike" cap="none" normalizeH="0" baseline="0" dirty="0">
              <a:ln>
                <a:noFill/>
              </a:ln>
              <a:solidFill>
                <a:schemeClr val="tx1"/>
              </a:solidFill>
              <a:effectLst/>
              <a:latin typeface="Arial Nova" panose="020B0504020202020204" pitchFamily="34" charset="0"/>
            </a:endParaRPr>
          </a:p>
        </p:txBody>
      </p:sp>
      <p:sp>
        <p:nvSpPr>
          <p:cNvPr id="38" name="ZoneTexte 37">
            <a:extLst>
              <a:ext uri="{FF2B5EF4-FFF2-40B4-BE49-F238E27FC236}">
                <a16:creationId xmlns:a16="http://schemas.microsoft.com/office/drawing/2014/main" id="{23413A75-D286-8154-8717-26D816336DA4}"/>
              </a:ext>
            </a:extLst>
          </p:cNvPr>
          <p:cNvSpPr txBox="1"/>
          <p:nvPr/>
        </p:nvSpPr>
        <p:spPr>
          <a:xfrm>
            <a:off x="813083" y="6566453"/>
            <a:ext cx="1301924" cy="43088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Groupes d’appels et files d’attente</a:t>
            </a:r>
          </a:p>
        </p:txBody>
      </p:sp>
      <p:sp>
        <p:nvSpPr>
          <p:cNvPr id="40" name="ZoneTexte 39">
            <a:extLst>
              <a:ext uri="{FF2B5EF4-FFF2-40B4-BE49-F238E27FC236}">
                <a16:creationId xmlns:a16="http://schemas.microsoft.com/office/drawing/2014/main" id="{1A5B762B-3EEF-E63B-D706-B8D8B178C382}"/>
              </a:ext>
            </a:extLst>
          </p:cNvPr>
          <p:cNvSpPr txBox="1"/>
          <p:nvPr/>
        </p:nvSpPr>
        <p:spPr>
          <a:xfrm>
            <a:off x="3404263" y="5164877"/>
            <a:ext cx="1009345" cy="600164"/>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Standard </a:t>
            </a:r>
          </a:p>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téléphonique </a:t>
            </a:r>
          </a:p>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et redirection</a:t>
            </a:r>
          </a:p>
        </p:txBody>
      </p:sp>
      <p:sp>
        <p:nvSpPr>
          <p:cNvPr id="44" name="ZoneTexte 43">
            <a:extLst>
              <a:ext uri="{FF2B5EF4-FFF2-40B4-BE49-F238E27FC236}">
                <a16:creationId xmlns:a16="http://schemas.microsoft.com/office/drawing/2014/main" id="{0FCE8FED-D11B-74B5-2977-7F0FCA69663F}"/>
              </a:ext>
            </a:extLst>
          </p:cNvPr>
          <p:cNvSpPr txBox="1"/>
          <p:nvPr/>
        </p:nvSpPr>
        <p:spPr>
          <a:xfrm>
            <a:off x="3267691" y="6581503"/>
            <a:ext cx="1239866" cy="43088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lang="fr-FR" altLang="fr-FR" sz="1100" dirty="0">
                <a:latin typeface="Arial Nova" panose="020B0504020202020204" pitchFamily="34" charset="0"/>
              </a:rPr>
              <a:t>Visio &amp; Audio conférence</a:t>
            </a:r>
            <a:endParaRPr kumimoji="0" lang="fr-FR" altLang="fr-FR" sz="1100" b="0" i="0" u="none" strike="noStrike" cap="none" normalizeH="0" baseline="0" dirty="0">
              <a:ln>
                <a:noFill/>
              </a:ln>
              <a:solidFill>
                <a:schemeClr val="tx1"/>
              </a:solidFill>
              <a:effectLst/>
              <a:latin typeface="Arial Nova" panose="020B0504020202020204" pitchFamily="34" charset="0"/>
            </a:endParaRPr>
          </a:p>
        </p:txBody>
      </p:sp>
      <p:pic>
        <p:nvPicPr>
          <p:cNvPr id="2" name="Image 1">
            <a:extLst>
              <a:ext uri="{FF2B5EF4-FFF2-40B4-BE49-F238E27FC236}">
                <a16:creationId xmlns:a16="http://schemas.microsoft.com/office/drawing/2014/main" id="{F3C144F6-5F84-6236-BB25-989462F06EE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pic>
        <p:nvPicPr>
          <p:cNvPr id="14" name="Graphique 13">
            <a:extLst>
              <a:ext uri="{FF2B5EF4-FFF2-40B4-BE49-F238E27FC236}">
                <a16:creationId xmlns:a16="http://schemas.microsoft.com/office/drawing/2014/main" id="{B6D6F5BC-6C8C-F233-7264-095027E56A9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26187" y="4659231"/>
            <a:ext cx="478932" cy="391728"/>
          </a:xfrm>
          <a:prstGeom prst="rect">
            <a:avLst/>
          </a:prstGeom>
        </p:spPr>
      </p:pic>
      <p:pic>
        <p:nvPicPr>
          <p:cNvPr id="20" name="Graphique 19">
            <a:extLst>
              <a:ext uri="{FF2B5EF4-FFF2-40B4-BE49-F238E27FC236}">
                <a16:creationId xmlns:a16="http://schemas.microsoft.com/office/drawing/2014/main" id="{3898342C-BF83-0951-7006-64C3DE79C3C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69848" y="5986698"/>
            <a:ext cx="648909" cy="461272"/>
          </a:xfrm>
          <a:prstGeom prst="rect">
            <a:avLst/>
          </a:prstGeom>
        </p:spPr>
      </p:pic>
      <p:pic>
        <p:nvPicPr>
          <p:cNvPr id="22" name="Graphique 21">
            <a:extLst>
              <a:ext uri="{FF2B5EF4-FFF2-40B4-BE49-F238E27FC236}">
                <a16:creationId xmlns:a16="http://schemas.microsoft.com/office/drawing/2014/main" id="{BEFFBC4A-B748-AA31-53B0-762E12ED380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385303" y="5986698"/>
            <a:ext cx="567414" cy="466367"/>
          </a:xfrm>
          <a:prstGeom prst="rect">
            <a:avLst/>
          </a:prstGeom>
        </p:spPr>
      </p:pic>
      <p:pic>
        <p:nvPicPr>
          <p:cNvPr id="26" name="Graphique 25">
            <a:extLst>
              <a:ext uri="{FF2B5EF4-FFF2-40B4-BE49-F238E27FC236}">
                <a16:creationId xmlns:a16="http://schemas.microsoft.com/office/drawing/2014/main" id="{EBA7FDE4-B1A7-E342-71E3-C0C4DA6D1A2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58473" y="4622020"/>
            <a:ext cx="478932" cy="489575"/>
          </a:xfrm>
          <a:prstGeom prst="rect">
            <a:avLst/>
          </a:prstGeom>
        </p:spPr>
      </p:pic>
      <p:pic>
        <p:nvPicPr>
          <p:cNvPr id="30" name="Graphique 29">
            <a:extLst>
              <a:ext uri="{FF2B5EF4-FFF2-40B4-BE49-F238E27FC236}">
                <a16:creationId xmlns:a16="http://schemas.microsoft.com/office/drawing/2014/main" id="{80D484E1-487A-5FC6-1D17-E5431A863DF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609936" y="4610307"/>
            <a:ext cx="504639" cy="489575"/>
          </a:xfrm>
          <a:prstGeom prst="rect">
            <a:avLst/>
          </a:prstGeom>
        </p:spPr>
      </p:pic>
      <p:pic>
        <p:nvPicPr>
          <p:cNvPr id="32" name="Graphique 31">
            <a:extLst>
              <a:ext uri="{FF2B5EF4-FFF2-40B4-BE49-F238E27FC236}">
                <a16:creationId xmlns:a16="http://schemas.microsoft.com/office/drawing/2014/main" id="{AC788C2D-01B7-6AA9-CCA4-E1FCA1F57E6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537800" y="5891055"/>
            <a:ext cx="648909" cy="610738"/>
          </a:xfrm>
          <a:prstGeom prst="rect">
            <a:avLst/>
          </a:prstGeom>
        </p:spPr>
      </p:pic>
      <p:sp>
        <p:nvSpPr>
          <p:cNvPr id="33" name="Rectangle 32">
            <a:extLst>
              <a:ext uri="{FF2B5EF4-FFF2-40B4-BE49-F238E27FC236}">
                <a16:creationId xmlns:a16="http://schemas.microsoft.com/office/drawing/2014/main" id="{7836527A-7A15-19C8-8FDF-9C326CBDA478}"/>
              </a:ext>
            </a:extLst>
          </p:cNvPr>
          <p:cNvSpPr/>
          <p:nvPr/>
        </p:nvSpPr>
        <p:spPr>
          <a:xfrm>
            <a:off x="582522" y="1227276"/>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5" name="Rectangle 34">
            <a:extLst>
              <a:ext uri="{FF2B5EF4-FFF2-40B4-BE49-F238E27FC236}">
                <a16:creationId xmlns:a16="http://schemas.microsoft.com/office/drawing/2014/main" id="{FC262827-01EA-28C7-A4C0-808FBB006339}"/>
              </a:ext>
            </a:extLst>
          </p:cNvPr>
          <p:cNvSpPr/>
          <p:nvPr/>
        </p:nvSpPr>
        <p:spPr>
          <a:xfrm>
            <a:off x="533700" y="4169189"/>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Tree>
    <p:extLst>
      <p:ext uri="{BB962C8B-B14F-4D97-AF65-F5344CB8AC3E}">
        <p14:creationId xmlns:p14="http://schemas.microsoft.com/office/powerpoint/2010/main" val="3235203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au 7">
            <a:extLst>
              <a:ext uri="{FF2B5EF4-FFF2-40B4-BE49-F238E27FC236}">
                <a16:creationId xmlns:a16="http://schemas.microsoft.com/office/drawing/2014/main" id="{9AF177D2-C4AA-E1F5-6FB9-EA231809E8D3}"/>
              </a:ext>
            </a:extLst>
          </p:cNvPr>
          <p:cNvGraphicFramePr>
            <a:graphicFrameLocks noGrp="1"/>
          </p:cNvGraphicFramePr>
          <p:nvPr>
            <p:extLst>
              <p:ext uri="{D42A27DB-BD31-4B8C-83A1-F6EECF244321}">
                <p14:modId xmlns:p14="http://schemas.microsoft.com/office/powerpoint/2010/main" val="387701834"/>
              </p:ext>
            </p:extLst>
          </p:nvPr>
        </p:nvGraphicFramePr>
        <p:xfrm>
          <a:off x="594095" y="1595061"/>
          <a:ext cx="9551948" cy="3122220"/>
        </p:xfrm>
        <a:graphic>
          <a:graphicData uri="http://schemas.openxmlformats.org/drawingml/2006/table">
            <a:tbl>
              <a:tblPr firstRow="1" bandRow="1">
                <a:effectLst/>
                <a:tableStyleId>{F5AB1C69-6EDB-4FF4-983F-18BD219EF322}</a:tableStyleId>
              </a:tblPr>
              <a:tblGrid>
                <a:gridCol w="1419590">
                  <a:extLst>
                    <a:ext uri="{9D8B030D-6E8A-4147-A177-3AD203B41FA5}">
                      <a16:colId xmlns:a16="http://schemas.microsoft.com/office/drawing/2014/main" val="3615684430"/>
                    </a:ext>
                  </a:extLst>
                </a:gridCol>
                <a:gridCol w="1109609">
                  <a:extLst>
                    <a:ext uri="{9D8B030D-6E8A-4147-A177-3AD203B41FA5}">
                      <a16:colId xmlns:a16="http://schemas.microsoft.com/office/drawing/2014/main" val="1240341726"/>
                    </a:ext>
                  </a:extLst>
                </a:gridCol>
                <a:gridCol w="757535">
                  <a:extLst>
                    <a:ext uri="{9D8B030D-6E8A-4147-A177-3AD203B41FA5}">
                      <a16:colId xmlns:a16="http://schemas.microsoft.com/office/drawing/2014/main" val="3418675952"/>
                    </a:ext>
                  </a:extLst>
                </a:gridCol>
                <a:gridCol w="963100">
                  <a:extLst>
                    <a:ext uri="{9D8B030D-6E8A-4147-A177-3AD203B41FA5}">
                      <a16:colId xmlns:a16="http://schemas.microsoft.com/office/drawing/2014/main" val="3217757275"/>
                    </a:ext>
                  </a:extLst>
                </a:gridCol>
                <a:gridCol w="1097486">
                  <a:extLst>
                    <a:ext uri="{9D8B030D-6E8A-4147-A177-3AD203B41FA5}">
                      <a16:colId xmlns:a16="http://schemas.microsoft.com/office/drawing/2014/main" val="1507821284"/>
                    </a:ext>
                  </a:extLst>
                </a:gridCol>
                <a:gridCol w="1455850">
                  <a:extLst>
                    <a:ext uri="{9D8B030D-6E8A-4147-A177-3AD203B41FA5}">
                      <a16:colId xmlns:a16="http://schemas.microsoft.com/office/drawing/2014/main" val="1191447353"/>
                    </a:ext>
                  </a:extLst>
                </a:gridCol>
                <a:gridCol w="1478247">
                  <a:extLst>
                    <a:ext uri="{9D8B030D-6E8A-4147-A177-3AD203B41FA5}">
                      <a16:colId xmlns:a16="http://schemas.microsoft.com/office/drawing/2014/main" val="872859464"/>
                    </a:ext>
                  </a:extLst>
                </a:gridCol>
                <a:gridCol w="1270531">
                  <a:extLst>
                    <a:ext uri="{9D8B030D-6E8A-4147-A177-3AD203B41FA5}">
                      <a16:colId xmlns:a16="http://schemas.microsoft.com/office/drawing/2014/main" val="3064555056"/>
                    </a:ext>
                  </a:extLst>
                </a:gridCol>
              </a:tblGrid>
              <a:tr h="594360">
                <a:tc>
                  <a:txBody>
                    <a:bodyPr/>
                    <a:lstStyle/>
                    <a:p>
                      <a:pPr marL="0" algn="ctr" defTabSz="457200" rtl="0" eaLnBrk="1" latinLnBrk="0" hangingPunct="1"/>
                      <a:r>
                        <a:rPr lang="fr-FR" sz="1100"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Adresse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2F53A0"/>
                    </a:solidFill>
                  </a:tcPr>
                </a:tc>
                <a:tc>
                  <a:txBody>
                    <a:bodyPr/>
                    <a:lstStyle/>
                    <a:p>
                      <a:pPr marL="0" algn="ctr" defTabSz="457200" rtl="0" eaLnBrk="1" latinLnBrk="0" hangingPunct="1"/>
                      <a:r>
                        <a:rPr lang="fr-FR" sz="1100"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Type de téléphonie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2F53A0"/>
                    </a:solidFill>
                  </a:tcPr>
                </a:tc>
                <a:tc>
                  <a:txBody>
                    <a:bodyPr/>
                    <a:lstStyle/>
                    <a:p>
                      <a:pPr marL="0" algn="ctr" defTabSz="457200" rtl="0" eaLnBrk="1" latinLnBrk="0" hangingPunct="1"/>
                      <a:r>
                        <a:rPr lang="fr-FR" sz="1100" b="1" kern="1200" dirty="0" err="1">
                          <a:solidFill>
                            <a:schemeClr val="bg1"/>
                          </a:solidFill>
                          <a:latin typeface="Century Gothic" panose="020B0502020202020204" pitchFamily="34" charset="0"/>
                          <a:ea typeface="Lato Semibold" panose="020F0502020204030203" pitchFamily="34" charset="0"/>
                          <a:cs typeface="Arial" panose="020B0604020202020204" pitchFamily="34" charset="0"/>
                        </a:rPr>
                        <a:t>Nbe</a:t>
                      </a:r>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 de postes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2F53A0"/>
                    </a:solidFill>
                  </a:tcPr>
                </a:tc>
                <a:tc>
                  <a:txBody>
                    <a:bodyPr/>
                    <a:lstStyle/>
                    <a:p>
                      <a:pPr marL="0" algn="ctr" defTabSz="457200" rtl="0" eaLnBrk="1" latinLnBrk="0" hangingPunct="1"/>
                      <a:r>
                        <a:rPr lang="fr-FR" sz="1100" b="1" kern="1200" dirty="0" err="1">
                          <a:solidFill>
                            <a:schemeClr val="bg1"/>
                          </a:solidFill>
                          <a:latin typeface="Century Gothic" panose="020B0502020202020204" pitchFamily="34" charset="0"/>
                          <a:ea typeface="Lato Semibold" panose="020F0502020204030203" pitchFamily="34" charset="0"/>
                          <a:cs typeface="Arial" panose="020B0604020202020204" pitchFamily="34" charset="0"/>
                        </a:rPr>
                        <a:t>Nbe</a:t>
                      </a:r>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 de lignes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2F53A0"/>
                    </a:solidFill>
                  </a:tcPr>
                </a:tc>
                <a:tc>
                  <a:txBody>
                    <a:bodyPr/>
                    <a:lstStyle/>
                    <a:p>
                      <a:pPr marL="0" algn="ctr" defTabSz="457200" rtl="0" eaLnBrk="1" latinLnBrk="0" hangingPunct="1"/>
                      <a:r>
                        <a:rPr lang="fr-FR" sz="1100" b="1" kern="1200" dirty="0" err="1">
                          <a:solidFill>
                            <a:schemeClr val="bg1"/>
                          </a:solidFill>
                          <a:latin typeface="Century Gothic" panose="020B0502020202020204" pitchFamily="34" charset="0"/>
                          <a:ea typeface="Lato Semibold" panose="020F0502020204030203" pitchFamily="34" charset="0"/>
                          <a:cs typeface="Arial" panose="020B0604020202020204" pitchFamily="34" charset="0"/>
                        </a:rPr>
                        <a:t>Nbe</a:t>
                      </a:r>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 d’appels simultanés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2F53A0"/>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Niveau de satisfaction</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2F53A0"/>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Date d’engagement</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2F53A0"/>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Coût mensuel</a:t>
                      </a:r>
                    </a:p>
                  </a:txBody>
                  <a:tcPr anchor="ctr">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2F53A0"/>
                    </a:solidFill>
                  </a:tcPr>
                </a:tc>
                <a:extLst>
                  <a:ext uri="{0D108BD9-81ED-4DB2-BD59-A6C34878D82A}">
                    <a16:rowId xmlns:a16="http://schemas.microsoft.com/office/drawing/2014/main" val="3792040576"/>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0669157"/>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01410505"/>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486584"/>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07455821"/>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3903978"/>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6891561"/>
                  </a:ext>
                </a:extLst>
              </a:tr>
            </a:tbl>
          </a:graphicData>
        </a:graphic>
      </p:graphicFrame>
      <p:sp>
        <p:nvSpPr>
          <p:cNvPr id="3" name="Rectangle 2">
            <a:extLst>
              <a:ext uri="{FF2B5EF4-FFF2-40B4-BE49-F238E27FC236}">
                <a16:creationId xmlns:a16="http://schemas.microsoft.com/office/drawing/2014/main" id="{4837856B-54BF-0410-324B-EC1C78A89C5E}"/>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5" name="Titre 1">
            <a:extLst>
              <a:ext uri="{FF2B5EF4-FFF2-40B4-BE49-F238E27FC236}">
                <a16:creationId xmlns:a16="http://schemas.microsoft.com/office/drawing/2014/main" id="{57C19675-9670-1C67-E200-D5648CE17CD2}"/>
              </a:ext>
            </a:extLst>
          </p:cNvPr>
          <p:cNvSpPr txBox="1">
            <a:spLocks/>
          </p:cNvSpPr>
          <p:nvPr/>
        </p:nvSpPr>
        <p:spPr>
          <a:xfrm>
            <a:off x="1320435" y="310646"/>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TÉLÉPHONIE FIXE</a:t>
            </a:r>
          </a:p>
        </p:txBody>
      </p:sp>
      <p:pic>
        <p:nvPicPr>
          <p:cNvPr id="22" name="Image 21" descr="Une image contenant orange, Graphique, symbole, conception&#10;&#10;Description générée automatiquement">
            <a:extLst>
              <a:ext uri="{FF2B5EF4-FFF2-40B4-BE49-F238E27FC236}">
                <a16:creationId xmlns:a16="http://schemas.microsoft.com/office/drawing/2014/main" id="{A8F6571C-DD98-5E68-262C-E72D4FCDEE0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40031" y="220722"/>
            <a:ext cx="720000" cy="720000"/>
          </a:xfrm>
          <a:prstGeom prst="rect">
            <a:avLst/>
          </a:prstGeom>
        </p:spPr>
      </p:pic>
      <p:pic>
        <p:nvPicPr>
          <p:cNvPr id="4" name="Image 3">
            <a:extLst>
              <a:ext uri="{FF2B5EF4-FFF2-40B4-BE49-F238E27FC236}">
                <a16:creationId xmlns:a16="http://schemas.microsoft.com/office/drawing/2014/main" id="{368F7125-E9E6-1A0B-6FBA-4943B51C888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Tree>
    <p:extLst>
      <p:ext uri="{BB962C8B-B14F-4D97-AF65-F5344CB8AC3E}">
        <p14:creationId xmlns:p14="http://schemas.microsoft.com/office/powerpoint/2010/main" val="746113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A3D03-324A-EB69-516C-F27EC1D338D0}"/>
            </a:ext>
          </a:extLst>
        </p:cNvPr>
        <p:cNvGrpSpPr/>
        <p:nvPr/>
      </p:nvGrpSpPr>
      <p:grpSpPr>
        <a:xfrm>
          <a:off x="0" y="0"/>
          <a:ext cx="0" cy="0"/>
          <a:chOff x="0" y="0"/>
          <a:chExt cx="0" cy="0"/>
        </a:xfrm>
      </p:grpSpPr>
      <p:sp>
        <p:nvSpPr>
          <p:cNvPr id="66" name="Rectangle 65">
            <a:extLst>
              <a:ext uri="{FF2B5EF4-FFF2-40B4-BE49-F238E27FC236}">
                <a16:creationId xmlns:a16="http://schemas.microsoft.com/office/drawing/2014/main" id="{9726D0B2-84C0-3383-4B96-2D4563017F88}"/>
              </a:ext>
            </a:extLst>
          </p:cNvPr>
          <p:cNvSpPr/>
          <p:nvPr/>
        </p:nvSpPr>
        <p:spPr>
          <a:xfrm>
            <a:off x="796049" y="4395138"/>
            <a:ext cx="4776797" cy="2853891"/>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67" name="ZoneTexte 66">
            <a:extLst>
              <a:ext uri="{FF2B5EF4-FFF2-40B4-BE49-F238E27FC236}">
                <a16:creationId xmlns:a16="http://schemas.microsoft.com/office/drawing/2014/main" id="{F6AE4C0C-C9B6-15ED-9456-070269C0A7E3}"/>
              </a:ext>
            </a:extLst>
          </p:cNvPr>
          <p:cNvSpPr txBox="1"/>
          <p:nvPr/>
        </p:nvSpPr>
        <p:spPr>
          <a:xfrm>
            <a:off x="825052" y="4259082"/>
            <a:ext cx="2548646" cy="338554"/>
          </a:xfrm>
          <a:prstGeom prst="rect">
            <a:avLst/>
          </a:prstGeom>
          <a:noFill/>
        </p:spPr>
        <p:txBody>
          <a:bodyPr wrap="none" rtlCol="0">
            <a:spAutoFit/>
          </a:bodyPr>
          <a:lstStyle/>
          <a:p>
            <a:r>
              <a:rPr lang="fr-FR" sz="1600" b="1" dirty="0">
                <a:latin typeface="Arial Nova" panose="020B0504020202020204" pitchFamily="34" charset="0"/>
              </a:rPr>
              <a:t>VOS TYPES DE FORFAIT</a:t>
            </a:r>
          </a:p>
        </p:txBody>
      </p:sp>
      <p:sp>
        <p:nvSpPr>
          <p:cNvPr id="57" name="Rectangle 56">
            <a:extLst>
              <a:ext uri="{FF2B5EF4-FFF2-40B4-BE49-F238E27FC236}">
                <a16:creationId xmlns:a16="http://schemas.microsoft.com/office/drawing/2014/main" id="{3B7E01D3-FD7C-CF3C-DFC3-89A351F806E3}"/>
              </a:ext>
            </a:extLst>
          </p:cNvPr>
          <p:cNvSpPr/>
          <p:nvPr/>
        </p:nvSpPr>
        <p:spPr>
          <a:xfrm>
            <a:off x="729959" y="1481839"/>
            <a:ext cx="4776797" cy="2550699"/>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4" name="Titre 1">
            <a:extLst>
              <a:ext uri="{FF2B5EF4-FFF2-40B4-BE49-F238E27FC236}">
                <a16:creationId xmlns:a16="http://schemas.microsoft.com/office/drawing/2014/main" id="{1B5434B3-6522-61D5-797D-70F31ACB297F}"/>
              </a:ext>
            </a:extLst>
          </p:cNvPr>
          <p:cNvSpPr txBox="1">
            <a:spLocks/>
          </p:cNvSpPr>
          <p:nvPr/>
        </p:nvSpPr>
        <p:spPr>
          <a:xfrm>
            <a:off x="1320435" y="310646"/>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TÉLÉPHONIE MOBILE</a:t>
            </a:r>
          </a:p>
        </p:txBody>
      </p:sp>
      <p:sp>
        <p:nvSpPr>
          <p:cNvPr id="34" name="ZoneTexte 33">
            <a:extLst>
              <a:ext uri="{FF2B5EF4-FFF2-40B4-BE49-F238E27FC236}">
                <a16:creationId xmlns:a16="http://schemas.microsoft.com/office/drawing/2014/main" id="{33EF6521-34C7-0A27-0EC9-E6441E0A8A17}"/>
              </a:ext>
            </a:extLst>
          </p:cNvPr>
          <p:cNvSpPr txBox="1"/>
          <p:nvPr/>
        </p:nvSpPr>
        <p:spPr>
          <a:xfrm>
            <a:off x="3678421" y="4267637"/>
            <a:ext cx="184731" cy="408253"/>
          </a:xfrm>
          <a:prstGeom prst="rect">
            <a:avLst/>
          </a:prstGeom>
          <a:noFill/>
        </p:spPr>
        <p:txBody>
          <a:bodyPr wrap="none" rtlCol="0">
            <a:spAutoFit/>
          </a:bodyPr>
          <a:lstStyle/>
          <a:p>
            <a:endParaRPr lang="fr-FR" dirty="0">
              <a:latin typeface="Arial Nova" panose="020B0504020202020204" pitchFamily="34" charset="0"/>
            </a:endParaRPr>
          </a:p>
        </p:txBody>
      </p:sp>
      <p:sp>
        <p:nvSpPr>
          <p:cNvPr id="39" name="ZoneTexte 38">
            <a:extLst>
              <a:ext uri="{FF2B5EF4-FFF2-40B4-BE49-F238E27FC236}">
                <a16:creationId xmlns:a16="http://schemas.microsoft.com/office/drawing/2014/main" id="{BA9BE1F1-A0B3-4DBF-1349-D7F6B54BC229}"/>
              </a:ext>
            </a:extLst>
          </p:cNvPr>
          <p:cNvSpPr txBox="1"/>
          <p:nvPr/>
        </p:nvSpPr>
        <p:spPr>
          <a:xfrm>
            <a:off x="1326024" y="2446239"/>
            <a:ext cx="1141659" cy="461665"/>
          </a:xfrm>
          <a:prstGeom prst="rect">
            <a:avLst/>
          </a:prstGeom>
          <a:noFill/>
        </p:spPr>
        <p:txBody>
          <a:bodyPr wrap="none" rtlCol="0">
            <a:spAutoFit/>
          </a:bodyPr>
          <a:lstStyle/>
          <a:p>
            <a:pPr algn="ctr"/>
            <a:r>
              <a:rPr lang="fr-FR" sz="1200" dirty="0">
                <a:latin typeface="Arial Nova" panose="020B0504020202020204" pitchFamily="34" charset="0"/>
              </a:rPr>
              <a:t>Nb lignes</a:t>
            </a:r>
          </a:p>
          <a:p>
            <a:pPr algn="ctr"/>
            <a:r>
              <a:rPr lang="fr-FR" sz="1200" dirty="0">
                <a:latin typeface="Arial Nova" panose="020B0504020202020204" pitchFamily="34" charset="0"/>
              </a:rPr>
              <a:t>téléphoniques</a:t>
            </a:r>
          </a:p>
        </p:txBody>
      </p:sp>
      <p:sp>
        <p:nvSpPr>
          <p:cNvPr id="42" name="ZoneTexte 41">
            <a:extLst>
              <a:ext uri="{FF2B5EF4-FFF2-40B4-BE49-F238E27FC236}">
                <a16:creationId xmlns:a16="http://schemas.microsoft.com/office/drawing/2014/main" id="{85C0B7CC-C794-A271-D7C3-23874383D3ED}"/>
              </a:ext>
            </a:extLst>
          </p:cNvPr>
          <p:cNvSpPr txBox="1"/>
          <p:nvPr/>
        </p:nvSpPr>
        <p:spPr>
          <a:xfrm>
            <a:off x="2633775" y="2446579"/>
            <a:ext cx="934872" cy="646331"/>
          </a:xfrm>
          <a:prstGeom prst="rect">
            <a:avLst/>
          </a:prstGeom>
          <a:noFill/>
        </p:spPr>
        <p:txBody>
          <a:bodyPr wrap="none" rtlCol="0">
            <a:spAutoFit/>
          </a:bodyPr>
          <a:lstStyle/>
          <a:p>
            <a:pPr algn="ctr"/>
            <a:r>
              <a:rPr lang="fr-FR" sz="1200" dirty="0">
                <a:latin typeface="Arial Nova" panose="020B0504020202020204" pitchFamily="34" charset="0"/>
              </a:rPr>
              <a:t>Nb </a:t>
            </a:r>
          </a:p>
          <a:p>
            <a:pPr algn="ctr"/>
            <a:r>
              <a:rPr lang="fr-FR" sz="1200" dirty="0">
                <a:latin typeface="Arial Nova" panose="020B0504020202020204" pitchFamily="34" charset="0"/>
              </a:rPr>
              <a:t>téléphones</a:t>
            </a:r>
          </a:p>
          <a:p>
            <a:pPr algn="ctr"/>
            <a:endParaRPr lang="fr-FR" sz="1200" dirty="0">
              <a:latin typeface="Arial Nova" panose="020B0504020202020204" pitchFamily="34" charset="0"/>
            </a:endParaRPr>
          </a:p>
        </p:txBody>
      </p:sp>
      <p:sp>
        <p:nvSpPr>
          <p:cNvPr id="43" name="Rectangle 42">
            <a:extLst>
              <a:ext uri="{FF2B5EF4-FFF2-40B4-BE49-F238E27FC236}">
                <a16:creationId xmlns:a16="http://schemas.microsoft.com/office/drawing/2014/main" id="{609BE3DF-BD38-6176-FCEF-E5ECF8F08709}"/>
              </a:ext>
            </a:extLst>
          </p:cNvPr>
          <p:cNvSpPr/>
          <p:nvPr/>
        </p:nvSpPr>
        <p:spPr>
          <a:xfrm>
            <a:off x="2741206" y="2927230"/>
            <a:ext cx="720000" cy="720000"/>
          </a:xfrm>
          <a:prstGeom prst="rect">
            <a:avLst/>
          </a:prstGeom>
          <a:solidFill>
            <a:srgbClr val="F29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5" name="Rectangle 4">
            <a:extLst>
              <a:ext uri="{FF2B5EF4-FFF2-40B4-BE49-F238E27FC236}">
                <a16:creationId xmlns:a16="http://schemas.microsoft.com/office/drawing/2014/main" id="{D2318DD6-6887-5C51-CCED-A6E6E178C9B5}"/>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58" name="ZoneTexte 57">
            <a:extLst>
              <a:ext uri="{FF2B5EF4-FFF2-40B4-BE49-F238E27FC236}">
                <a16:creationId xmlns:a16="http://schemas.microsoft.com/office/drawing/2014/main" id="{0504EC06-7582-E74E-EC66-EEF9E5BCFFA7}"/>
              </a:ext>
            </a:extLst>
          </p:cNvPr>
          <p:cNvSpPr txBox="1"/>
          <p:nvPr/>
        </p:nvSpPr>
        <p:spPr>
          <a:xfrm>
            <a:off x="789738" y="1307519"/>
            <a:ext cx="3082190" cy="338554"/>
          </a:xfrm>
          <a:prstGeom prst="rect">
            <a:avLst/>
          </a:prstGeom>
          <a:noFill/>
        </p:spPr>
        <p:txBody>
          <a:bodyPr wrap="none" rtlCol="0">
            <a:spAutoFit/>
          </a:bodyPr>
          <a:lstStyle/>
          <a:p>
            <a:r>
              <a:rPr lang="fr-FR" sz="1600" b="1" dirty="0">
                <a:latin typeface="Arial Nova" panose="020B0504020202020204" pitchFamily="34" charset="0"/>
              </a:rPr>
              <a:t>VOTRE ÉQUIPEMENT ACTUEL</a:t>
            </a:r>
          </a:p>
        </p:txBody>
      </p:sp>
      <p:sp>
        <p:nvSpPr>
          <p:cNvPr id="61" name="Rectangle 60">
            <a:extLst>
              <a:ext uri="{FF2B5EF4-FFF2-40B4-BE49-F238E27FC236}">
                <a16:creationId xmlns:a16="http://schemas.microsoft.com/office/drawing/2014/main" id="{D1FB7DC9-0189-97C8-D1BB-A5B5F707896A}"/>
              </a:ext>
            </a:extLst>
          </p:cNvPr>
          <p:cNvSpPr/>
          <p:nvPr/>
        </p:nvSpPr>
        <p:spPr>
          <a:xfrm>
            <a:off x="1515289" y="2927230"/>
            <a:ext cx="720000" cy="720000"/>
          </a:xfrm>
          <a:prstGeom prst="rect">
            <a:avLst/>
          </a:prstGeom>
          <a:solidFill>
            <a:srgbClr val="F29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62" name="ZoneTexte 61">
            <a:extLst>
              <a:ext uri="{FF2B5EF4-FFF2-40B4-BE49-F238E27FC236}">
                <a16:creationId xmlns:a16="http://schemas.microsoft.com/office/drawing/2014/main" id="{A5D5CA26-5BC5-E3A9-6C66-68419E2EB0D3}"/>
              </a:ext>
            </a:extLst>
          </p:cNvPr>
          <p:cNvSpPr txBox="1"/>
          <p:nvPr/>
        </p:nvSpPr>
        <p:spPr>
          <a:xfrm>
            <a:off x="882917" y="1802157"/>
            <a:ext cx="961866" cy="276999"/>
          </a:xfrm>
          <a:prstGeom prst="rect">
            <a:avLst/>
          </a:prstGeom>
          <a:noFill/>
        </p:spPr>
        <p:txBody>
          <a:bodyPr wrap="none" rtlCol="0">
            <a:spAutoFit/>
          </a:bodyPr>
          <a:lstStyle/>
          <a:p>
            <a:r>
              <a:rPr lang="fr-FR" sz="1200" dirty="0">
                <a:latin typeface="Arial Nova" panose="020B0504020202020204" pitchFamily="34" charset="0"/>
              </a:rPr>
              <a:t>Opérateur :</a:t>
            </a:r>
          </a:p>
        </p:txBody>
      </p:sp>
      <p:sp>
        <p:nvSpPr>
          <p:cNvPr id="64" name="ZoneTexte 63">
            <a:extLst>
              <a:ext uri="{FF2B5EF4-FFF2-40B4-BE49-F238E27FC236}">
                <a16:creationId xmlns:a16="http://schemas.microsoft.com/office/drawing/2014/main" id="{78158C70-C460-0F0B-C031-9E36D9B13B75}"/>
              </a:ext>
            </a:extLst>
          </p:cNvPr>
          <p:cNvSpPr txBox="1"/>
          <p:nvPr/>
        </p:nvSpPr>
        <p:spPr>
          <a:xfrm>
            <a:off x="3892405" y="2435934"/>
            <a:ext cx="968984" cy="461665"/>
          </a:xfrm>
          <a:prstGeom prst="rect">
            <a:avLst/>
          </a:prstGeom>
          <a:noFill/>
        </p:spPr>
        <p:txBody>
          <a:bodyPr wrap="none" rtlCol="0">
            <a:spAutoFit/>
          </a:bodyPr>
          <a:lstStyle/>
          <a:p>
            <a:pPr algn="ctr"/>
            <a:r>
              <a:rPr lang="fr-FR" sz="1200" dirty="0">
                <a:latin typeface="Arial Nova" panose="020B0504020202020204" pitchFamily="34" charset="0"/>
              </a:rPr>
              <a:t>Indice </a:t>
            </a:r>
          </a:p>
          <a:p>
            <a:pPr algn="ctr"/>
            <a:r>
              <a:rPr lang="fr-FR" sz="1200" dirty="0">
                <a:latin typeface="Arial Nova" panose="020B0504020202020204" pitchFamily="34" charset="0"/>
              </a:rPr>
              <a:t>Satisfaction</a:t>
            </a:r>
          </a:p>
        </p:txBody>
      </p:sp>
      <p:sp>
        <p:nvSpPr>
          <p:cNvPr id="65" name="Rectangle 64">
            <a:extLst>
              <a:ext uri="{FF2B5EF4-FFF2-40B4-BE49-F238E27FC236}">
                <a16:creationId xmlns:a16="http://schemas.microsoft.com/office/drawing/2014/main" id="{37A2A18D-2A69-D096-DA08-F08790027625}"/>
              </a:ext>
            </a:extLst>
          </p:cNvPr>
          <p:cNvSpPr/>
          <p:nvPr/>
        </p:nvSpPr>
        <p:spPr>
          <a:xfrm>
            <a:off x="4016891" y="2916585"/>
            <a:ext cx="720000" cy="720000"/>
          </a:xfrm>
          <a:prstGeom prst="rect">
            <a:avLst/>
          </a:prstGeom>
          <a:solidFill>
            <a:srgbClr val="F29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68" name="Rectangle 67">
            <a:extLst>
              <a:ext uri="{FF2B5EF4-FFF2-40B4-BE49-F238E27FC236}">
                <a16:creationId xmlns:a16="http://schemas.microsoft.com/office/drawing/2014/main" id="{A17B1CE4-909D-BA6C-C531-C12BD8474650}"/>
              </a:ext>
            </a:extLst>
          </p:cNvPr>
          <p:cNvSpPr/>
          <p:nvPr/>
        </p:nvSpPr>
        <p:spPr>
          <a:xfrm>
            <a:off x="6330613" y="852394"/>
            <a:ext cx="2033017" cy="152400"/>
          </a:xfrm>
          <a:prstGeom prst="rect">
            <a:avLst/>
          </a:prstGeom>
          <a:solidFill>
            <a:srgbClr val="F29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7" name="ZoneTexte 36">
            <a:extLst>
              <a:ext uri="{FF2B5EF4-FFF2-40B4-BE49-F238E27FC236}">
                <a16:creationId xmlns:a16="http://schemas.microsoft.com/office/drawing/2014/main" id="{0940858D-43AE-7D2C-9B2A-DF415BE14420}"/>
              </a:ext>
            </a:extLst>
          </p:cNvPr>
          <p:cNvSpPr txBox="1"/>
          <p:nvPr/>
        </p:nvSpPr>
        <p:spPr>
          <a:xfrm>
            <a:off x="6327375" y="626229"/>
            <a:ext cx="2268582"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Limites actuelles</a:t>
            </a:r>
          </a:p>
        </p:txBody>
      </p:sp>
      <p:sp>
        <p:nvSpPr>
          <p:cNvPr id="72" name="Rectangle 71">
            <a:extLst>
              <a:ext uri="{FF2B5EF4-FFF2-40B4-BE49-F238E27FC236}">
                <a16:creationId xmlns:a16="http://schemas.microsoft.com/office/drawing/2014/main" id="{D9F7A28D-C7CF-4E38-DB4E-A3D4999963FE}"/>
              </a:ext>
            </a:extLst>
          </p:cNvPr>
          <p:cNvSpPr/>
          <p:nvPr/>
        </p:nvSpPr>
        <p:spPr>
          <a:xfrm>
            <a:off x="6327375" y="2796438"/>
            <a:ext cx="2033017" cy="152400"/>
          </a:xfrm>
          <a:prstGeom prst="rect">
            <a:avLst/>
          </a:prstGeom>
          <a:solidFill>
            <a:srgbClr val="F29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0" name="ZoneTexte 69">
            <a:extLst>
              <a:ext uri="{FF2B5EF4-FFF2-40B4-BE49-F238E27FC236}">
                <a16:creationId xmlns:a16="http://schemas.microsoft.com/office/drawing/2014/main" id="{35CE104D-F511-2FA2-1702-24539A00AFD3}"/>
              </a:ext>
            </a:extLst>
          </p:cNvPr>
          <p:cNvSpPr txBox="1"/>
          <p:nvPr/>
        </p:nvSpPr>
        <p:spPr>
          <a:xfrm>
            <a:off x="6327375" y="2570273"/>
            <a:ext cx="2813853"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Évolutions attendues</a:t>
            </a:r>
          </a:p>
        </p:txBody>
      </p:sp>
      <p:sp>
        <p:nvSpPr>
          <p:cNvPr id="73" name="Rectangle 72">
            <a:extLst>
              <a:ext uri="{FF2B5EF4-FFF2-40B4-BE49-F238E27FC236}">
                <a16:creationId xmlns:a16="http://schemas.microsoft.com/office/drawing/2014/main" id="{F98F1690-25B7-C5E7-57B7-1B6B299629DB}"/>
              </a:ext>
            </a:extLst>
          </p:cNvPr>
          <p:cNvSpPr/>
          <p:nvPr/>
        </p:nvSpPr>
        <p:spPr>
          <a:xfrm>
            <a:off x="6327375" y="4854481"/>
            <a:ext cx="2033017" cy="152400"/>
          </a:xfrm>
          <a:prstGeom prst="rect">
            <a:avLst/>
          </a:prstGeom>
          <a:solidFill>
            <a:srgbClr val="F29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4" name="ZoneTexte 73">
            <a:extLst>
              <a:ext uri="{FF2B5EF4-FFF2-40B4-BE49-F238E27FC236}">
                <a16:creationId xmlns:a16="http://schemas.microsoft.com/office/drawing/2014/main" id="{A6404A23-CAD4-9004-23E7-F1E72F8CD738}"/>
              </a:ext>
            </a:extLst>
          </p:cNvPr>
          <p:cNvSpPr txBox="1"/>
          <p:nvPr/>
        </p:nvSpPr>
        <p:spPr>
          <a:xfrm>
            <a:off x="6327375" y="4628316"/>
            <a:ext cx="3197171" cy="378565"/>
          </a:xfrm>
          <a:prstGeom prst="rect">
            <a:avLst/>
          </a:prstGeom>
          <a:noFill/>
        </p:spPr>
        <p:txBody>
          <a:bodyPr wrap="square" rtlCol="0">
            <a:spAutoFit/>
          </a:bodyPr>
          <a:lstStyle/>
          <a:p>
            <a:pPr marL="0" marR="0" lvl="0" indent="0" algn="l" defTabSz="521437" rtl="0" eaLnBrk="1" fontAlgn="auto" latinLnBrk="0" hangingPunct="1">
              <a:lnSpc>
                <a:spcPct val="107000"/>
              </a:lnSpc>
              <a:spcBef>
                <a:spcPts val="0"/>
              </a:spcBef>
              <a:spcAft>
                <a:spcPts val="800"/>
              </a:spcAft>
              <a:buClrTx/>
              <a:buSzTx/>
              <a:buFontTx/>
              <a:buNone/>
              <a:tabLst/>
              <a:defRPr/>
            </a:pPr>
            <a:r>
              <a:rPr kumimoji="0" lang="fr-FR" sz="1800" b="1" i="0" u="none" strike="noStrike" kern="100" cap="none" spc="0" normalizeH="0" baseline="0" noProof="0" dirty="0">
                <a:ln>
                  <a:noFill/>
                </a:ln>
                <a:solidFill>
                  <a:prstClr val="black"/>
                </a:solidFill>
                <a:effectLst/>
                <a:uLnTx/>
                <a:uFillTx/>
                <a:latin typeface="Arial Nova" panose="020B0504020202020204" pitchFamily="34" charset="0"/>
                <a:ea typeface="Aptos" panose="020B0004020202020204" pitchFamily="34" charset="0"/>
                <a:cs typeface="Times New Roman" panose="02020603050405020304" pitchFamily="18" charset="0"/>
              </a:rPr>
              <a:t>Enjeux de sécurité/criticité</a:t>
            </a:r>
          </a:p>
        </p:txBody>
      </p:sp>
      <p:sp>
        <p:nvSpPr>
          <p:cNvPr id="75" name="Rectangle 1">
            <a:extLst>
              <a:ext uri="{FF2B5EF4-FFF2-40B4-BE49-F238E27FC236}">
                <a16:creationId xmlns:a16="http://schemas.microsoft.com/office/drawing/2014/main" id="{A2BE4A62-93CA-18DA-4F90-379A86EEB712}"/>
              </a:ext>
            </a:extLst>
          </p:cNvPr>
          <p:cNvSpPr>
            <a:spLocks noChangeArrowheads="1"/>
          </p:cNvSpPr>
          <p:nvPr/>
        </p:nvSpPr>
        <p:spPr bwMode="auto">
          <a:xfrm>
            <a:off x="6258853" y="1071213"/>
            <a:ext cx="282962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Manque de couverture réseau</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Débit 4G/5G insuffisant</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Mauvaise gestion des forfaits / surcoûts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Absence de solutions de sécurité MDM</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err="1">
                <a:ln>
                  <a:noFill/>
                </a:ln>
                <a:solidFill>
                  <a:schemeClr val="tx1"/>
                </a:solidFill>
                <a:effectLst/>
                <a:latin typeface="Arial Nova" panose="020B0504020202020204" pitchFamily="34" charset="0"/>
              </a:rPr>
              <a:t>Roaming</a:t>
            </a:r>
            <a:r>
              <a:rPr kumimoji="0" lang="fr-FR" altLang="fr-FR" sz="1100" b="0" i="0" u="none" strike="noStrike" cap="none" normalizeH="0" baseline="0" dirty="0">
                <a:ln>
                  <a:noFill/>
                </a:ln>
                <a:solidFill>
                  <a:schemeClr val="tx1"/>
                </a:solidFill>
                <a:effectLst/>
                <a:latin typeface="Arial Nova" panose="020B0504020202020204" pitchFamily="34" charset="0"/>
              </a:rPr>
              <a:t> trop coûteux</a:t>
            </a:r>
          </a:p>
        </p:txBody>
      </p:sp>
      <p:sp>
        <p:nvSpPr>
          <p:cNvPr id="76" name="Rectangle 1">
            <a:extLst>
              <a:ext uri="{FF2B5EF4-FFF2-40B4-BE49-F238E27FC236}">
                <a16:creationId xmlns:a16="http://schemas.microsoft.com/office/drawing/2014/main" id="{6546BFF0-9CA9-872D-0D09-CC4523C47992}"/>
              </a:ext>
            </a:extLst>
          </p:cNvPr>
          <p:cNvSpPr>
            <a:spLocks noChangeArrowheads="1"/>
          </p:cNvSpPr>
          <p:nvPr/>
        </p:nvSpPr>
        <p:spPr bwMode="auto">
          <a:xfrm>
            <a:off x="6276432" y="2964351"/>
            <a:ext cx="3887692" cy="127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Forfaits adaptés à l’usage pro (illimité, </a:t>
            </a:r>
            <a:r>
              <a:rPr kumimoji="0" lang="fr-FR" altLang="fr-FR" sz="1100" b="0" i="0" u="none" strike="noStrike" cap="none" normalizeH="0" baseline="0" dirty="0" err="1">
                <a:ln>
                  <a:noFill/>
                </a:ln>
                <a:solidFill>
                  <a:schemeClr val="tx1"/>
                </a:solidFill>
                <a:effectLst/>
                <a:latin typeface="Arial Nova" panose="020B0504020202020204" pitchFamily="34" charset="0"/>
              </a:rPr>
              <a:t>roaming</a:t>
            </a:r>
            <a:r>
              <a:rPr kumimoji="0" lang="fr-FR" altLang="fr-FR" sz="1100" b="0" i="0" u="none" strike="noStrike" cap="none" normalizeH="0" baseline="0" dirty="0">
                <a:ln>
                  <a:noFill/>
                </a:ln>
                <a:solidFill>
                  <a:schemeClr val="tx1"/>
                </a:solidFill>
                <a:effectLst/>
                <a:latin typeface="Arial Nova" panose="020B0504020202020204" pitchFamily="34" charset="0"/>
              </a:rPr>
              <a:t> inclus)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Mise en place d’une gestion MDM (Mobile </a:t>
            </a:r>
            <a:r>
              <a:rPr kumimoji="0" lang="fr-FR" altLang="fr-FR" sz="1100" b="0" i="0" u="none" strike="noStrike" cap="none" normalizeH="0" baseline="0" dirty="0" err="1">
                <a:ln>
                  <a:noFill/>
                </a:ln>
                <a:solidFill>
                  <a:schemeClr val="tx1"/>
                </a:solidFill>
                <a:effectLst/>
                <a:latin typeface="Arial Nova" panose="020B0504020202020204" pitchFamily="34" charset="0"/>
              </a:rPr>
              <a:t>Device</a:t>
            </a:r>
            <a:r>
              <a:rPr kumimoji="0" lang="fr-FR" altLang="fr-FR" sz="1100" b="0" i="0" u="none" strike="noStrike" cap="none" normalizeH="0" baseline="0" dirty="0">
                <a:ln>
                  <a:noFill/>
                </a:ln>
                <a:solidFill>
                  <a:schemeClr val="tx1"/>
                </a:solidFill>
                <a:effectLst/>
                <a:latin typeface="Arial Nova" panose="020B0504020202020204" pitchFamily="34" charset="0"/>
              </a:rPr>
              <a:t> Management)</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Sécurisation des échanges mobiles (VPN, chiffrement)</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Passage à la 5G</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Consolidation des lignes mobiles sous un même contrat</a:t>
            </a:r>
          </a:p>
        </p:txBody>
      </p:sp>
      <p:sp>
        <p:nvSpPr>
          <p:cNvPr id="77" name="Rectangle 1">
            <a:extLst>
              <a:ext uri="{FF2B5EF4-FFF2-40B4-BE49-F238E27FC236}">
                <a16:creationId xmlns:a16="http://schemas.microsoft.com/office/drawing/2014/main" id="{815EA19A-0EAD-6E6B-ABBB-5C3001B789D1}"/>
              </a:ext>
            </a:extLst>
          </p:cNvPr>
          <p:cNvSpPr>
            <a:spLocks noChangeArrowheads="1"/>
          </p:cNvSpPr>
          <p:nvPr/>
        </p:nvSpPr>
        <p:spPr bwMode="auto">
          <a:xfrm>
            <a:off x="6353130" y="5020217"/>
            <a:ext cx="3838178"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Risques liés aux appareils perdus ou volés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Besoin de chiffrement des communications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Protection des accès aux données professionnelles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Gestion et contrôle des usages (</a:t>
            </a:r>
            <a:r>
              <a:rPr kumimoji="0" lang="fr-FR" altLang="fr-FR" sz="1100" b="0" i="0" u="none" strike="noStrike" cap="none" normalizeH="0" baseline="0" dirty="0" err="1">
                <a:ln>
                  <a:noFill/>
                </a:ln>
                <a:solidFill>
                  <a:schemeClr val="tx1"/>
                </a:solidFill>
                <a:effectLst/>
                <a:latin typeface="Arial Nova" panose="020B0504020202020204" pitchFamily="34" charset="0"/>
              </a:rPr>
              <a:t>roaming</a:t>
            </a:r>
            <a:r>
              <a:rPr kumimoji="0" lang="fr-FR" altLang="fr-FR" sz="1100" b="0" i="0" u="none" strike="noStrike" cap="none" normalizeH="0" baseline="0" dirty="0">
                <a:ln>
                  <a:noFill/>
                </a:ln>
                <a:solidFill>
                  <a:schemeClr val="tx1"/>
                </a:solidFill>
                <a:effectLst/>
                <a:latin typeface="Arial Nova" panose="020B0504020202020204" pitchFamily="34" charset="0"/>
              </a:rPr>
              <a:t>, accès non autorisés)</a:t>
            </a:r>
            <a:endParaRPr lang="fr-FR" altLang="fr-FR" sz="1100" dirty="0">
              <a:latin typeface="Arial Nova" panose="020B0504020202020204" pitchFamily="34" charset="0"/>
            </a:endParaRPr>
          </a:p>
        </p:txBody>
      </p:sp>
      <p:pic>
        <p:nvPicPr>
          <p:cNvPr id="2" name="Image 1" descr="Une image contenant capture d’écran, conception&#10;&#10;Description générée automatiquement">
            <a:extLst>
              <a:ext uri="{FF2B5EF4-FFF2-40B4-BE49-F238E27FC236}">
                <a16:creationId xmlns:a16="http://schemas.microsoft.com/office/drawing/2014/main" id="{9E93AF81-39C6-6AF3-4918-0DCF0CC9E98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516117" y="231461"/>
            <a:ext cx="720000" cy="720000"/>
          </a:xfrm>
          <a:prstGeom prst="rect">
            <a:avLst/>
          </a:prstGeom>
        </p:spPr>
      </p:pic>
      <p:sp>
        <p:nvSpPr>
          <p:cNvPr id="13" name="Rectangle 12">
            <a:extLst>
              <a:ext uri="{FF2B5EF4-FFF2-40B4-BE49-F238E27FC236}">
                <a16:creationId xmlns:a16="http://schemas.microsoft.com/office/drawing/2014/main" id="{C4BD032A-2CA0-4212-80E1-18BEC957AC55}"/>
              </a:ext>
            </a:extLst>
          </p:cNvPr>
          <p:cNvSpPr/>
          <p:nvPr/>
        </p:nvSpPr>
        <p:spPr>
          <a:xfrm>
            <a:off x="1002296" y="5395427"/>
            <a:ext cx="1248709" cy="2301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Arial Nova" panose="020B0504020202020204" pitchFamily="34" charset="0"/>
            </a:endParaRPr>
          </a:p>
        </p:txBody>
      </p:sp>
      <p:sp>
        <p:nvSpPr>
          <p:cNvPr id="14" name="Espace réservé du texte 5">
            <a:extLst>
              <a:ext uri="{FF2B5EF4-FFF2-40B4-BE49-F238E27FC236}">
                <a16:creationId xmlns:a16="http://schemas.microsoft.com/office/drawing/2014/main" id="{73D74277-A541-E4F8-62A3-1E1510F32C0C}"/>
              </a:ext>
            </a:extLst>
          </p:cNvPr>
          <p:cNvSpPr txBox="1">
            <a:spLocks/>
          </p:cNvSpPr>
          <p:nvPr/>
        </p:nvSpPr>
        <p:spPr>
          <a:xfrm>
            <a:off x="1090224" y="5342501"/>
            <a:ext cx="931454" cy="556764"/>
          </a:xfrm>
          <a:prstGeom prst="rect">
            <a:avLst/>
          </a:prstGeom>
          <a:noFill/>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lgn="ctr">
              <a:lnSpc>
                <a:spcPct val="120000"/>
              </a:lnSpc>
              <a:buNone/>
            </a:pPr>
            <a:r>
              <a:rPr lang="fr-FR" sz="1200" b="1" dirty="0">
                <a:latin typeface="Arial Nova" panose="020B0504020202020204" pitchFamily="34" charset="0"/>
              </a:rPr>
              <a:t>Forfaits Premium</a:t>
            </a:r>
          </a:p>
          <a:p>
            <a:pPr marL="400955" lvl="1" indent="0" algn="ctr">
              <a:lnSpc>
                <a:spcPct val="120000"/>
              </a:lnSpc>
              <a:buNone/>
            </a:pPr>
            <a:endParaRPr lang="fr-FR" sz="1400" b="1" dirty="0">
              <a:latin typeface="Arial Nova" panose="020B0504020202020204" pitchFamily="34" charset="0"/>
            </a:endParaRPr>
          </a:p>
        </p:txBody>
      </p:sp>
      <p:sp>
        <p:nvSpPr>
          <p:cNvPr id="15" name="ZoneTexte 14">
            <a:extLst>
              <a:ext uri="{FF2B5EF4-FFF2-40B4-BE49-F238E27FC236}">
                <a16:creationId xmlns:a16="http://schemas.microsoft.com/office/drawing/2014/main" id="{AB99D608-0E7E-B0E5-9903-E6B0803D5FB5}"/>
              </a:ext>
            </a:extLst>
          </p:cNvPr>
          <p:cNvSpPr txBox="1"/>
          <p:nvPr/>
        </p:nvSpPr>
        <p:spPr>
          <a:xfrm>
            <a:off x="851450" y="5939255"/>
            <a:ext cx="1794052" cy="1338828"/>
          </a:xfrm>
          <a:prstGeom prst="rect">
            <a:avLst/>
          </a:prstGeom>
          <a:noFill/>
        </p:spPr>
        <p:txBody>
          <a:bodyPr wrap="square" rtlCol="0">
            <a:spAutoFit/>
          </a:bodyPr>
          <a:lstStyle/>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Forfaits fort en datas</a:t>
            </a:r>
          </a:p>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Option internationale</a:t>
            </a:r>
          </a:p>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Emission / réception importante d’appels</a:t>
            </a:r>
          </a:p>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Besoin d’options régulièrement</a:t>
            </a:r>
          </a:p>
          <a:p>
            <a:pPr marL="171450" indent="-171450" defTabSz="1007919">
              <a:buClr>
                <a:srgbClr val="E94B57"/>
              </a:buClr>
              <a:buFont typeface="Arial" panose="020B0604020202020204" pitchFamily="34" charset="0"/>
              <a:buChar char="•"/>
              <a:defRPr/>
            </a:pPr>
            <a:endParaRPr lang="fr-FR" sz="1000" dirty="0">
              <a:solidFill>
                <a:srgbClr val="434341"/>
              </a:solidFill>
              <a:latin typeface="Arial Nova" panose="020B0504020202020204" pitchFamily="34" charset="0"/>
            </a:endParaRPr>
          </a:p>
          <a:p>
            <a:pPr marL="171450" indent="-171450">
              <a:buFont typeface="Arial" panose="020B0604020202020204" pitchFamily="34" charset="0"/>
              <a:buChar char="•"/>
            </a:pPr>
            <a:endParaRPr lang="fr-FR" sz="1100" dirty="0">
              <a:latin typeface="Arial Nova" panose="020B0504020202020204" pitchFamily="34" charset="0"/>
            </a:endParaRPr>
          </a:p>
        </p:txBody>
      </p:sp>
      <p:grpSp>
        <p:nvGrpSpPr>
          <p:cNvPr id="16" name="Groupe 15">
            <a:extLst>
              <a:ext uri="{FF2B5EF4-FFF2-40B4-BE49-F238E27FC236}">
                <a16:creationId xmlns:a16="http://schemas.microsoft.com/office/drawing/2014/main" id="{F1C6CBC3-6358-8D78-7A21-1DCD2E1F0758}"/>
              </a:ext>
            </a:extLst>
          </p:cNvPr>
          <p:cNvGrpSpPr/>
          <p:nvPr/>
        </p:nvGrpSpPr>
        <p:grpSpPr>
          <a:xfrm>
            <a:off x="2375824" y="5196517"/>
            <a:ext cx="1362300" cy="505960"/>
            <a:chOff x="2127600" y="4053919"/>
            <a:chExt cx="4485355" cy="525521"/>
          </a:xfrm>
          <a:noFill/>
        </p:grpSpPr>
        <p:sp>
          <p:nvSpPr>
            <p:cNvPr id="17" name="Rectangle 16">
              <a:extLst>
                <a:ext uri="{FF2B5EF4-FFF2-40B4-BE49-F238E27FC236}">
                  <a16:creationId xmlns:a16="http://schemas.microsoft.com/office/drawing/2014/main" id="{DB62C7E1-513C-C52A-7218-DA45EBF58AE4}"/>
                </a:ext>
              </a:extLst>
            </p:cNvPr>
            <p:cNvSpPr/>
            <p:nvPr/>
          </p:nvSpPr>
          <p:spPr>
            <a:xfrm>
              <a:off x="2127600" y="4053919"/>
              <a:ext cx="3871458" cy="23946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Arial Nova" panose="020B0504020202020204" pitchFamily="34" charset="0"/>
              </a:endParaRPr>
            </a:p>
          </p:txBody>
        </p:sp>
        <p:sp>
          <p:nvSpPr>
            <p:cNvPr id="18" name="Espace réservé du texte 5">
              <a:extLst>
                <a:ext uri="{FF2B5EF4-FFF2-40B4-BE49-F238E27FC236}">
                  <a16:creationId xmlns:a16="http://schemas.microsoft.com/office/drawing/2014/main" id="{3133FD4F-1568-3050-5838-811B06D2FBF2}"/>
                </a:ext>
              </a:extLst>
            </p:cNvPr>
            <p:cNvSpPr txBox="1">
              <a:spLocks/>
            </p:cNvSpPr>
            <p:nvPr/>
          </p:nvSpPr>
          <p:spPr>
            <a:xfrm>
              <a:off x="2328725" y="4198594"/>
              <a:ext cx="4284230" cy="380846"/>
            </a:xfrm>
            <a:prstGeom prst="rect">
              <a:avLst/>
            </a:prstGeom>
            <a:grpFill/>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lgn="ctr">
                <a:lnSpc>
                  <a:spcPct val="120000"/>
                </a:lnSpc>
                <a:buNone/>
              </a:pPr>
              <a:r>
                <a:rPr lang="fr-FR" sz="1200" b="1" dirty="0">
                  <a:latin typeface="Arial Nova" panose="020B0504020202020204" pitchFamily="34" charset="0"/>
                </a:rPr>
                <a:t>Forfaits standard</a:t>
              </a:r>
            </a:p>
            <a:p>
              <a:pPr marL="400955" lvl="1" indent="0">
                <a:lnSpc>
                  <a:spcPct val="120000"/>
                </a:lnSpc>
                <a:buNone/>
              </a:pPr>
              <a:endParaRPr lang="fr-FR" sz="1400" b="1" dirty="0">
                <a:latin typeface="Arial Nova" panose="020B0504020202020204" pitchFamily="34" charset="0"/>
              </a:endParaRPr>
            </a:p>
          </p:txBody>
        </p:sp>
      </p:grpSp>
      <p:grpSp>
        <p:nvGrpSpPr>
          <p:cNvPr id="19" name="Groupe 18">
            <a:extLst>
              <a:ext uri="{FF2B5EF4-FFF2-40B4-BE49-F238E27FC236}">
                <a16:creationId xmlns:a16="http://schemas.microsoft.com/office/drawing/2014/main" id="{90033A8B-E5C3-874F-05BA-DB8A4553F0BB}"/>
              </a:ext>
            </a:extLst>
          </p:cNvPr>
          <p:cNvGrpSpPr/>
          <p:nvPr/>
        </p:nvGrpSpPr>
        <p:grpSpPr>
          <a:xfrm>
            <a:off x="4049359" y="5312581"/>
            <a:ext cx="1257954" cy="366670"/>
            <a:chOff x="2118480" y="4004321"/>
            <a:chExt cx="4141797" cy="380846"/>
          </a:xfrm>
          <a:noFill/>
        </p:grpSpPr>
        <p:sp>
          <p:nvSpPr>
            <p:cNvPr id="20" name="Rectangle 19">
              <a:extLst>
                <a:ext uri="{FF2B5EF4-FFF2-40B4-BE49-F238E27FC236}">
                  <a16:creationId xmlns:a16="http://schemas.microsoft.com/office/drawing/2014/main" id="{5723B884-0E6C-415A-3B46-0F16603A5A87}"/>
                </a:ext>
              </a:extLst>
            </p:cNvPr>
            <p:cNvSpPr/>
            <p:nvPr/>
          </p:nvSpPr>
          <p:spPr>
            <a:xfrm>
              <a:off x="2127600" y="4053919"/>
              <a:ext cx="3871458" cy="23946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Arial Nova" panose="020B0504020202020204" pitchFamily="34" charset="0"/>
              </a:endParaRPr>
            </a:p>
          </p:txBody>
        </p:sp>
        <p:sp>
          <p:nvSpPr>
            <p:cNvPr id="21" name="Espace réservé du texte 5">
              <a:extLst>
                <a:ext uri="{FF2B5EF4-FFF2-40B4-BE49-F238E27FC236}">
                  <a16:creationId xmlns:a16="http://schemas.microsoft.com/office/drawing/2014/main" id="{72A02BBF-DEC0-4E11-8B11-F264BC2846D3}"/>
                </a:ext>
              </a:extLst>
            </p:cNvPr>
            <p:cNvSpPr txBox="1">
              <a:spLocks/>
            </p:cNvSpPr>
            <p:nvPr/>
          </p:nvSpPr>
          <p:spPr>
            <a:xfrm>
              <a:off x="2118480" y="4004321"/>
              <a:ext cx="4141797" cy="380846"/>
            </a:xfrm>
            <a:prstGeom prst="rect">
              <a:avLst/>
            </a:prstGeom>
            <a:grpFill/>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lgn="ctr">
                <a:lnSpc>
                  <a:spcPct val="120000"/>
                </a:lnSpc>
                <a:buNone/>
              </a:pPr>
              <a:r>
                <a:rPr lang="fr-FR" sz="1200" b="1" dirty="0">
                  <a:latin typeface="Arial Nova" panose="020B0504020202020204" pitchFamily="34" charset="0"/>
                </a:rPr>
                <a:t>Forfaits basiques</a:t>
              </a:r>
            </a:p>
            <a:p>
              <a:pPr marL="400955" lvl="1" indent="0">
                <a:lnSpc>
                  <a:spcPct val="120000"/>
                </a:lnSpc>
                <a:buNone/>
              </a:pPr>
              <a:endParaRPr lang="fr-FR" sz="1400" b="1" dirty="0">
                <a:latin typeface="Arial Nova" panose="020B0504020202020204" pitchFamily="34" charset="0"/>
              </a:endParaRPr>
            </a:p>
          </p:txBody>
        </p:sp>
      </p:grpSp>
      <p:sp>
        <p:nvSpPr>
          <p:cNvPr id="22" name="ZoneTexte 21">
            <a:extLst>
              <a:ext uri="{FF2B5EF4-FFF2-40B4-BE49-F238E27FC236}">
                <a16:creationId xmlns:a16="http://schemas.microsoft.com/office/drawing/2014/main" id="{18442890-66F5-7F74-46BF-A389B3306CEC}"/>
              </a:ext>
            </a:extLst>
          </p:cNvPr>
          <p:cNvSpPr txBox="1"/>
          <p:nvPr/>
        </p:nvSpPr>
        <p:spPr>
          <a:xfrm>
            <a:off x="2487378" y="5988938"/>
            <a:ext cx="1794052" cy="1184940"/>
          </a:xfrm>
          <a:prstGeom prst="rect">
            <a:avLst/>
          </a:prstGeom>
          <a:noFill/>
        </p:spPr>
        <p:txBody>
          <a:bodyPr wrap="square" rtlCol="0">
            <a:spAutoFit/>
          </a:bodyPr>
          <a:lstStyle/>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Forfaits classiques</a:t>
            </a:r>
          </a:p>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Emission / réception normal d’appels, majoritairement en France / Europe</a:t>
            </a:r>
          </a:p>
          <a:p>
            <a:pPr marL="171450" indent="-171450" defTabSz="1007919">
              <a:buClr>
                <a:srgbClr val="E94B57"/>
              </a:buClr>
              <a:buFont typeface="Arial" panose="020B0604020202020204" pitchFamily="34" charset="0"/>
              <a:buChar char="•"/>
              <a:defRPr/>
            </a:pPr>
            <a:endParaRPr lang="fr-FR" sz="1000" dirty="0">
              <a:solidFill>
                <a:srgbClr val="434341"/>
              </a:solidFill>
              <a:latin typeface="Arial Nova" panose="020B0504020202020204" pitchFamily="34" charset="0"/>
            </a:endParaRPr>
          </a:p>
          <a:p>
            <a:pPr marL="171450" indent="-171450">
              <a:buFont typeface="Arial" panose="020B0604020202020204" pitchFamily="34" charset="0"/>
              <a:buChar char="•"/>
            </a:pPr>
            <a:endParaRPr lang="fr-FR" sz="1100" dirty="0">
              <a:latin typeface="Arial Nova" panose="020B0504020202020204" pitchFamily="34" charset="0"/>
            </a:endParaRPr>
          </a:p>
        </p:txBody>
      </p:sp>
      <p:sp>
        <p:nvSpPr>
          <p:cNvPr id="23" name="ZoneTexte 22">
            <a:extLst>
              <a:ext uri="{FF2B5EF4-FFF2-40B4-BE49-F238E27FC236}">
                <a16:creationId xmlns:a16="http://schemas.microsoft.com/office/drawing/2014/main" id="{6D204C56-1A06-5E19-21F6-974F555734F8}"/>
              </a:ext>
            </a:extLst>
          </p:cNvPr>
          <p:cNvSpPr txBox="1"/>
          <p:nvPr/>
        </p:nvSpPr>
        <p:spPr>
          <a:xfrm>
            <a:off x="4107056" y="5988938"/>
            <a:ext cx="1476724" cy="1492716"/>
          </a:xfrm>
          <a:prstGeom prst="rect">
            <a:avLst/>
          </a:prstGeom>
          <a:noFill/>
        </p:spPr>
        <p:txBody>
          <a:bodyPr wrap="square" rtlCol="0">
            <a:spAutoFit/>
          </a:bodyPr>
          <a:lstStyle/>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Faible en data</a:t>
            </a:r>
          </a:p>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Emission / réception d’appels que France / Europe</a:t>
            </a:r>
          </a:p>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Ne sert que de téléphone</a:t>
            </a:r>
          </a:p>
          <a:p>
            <a:pPr marL="171450" indent="-171450" defTabSz="1007919">
              <a:buClr>
                <a:srgbClr val="E94B57"/>
              </a:buClr>
              <a:buFont typeface="Arial" panose="020B0604020202020204" pitchFamily="34" charset="0"/>
              <a:buChar char="•"/>
              <a:defRPr/>
            </a:pPr>
            <a:endParaRPr lang="fr-FR" sz="1000" dirty="0">
              <a:solidFill>
                <a:srgbClr val="434341"/>
              </a:solidFill>
              <a:latin typeface="Arial Nova" panose="020B0504020202020204" pitchFamily="34" charset="0"/>
            </a:endParaRPr>
          </a:p>
          <a:p>
            <a:pPr marL="171450" indent="-171450">
              <a:buFont typeface="Arial" panose="020B0604020202020204" pitchFamily="34" charset="0"/>
              <a:buChar char="•"/>
            </a:pPr>
            <a:endParaRPr lang="fr-FR" sz="1100" dirty="0">
              <a:latin typeface="Arial Nova" panose="020B0504020202020204" pitchFamily="34" charset="0"/>
            </a:endParaRPr>
          </a:p>
        </p:txBody>
      </p:sp>
      <p:sp>
        <p:nvSpPr>
          <p:cNvPr id="27" name="Rectangle 26">
            <a:extLst>
              <a:ext uri="{FF2B5EF4-FFF2-40B4-BE49-F238E27FC236}">
                <a16:creationId xmlns:a16="http://schemas.microsoft.com/office/drawing/2014/main" id="{B4BD86C6-4C19-0EE5-4F19-0DAC83237E2B}"/>
              </a:ext>
            </a:extLst>
          </p:cNvPr>
          <p:cNvSpPr/>
          <p:nvPr/>
        </p:nvSpPr>
        <p:spPr>
          <a:xfrm>
            <a:off x="1322676" y="4861102"/>
            <a:ext cx="386902" cy="38351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0" name="Rectangle 29">
            <a:extLst>
              <a:ext uri="{FF2B5EF4-FFF2-40B4-BE49-F238E27FC236}">
                <a16:creationId xmlns:a16="http://schemas.microsoft.com/office/drawing/2014/main" id="{0F217CA6-EE88-7461-192C-B345D3E3B9C4}"/>
              </a:ext>
            </a:extLst>
          </p:cNvPr>
          <p:cNvSpPr/>
          <p:nvPr/>
        </p:nvSpPr>
        <p:spPr>
          <a:xfrm>
            <a:off x="2898978" y="4859644"/>
            <a:ext cx="386902" cy="38351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1" name="Rectangle 30">
            <a:extLst>
              <a:ext uri="{FF2B5EF4-FFF2-40B4-BE49-F238E27FC236}">
                <a16:creationId xmlns:a16="http://schemas.microsoft.com/office/drawing/2014/main" id="{20B61BEB-3432-3310-7AD9-E551E8C2B2B0}"/>
              </a:ext>
            </a:extLst>
          </p:cNvPr>
          <p:cNvSpPr/>
          <p:nvPr/>
        </p:nvSpPr>
        <p:spPr>
          <a:xfrm>
            <a:off x="4475281" y="4859643"/>
            <a:ext cx="386902" cy="38351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pic>
        <p:nvPicPr>
          <p:cNvPr id="32" name="Picture 2" descr="Opérateur mobile : notre comparateur forfait mobile ...">
            <a:extLst>
              <a:ext uri="{FF2B5EF4-FFF2-40B4-BE49-F238E27FC236}">
                <a16:creationId xmlns:a16="http://schemas.microsoft.com/office/drawing/2014/main" id="{88C8D169-F1B8-992D-F67A-CCB5DAAA99A9}"/>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r="-328"/>
          <a:stretch/>
        </p:blipFill>
        <p:spPr bwMode="auto">
          <a:xfrm>
            <a:off x="4028581" y="1682535"/>
            <a:ext cx="567305" cy="54440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Le réseau mobile en France, quelles différences entre opérateurs ?">
            <a:extLst>
              <a:ext uri="{FF2B5EF4-FFF2-40B4-BE49-F238E27FC236}">
                <a16:creationId xmlns:a16="http://schemas.microsoft.com/office/drawing/2014/main" id="{E8C2976C-FEF5-9B65-DAC0-BECE5F23F545}"/>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2739111" y="1677034"/>
            <a:ext cx="1149663" cy="55214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6" descr="Le réseau mobile en France, quelles différences entre opérateurs ?">
            <a:extLst>
              <a:ext uri="{FF2B5EF4-FFF2-40B4-BE49-F238E27FC236}">
                <a16:creationId xmlns:a16="http://schemas.microsoft.com/office/drawing/2014/main" id="{9A5C7E74-91F8-C66C-0D17-B072E9584B31}"/>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4743194" y="1687515"/>
            <a:ext cx="512135" cy="505466"/>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Le réseau mobile en France, quelles différences entre opérateurs ?">
            <a:extLst>
              <a:ext uri="{FF2B5EF4-FFF2-40B4-BE49-F238E27FC236}">
                <a16:creationId xmlns:a16="http://schemas.microsoft.com/office/drawing/2014/main" id="{1CB098BC-1643-0AD6-686D-07B3C26D920B}"/>
              </a:ext>
            </a:extLst>
          </p:cNvPr>
          <p:cNvPicPr>
            <a:picLocks noChangeAspect="1" noChangeArrowheads="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1763085" y="1672228"/>
            <a:ext cx="856657" cy="481450"/>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5">
            <a:extLst>
              <a:ext uri="{FF2B5EF4-FFF2-40B4-BE49-F238E27FC236}">
                <a16:creationId xmlns:a16="http://schemas.microsoft.com/office/drawing/2014/main" id="{77ADCB0A-8C8B-28AC-497D-553F6E9811EE}"/>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8" name="Rectangle 7">
            <a:extLst>
              <a:ext uri="{FF2B5EF4-FFF2-40B4-BE49-F238E27FC236}">
                <a16:creationId xmlns:a16="http://schemas.microsoft.com/office/drawing/2014/main" id="{BF818BB7-90ED-0A8D-4079-83677D566C82}"/>
              </a:ext>
            </a:extLst>
          </p:cNvPr>
          <p:cNvSpPr/>
          <p:nvPr/>
        </p:nvSpPr>
        <p:spPr>
          <a:xfrm>
            <a:off x="706462" y="1312978"/>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9" name="Rectangle 8">
            <a:extLst>
              <a:ext uri="{FF2B5EF4-FFF2-40B4-BE49-F238E27FC236}">
                <a16:creationId xmlns:a16="http://schemas.microsoft.com/office/drawing/2014/main" id="{3A7A9CB9-C273-1020-6892-666C5547CE5D}"/>
              </a:ext>
            </a:extLst>
          </p:cNvPr>
          <p:cNvSpPr/>
          <p:nvPr/>
        </p:nvSpPr>
        <p:spPr>
          <a:xfrm>
            <a:off x="698406" y="4239522"/>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Tree>
    <p:extLst>
      <p:ext uri="{BB962C8B-B14F-4D97-AF65-F5344CB8AC3E}">
        <p14:creationId xmlns:p14="http://schemas.microsoft.com/office/powerpoint/2010/main" val="251868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67DB2-D475-4835-402E-CC238A85CBD3}"/>
            </a:ext>
          </a:extLst>
        </p:cNvPr>
        <p:cNvGrpSpPr/>
        <p:nvPr/>
      </p:nvGrpSpPr>
      <p:grpSpPr>
        <a:xfrm>
          <a:off x="0" y="0"/>
          <a:ext cx="0" cy="0"/>
          <a:chOff x="0" y="0"/>
          <a:chExt cx="0" cy="0"/>
        </a:xfrm>
      </p:grpSpPr>
      <p:graphicFrame>
        <p:nvGraphicFramePr>
          <p:cNvPr id="8" name="Tableau 7">
            <a:extLst>
              <a:ext uri="{FF2B5EF4-FFF2-40B4-BE49-F238E27FC236}">
                <a16:creationId xmlns:a16="http://schemas.microsoft.com/office/drawing/2014/main" id="{DAD9AD6A-7344-3151-5E84-B6C0A7833E18}"/>
              </a:ext>
            </a:extLst>
          </p:cNvPr>
          <p:cNvGraphicFramePr>
            <a:graphicFrameLocks noGrp="1"/>
          </p:cNvGraphicFramePr>
          <p:nvPr>
            <p:extLst>
              <p:ext uri="{D42A27DB-BD31-4B8C-83A1-F6EECF244321}">
                <p14:modId xmlns:p14="http://schemas.microsoft.com/office/powerpoint/2010/main" val="558207012"/>
              </p:ext>
            </p:extLst>
          </p:nvPr>
        </p:nvGraphicFramePr>
        <p:xfrm>
          <a:off x="983707" y="1736678"/>
          <a:ext cx="8930450" cy="2954580"/>
        </p:xfrm>
        <a:graphic>
          <a:graphicData uri="http://schemas.openxmlformats.org/drawingml/2006/table">
            <a:tbl>
              <a:tblPr firstRow="1" bandRow="1">
                <a:effectLst/>
                <a:tableStyleId>{F5AB1C69-6EDB-4FF4-983F-18BD219EF322}</a:tableStyleId>
              </a:tblPr>
              <a:tblGrid>
                <a:gridCol w="1353780">
                  <a:extLst>
                    <a:ext uri="{9D8B030D-6E8A-4147-A177-3AD203B41FA5}">
                      <a16:colId xmlns:a16="http://schemas.microsoft.com/office/drawing/2014/main" val="3615684430"/>
                    </a:ext>
                  </a:extLst>
                </a:gridCol>
                <a:gridCol w="1356188">
                  <a:extLst>
                    <a:ext uri="{9D8B030D-6E8A-4147-A177-3AD203B41FA5}">
                      <a16:colId xmlns:a16="http://schemas.microsoft.com/office/drawing/2014/main" val="1240341726"/>
                    </a:ext>
                  </a:extLst>
                </a:gridCol>
                <a:gridCol w="1273996">
                  <a:extLst>
                    <a:ext uri="{9D8B030D-6E8A-4147-A177-3AD203B41FA5}">
                      <a16:colId xmlns:a16="http://schemas.microsoft.com/office/drawing/2014/main" val="3418675952"/>
                    </a:ext>
                  </a:extLst>
                </a:gridCol>
                <a:gridCol w="1037690">
                  <a:extLst>
                    <a:ext uri="{9D8B030D-6E8A-4147-A177-3AD203B41FA5}">
                      <a16:colId xmlns:a16="http://schemas.microsoft.com/office/drawing/2014/main" val="3217757275"/>
                    </a:ext>
                  </a:extLst>
                </a:gridCol>
                <a:gridCol w="1613042">
                  <a:extLst>
                    <a:ext uri="{9D8B030D-6E8A-4147-A177-3AD203B41FA5}">
                      <a16:colId xmlns:a16="http://schemas.microsoft.com/office/drawing/2014/main" val="1191447353"/>
                    </a:ext>
                  </a:extLst>
                </a:gridCol>
                <a:gridCol w="1232899">
                  <a:extLst>
                    <a:ext uri="{9D8B030D-6E8A-4147-A177-3AD203B41FA5}">
                      <a16:colId xmlns:a16="http://schemas.microsoft.com/office/drawing/2014/main" val="872859464"/>
                    </a:ext>
                  </a:extLst>
                </a:gridCol>
                <a:gridCol w="1062855">
                  <a:extLst>
                    <a:ext uri="{9D8B030D-6E8A-4147-A177-3AD203B41FA5}">
                      <a16:colId xmlns:a16="http://schemas.microsoft.com/office/drawing/2014/main" val="3064555056"/>
                    </a:ext>
                  </a:extLst>
                </a:gridCol>
              </a:tblGrid>
              <a:tr h="426720">
                <a:tc>
                  <a:txBody>
                    <a:bodyPr/>
                    <a:lstStyle/>
                    <a:p>
                      <a:pPr marL="0" algn="ctr" defTabSz="457200" rtl="0" eaLnBrk="1" latinLnBrk="0" hangingPunct="1"/>
                      <a:r>
                        <a:rPr lang="fr-FR" sz="1100"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Numéros / Flotte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6FCBF3"/>
                    </a:solidFill>
                  </a:tcPr>
                </a:tc>
                <a:tc>
                  <a:txBody>
                    <a:bodyPr/>
                    <a:lstStyle/>
                    <a:p>
                      <a:pPr marL="0" algn="ctr" defTabSz="457200" rtl="0" eaLnBrk="1" latinLnBrk="0" hangingPunct="1"/>
                      <a:r>
                        <a:rPr lang="fr-FR" sz="1100"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Téléphone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6FCBF3"/>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Opérateur</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6FCBF3"/>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Type de forfait</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6FCBF3"/>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Niveau de satisfaction</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6FCBF3"/>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Date d’engagement</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6FCBF3"/>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Coût mensuel</a:t>
                      </a:r>
                    </a:p>
                  </a:txBody>
                  <a:tcPr anchor="ctr">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6FCBF3"/>
                    </a:solidFill>
                  </a:tcPr>
                </a:tc>
                <a:extLst>
                  <a:ext uri="{0D108BD9-81ED-4DB2-BD59-A6C34878D82A}">
                    <a16:rowId xmlns:a16="http://schemas.microsoft.com/office/drawing/2014/main" val="3792040576"/>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0669157"/>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01410505"/>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486584"/>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07455821"/>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3903978"/>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6891561"/>
                  </a:ext>
                </a:extLst>
              </a:tr>
            </a:tbl>
          </a:graphicData>
        </a:graphic>
      </p:graphicFrame>
      <p:sp>
        <p:nvSpPr>
          <p:cNvPr id="5" name="Rectangle 4">
            <a:extLst>
              <a:ext uri="{FF2B5EF4-FFF2-40B4-BE49-F238E27FC236}">
                <a16:creationId xmlns:a16="http://schemas.microsoft.com/office/drawing/2014/main" id="{828449E7-94F1-B97A-4039-741CAA2892B4}"/>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6" name="Titre 1">
            <a:extLst>
              <a:ext uri="{FF2B5EF4-FFF2-40B4-BE49-F238E27FC236}">
                <a16:creationId xmlns:a16="http://schemas.microsoft.com/office/drawing/2014/main" id="{822C15C4-968C-5EC3-D888-4FFC87132EA4}"/>
              </a:ext>
            </a:extLst>
          </p:cNvPr>
          <p:cNvSpPr txBox="1">
            <a:spLocks/>
          </p:cNvSpPr>
          <p:nvPr/>
        </p:nvSpPr>
        <p:spPr>
          <a:xfrm>
            <a:off x="1320435" y="310646"/>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TÉLÉPHONIE MOBILE</a:t>
            </a:r>
          </a:p>
        </p:txBody>
      </p:sp>
      <p:pic>
        <p:nvPicPr>
          <p:cNvPr id="22" name="Image 21" descr="Une image contenant capture d’écran, conception&#10;&#10;Description générée automatiquement">
            <a:extLst>
              <a:ext uri="{FF2B5EF4-FFF2-40B4-BE49-F238E27FC236}">
                <a16:creationId xmlns:a16="http://schemas.microsoft.com/office/drawing/2014/main" id="{9238EBDE-5CF2-E2F7-67FD-85366FCC77AC}"/>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516117" y="231461"/>
            <a:ext cx="720000" cy="720000"/>
          </a:xfrm>
          <a:prstGeom prst="rect">
            <a:avLst/>
          </a:prstGeom>
        </p:spPr>
      </p:pic>
      <p:pic>
        <p:nvPicPr>
          <p:cNvPr id="3" name="Image 2">
            <a:extLst>
              <a:ext uri="{FF2B5EF4-FFF2-40B4-BE49-F238E27FC236}">
                <a16:creationId xmlns:a16="http://schemas.microsoft.com/office/drawing/2014/main" id="{BEC9E242-54EC-BF6C-B547-968B12417B1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Tree>
    <p:extLst>
      <p:ext uri="{BB962C8B-B14F-4D97-AF65-F5344CB8AC3E}">
        <p14:creationId xmlns:p14="http://schemas.microsoft.com/office/powerpoint/2010/main" val="2907698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re 1">
            <a:extLst>
              <a:ext uri="{FF2B5EF4-FFF2-40B4-BE49-F238E27FC236}">
                <a16:creationId xmlns:a16="http://schemas.microsoft.com/office/drawing/2014/main" id="{717C764F-72BF-24A0-BABF-272EE83644B3}"/>
              </a:ext>
            </a:extLst>
          </p:cNvPr>
          <p:cNvSpPr txBox="1">
            <a:spLocks/>
          </p:cNvSpPr>
          <p:nvPr/>
        </p:nvSpPr>
        <p:spPr>
          <a:xfrm>
            <a:off x="1407168" y="353999"/>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PARE-FEU (FIREWALL)</a:t>
            </a:r>
          </a:p>
        </p:txBody>
      </p:sp>
      <p:sp>
        <p:nvSpPr>
          <p:cNvPr id="3" name="Rectangle 2">
            <a:extLst>
              <a:ext uri="{FF2B5EF4-FFF2-40B4-BE49-F238E27FC236}">
                <a16:creationId xmlns:a16="http://schemas.microsoft.com/office/drawing/2014/main" id="{45B57BD0-7045-865D-D13F-DCAE3E90875F}"/>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19" name="Image 18" descr="Une image contenant capture d’écran, Graphique, symbole, graphisme&#10;&#10;Le contenu généré par l’IA peut être incorrect.">
            <a:extLst>
              <a:ext uri="{FF2B5EF4-FFF2-40B4-BE49-F238E27FC236}">
                <a16:creationId xmlns:a16="http://schemas.microsoft.com/office/drawing/2014/main" id="{06036DD5-DC1F-C823-B0D6-B4A72921E1E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6138" y="232951"/>
            <a:ext cx="720000" cy="720000"/>
          </a:xfrm>
          <a:prstGeom prst="rect">
            <a:avLst/>
          </a:prstGeom>
        </p:spPr>
      </p:pic>
      <p:sp>
        <p:nvSpPr>
          <p:cNvPr id="22" name="Rectangle 21">
            <a:extLst>
              <a:ext uri="{FF2B5EF4-FFF2-40B4-BE49-F238E27FC236}">
                <a16:creationId xmlns:a16="http://schemas.microsoft.com/office/drawing/2014/main" id="{75CE39DD-0326-8B5D-188E-74C4EBD5BF12}"/>
              </a:ext>
            </a:extLst>
          </p:cNvPr>
          <p:cNvSpPr/>
          <p:nvPr/>
        </p:nvSpPr>
        <p:spPr>
          <a:xfrm>
            <a:off x="770463" y="4457969"/>
            <a:ext cx="4776797" cy="2868755"/>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24" name="ZoneTexte 23">
            <a:extLst>
              <a:ext uri="{FF2B5EF4-FFF2-40B4-BE49-F238E27FC236}">
                <a16:creationId xmlns:a16="http://schemas.microsoft.com/office/drawing/2014/main" id="{EC1FE506-E87F-A46B-C660-075DC2AE06E3}"/>
              </a:ext>
            </a:extLst>
          </p:cNvPr>
          <p:cNvSpPr txBox="1"/>
          <p:nvPr/>
        </p:nvSpPr>
        <p:spPr>
          <a:xfrm>
            <a:off x="647431" y="4311654"/>
            <a:ext cx="5290807" cy="338554"/>
          </a:xfrm>
          <a:prstGeom prst="rect">
            <a:avLst/>
          </a:prstGeom>
          <a:noFill/>
        </p:spPr>
        <p:txBody>
          <a:bodyPr wrap="none" rtlCol="0">
            <a:spAutoFit/>
          </a:bodyPr>
          <a:lstStyle/>
          <a:p>
            <a:r>
              <a:rPr lang="fr-FR" sz="1600" b="1" dirty="0">
                <a:latin typeface="Arial Nova" panose="020B0504020202020204" pitchFamily="34" charset="0"/>
              </a:rPr>
              <a:t>VOS SOURCES D’ACCÈS VERS LE RÉSEAU EXTERNE</a:t>
            </a:r>
          </a:p>
        </p:txBody>
      </p:sp>
      <p:sp>
        <p:nvSpPr>
          <p:cNvPr id="26" name="Rectangle 25">
            <a:extLst>
              <a:ext uri="{FF2B5EF4-FFF2-40B4-BE49-F238E27FC236}">
                <a16:creationId xmlns:a16="http://schemas.microsoft.com/office/drawing/2014/main" id="{9F1EFAF7-2230-7519-2554-7B321CAC337C}"/>
              </a:ext>
            </a:extLst>
          </p:cNvPr>
          <p:cNvSpPr/>
          <p:nvPr/>
        </p:nvSpPr>
        <p:spPr>
          <a:xfrm>
            <a:off x="705167" y="1512044"/>
            <a:ext cx="4776797" cy="2583056"/>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28" name="ZoneTexte 27">
            <a:extLst>
              <a:ext uri="{FF2B5EF4-FFF2-40B4-BE49-F238E27FC236}">
                <a16:creationId xmlns:a16="http://schemas.microsoft.com/office/drawing/2014/main" id="{BA7D8D14-3729-14D4-0FD5-E684F849CBB6}"/>
              </a:ext>
            </a:extLst>
          </p:cNvPr>
          <p:cNvSpPr txBox="1"/>
          <p:nvPr/>
        </p:nvSpPr>
        <p:spPr>
          <a:xfrm>
            <a:off x="3652835" y="4330468"/>
            <a:ext cx="184731" cy="408253"/>
          </a:xfrm>
          <a:prstGeom prst="rect">
            <a:avLst/>
          </a:prstGeom>
          <a:noFill/>
        </p:spPr>
        <p:txBody>
          <a:bodyPr wrap="none" rtlCol="0">
            <a:spAutoFit/>
          </a:bodyPr>
          <a:lstStyle/>
          <a:p>
            <a:endParaRPr lang="fr-FR" dirty="0">
              <a:latin typeface="Arial Nova" panose="020B0504020202020204" pitchFamily="34" charset="0"/>
            </a:endParaRPr>
          </a:p>
        </p:txBody>
      </p:sp>
      <p:sp>
        <p:nvSpPr>
          <p:cNvPr id="29" name="ZoneTexte 28">
            <a:extLst>
              <a:ext uri="{FF2B5EF4-FFF2-40B4-BE49-F238E27FC236}">
                <a16:creationId xmlns:a16="http://schemas.microsoft.com/office/drawing/2014/main" id="{B0E5994C-6DB7-593A-BB4B-1189BF6AC824}"/>
              </a:ext>
            </a:extLst>
          </p:cNvPr>
          <p:cNvSpPr txBox="1"/>
          <p:nvPr/>
        </p:nvSpPr>
        <p:spPr>
          <a:xfrm>
            <a:off x="1874577" y="2582571"/>
            <a:ext cx="1147815" cy="461665"/>
          </a:xfrm>
          <a:prstGeom prst="rect">
            <a:avLst/>
          </a:prstGeom>
          <a:noFill/>
        </p:spPr>
        <p:txBody>
          <a:bodyPr wrap="none" rtlCol="0">
            <a:spAutoFit/>
          </a:bodyPr>
          <a:lstStyle/>
          <a:p>
            <a:pPr algn="ctr"/>
            <a:r>
              <a:rPr lang="fr-FR" sz="1200" dirty="0">
                <a:latin typeface="Arial Nova" panose="020B0504020202020204" pitchFamily="34" charset="0"/>
              </a:rPr>
              <a:t>Nb </a:t>
            </a:r>
          </a:p>
          <a:p>
            <a:pPr algn="ctr"/>
            <a:r>
              <a:rPr lang="fr-FR" sz="1200" dirty="0">
                <a:latin typeface="Arial Nova" panose="020B0504020202020204" pitchFamily="34" charset="0"/>
              </a:rPr>
              <a:t>collaborateurs</a:t>
            </a:r>
          </a:p>
        </p:txBody>
      </p:sp>
      <p:sp>
        <p:nvSpPr>
          <p:cNvPr id="30" name="ZoneTexte 29">
            <a:extLst>
              <a:ext uri="{FF2B5EF4-FFF2-40B4-BE49-F238E27FC236}">
                <a16:creationId xmlns:a16="http://schemas.microsoft.com/office/drawing/2014/main" id="{47AA373A-1BDD-3CAF-48B5-82A02FABB08C}"/>
              </a:ext>
            </a:extLst>
          </p:cNvPr>
          <p:cNvSpPr txBox="1"/>
          <p:nvPr/>
        </p:nvSpPr>
        <p:spPr>
          <a:xfrm>
            <a:off x="3252169" y="2582820"/>
            <a:ext cx="798403" cy="461665"/>
          </a:xfrm>
          <a:prstGeom prst="rect">
            <a:avLst/>
          </a:prstGeom>
          <a:noFill/>
        </p:spPr>
        <p:txBody>
          <a:bodyPr wrap="square" rtlCol="0">
            <a:spAutoFit/>
          </a:bodyPr>
          <a:lstStyle/>
          <a:p>
            <a:pPr algn="ctr"/>
            <a:r>
              <a:rPr lang="fr-FR" sz="1200" dirty="0">
                <a:latin typeface="Arial Nova" panose="020B0504020202020204" pitchFamily="34" charset="0"/>
              </a:rPr>
              <a:t>Part de mobilité</a:t>
            </a:r>
          </a:p>
        </p:txBody>
      </p:sp>
      <p:sp>
        <p:nvSpPr>
          <p:cNvPr id="31" name="Rectangle 30">
            <a:extLst>
              <a:ext uri="{FF2B5EF4-FFF2-40B4-BE49-F238E27FC236}">
                <a16:creationId xmlns:a16="http://schemas.microsoft.com/office/drawing/2014/main" id="{E6C84FE2-C496-4DB9-AF4E-786EF7A83839}"/>
              </a:ext>
            </a:extLst>
          </p:cNvPr>
          <p:cNvSpPr/>
          <p:nvPr/>
        </p:nvSpPr>
        <p:spPr>
          <a:xfrm>
            <a:off x="3292835" y="3063562"/>
            <a:ext cx="720000" cy="7200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2" name="ZoneTexte 31">
            <a:extLst>
              <a:ext uri="{FF2B5EF4-FFF2-40B4-BE49-F238E27FC236}">
                <a16:creationId xmlns:a16="http://schemas.microsoft.com/office/drawing/2014/main" id="{4EA70C91-FD33-3649-1241-349ACE1670EE}"/>
              </a:ext>
            </a:extLst>
          </p:cNvPr>
          <p:cNvSpPr txBox="1"/>
          <p:nvPr/>
        </p:nvSpPr>
        <p:spPr>
          <a:xfrm>
            <a:off x="647431" y="1305923"/>
            <a:ext cx="3082190" cy="338554"/>
          </a:xfrm>
          <a:prstGeom prst="rect">
            <a:avLst/>
          </a:prstGeom>
          <a:noFill/>
        </p:spPr>
        <p:txBody>
          <a:bodyPr wrap="none" rtlCol="0">
            <a:spAutoFit/>
          </a:bodyPr>
          <a:lstStyle/>
          <a:p>
            <a:r>
              <a:rPr lang="fr-FR" sz="1600" b="1" dirty="0">
                <a:latin typeface="Arial Nova" panose="020B0504020202020204" pitchFamily="34" charset="0"/>
              </a:rPr>
              <a:t>VOTRE ÉQUIPEMENT ACTUEL</a:t>
            </a:r>
          </a:p>
        </p:txBody>
      </p:sp>
      <p:sp>
        <p:nvSpPr>
          <p:cNvPr id="33" name="Rectangle 32">
            <a:extLst>
              <a:ext uri="{FF2B5EF4-FFF2-40B4-BE49-F238E27FC236}">
                <a16:creationId xmlns:a16="http://schemas.microsoft.com/office/drawing/2014/main" id="{807DE0D3-5191-3445-99F6-0CF00372A6FA}"/>
              </a:ext>
            </a:extLst>
          </p:cNvPr>
          <p:cNvSpPr/>
          <p:nvPr/>
        </p:nvSpPr>
        <p:spPr>
          <a:xfrm>
            <a:off x="2066918" y="3063562"/>
            <a:ext cx="720000" cy="7200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4" name="ZoneTexte 33">
            <a:extLst>
              <a:ext uri="{FF2B5EF4-FFF2-40B4-BE49-F238E27FC236}">
                <a16:creationId xmlns:a16="http://schemas.microsoft.com/office/drawing/2014/main" id="{693437C7-8584-9534-22A9-A9E69543DF44}"/>
              </a:ext>
            </a:extLst>
          </p:cNvPr>
          <p:cNvSpPr txBox="1"/>
          <p:nvPr/>
        </p:nvSpPr>
        <p:spPr>
          <a:xfrm>
            <a:off x="858125" y="1708748"/>
            <a:ext cx="1857945" cy="646331"/>
          </a:xfrm>
          <a:prstGeom prst="rect">
            <a:avLst/>
          </a:prstGeom>
          <a:noFill/>
        </p:spPr>
        <p:txBody>
          <a:bodyPr wrap="none" rtlCol="0">
            <a:spAutoFit/>
          </a:bodyPr>
          <a:lstStyle/>
          <a:p>
            <a:r>
              <a:rPr lang="fr-FR" sz="1200" dirty="0">
                <a:latin typeface="Arial Nova" panose="020B0504020202020204" pitchFamily="34" charset="0"/>
              </a:rPr>
              <a:t>Présence d’un pare-feu :</a:t>
            </a:r>
          </a:p>
          <a:p>
            <a:endParaRPr lang="fr-FR" sz="1200" dirty="0">
              <a:latin typeface="Arial Nova" panose="020B0504020202020204" pitchFamily="34" charset="0"/>
            </a:endParaRPr>
          </a:p>
          <a:p>
            <a:r>
              <a:rPr lang="fr-FR" sz="1200" dirty="0">
                <a:latin typeface="Arial Nova" panose="020B0504020202020204" pitchFamily="34" charset="0"/>
              </a:rPr>
              <a:t>Marque : </a:t>
            </a:r>
          </a:p>
        </p:txBody>
      </p:sp>
      <p:sp>
        <p:nvSpPr>
          <p:cNvPr id="37" name="Rectangle 36">
            <a:extLst>
              <a:ext uri="{FF2B5EF4-FFF2-40B4-BE49-F238E27FC236}">
                <a16:creationId xmlns:a16="http://schemas.microsoft.com/office/drawing/2014/main" id="{B309BEA1-3C31-EE49-FE70-434AF194B48D}"/>
              </a:ext>
            </a:extLst>
          </p:cNvPr>
          <p:cNvSpPr/>
          <p:nvPr/>
        </p:nvSpPr>
        <p:spPr>
          <a:xfrm>
            <a:off x="6358198" y="1058601"/>
            <a:ext cx="2033017" cy="1524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8" name="ZoneTexte 37">
            <a:extLst>
              <a:ext uri="{FF2B5EF4-FFF2-40B4-BE49-F238E27FC236}">
                <a16:creationId xmlns:a16="http://schemas.microsoft.com/office/drawing/2014/main" id="{FD433E26-0823-44E6-BA76-1780F864952E}"/>
              </a:ext>
            </a:extLst>
          </p:cNvPr>
          <p:cNvSpPr txBox="1"/>
          <p:nvPr/>
        </p:nvSpPr>
        <p:spPr>
          <a:xfrm>
            <a:off x="6354960" y="832436"/>
            <a:ext cx="2268582"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Limites actuelles</a:t>
            </a:r>
          </a:p>
        </p:txBody>
      </p:sp>
      <p:sp>
        <p:nvSpPr>
          <p:cNvPr id="39" name="Rectangle 38">
            <a:extLst>
              <a:ext uri="{FF2B5EF4-FFF2-40B4-BE49-F238E27FC236}">
                <a16:creationId xmlns:a16="http://schemas.microsoft.com/office/drawing/2014/main" id="{C6CF3A05-D12C-4B1A-97B0-76CD0E1294C4}"/>
              </a:ext>
            </a:extLst>
          </p:cNvPr>
          <p:cNvSpPr/>
          <p:nvPr/>
        </p:nvSpPr>
        <p:spPr>
          <a:xfrm>
            <a:off x="6354960" y="3002645"/>
            <a:ext cx="2033017" cy="1524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40" name="ZoneTexte 39">
            <a:extLst>
              <a:ext uri="{FF2B5EF4-FFF2-40B4-BE49-F238E27FC236}">
                <a16:creationId xmlns:a16="http://schemas.microsoft.com/office/drawing/2014/main" id="{BFDFC87A-CCF1-C9B7-84BB-3FC237F673BC}"/>
              </a:ext>
            </a:extLst>
          </p:cNvPr>
          <p:cNvSpPr txBox="1"/>
          <p:nvPr/>
        </p:nvSpPr>
        <p:spPr>
          <a:xfrm>
            <a:off x="6354960" y="2776480"/>
            <a:ext cx="2813853"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Évolutions attendues</a:t>
            </a:r>
          </a:p>
        </p:txBody>
      </p:sp>
      <p:sp>
        <p:nvSpPr>
          <p:cNvPr id="41" name="Rectangle 40">
            <a:extLst>
              <a:ext uri="{FF2B5EF4-FFF2-40B4-BE49-F238E27FC236}">
                <a16:creationId xmlns:a16="http://schemas.microsoft.com/office/drawing/2014/main" id="{59184990-8941-F6E6-7E23-2EAFD069831C}"/>
              </a:ext>
            </a:extLst>
          </p:cNvPr>
          <p:cNvSpPr/>
          <p:nvPr/>
        </p:nvSpPr>
        <p:spPr>
          <a:xfrm>
            <a:off x="6354960" y="5060688"/>
            <a:ext cx="2033017" cy="1524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42" name="ZoneTexte 41">
            <a:extLst>
              <a:ext uri="{FF2B5EF4-FFF2-40B4-BE49-F238E27FC236}">
                <a16:creationId xmlns:a16="http://schemas.microsoft.com/office/drawing/2014/main" id="{B3954F1C-6A7F-79C4-697E-408238FF3B1A}"/>
              </a:ext>
            </a:extLst>
          </p:cNvPr>
          <p:cNvSpPr txBox="1"/>
          <p:nvPr/>
        </p:nvSpPr>
        <p:spPr>
          <a:xfrm>
            <a:off x="6354960" y="4834523"/>
            <a:ext cx="3197171" cy="378565"/>
          </a:xfrm>
          <a:prstGeom prst="rect">
            <a:avLst/>
          </a:prstGeom>
          <a:noFill/>
        </p:spPr>
        <p:txBody>
          <a:bodyPr wrap="square" rtlCol="0">
            <a:spAutoFit/>
          </a:bodyPr>
          <a:lstStyle/>
          <a:p>
            <a:pPr marL="0" marR="0" lvl="0" indent="0" algn="l" defTabSz="521437" rtl="0" eaLnBrk="1" fontAlgn="auto" latinLnBrk="0" hangingPunct="1">
              <a:lnSpc>
                <a:spcPct val="107000"/>
              </a:lnSpc>
              <a:spcBef>
                <a:spcPts val="0"/>
              </a:spcBef>
              <a:spcAft>
                <a:spcPts val="800"/>
              </a:spcAft>
              <a:buClrTx/>
              <a:buSzTx/>
              <a:buFontTx/>
              <a:buNone/>
              <a:tabLst/>
              <a:defRPr/>
            </a:pPr>
            <a:r>
              <a:rPr kumimoji="0" lang="fr-FR" sz="1800" b="1" i="0" u="none" strike="noStrike" kern="100" cap="none" spc="0" normalizeH="0" baseline="0" noProof="0" dirty="0">
                <a:ln>
                  <a:noFill/>
                </a:ln>
                <a:solidFill>
                  <a:prstClr val="black"/>
                </a:solidFill>
                <a:effectLst/>
                <a:uLnTx/>
                <a:uFillTx/>
                <a:latin typeface="Arial Nova" panose="020B0504020202020204" pitchFamily="34" charset="0"/>
                <a:ea typeface="Aptos" panose="020B0004020202020204" pitchFamily="34" charset="0"/>
                <a:cs typeface="Times New Roman" panose="02020603050405020304" pitchFamily="18" charset="0"/>
              </a:rPr>
              <a:t>Enjeux de sécurité/criticité</a:t>
            </a:r>
          </a:p>
        </p:txBody>
      </p:sp>
      <p:sp>
        <p:nvSpPr>
          <p:cNvPr id="43" name="Rectangle 1">
            <a:extLst>
              <a:ext uri="{FF2B5EF4-FFF2-40B4-BE49-F238E27FC236}">
                <a16:creationId xmlns:a16="http://schemas.microsoft.com/office/drawing/2014/main" id="{337457AB-C441-E236-C871-A07EC54BAB24}"/>
              </a:ext>
            </a:extLst>
          </p:cNvPr>
          <p:cNvSpPr>
            <a:spLocks noChangeArrowheads="1"/>
          </p:cNvSpPr>
          <p:nvPr/>
        </p:nvSpPr>
        <p:spPr bwMode="auto">
          <a:xfrm>
            <a:off x="6286439" y="1108144"/>
            <a:ext cx="4014706"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Capacité de filtrage insuffisante</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Manque de protection avancée (antivirus, IDS/IPS, </a:t>
            </a:r>
            <a:r>
              <a:rPr kumimoji="0" lang="fr-FR" altLang="fr-FR" sz="1100" b="0" i="0" u="none" strike="noStrike" cap="none" normalizeH="0" baseline="0" dirty="0" err="1">
                <a:ln>
                  <a:noFill/>
                </a:ln>
                <a:solidFill>
                  <a:schemeClr val="tx1"/>
                </a:solidFill>
                <a:effectLst/>
                <a:latin typeface="Arial Nova" panose="020B0504020202020204" pitchFamily="34" charset="0"/>
              </a:rPr>
              <a:t>sandboxing</a:t>
            </a:r>
            <a:r>
              <a:rPr kumimoji="0" lang="fr-FR" altLang="fr-FR" sz="1100" b="0" i="0" u="none" strike="noStrike" cap="none" normalizeH="0" baseline="0" dirty="0">
                <a:ln>
                  <a:noFill/>
                </a:ln>
                <a:solidFill>
                  <a:schemeClr val="tx1"/>
                </a:solidFill>
                <a:effectLst/>
                <a:latin typeface="Arial Nova" panose="020B0504020202020204" pitchFamily="34" charset="0"/>
              </a:rPr>
              <a:t>)</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Absence de VPN sécurisé</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Manque de supervision et d’alertes en temps réel</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Pare-feu vieillissant / non compatible avec les besoins actuels</a:t>
            </a:r>
          </a:p>
        </p:txBody>
      </p:sp>
      <p:sp>
        <p:nvSpPr>
          <p:cNvPr id="44" name="Rectangle 1">
            <a:extLst>
              <a:ext uri="{FF2B5EF4-FFF2-40B4-BE49-F238E27FC236}">
                <a16:creationId xmlns:a16="http://schemas.microsoft.com/office/drawing/2014/main" id="{5AA96EBE-7CF0-4491-5CC5-2573A059DFBD}"/>
              </a:ext>
            </a:extLst>
          </p:cNvPr>
          <p:cNvSpPr>
            <a:spLocks noChangeArrowheads="1"/>
          </p:cNvSpPr>
          <p:nvPr/>
        </p:nvSpPr>
        <p:spPr bwMode="auto">
          <a:xfrm>
            <a:off x="6286438" y="3174279"/>
            <a:ext cx="2929007"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Passage à un pare-feu Next-</a:t>
            </a:r>
            <a:r>
              <a:rPr kumimoji="0" lang="fr-FR" altLang="fr-FR" sz="1100" b="0" i="0" u="none" strike="noStrike" cap="none" normalizeH="0" baseline="0" dirty="0" err="1">
                <a:ln>
                  <a:noFill/>
                </a:ln>
                <a:solidFill>
                  <a:schemeClr val="tx1"/>
                </a:solidFill>
                <a:effectLst/>
                <a:latin typeface="Arial Nova" panose="020B0504020202020204" pitchFamily="34" charset="0"/>
              </a:rPr>
              <a:t>Gen</a:t>
            </a:r>
            <a:r>
              <a:rPr kumimoji="0" lang="fr-FR" altLang="fr-FR" sz="1100" b="0" i="0" u="none" strike="noStrike" cap="none" normalizeH="0" baseline="0" dirty="0">
                <a:ln>
                  <a:noFill/>
                </a:ln>
                <a:solidFill>
                  <a:schemeClr val="tx1"/>
                </a:solidFill>
                <a:effectLst/>
                <a:latin typeface="Arial Nova" panose="020B0504020202020204" pitchFamily="34" charset="0"/>
              </a:rPr>
              <a:t> (NGFW)</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Mise en place d’une protection avancée</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Ajout de VPN sécurisé pour le télétravail</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Surveillance et </a:t>
            </a:r>
            <a:r>
              <a:rPr kumimoji="0" lang="fr-FR" altLang="fr-FR" sz="1100" b="0" i="0" u="none" strike="noStrike" cap="none" normalizeH="0" baseline="0" dirty="0" err="1">
                <a:ln>
                  <a:noFill/>
                </a:ln>
                <a:solidFill>
                  <a:schemeClr val="tx1"/>
                </a:solidFill>
                <a:effectLst/>
                <a:latin typeface="Arial Nova" panose="020B0504020202020204" pitchFamily="34" charset="0"/>
              </a:rPr>
              <a:t>reporting</a:t>
            </a:r>
            <a:r>
              <a:rPr kumimoji="0" lang="fr-FR" altLang="fr-FR" sz="1100" b="0" i="0" u="none" strike="noStrike" cap="none" normalizeH="0" baseline="0" dirty="0">
                <a:ln>
                  <a:noFill/>
                </a:ln>
                <a:solidFill>
                  <a:schemeClr val="tx1"/>
                </a:solidFill>
                <a:effectLst/>
                <a:latin typeface="Arial Nova" panose="020B0504020202020204" pitchFamily="34" charset="0"/>
              </a:rPr>
              <a:t> en temps réel</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Redondance et haute disponibilité</a:t>
            </a:r>
          </a:p>
        </p:txBody>
      </p:sp>
      <p:sp>
        <p:nvSpPr>
          <p:cNvPr id="45" name="Rectangle 1">
            <a:extLst>
              <a:ext uri="{FF2B5EF4-FFF2-40B4-BE49-F238E27FC236}">
                <a16:creationId xmlns:a16="http://schemas.microsoft.com/office/drawing/2014/main" id="{58BDEC43-0A97-BD90-161C-A51065BFB9F0}"/>
              </a:ext>
            </a:extLst>
          </p:cNvPr>
          <p:cNvSpPr>
            <a:spLocks noChangeArrowheads="1"/>
          </p:cNvSpPr>
          <p:nvPr/>
        </p:nvSpPr>
        <p:spPr bwMode="auto">
          <a:xfrm>
            <a:off x="6286439" y="5100134"/>
            <a:ext cx="3886262"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Protection contre les cyberattaques (ransomware, phishing, DDoS)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Conformité réglementaire (RGPD, ISO 27001, PCI-DSS)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Besoin d’un monitoring en temps réel</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Gestion des accès et des droits utilisateurs</a:t>
            </a:r>
          </a:p>
        </p:txBody>
      </p:sp>
      <p:sp>
        <p:nvSpPr>
          <p:cNvPr id="60" name="Rectangle 59">
            <a:extLst>
              <a:ext uri="{FF2B5EF4-FFF2-40B4-BE49-F238E27FC236}">
                <a16:creationId xmlns:a16="http://schemas.microsoft.com/office/drawing/2014/main" id="{3FB573EB-E01D-27B2-15AC-81DB44082F43}"/>
              </a:ext>
            </a:extLst>
          </p:cNvPr>
          <p:cNvSpPr/>
          <p:nvPr/>
        </p:nvSpPr>
        <p:spPr>
          <a:xfrm>
            <a:off x="3823185" y="5549404"/>
            <a:ext cx="1033940" cy="2539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latin typeface="Arial Nova" panose="020B0504020202020204" pitchFamily="34" charset="0"/>
              </a:rPr>
              <a:t>CAMERA</a:t>
            </a:r>
          </a:p>
        </p:txBody>
      </p:sp>
      <p:sp>
        <p:nvSpPr>
          <p:cNvPr id="61" name="Rectangle 60">
            <a:extLst>
              <a:ext uri="{FF2B5EF4-FFF2-40B4-BE49-F238E27FC236}">
                <a16:creationId xmlns:a16="http://schemas.microsoft.com/office/drawing/2014/main" id="{47181C2A-EA8E-8A4F-EA7D-89A5AD087FD0}"/>
              </a:ext>
            </a:extLst>
          </p:cNvPr>
          <p:cNvSpPr/>
          <p:nvPr/>
        </p:nvSpPr>
        <p:spPr>
          <a:xfrm>
            <a:off x="2227160" y="6711856"/>
            <a:ext cx="1590463" cy="2539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latin typeface="Arial Nova" panose="020B0504020202020204" pitchFamily="34" charset="0"/>
              </a:rPr>
              <a:t>VISIO</a:t>
            </a:r>
          </a:p>
        </p:txBody>
      </p:sp>
      <p:sp>
        <p:nvSpPr>
          <p:cNvPr id="62" name="Rectangle 61">
            <a:extLst>
              <a:ext uri="{FF2B5EF4-FFF2-40B4-BE49-F238E27FC236}">
                <a16:creationId xmlns:a16="http://schemas.microsoft.com/office/drawing/2014/main" id="{FE163F2B-E6AD-BF9E-90C9-6EA17716E573}"/>
              </a:ext>
            </a:extLst>
          </p:cNvPr>
          <p:cNvSpPr/>
          <p:nvPr/>
        </p:nvSpPr>
        <p:spPr>
          <a:xfrm>
            <a:off x="987907" y="5568082"/>
            <a:ext cx="1242235" cy="2539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latin typeface="Arial Nova" panose="020B0504020202020204" pitchFamily="34" charset="0"/>
              </a:rPr>
              <a:t>SOFTPHONIE</a:t>
            </a:r>
          </a:p>
        </p:txBody>
      </p:sp>
      <p:sp>
        <p:nvSpPr>
          <p:cNvPr id="63" name="Rectangle 62">
            <a:extLst>
              <a:ext uri="{FF2B5EF4-FFF2-40B4-BE49-F238E27FC236}">
                <a16:creationId xmlns:a16="http://schemas.microsoft.com/office/drawing/2014/main" id="{D5754323-2D95-99A5-A6F7-8E4FE4072CC8}"/>
              </a:ext>
            </a:extLst>
          </p:cNvPr>
          <p:cNvSpPr/>
          <p:nvPr/>
        </p:nvSpPr>
        <p:spPr>
          <a:xfrm>
            <a:off x="2401274" y="5549404"/>
            <a:ext cx="1242234" cy="2539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latin typeface="Arial Nova" panose="020B0504020202020204" pitchFamily="34" charset="0"/>
              </a:rPr>
              <a:t>ORDINATEUR</a:t>
            </a:r>
          </a:p>
        </p:txBody>
      </p:sp>
      <p:sp>
        <p:nvSpPr>
          <p:cNvPr id="64" name="Rectangle 63">
            <a:extLst>
              <a:ext uri="{FF2B5EF4-FFF2-40B4-BE49-F238E27FC236}">
                <a16:creationId xmlns:a16="http://schemas.microsoft.com/office/drawing/2014/main" id="{6DEFBD09-D56A-EFC7-580E-4AB9CFF58EDD}"/>
              </a:ext>
            </a:extLst>
          </p:cNvPr>
          <p:cNvSpPr/>
          <p:nvPr/>
        </p:nvSpPr>
        <p:spPr>
          <a:xfrm>
            <a:off x="813793" y="6726903"/>
            <a:ext cx="1590463" cy="2539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latin typeface="Arial Nova" panose="020B0504020202020204" pitchFamily="34" charset="0"/>
              </a:rPr>
              <a:t>SERVEURS</a:t>
            </a:r>
          </a:p>
        </p:txBody>
      </p:sp>
      <p:sp>
        <p:nvSpPr>
          <p:cNvPr id="69" name="Rectangle 68">
            <a:extLst>
              <a:ext uri="{FF2B5EF4-FFF2-40B4-BE49-F238E27FC236}">
                <a16:creationId xmlns:a16="http://schemas.microsoft.com/office/drawing/2014/main" id="{86E35F19-CE82-9A51-F202-CE10BCB83D55}"/>
              </a:ext>
            </a:extLst>
          </p:cNvPr>
          <p:cNvSpPr/>
          <p:nvPr/>
        </p:nvSpPr>
        <p:spPr>
          <a:xfrm>
            <a:off x="3544924" y="6658163"/>
            <a:ext cx="1590463" cy="54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latin typeface="Arial Nova" panose="020B0504020202020204" pitchFamily="34" charset="0"/>
              </a:rPr>
              <a:t>CONNEXION LOGICIELLE</a:t>
            </a:r>
          </a:p>
        </p:txBody>
      </p:sp>
      <p:pic>
        <p:nvPicPr>
          <p:cNvPr id="4" name="Image 3">
            <a:extLst>
              <a:ext uri="{FF2B5EF4-FFF2-40B4-BE49-F238E27FC236}">
                <a16:creationId xmlns:a16="http://schemas.microsoft.com/office/drawing/2014/main" id="{DE2EB4F7-859F-1074-149B-E9127E080B3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pic>
        <p:nvPicPr>
          <p:cNvPr id="6" name="Graphique 5">
            <a:extLst>
              <a:ext uri="{FF2B5EF4-FFF2-40B4-BE49-F238E27FC236}">
                <a16:creationId xmlns:a16="http://schemas.microsoft.com/office/drawing/2014/main" id="{0A38BD89-7A57-4058-1A8D-9B36D4CD7A2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76628" y="4912839"/>
            <a:ext cx="527054" cy="508004"/>
          </a:xfrm>
          <a:prstGeom prst="rect">
            <a:avLst/>
          </a:prstGeom>
        </p:spPr>
      </p:pic>
      <p:pic>
        <p:nvPicPr>
          <p:cNvPr id="36" name="Graphique 35">
            <a:extLst>
              <a:ext uri="{FF2B5EF4-FFF2-40B4-BE49-F238E27FC236}">
                <a16:creationId xmlns:a16="http://schemas.microsoft.com/office/drawing/2014/main" id="{28F01290-97CC-5ADD-0732-311C28A5646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17705" y="6096757"/>
            <a:ext cx="553779" cy="553779"/>
          </a:xfrm>
          <a:prstGeom prst="rect">
            <a:avLst/>
          </a:prstGeom>
        </p:spPr>
      </p:pic>
      <p:pic>
        <p:nvPicPr>
          <p:cNvPr id="49" name="Graphique 48">
            <a:extLst>
              <a:ext uri="{FF2B5EF4-FFF2-40B4-BE49-F238E27FC236}">
                <a16:creationId xmlns:a16="http://schemas.microsoft.com/office/drawing/2014/main" id="{5822A904-514D-B24B-B5B8-3309DC9D987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17705" y="4973534"/>
            <a:ext cx="527054" cy="512413"/>
          </a:xfrm>
          <a:prstGeom prst="rect">
            <a:avLst/>
          </a:prstGeom>
        </p:spPr>
      </p:pic>
      <p:pic>
        <p:nvPicPr>
          <p:cNvPr id="51" name="Graphique 50">
            <a:extLst>
              <a:ext uri="{FF2B5EF4-FFF2-40B4-BE49-F238E27FC236}">
                <a16:creationId xmlns:a16="http://schemas.microsoft.com/office/drawing/2014/main" id="{92942DB1-2CD3-67FF-7F05-7B306B15DA1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08499" y="4984957"/>
            <a:ext cx="684336" cy="473279"/>
          </a:xfrm>
          <a:prstGeom prst="rect">
            <a:avLst/>
          </a:prstGeom>
        </p:spPr>
      </p:pic>
      <p:pic>
        <p:nvPicPr>
          <p:cNvPr id="55" name="Graphique 54">
            <a:extLst>
              <a:ext uri="{FF2B5EF4-FFF2-40B4-BE49-F238E27FC236}">
                <a16:creationId xmlns:a16="http://schemas.microsoft.com/office/drawing/2014/main" id="{C4B6C757-64D8-6B5A-F7CC-03251A9D81D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953050" y="6014542"/>
            <a:ext cx="687483" cy="648198"/>
          </a:xfrm>
          <a:prstGeom prst="rect">
            <a:avLst/>
          </a:prstGeom>
        </p:spPr>
      </p:pic>
      <p:pic>
        <p:nvPicPr>
          <p:cNvPr id="57" name="Graphique 56">
            <a:extLst>
              <a:ext uri="{FF2B5EF4-FFF2-40B4-BE49-F238E27FC236}">
                <a16:creationId xmlns:a16="http://schemas.microsoft.com/office/drawing/2014/main" id="{100CD1F4-2644-572F-AB2E-E7C67881C1F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672478" y="6075452"/>
            <a:ext cx="620357" cy="570729"/>
          </a:xfrm>
          <a:prstGeom prst="rect">
            <a:avLst/>
          </a:prstGeom>
        </p:spPr>
      </p:pic>
      <p:sp>
        <p:nvSpPr>
          <p:cNvPr id="71" name="Rectangle 70">
            <a:extLst>
              <a:ext uri="{FF2B5EF4-FFF2-40B4-BE49-F238E27FC236}">
                <a16:creationId xmlns:a16="http://schemas.microsoft.com/office/drawing/2014/main" id="{19E57F6E-CC8D-DF19-093E-C2ACD9AF3426}"/>
              </a:ext>
            </a:extLst>
          </p:cNvPr>
          <p:cNvSpPr/>
          <p:nvPr/>
        </p:nvSpPr>
        <p:spPr>
          <a:xfrm>
            <a:off x="541607" y="1315577"/>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2" name="Rectangle 71">
            <a:extLst>
              <a:ext uri="{FF2B5EF4-FFF2-40B4-BE49-F238E27FC236}">
                <a16:creationId xmlns:a16="http://schemas.microsoft.com/office/drawing/2014/main" id="{EA31B1EF-A586-72D6-75CD-8885DA918449}"/>
              </a:ext>
            </a:extLst>
          </p:cNvPr>
          <p:cNvSpPr/>
          <p:nvPr/>
        </p:nvSpPr>
        <p:spPr>
          <a:xfrm>
            <a:off x="549008" y="4320993"/>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Tree>
    <p:extLst>
      <p:ext uri="{BB962C8B-B14F-4D97-AF65-F5344CB8AC3E}">
        <p14:creationId xmlns:p14="http://schemas.microsoft.com/office/powerpoint/2010/main" val="2443996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3FB48-743F-23E4-626C-FA3EBE4CDAF6}"/>
            </a:ext>
          </a:extLst>
        </p:cNvPr>
        <p:cNvGrpSpPr/>
        <p:nvPr/>
      </p:nvGrpSpPr>
      <p:grpSpPr>
        <a:xfrm>
          <a:off x="0" y="0"/>
          <a:ext cx="0" cy="0"/>
          <a:chOff x="0" y="0"/>
          <a:chExt cx="0" cy="0"/>
        </a:xfrm>
      </p:grpSpPr>
      <p:graphicFrame>
        <p:nvGraphicFramePr>
          <p:cNvPr id="8" name="Tableau 7">
            <a:extLst>
              <a:ext uri="{FF2B5EF4-FFF2-40B4-BE49-F238E27FC236}">
                <a16:creationId xmlns:a16="http://schemas.microsoft.com/office/drawing/2014/main" id="{E2871D27-8B1E-27FE-C527-2B250F8A3D68}"/>
              </a:ext>
            </a:extLst>
          </p:cNvPr>
          <p:cNvGraphicFramePr>
            <a:graphicFrameLocks noGrp="1"/>
          </p:cNvGraphicFramePr>
          <p:nvPr>
            <p:extLst>
              <p:ext uri="{D42A27DB-BD31-4B8C-83A1-F6EECF244321}">
                <p14:modId xmlns:p14="http://schemas.microsoft.com/office/powerpoint/2010/main" val="2055401537"/>
              </p:ext>
            </p:extLst>
          </p:nvPr>
        </p:nvGraphicFramePr>
        <p:xfrm>
          <a:off x="1271709" y="1830547"/>
          <a:ext cx="8370185" cy="2954580"/>
        </p:xfrm>
        <a:graphic>
          <a:graphicData uri="http://schemas.openxmlformats.org/drawingml/2006/table">
            <a:tbl>
              <a:tblPr firstRow="1" bandRow="1">
                <a:effectLst/>
                <a:tableStyleId>{F5AB1C69-6EDB-4FF4-983F-18BD219EF322}</a:tableStyleId>
              </a:tblPr>
              <a:tblGrid>
                <a:gridCol w="1598767">
                  <a:extLst>
                    <a:ext uri="{9D8B030D-6E8A-4147-A177-3AD203B41FA5}">
                      <a16:colId xmlns:a16="http://schemas.microsoft.com/office/drawing/2014/main" val="3615684430"/>
                    </a:ext>
                  </a:extLst>
                </a:gridCol>
                <a:gridCol w="951865">
                  <a:extLst>
                    <a:ext uri="{9D8B030D-6E8A-4147-A177-3AD203B41FA5}">
                      <a16:colId xmlns:a16="http://schemas.microsoft.com/office/drawing/2014/main" val="2006163987"/>
                    </a:ext>
                  </a:extLst>
                </a:gridCol>
                <a:gridCol w="951865">
                  <a:extLst>
                    <a:ext uri="{9D8B030D-6E8A-4147-A177-3AD203B41FA5}">
                      <a16:colId xmlns:a16="http://schemas.microsoft.com/office/drawing/2014/main" val="1240341726"/>
                    </a:ext>
                  </a:extLst>
                </a:gridCol>
                <a:gridCol w="1685435">
                  <a:extLst>
                    <a:ext uri="{9D8B030D-6E8A-4147-A177-3AD203B41FA5}">
                      <a16:colId xmlns:a16="http://schemas.microsoft.com/office/drawing/2014/main" val="1191447353"/>
                    </a:ext>
                  </a:extLst>
                </a:gridCol>
                <a:gridCol w="1711363">
                  <a:extLst>
                    <a:ext uri="{9D8B030D-6E8A-4147-A177-3AD203B41FA5}">
                      <a16:colId xmlns:a16="http://schemas.microsoft.com/office/drawing/2014/main" val="872859464"/>
                    </a:ext>
                  </a:extLst>
                </a:gridCol>
                <a:gridCol w="1470890">
                  <a:extLst>
                    <a:ext uri="{9D8B030D-6E8A-4147-A177-3AD203B41FA5}">
                      <a16:colId xmlns:a16="http://schemas.microsoft.com/office/drawing/2014/main" val="3064555056"/>
                    </a:ext>
                  </a:extLst>
                </a:gridCol>
              </a:tblGrid>
              <a:tr h="426720">
                <a:tc>
                  <a:txBody>
                    <a:bodyPr/>
                    <a:lstStyle/>
                    <a:p>
                      <a:pPr marL="0" algn="ctr" defTabSz="457200" rtl="0" eaLnBrk="1" latinLnBrk="0" hangingPunct="1"/>
                      <a:r>
                        <a:rPr lang="fr-FR" sz="1100"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Adresse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00B050"/>
                    </a:solidFill>
                  </a:tcPr>
                </a:tc>
                <a:tc>
                  <a:txBody>
                    <a:bodyPr/>
                    <a:lstStyle/>
                    <a:p>
                      <a:pPr marL="0" algn="ctr" defTabSz="457200" rtl="0" eaLnBrk="1" latinLnBrk="0" hangingPunct="1"/>
                      <a:r>
                        <a:rPr lang="fr-FR" sz="1100" kern="1200" dirty="0" err="1">
                          <a:solidFill>
                            <a:schemeClr val="bg1"/>
                          </a:solidFill>
                          <a:latin typeface="Century Gothic" panose="020B0502020202020204" pitchFamily="34" charset="0"/>
                          <a:ea typeface="Lato Semibold" panose="020F0502020204030203" pitchFamily="34" charset="0"/>
                          <a:cs typeface="Arial" panose="020B0604020202020204" pitchFamily="34" charset="0"/>
                        </a:rPr>
                        <a:t>Nbe</a:t>
                      </a:r>
                      <a:r>
                        <a:rPr lang="fr-FR" sz="1100"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 collab.</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00B050"/>
                    </a:solidFill>
                  </a:tcPr>
                </a:tc>
                <a:tc>
                  <a:txBody>
                    <a:bodyPr/>
                    <a:lstStyle/>
                    <a:p>
                      <a:pPr marL="0" algn="ctr" defTabSz="457200" rtl="0" eaLnBrk="1" latinLnBrk="0" hangingPunct="1"/>
                      <a:r>
                        <a:rPr lang="fr-FR" sz="1100"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Pare-feu</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00B050"/>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Niveau de satisfaction</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00B050"/>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Date d’engagement</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00B050"/>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Coût mensuel</a:t>
                      </a:r>
                    </a:p>
                  </a:txBody>
                  <a:tcPr anchor="ctr">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3792040576"/>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0669157"/>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01410505"/>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486584"/>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07455821"/>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3903978"/>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6891561"/>
                  </a:ext>
                </a:extLst>
              </a:tr>
            </a:tbl>
          </a:graphicData>
        </a:graphic>
      </p:graphicFrame>
      <p:sp>
        <p:nvSpPr>
          <p:cNvPr id="5" name="Rectangle 4">
            <a:extLst>
              <a:ext uri="{FF2B5EF4-FFF2-40B4-BE49-F238E27FC236}">
                <a16:creationId xmlns:a16="http://schemas.microsoft.com/office/drawing/2014/main" id="{F9FF9E9E-32DB-5E70-4E03-8E21B6EF8563}"/>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6" name="Titre 1">
            <a:extLst>
              <a:ext uri="{FF2B5EF4-FFF2-40B4-BE49-F238E27FC236}">
                <a16:creationId xmlns:a16="http://schemas.microsoft.com/office/drawing/2014/main" id="{8D21768F-437D-5312-EA5F-A2E05A319F6B}"/>
              </a:ext>
            </a:extLst>
          </p:cNvPr>
          <p:cNvSpPr txBox="1">
            <a:spLocks/>
          </p:cNvSpPr>
          <p:nvPr/>
        </p:nvSpPr>
        <p:spPr>
          <a:xfrm>
            <a:off x="1407168" y="353999"/>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PARE-FEU (FIREWALL)</a:t>
            </a:r>
          </a:p>
        </p:txBody>
      </p:sp>
      <p:pic>
        <p:nvPicPr>
          <p:cNvPr id="9" name="Image 8" descr="Une image contenant capture d’écran, Graphique, symbole, graphisme&#10;&#10;Le contenu généré par l’IA peut être incorrect.">
            <a:extLst>
              <a:ext uri="{FF2B5EF4-FFF2-40B4-BE49-F238E27FC236}">
                <a16:creationId xmlns:a16="http://schemas.microsoft.com/office/drawing/2014/main" id="{0010E3C5-1BD4-181B-8499-B43D8252827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86138" y="232951"/>
            <a:ext cx="720000" cy="720000"/>
          </a:xfrm>
          <a:prstGeom prst="rect">
            <a:avLst/>
          </a:prstGeom>
        </p:spPr>
      </p:pic>
      <p:pic>
        <p:nvPicPr>
          <p:cNvPr id="3" name="Image 2">
            <a:extLst>
              <a:ext uri="{FF2B5EF4-FFF2-40B4-BE49-F238E27FC236}">
                <a16:creationId xmlns:a16="http://schemas.microsoft.com/office/drawing/2014/main" id="{C0EBA55F-DB71-2856-1425-34C9B131853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Tree>
    <p:extLst>
      <p:ext uri="{BB962C8B-B14F-4D97-AF65-F5344CB8AC3E}">
        <p14:creationId xmlns:p14="http://schemas.microsoft.com/office/powerpoint/2010/main" val="876398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6F1A9-CF6B-2FD9-0E3C-A1004E463BA6}"/>
            </a:ext>
          </a:extLst>
        </p:cNvPr>
        <p:cNvGrpSpPr/>
        <p:nvPr/>
      </p:nvGrpSpPr>
      <p:grpSpPr>
        <a:xfrm>
          <a:off x="0" y="0"/>
          <a:ext cx="0" cy="0"/>
          <a:chOff x="0" y="0"/>
          <a:chExt cx="0" cy="0"/>
        </a:xfrm>
      </p:grpSpPr>
      <p:sp>
        <p:nvSpPr>
          <p:cNvPr id="57" name="Rectangle 56">
            <a:extLst>
              <a:ext uri="{FF2B5EF4-FFF2-40B4-BE49-F238E27FC236}">
                <a16:creationId xmlns:a16="http://schemas.microsoft.com/office/drawing/2014/main" id="{DF3977A3-71DE-1589-7E7C-32E68598D16D}"/>
              </a:ext>
            </a:extLst>
          </p:cNvPr>
          <p:cNvSpPr/>
          <p:nvPr/>
        </p:nvSpPr>
        <p:spPr>
          <a:xfrm>
            <a:off x="890220" y="1344187"/>
            <a:ext cx="4776797" cy="2427085"/>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4" name="Titre 1">
            <a:extLst>
              <a:ext uri="{FF2B5EF4-FFF2-40B4-BE49-F238E27FC236}">
                <a16:creationId xmlns:a16="http://schemas.microsoft.com/office/drawing/2014/main" id="{4B02DBEB-8B37-9E3C-A954-E0A46812D214}"/>
              </a:ext>
            </a:extLst>
          </p:cNvPr>
          <p:cNvSpPr txBox="1">
            <a:spLocks/>
          </p:cNvSpPr>
          <p:nvPr/>
        </p:nvSpPr>
        <p:spPr>
          <a:xfrm>
            <a:off x="1320435" y="310646"/>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FIBRE &amp; TRÈS HAUT DÉBIT</a:t>
            </a:r>
          </a:p>
        </p:txBody>
      </p:sp>
      <p:pic>
        <p:nvPicPr>
          <p:cNvPr id="2" name="Image 1">
            <a:extLst>
              <a:ext uri="{FF2B5EF4-FFF2-40B4-BE49-F238E27FC236}">
                <a16:creationId xmlns:a16="http://schemas.microsoft.com/office/drawing/2014/main" id="{DF7C3016-4007-ECDF-1D6D-56ACC0E184F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518640" y="225433"/>
            <a:ext cx="720000" cy="720000"/>
          </a:xfrm>
          <a:prstGeom prst="rect">
            <a:avLst/>
          </a:prstGeom>
        </p:spPr>
      </p:pic>
      <p:sp>
        <p:nvSpPr>
          <p:cNvPr id="39" name="ZoneTexte 38">
            <a:extLst>
              <a:ext uri="{FF2B5EF4-FFF2-40B4-BE49-F238E27FC236}">
                <a16:creationId xmlns:a16="http://schemas.microsoft.com/office/drawing/2014/main" id="{FD220C01-7241-09A8-BFB2-46B202294372}"/>
              </a:ext>
            </a:extLst>
          </p:cNvPr>
          <p:cNvSpPr txBox="1"/>
          <p:nvPr/>
        </p:nvSpPr>
        <p:spPr>
          <a:xfrm>
            <a:off x="1457713" y="2385477"/>
            <a:ext cx="1191095" cy="461665"/>
          </a:xfrm>
          <a:prstGeom prst="rect">
            <a:avLst/>
          </a:prstGeom>
          <a:noFill/>
        </p:spPr>
        <p:txBody>
          <a:bodyPr wrap="none" rtlCol="0">
            <a:spAutoFit/>
          </a:bodyPr>
          <a:lstStyle/>
          <a:p>
            <a:pPr algn="ctr"/>
            <a:r>
              <a:rPr lang="fr-FR" sz="1200" dirty="0">
                <a:latin typeface="Arial Nova" panose="020B0504020202020204" pitchFamily="34" charset="0"/>
              </a:rPr>
              <a:t>Nb utilisateurs </a:t>
            </a:r>
          </a:p>
          <a:p>
            <a:pPr algn="ctr"/>
            <a:r>
              <a:rPr lang="fr-FR" sz="1200" dirty="0">
                <a:latin typeface="Arial Nova" panose="020B0504020202020204" pitchFamily="34" charset="0"/>
              </a:rPr>
              <a:t>potentiels</a:t>
            </a:r>
          </a:p>
        </p:txBody>
      </p:sp>
      <p:sp>
        <p:nvSpPr>
          <p:cNvPr id="42" name="ZoneTexte 41">
            <a:extLst>
              <a:ext uri="{FF2B5EF4-FFF2-40B4-BE49-F238E27FC236}">
                <a16:creationId xmlns:a16="http://schemas.microsoft.com/office/drawing/2014/main" id="{7813A7C0-7AAA-A564-E7C7-1C26989175D9}"/>
              </a:ext>
            </a:extLst>
          </p:cNvPr>
          <p:cNvSpPr txBox="1"/>
          <p:nvPr/>
        </p:nvSpPr>
        <p:spPr>
          <a:xfrm>
            <a:off x="2662068" y="2385817"/>
            <a:ext cx="1191095" cy="461665"/>
          </a:xfrm>
          <a:prstGeom prst="rect">
            <a:avLst/>
          </a:prstGeom>
          <a:noFill/>
        </p:spPr>
        <p:txBody>
          <a:bodyPr wrap="none" rtlCol="0">
            <a:spAutoFit/>
          </a:bodyPr>
          <a:lstStyle/>
          <a:p>
            <a:pPr algn="ctr"/>
            <a:r>
              <a:rPr lang="fr-FR" sz="1200" dirty="0">
                <a:latin typeface="Arial Nova" panose="020B0504020202020204" pitchFamily="34" charset="0"/>
              </a:rPr>
              <a:t>Nb utilisateurs </a:t>
            </a:r>
          </a:p>
          <a:p>
            <a:pPr algn="ctr"/>
            <a:r>
              <a:rPr lang="fr-FR" sz="1200" dirty="0">
                <a:latin typeface="Arial Nova" panose="020B0504020202020204" pitchFamily="34" charset="0"/>
              </a:rPr>
              <a:t>simultanés</a:t>
            </a:r>
          </a:p>
        </p:txBody>
      </p:sp>
      <p:sp>
        <p:nvSpPr>
          <p:cNvPr id="43" name="Rectangle 42">
            <a:extLst>
              <a:ext uri="{FF2B5EF4-FFF2-40B4-BE49-F238E27FC236}">
                <a16:creationId xmlns:a16="http://schemas.microsoft.com/office/drawing/2014/main" id="{87920C81-72D3-1CF2-088F-597AC1E10C01}"/>
              </a:ext>
            </a:extLst>
          </p:cNvPr>
          <p:cNvSpPr/>
          <p:nvPr/>
        </p:nvSpPr>
        <p:spPr>
          <a:xfrm>
            <a:off x="2897615" y="2866468"/>
            <a:ext cx="720000" cy="7200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5" name="Rectangle 4">
            <a:extLst>
              <a:ext uri="{FF2B5EF4-FFF2-40B4-BE49-F238E27FC236}">
                <a16:creationId xmlns:a16="http://schemas.microsoft.com/office/drawing/2014/main" id="{11C95BB5-F1B1-3FD7-46B8-43062D591FE1}"/>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58" name="ZoneTexte 57">
            <a:extLst>
              <a:ext uri="{FF2B5EF4-FFF2-40B4-BE49-F238E27FC236}">
                <a16:creationId xmlns:a16="http://schemas.microsoft.com/office/drawing/2014/main" id="{20A24B76-2848-0A86-627F-1BDEC22B81A7}"/>
              </a:ext>
            </a:extLst>
          </p:cNvPr>
          <p:cNvSpPr txBox="1"/>
          <p:nvPr/>
        </p:nvSpPr>
        <p:spPr>
          <a:xfrm>
            <a:off x="789926" y="1210863"/>
            <a:ext cx="3082190" cy="338554"/>
          </a:xfrm>
          <a:prstGeom prst="rect">
            <a:avLst/>
          </a:prstGeom>
          <a:noFill/>
        </p:spPr>
        <p:txBody>
          <a:bodyPr wrap="none" rtlCol="0">
            <a:spAutoFit/>
          </a:bodyPr>
          <a:lstStyle/>
          <a:p>
            <a:r>
              <a:rPr lang="fr-FR" sz="1600" b="1" dirty="0">
                <a:latin typeface="Arial Nova" panose="020B0504020202020204" pitchFamily="34" charset="0"/>
              </a:rPr>
              <a:t>VOTRE ÉQUIPEMENT ACTUEL</a:t>
            </a:r>
          </a:p>
        </p:txBody>
      </p:sp>
      <p:sp>
        <p:nvSpPr>
          <p:cNvPr id="61" name="Rectangle 60">
            <a:extLst>
              <a:ext uri="{FF2B5EF4-FFF2-40B4-BE49-F238E27FC236}">
                <a16:creationId xmlns:a16="http://schemas.microsoft.com/office/drawing/2014/main" id="{C795A010-2563-31CE-9451-3E098058E75F}"/>
              </a:ext>
            </a:extLst>
          </p:cNvPr>
          <p:cNvSpPr/>
          <p:nvPr/>
        </p:nvSpPr>
        <p:spPr>
          <a:xfrm>
            <a:off x="1671698" y="2866468"/>
            <a:ext cx="720000" cy="7200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62" name="ZoneTexte 61">
            <a:extLst>
              <a:ext uri="{FF2B5EF4-FFF2-40B4-BE49-F238E27FC236}">
                <a16:creationId xmlns:a16="http://schemas.microsoft.com/office/drawing/2014/main" id="{C345C55C-DEF0-4A20-88AC-571DFDBF8DC1}"/>
              </a:ext>
            </a:extLst>
          </p:cNvPr>
          <p:cNvSpPr txBox="1"/>
          <p:nvPr/>
        </p:nvSpPr>
        <p:spPr>
          <a:xfrm>
            <a:off x="1117360" y="1625360"/>
            <a:ext cx="994247" cy="646331"/>
          </a:xfrm>
          <a:prstGeom prst="rect">
            <a:avLst/>
          </a:prstGeom>
          <a:noFill/>
        </p:spPr>
        <p:txBody>
          <a:bodyPr wrap="none" rtlCol="0">
            <a:spAutoFit/>
          </a:bodyPr>
          <a:lstStyle/>
          <a:p>
            <a:r>
              <a:rPr lang="fr-FR" sz="1200" dirty="0">
                <a:latin typeface="Arial Nova" panose="020B0504020202020204" pitchFamily="34" charset="0"/>
              </a:rPr>
              <a:t>Solution :</a:t>
            </a:r>
          </a:p>
          <a:p>
            <a:endParaRPr lang="fr-FR" sz="1200" dirty="0">
              <a:latin typeface="Arial Nova" panose="020B0504020202020204" pitchFamily="34" charset="0"/>
            </a:endParaRPr>
          </a:p>
          <a:p>
            <a:r>
              <a:rPr lang="fr-FR" sz="1200" dirty="0">
                <a:latin typeface="Arial Nova" panose="020B0504020202020204" pitchFamily="34" charset="0"/>
              </a:rPr>
              <a:t>Prestataire :</a:t>
            </a:r>
          </a:p>
        </p:txBody>
      </p:sp>
      <p:sp>
        <p:nvSpPr>
          <p:cNvPr id="64" name="ZoneTexte 63">
            <a:extLst>
              <a:ext uri="{FF2B5EF4-FFF2-40B4-BE49-F238E27FC236}">
                <a16:creationId xmlns:a16="http://schemas.microsoft.com/office/drawing/2014/main" id="{7C7617FC-5A1E-E6D4-7459-6F78AA51D7CD}"/>
              </a:ext>
            </a:extLst>
          </p:cNvPr>
          <p:cNvSpPr txBox="1"/>
          <p:nvPr/>
        </p:nvSpPr>
        <p:spPr>
          <a:xfrm>
            <a:off x="4062437" y="2375172"/>
            <a:ext cx="941733" cy="461665"/>
          </a:xfrm>
          <a:prstGeom prst="rect">
            <a:avLst/>
          </a:prstGeom>
          <a:noFill/>
        </p:spPr>
        <p:txBody>
          <a:bodyPr wrap="none" rtlCol="0">
            <a:spAutoFit/>
          </a:bodyPr>
          <a:lstStyle/>
          <a:p>
            <a:pPr algn="ctr"/>
            <a:r>
              <a:rPr lang="fr-FR" sz="1200" dirty="0">
                <a:latin typeface="Arial Nova" panose="020B0504020202020204" pitchFamily="34" charset="0"/>
              </a:rPr>
              <a:t>Niveau de </a:t>
            </a:r>
          </a:p>
          <a:p>
            <a:pPr algn="ctr"/>
            <a:r>
              <a:rPr lang="fr-FR" sz="1200" dirty="0">
                <a:latin typeface="Arial Nova" panose="020B0504020202020204" pitchFamily="34" charset="0"/>
              </a:rPr>
              <a:t>satisfaction</a:t>
            </a:r>
          </a:p>
        </p:txBody>
      </p:sp>
      <p:sp>
        <p:nvSpPr>
          <p:cNvPr id="65" name="Rectangle 64">
            <a:extLst>
              <a:ext uri="{FF2B5EF4-FFF2-40B4-BE49-F238E27FC236}">
                <a16:creationId xmlns:a16="http://schemas.microsoft.com/office/drawing/2014/main" id="{6FFBEC17-0C22-5B65-9481-5C399A8D9764}"/>
              </a:ext>
            </a:extLst>
          </p:cNvPr>
          <p:cNvSpPr/>
          <p:nvPr/>
        </p:nvSpPr>
        <p:spPr>
          <a:xfrm>
            <a:off x="4173300" y="2855823"/>
            <a:ext cx="720000" cy="7200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68" name="Rectangle 67">
            <a:extLst>
              <a:ext uri="{FF2B5EF4-FFF2-40B4-BE49-F238E27FC236}">
                <a16:creationId xmlns:a16="http://schemas.microsoft.com/office/drawing/2014/main" id="{A7F81795-874F-4057-4C60-131857A1A685}"/>
              </a:ext>
            </a:extLst>
          </p:cNvPr>
          <p:cNvSpPr/>
          <p:nvPr/>
        </p:nvSpPr>
        <p:spPr>
          <a:xfrm>
            <a:off x="6366321" y="1106867"/>
            <a:ext cx="2033017" cy="1524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7" name="ZoneTexte 36">
            <a:extLst>
              <a:ext uri="{FF2B5EF4-FFF2-40B4-BE49-F238E27FC236}">
                <a16:creationId xmlns:a16="http://schemas.microsoft.com/office/drawing/2014/main" id="{3061FEB0-56AF-27B5-5ED0-B09D859D439B}"/>
              </a:ext>
            </a:extLst>
          </p:cNvPr>
          <p:cNvSpPr txBox="1"/>
          <p:nvPr/>
        </p:nvSpPr>
        <p:spPr>
          <a:xfrm>
            <a:off x="6363083" y="880702"/>
            <a:ext cx="2268582"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Limites actuelles</a:t>
            </a:r>
          </a:p>
        </p:txBody>
      </p:sp>
      <p:sp>
        <p:nvSpPr>
          <p:cNvPr id="72" name="Rectangle 71">
            <a:extLst>
              <a:ext uri="{FF2B5EF4-FFF2-40B4-BE49-F238E27FC236}">
                <a16:creationId xmlns:a16="http://schemas.microsoft.com/office/drawing/2014/main" id="{F86CE51D-5019-37BA-561C-870919FE4163}"/>
              </a:ext>
            </a:extLst>
          </p:cNvPr>
          <p:cNvSpPr/>
          <p:nvPr/>
        </p:nvSpPr>
        <p:spPr>
          <a:xfrm>
            <a:off x="6363083" y="3050911"/>
            <a:ext cx="2033017" cy="1524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0" name="ZoneTexte 69">
            <a:extLst>
              <a:ext uri="{FF2B5EF4-FFF2-40B4-BE49-F238E27FC236}">
                <a16:creationId xmlns:a16="http://schemas.microsoft.com/office/drawing/2014/main" id="{62BE72A4-1E0F-752C-85CC-CCEB51F32E82}"/>
              </a:ext>
            </a:extLst>
          </p:cNvPr>
          <p:cNvSpPr txBox="1"/>
          <p:nvPr/>
        </p:nvSpPr>
        <p:spPr>
          <a:xfrm>
            <a:off x="6363083" y="2824746"/>
            <a:ext cx="2813853"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Évolutions attendues</a:t>
            </a:r>
          </a:p>
        </p:txBody>
      </p:sp>
      <p:sp>
        <p:nvSpPr>
          <p:cNvPr id="73" name="Rectangle 72">
            <a:extLst>
              <a:ext uri="{FF2B5EF4-FFF2-40B4-BE49-F238E27FC236}">
                <a16:creationId xmlns:a16="http://schemas.microsoft.com/office/drawing/2014/main" id="{32F667C0-5AC5-4DD5-F3EC-8971EDB34826}"/>
              </a:ext>
            </a:extLst>
          </p:cNvPr>
          <p:cNvSpPr/>
          <p:nvPr/>
        </p:nvSpPr>
        <p:spPr>
          <a:xfrm>
            <a:off x="6363083" y="5108954"/>
            <a:ext cx="2033017" cy="1524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4" name="ZoneTexte 73">
            <a:extLst>
              <a:ext uri="{FF2B5EF4-FFF2-40B4-BE49-F238E27FC236}">
                <a16:creationId xmlns:a16="http://schemas.microsoft.com/office/drawing/2014/main" id="{B23E2EAD-0806-EFCF-438B-1BCCBDF1ED51}"/>
              </a:ext>
            </a:extLst>
          </p:cNvPr>
          <p:cNvSpPr txBox="1"/>
          <p:nvPr/>
        </p:nvSpPr>
        <p:spPr>
          <a:xfrm>
            <a:off x="6363083" y="4882789"/>
            <a:ext cx="3197171" cy="378565"/>
          </a:xfrm>
          <a:prstGeom prst="rect">
            <a:avLst/>
          </a:prstGeom>
          <a:noFill/>
        </p:spPr>
        <p:txBody>
          <a:bodyPr wrap="square" rtlCol="0">
            <a:spAutoFit/>
          </a:bodyPr>
          <a:lstStyle/>
          <a:p>
            <a:pPr marL="0" marR="0" lvl="0" indent="0" algn="l" defTabSz="521437" rtl="0" eaLnBrk="1" fontAlgn="auto" latinLnBrk="0" hangingPunct="1">
              <a:lnSpc>
                <a:spcPct val="107000"/>
              </a:lnSpc>
              <a:spcBef>
                <a:spcPts val="0"/>
              </a:spcBef>
              <a:spcAft>
                <a:spcPts val="800"/>
              </a:spcAft>
              <a:buClrTx/>
              <a:buSzTx/>
              <a:buFontTx/>
              <a:buNone/>
              <a:tabLst/>
              <a:defRPr/>
            </a:pPr>
            <a:r>
              <a:rPr kumimoji="0" lang="fr-FR" sz="1800" b="1" i="0" u="none" strike="noStrike" kern="100" cap="none" spc="0" normalizeH="0" baseline="0" noProof="0" dirty="0">
                <a:ln>
                  <a:noFill/>
                </a:ln>
                <a:solidFill>
                  <a:prstClr val="black"/>
                </a:solidFill>
                <a:effectLst/>
                <a:uLnTx/>
                <a:uFillTx/>
                <a:latin typeface="Arial Nova" panose="020B0504020202020204" pitchFamily="34" charset="0"/>
                <a:ea typeface="Aptos" panose="020B0004020202020204" pitchFamily="34" charset="0"/>
                <a:cs typeface="Times New Roman" panose="02020603050405020304" pitchFamily="18" charset="0"/>
              </a:rPr>
              <a:t>Enjeux de sécurité/criticité</a:t>
            </a:r>
          </a:p>
        </p:txBody>
      </p:sp>
      <p:sp>
        <p:nvSpPr>
          <p:cNvPr id="75" name="Rectangle 1">
            <a:extLst>
              <a:ext uri="{FF2B5EF4-FFF2-40B4-BE49-F238E27FC236}">
                <a16:creationId xmlns:a16="http://schemas.microsoft.com/office/drawing/2014/main" id="{7AA6F202-4614-B922-FE1A-493084164446}"/>
              </a:ext>
            </a:extLst>
          </p:cNvPr>
          <p:cNvSpPr>
            <a:spLocks noChangeArrowheads="1"/>
          </p:cNvSpPr>
          <p:nvPr/>
        </p:nvSpPr>
        <p:spPr bwMode="auto">
          <a:xfrm>
            <a:off x="6294561" y="1156410"/>
            <a:ext cx="3860352"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Débit insuffisant</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Coupures fréquentes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Latence élevée</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Manque de redondance / backup</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Absence de QoS (priorisation des flux)</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Non évolutif (limite technique de l’infrastructure actuelle)</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Coût élevé par rapport aux besoins</a:t>
            </a:r>
          </a:p>
        </p:txBody>
      </p:sp>
      <p:sp>
        <p:nvSpPr>
          <p:cNvPr id="76" name="Rectangle 1">
            <a:extLst>
              <a:ext uri="{FF2B5EF4-FFF2-40B4-BE49-F238E27FC236}">
                <a16:creationId xmlns:a16="http://schemas.microsoft.com/office/drawing/2014/main" id="{8E06D6F6-214B-80FE-820D-979A51ACF07B}"/>
              </a:ext>
            </a:extLst>
          </p:cNvPr>
          <p:cNvSpPr>
            <a:spLocks noChangeArrowheads="1"/>
          </p:cNvSpPr>
          <p:nvPr/>
        </p:nvSpPr>
        <p:spPr bwMode="auto">
          <a:xfrm>
            <a:off x="6294561" y="3222545"/>
            <a:ext cx="3738524"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Passage à un débit supérieur</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Mise en place d’un lien de backup (4G/5G, autre fibre)</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Priorisation des flux (QoS)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Optimisation des coûts et flexibilité des abonnements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Intégration avec SD-WAN</a:t>
            </a:r>
          </a:p>
        </p:txBody>
      </p:sp>
      <p:sp>
        <p:nvSpPr>
          <p:cNvPr id="77" name="Rectangle 1">
            <a:extLst>
              <a:ext uri="{FF2B5EF4-FFF2-40B4-BE49-F238E27FC236}">
                <a16:creationId xmlns:a16="http://schemas.microsoft.com/office/drawing/2014/main" id="{F6DB03E9-6C8B-C10D-112D-8A995AC8798B}"/>
              </a:ext>
            </a:extLst>
          </p:cNvPr>
          <p:cNvSpPr>
            <a:spLocks noChangeArrowheads="1"/>
          </p:cNvSpPr>
          <p:nvPr/>
        </p:nvSpPr>
        <p:spPr bwMode="auto">
          <a:xfrm>
            <a:off x="6388837" y="5359328"/>
            <a:ext cx="3578224"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Risque d’interruption impactant la productivité</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Données sensibles circulant sur le réseau</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Besoin de garantie de service (SLA, GTR)</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Nécessité de redondance pour assurer la continuité</a:t>
            </a:r>
            <a:endParaRPr lang="fr-FR" altLang="fr-FR" sz="1100" dirty="0">
              <a:latin typeface="Arial Nova" panose="020B0504020202020204" pitchFamily="34" charset="0"/>
            </a:endParaRPr>
          </a:p>
        </p:txBody>
      </p:sp>
      <p:pic>
        <p:nvPicPr>
          <p:cNvPr id="6" name="Image 5">
            <a:extLst>
              <a:ext uri="{FF2B5EF4-FFF2-40B4-BE49-F238E27FC236}">
                <a16:creationId xmlns:a16="http://schemas.microsoft.com/office/drawing/2014/main" id="{8E807018-3382-1D07-F2BC-39548C9B036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28" name="ZoneTexte 27">
            <a:extLst>
              <a:ext uri="{FF2B5EF4-FFF2-40B4-BE49-F238E27FC236}">
                <a16:creationId xmlns:a16="http://schemas.microsoft.com/office/drawing/2014/main" id="{DD7AEFFC-29AA-CB00-1DDF-906A3B73B4F0}"/>
              </a:ext>
            </a:extLst>
          </p:cNvPr>
          <p:cNvSpPr txBox="1"/>
          <p:nvPr/>
        </p:nvSpPr>
        <p:spPr>
          <a:xfrm>
            <a:off x="748488" y="3979629"/>
            <a:ext cx="1494705" cy="338554"/>
          </a:xfrm>
          <a:prstGeom prst="rect">
            <a:avLst/>
          </a:prstGeom>
          <a:noFill/>
        </p:spPr>
        <p:txBody>
          <a:bodyPr wrap="none" rtlCol="0">
            <a:spAutoFit/>
          </a:bodyPr>
          <a:lstStyle/>
          <a:p>
            <a:r>
              <a:rPr lang="fr-FR" sz="1600" b="1" dirty="0">
                <a:latin typeface="Arial Nova" panose="020B0504020202020204" pitchFamily="34" charset="0"/>
              </a:rPr>
              <a:t>VOS USAGES</a:t>
            </a:r>
          </a:p>
        </p:txBody>
      </p:sp>
      <p:sp>
        <p:nvSpPr>
          <p:cNvPr id="44" name="ZoneTexte 43">
            <a:extLst>
              <a:ext uri="{FF2B5EF4-FFF2-40B4-BE49-F238E27FC236}">
                <a16:creationId xmlns:a16="http://schemas.microsoft.com/office/drawing/2014/main" id="{F85F58F9-2117-973E-BF6E-6A2D13C8F632}"/>
              </a:ext>
            </a:extLst>
          </p:cNvPr>
          <p:cNvSpPr txBox="1"/>
          <p:nvPr/>
        </p:nvSpPr>
        <p:spPr>
          <a:xfrm>
            <a:off x="3772592" y="3989104"/>
            <a:ext cx="184731" cy="408253"/>
          </a:xfrm>
          <a:prstGeom prst="rect">
            <a:avLst/>
          </a:prstGeom>
          <a:noFill/>
        </p:spPr>
        <p:txBody>
          <a:bodyPr wrap="none" rtlCol="0">
            <a:spAutoFit/>
          </a:bodyPr>
          <a:lstStyle/>
          <a:p>
            <a:endParaRPr lang="fr-FR" dirty="0">
              <a:latin typeface="Arial Nova" panose="020B0504020202020204" pitchFamily="34" charset="0"/>
            </a:endParaRPr>
          </a:p>
        </p:txBody>
      </p:sp>
      <p:sp>
        <p:nvSpPr>
          <p:cNvPr id="89" name="Rectangle 88">
            <a:extLst>
              <a:ext uri="{FF2B5EF4-FFF2-40B4-BE49-F238E27FC236}">
                <a16:creationId xmlns:a16="http://schemas.microsoft.com/office/drawing/2014/main" id="{B371A82A-A4FB-DF40-A257-6801447426B2}"/>
              </a:ext>
            </a:extLst>
          </p:cNvPr>
          <p:cNvSpPr/>
          <p:nvPr/>
        </p:nvSpPr>
        <p:spPr>
          <a:xfrm>
            <a:off x="707094" y="1249013"/>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90" name="Rectangle 89">
            <a:extLst>
              <a:ext uri="{FF2B5EF4-FFF2-40B4-BE49-F238E27FC236}">
                <a16:creationId xmlns:a16="http://schemas.microsoft.com/office/drawing/2014/main" id="{1C25D8F1-80BC-BD8B-82F0-30C4A34FFA67}"/>
              </a:ext>
            </a:extLst>
          </p:cNvPr>
          <p:cNvSpPr/>
          <p:nvPr/>
        </p:nvSpPr>
        <p:spPr>
          <a:xfrm>
            <a:off x="657813" y="3995692"/>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 name="ZoneTexte 2">
            <a:extLst>
              <a:ext uri="{FF2B5EF4-FFF2-40B4-BE49-F238E27FC236}">
                <a16:creationId xmlns:a16="http://schemas.microsoft.com/office/drawing/2014/main" id="{9608BA73-F175-CA67-2896-148E9E38ACCB}"/>
              </a:ext>
            </a:extLst>
          </p:cNvPr>
          <p:cNvSpPr txBox="1"/>
          <p:nvPr/>
        </p:nvSpPr>
        <p:spPr>
          <a:xfrm>
            <a:off x="1574101" y="4992689"/>
            <a:ext cx="849913" cy="254237"/>
          </a:xfrm>
          <a:prstGeom prst="rect">
            <a:avLst/>
          </a:prstGeom>
          <a:noFill/>
        </p:spPr>
        <p:txBody>
          <a:bodyPr wrap="none" rtlCol="0">
            <a:spAutoFit/>
          </a:bodyPr>
          <a:lstStyle/>
          <a:p>
            <a:r>
              <a:rPr lang="fr-FR" sz="1052" dirty="0">
                <a:latin typeface="Arial Nova" panose="020B0504020202020204" pitchFamily="34" charset="0"/>
              </a:rPr>
              <a:t>Téléphonie</a:t>
            </a:r>
          </a:p>
        </p:txBody>
      </p:sp>
      <p:sp>
        <p:nvSpPr>
          <p:cNvPr id="11" name="ZoneTexte 10">
            <a:extLst>
              <a:ext uri="{FF2B5EF4-FFF2-40B4-BE49-F238E27FC236}">
                <a16:creationId xmlns:a16="http://schemas.microsoft.com/office/drawing/2014/main" id="{32C1E20D-BFA8-5A44-6C48-53835F260BB3}"/>
              </a:ext>
            </a:extLst>
          </p:cNvPr>
          <p:cNvSpPr txBox="1"/>
          <p:nvPr/>
        </p:nvSpPr>
        <p:spPr>
          <a:xfrm>
            <a:off x="564282" y="5033190"/>
            <a:ext cx="712054" cy="254237"/>
          </a:xfrm>
          <a:prstGeom prst="rect">
            <a:avLst/>
          </a:prstGeom>
          <a:noFill/>
        </p:spPr>
        <p:txBody>
          <a:bodyPr wrap="none" rtlCol="0">
            <a:spAutoFit/>
          </a:bodyPr>
          <a:lstStyle/>
          <a:p>
            <a:r>
              <a:rPr lang="fr-FR" sz="1052" dirty="0">
                <a:latin typeface="Arial Nova" panose="020B0504020202020204" pitchFamily="34" charset="0"/>
              </a:rPr>
              <a:t>Logiciels</a:t>
            </a:r>
          </a:p>
        </p:txBody>
      </p:sp>
      <p:sp>
        <p:nvSpPr>
          <p:cNvPr id="13" name="ZoneTexte 12">
            <a:extLst>
              <a:ext uri="{FF2B5EF4-FFF2-40B4-BE49-F238E27FC236}">
                <a16:creationId xmlns:a16="http://schemas.microsoft.com/office/drawing/2014/main" id="{E44F1701-047C-DBAD-1921-8A9B5D0B12C0}"/>
              </a:ext>
            </a:extLst>
          </p:cNvPr>
          <p:cNvSpPr txBox="1"/>
          <p:nvPr/>
        </p:nvSpPr>
        <p:spPr>
          <a:xfrm>
            <a:off x="2696022" y="4972266"/>
            <a:ext cx="872355" cy="254237"/>
          </a:xfrm>
          <a:prstGeom prst="rect">
            <a:avLst/>
          </a:prstGeom>
          <a:noFill/>
        </p:spPr>
        <p:txBody>
          <a:bodyPr wrap="none" rtlCol="0">
            <a:spAutoFit/>
          </a:bodyPr>
          <a:lstStyle/>
          <a:p>
            <a:r>
              <a:rPr lang="fr-FR" sz="1052" dirty="0">
                <a:latin typeface="Arial Nova" panose="020B0504020202020204" pitchFamily="34" charset="0"/>
              </a:rPr>
              <a:t>Messagerie</a:t>
            </a:r>
          </a:p>
        </p:txBody>
      </p:sp>
      <p:sp>
        <p:nvSpPr>
          <p:cNvPr id="14" name="ZoneTexte 13">
            <a:extLst>
              <a:ext uri="{FF2B5EF4-FFF2-40B4-BE49-F238E27FC236}">
                <a16:creationId xmlns:a16="http://schemas.microsoft.com/office/drawing/2014/main" id="{C73CB78A-8EBE-862C-39A0-0B473AD3C6D5}"/>
              </a:ext>
            </a:extLst>
          </p:cNvPr>
          <p:cNvSpPr txBox="1"/>
          <p:nvPr/>
        </p:nvSpPr>
        <p:spPr>
          <a:xfrm>
            <a:off x="3873160" y="5036621"/>
            <a:ext cx="946093" cy="416140"/>
          </a:xfrm>
          <a:prstGeom prst="rect">
            <a:avLst/>
          </a:prstGeom>
          <a:noFill/>
        </p:spPr>
        <p:txBody>
          <a:bodyPr wrap="square" rtlCol="0">
            <a:spAutoFit/>
          </a:bodyPr>
          <a:lstStyle/>
          <a:p>
            <a:pPr algn="ctr"/>
            <a:r>
              <a:rPr lang="fr-FR" sz="1052" dirty="0">
                <a:latin typeface="Arial Nova" panose="020B0504020202020204" pitchFamily="34" charset="0"/>
              </a:rPr>
              <a:t>Sauvegarde externe</a:t>
            </a:r>
          </a:p>
        </p:txBody>
      </p:sp>
      <p:sp>
        <p:nvSpPr>
          <p:cNvPr id="15" name="ZoneTexte 14">
            <a:extLst>
              <a:ext uri="{FF2B5EF4-FFF2-40B4-BE49-F238E27FC236}">
                <a16:creationId xmlns:a16="http://schemas.microsoft.com/office/drawing/2014/main" id="{701B4B79-98FB-4043-F761-08E270336B7C}"/>
              </a:ext>
            </a:extLst>
          </p:cNvPr>
          <p:cNvSpPr txBox="1"/>
          <p:nvPr/>
        </p:nvSpPr>
        <p:spPr>
          <a:xfrm>
            <a:off x="1433385" y="2585388"/>
            <a:ext cx="449162" cy="254237"/>
          </a:xfrm>
          <a:prstGeom prst="rect">
            <a:avLst/>
          </a:prstGeom>
          <a:noFill/>
        </p:spPr>
        <p:txBody>
          <a:bodyPr wrap="none" rtlCol="0">
            <a:spAutoFit/>
          </a:bodyPr>
          <a:lstStyle/>
          <a:p>
            <a:r>
              <a:rPr lang="fr-FR" sz="1052" dirty="0">
                <a:latin typeface="Arial Nova" panose="020B0504020202020204" pitchFamily="34" charset="0"/>
              </a:rPr>
              <a:t>VPN</a:t>
            </a:r>
          </a:p>
        </p:txBody>
      </p:sp>
      <p:pic>
        <p:nvPicPr>
          <p:cNvPr id="16" name="Graphique 15">
            <a:extLst>
              <a:ext uri="{FF2B5EF4-FFF2-40B4-BE49-F238E27FC236}">
                <a16:creationId xmlns:a16="http://schemas.microsoft.com/office/drawing/2014/main" id="{260A06E7-6087-E358-FFD2-854C24D1FB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05930" y="1862145"/>
            <a:ext cx="581025" cy="638175"/>
          </a:xfrm>
          <a:prstGeom prst="rect">
            <a:avLst/>
          </a:prstGeom>
        </p:spPr>
      </p:pic>
      <p:pic>
        <p:nvPicPr>
          <p:cNvPr id="17" name="Graphique 16">
            <a:extLst>
              <a:ext uri="{FF2B5EF4-FFF2-40B4-BE49-F238E27FC236}">
                <a16:creationId xmlns:a16="http://schemas.microsoft.com/office/drawing/2014/main" id="{50639633-B337-D603-F73E-B7D1DDC4D1D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85214" y="4499162"/>
            <a:ext cx="473555" cy="456016"/>
          </a:xfrm>
          <a:prstGeom prst="rect">
            <a:avLst/>
          </a:prstGeom>
        </p:spPr>
      </p:pic>
      <p:pic>
        <p:nvPicPr>
          <p:cNvPr id="18" name="Graphique 17">
            <a:extLst>
              <a:ext uri="{FF2B5EF4-FFF2-40B4-BE49-F238E27FC236}">
                <a16:creationId xmlns:a16="http://schemas.microsoft.com/office/drawing/2014/main" id="{8CF39EAC-B7FB-A65F-F337-4BCC1319E55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763569" y="4497335"/>
            <a:ext cx="351717" cy="440196"/>
          </a:xfrm>
          <a:prstGeom prst="rect">
            <a:avLst/>
          </a:prstGeom>
        </p:spPr>
      </p:pic>
      <p:pic>
        <p:nvPicPr>
          <p:cNvPr id="19" name="Graphique 18">
            <a:extLst>
              <a:ext uri="{FF2B5EF4-FFF2-40B4-BE49-F238E27FC236}">
                <a16:creationId xmlns:a16="http://schemas.microsoft.com/office/drawing/2014/main" id="{C0F144F5-5A11-FAE8-34D4-26187C3A2EA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84525" y="4502140"/>
            <a:ext cx="545849" cy="474027"/>
          </a:xfrm>
          <a:prstGeom prst="rect">
            <a:avLst/>
          </a:prstGeom>
        </p:spPr>
      </p:pic>
      <p:pic>
        <p:nvPicPr>
          <p:cNvPr id="20" name="Graphique 19">
            <a:extLst>
              <a:ext uri="{FF2B5EF4-FFF2-40B4-BE49-F238E27FC236}">
                <a16:creationId xmlns:a16="http://schemas.microsoft.com/office/drawing/2014/main" id="{7BF94158-EBF0-5EB6-F72D-ECBA5980C48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136657" y="4528720"/>
            <a:ext cx="419100" cy="419100"/>
          </a:xfrm>
          <a:prstGeom prst="rect">
            <a:avLst/>
          </a:prstGeom>
        </p:spPr>
      </p:pic>
      <p:sp>
        <p:nvSpPr>
          <p:cNvPr id="21" name="ZoneTexte 20">
            <a:extLst>
              <a:ext uri="{FF2B5EF4-FFF2-40B4-BE49-F238E27FC236}">
                <a16:creationId xmlns:a16="http://schemas.microsoft.com/office/drawing/2014/main" id="{5929DBE4-F609-8B0C-D7E5-C4BC77033A5D}"/>
              </a:ext>
            </a:extLst>
          </p:cNvPr>
          <p:cNvSpPr txBox="1"/>
          <p:nvPr/>
        </p:nvSpPr>
        <p:spPr>
          <a:xfrm>
            <a:off x="1819414" y="6160303"/>
            <a:ext cx="407484" cy="254237"/>
          </a:xfrm>
          <a:prstGeom prst="rect">
            <a:avLst/>
          </a:prstGeom>
          <a:noFill/>
        </p:spPr>
        <p:txBody>
          <a:bodyPr wrap="none" rtlCol="0">
            <a:spAutoFit/>
          </a:bodyPr>
          <a:lstStyle/>
          <a:p>
            <a:r>
              <a:rPr lang="fr-FR" sz="1052" dirty="0">
                <a:latin typeface="Arial Nova" panose="020B0504020202020204" pitchFamily="34" charset="0"/>
              </a:rPr>
              <a:t>Wifi</a:t>
            </a:r>
          </a:p>
        </p:txBody>
      </p:sp>
      <p:sp>
        <p:nvSpPr>
          <p:cNvPr id="22" name="ZoneTexte 21">
            <a:extLst>
              <a:ext uri="{FF2B5EF4-FFF2-40B4-BE49-F238E27FC236}">
                <a16:creationId xmlns:a16="http://schemas.microsoft.com/office/drawing/2014/main" id="{61DCEDAD-D0D4-91A7-D5A1-C4C78181CDF1}"/>
              </a:ext>
            </a:extLst>
          </p:cNvPr>
          <p:cNvSpPr txBox="1"/>
          <p:nvPr/>
        </p:nvSpPr>
        <p:spPr>
          <a:xfrm>
            <a:off x="740729" y="7261896"/>
            <a:ext cx="683200" cy="254237"/>
          </a:xfrm>
          <a:prstGeom prst="rect">
            <a:avLst/>
          </a:prstGeom>
          <a:noFill/>
        </p:spPr>
        <p:txBody>
          <a:bodyPr wrap="none" rtlCol="0">
            <a:spAutoFit/>
          </a:bodyPr>
          <a:lstStyle/>
          <a:p>
            <a:r>
              <a:rPr lang="fr-FR" sz="1052" dirty="0">
                <a:latin typeface="Arial Nova" panose="020B0504020202020204" pitchFamily="34" charset="0"/>
              </a:rPr>
              <a:t>Sécurité</a:t>
            </a:r>
          </a:p>
        </p:txBody>
      </p:sp>
      <p:sp>
        <p:nvSpPr>
          <p:cNvPr id="23" name="ZoneTexte 22">
            <a:extLst>
              <a:ext uri="{FF2B5EF4-FFF2-40B4-BE49-F238E27FC236}">
                <a16:creationId xmlns:a16="http://schemas.microsoft.com/office/drawing/2014/main" id="{AE90D0F2-37CB-DA5D-DDDF-3609C49E8AB7}"/>
              </a:ext>
            </a:extLst>
          </p:cNvPr>
          <p:cNvSpPr txBox="1"/>
          <p:nvPr/>
        </p:nvSpPr>
        <p:spPr>
          <a:xfrm>
            <a:off x="4079672" y="6136313"/>
            <a:ext cx="471604" cy="254237"/>
          </a:xfrm>
          <a:prstGeom prst="rect">
            <a:avLst/>
          </a:prstGeom>
          <a:noFill/>
        </p:spPr>
        <p:txBody>
          <a:bodyPr wrap="none" rtlCol="0">
            <a:spAutoFit/>
          </a:bodyPr>
          <a:lstStyle/>
          <a:p>
            <a:r>
              <a:rPr lang="fr-FR" sz="1052" dirty="0">
                <a:latin typeface="Arial Nova" panose="020B0504020202020204" pitchFamily="34" charset="0"/>
              </a:rPr>
              <a:t>Visio</a:t>
            </a:r>
          </a:p>
        </p:txBody>
      </p:sp>
      <p:sp>
        <p:nvSpPr>
          <p:cNvPr id="24" name="ZoneTexte 23">
            <a:extLst>
              <a:ext uri="{FF2B5EF4-FFF2-40B4-BE49-F238E27FC236}">
                <a16:creationId xmlns:a16="http://schemas.microsoft.com/office/drawing/2014/main" id="{6BC481F6-C57E-FF1A-B5BE-C0D16FE39E05}"/>
              </a:ext>
            </a:extLst>
          </p:cNvPr>
          <p:cNvSpPr txBox="1"/>
          <p:nvPr/>
        </p:nvSpPr>
        <p:spPr>
          <a:xfrm>
            <a:off x="2791958" y="6085189"/>
            <a:ext cx="870751" cy="416140"/>
          </a:xfrm>
          <a:prstGeom prst="rect">
            <a:avLst/>
          </a:prstGeom>
          <a:noFill/>
        </p:spPr>
        <p:txBody>
          <a:bodyPr wrap="none" rtlCol="0">
            <a:spAutoFit/>
          </a:bodyPr>
          <a:lstStyle/>
          <a:p>
            <a:pPr algn="ctr"/>
            <a:r>
              <a:rPr lang="fr-FR" sz="1052" dirty="0">
                <a:latin typeface="Arial Nova" panose="020B0504020202020204" pitchFamily="34" charset="0"/>
              </a:rPr>
              <a:t>Partage de </a:t>
            </a:r>
          </a:p>
          <a:p>
            <a:pPr algn="ctr"/>
            <a:r>
              <a:rPr lang="fr-FR" sz="1052" dirty="0">
                <a:latin typeface="Arial Nova" panose="020B0504020202020204" pitchFamily="34" charset="0"/>
              </a:rPr>
              <a:t>données</a:t>
            </a:r>
          </a:p>
        </p:txBody>
      </p:sp>
      <p:sp>
        <p:nvSpPr>
          <p:cNvPr id="26" name="ZoneTexte 25">
            <a:extLst>
              <a:ext uri="{FF2B5EF4-FFF2-40B4-BE49-F238E27FC236}">
                <a16:creationId xmlns:a16="http://schemas.microsoft.com/office/drawing/2014/main" id="{97AF18F6-7A83-90E9-E5F8-367713B1AB21}"/>
              </a:ext>
            </a:extLst>
          </p:cNvPr>
          <p:cNvSpPr txBox="1"/>
          <p:nvPr/>
        </p:nvSpPr>
        <p:spPr>
          <a:xfrm>
            <a:off x="756107" y="6226897"/>
            <a:ext cx="449162" cy="254237"/>
          </a:xfrm>
          <a:prstGeom prst="rect">
            <a:avLst/>
          </a:prstGeom>
          <a:noFill/>
        </p:spPr>
        <p:txBody>
          <a:bodyPr wrap="none" rtlCol="0">
            <a:spAutoFit/>
          </a:bodyPr>
          <a:lstStyle/>
          <a:p>
            <a:r>
              <a:rPr lang="fr-FR" sz="1052" dirty="0">
                <a:latin typeface="Arial Nova" panose="020B0504020202020204" pitchFamily="34" charset="0"/>
              </a:rPr>
              <a:t>VPN</a:t>
            </a:r>
          </a:p>
        </p:txBody>
      </p:sp>
      <p:pic>
        <p:nvPicPr>
          <p:cNvPr id="27" name="Graphique 26">
            <a:extLst>
              <a:ext uri="{FF2B5EF4-FFF2-40B4-BE49-F238E27FC236}">
                <a16:creationId xmlns:a16="http://schemas.microsoft.com/office/drawing/2014/main" id="{5D7F89E2-BCF3-02DD-90C6-B6BF1CE4788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726293" y="5564768"/>
            <a:ext cx="584890" cy="473555"/>
          </a:xfrm>
          <a:prstGeom prst="rect">
            <a:avLst/>
          </a:prstGeom>
        </p:spPr>
      </p:pic>
      <p:pic>
        <p:nvPicPr>
          <p:cNvPr id="30" name="Graphique 29">
            <a:extLst>
              <a:ext uri="{FF2B5EF4-FFF2-40B4-BE49-F238E27FC236}">
                <a16:creationId xmlns:a16="http://schemas.microsoft.com/office/drawing/2014/main" id="{26454014-47B4-B41E-73FE-EDE811D569D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8652" y="5503654"/>
            <a:ext cx="581025" cy="638175"/>
          </a:xfrm>
          <a:prstGeom prst="rect">
            <a:avLst/>
          </a:prstGeom>
        </p:spPr>
      </p:pic>
      <p:pic>
        <p:nvPicPr>
          <p:cNvPr id="31" name="Graphique 30">
            <a:extLst>
              <a:ext uri="{FF2B5EF4-FFF2-40B4-BE49-F238E27FC236}">
                <a16:creationId xmlns:a16="http://schemas.microsoft.com/office/drawing/2014/main" id="{A93E9760-BEA2-EACF-4D6F-B2AE4F58E8C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942499" y="5563078"/>
            <a:ext cx="545952" cy="411985"/>
          </a:xfrm>
          <a:prstGeom prst="rect">
            <a:avLst/>
          </a:prstGeom>
        </p:spPr>
      </p:pic>
      <p:pic>
        <p:nvPicPr>
          <p:cNvPr id="32" name="Graphique 31">
            <a:extLst>
              <a:ext uri="{FF2B5EF4-FFF2-40B4-BE49-F238E27FC236}">
                <a16:creationId xmlns:a16="http://schemas.microsoft.com/office/drawing/2014/main" id="{5B348A7B-78C8-DB48-2F02-8730E6C4A797}"/>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046061" y="5557931"/>
            <a:ext cx="570379" cy="536827"/>
          </a:xfrm>
          <a:prstGeom prst="rect">
            <a:avLst/>
          </a:prstGeom>
        </p:spPr>
      </p:pic>
      <p:pic>
        <p:nvPicPr>
          <p:cNvPr id="33" name="Graphique 32">
            <a:extLst>
              <a:ext uri="{FF2B5EF4-FFF2-40B4-BE49-F238E27FC236}">
                <a16:creationId xmlns:a16="http://schemas.microsoft.com/office/drawing/2014/main" id="{A4457351-2C22-6870-E2D0-A17FAAD5D7F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4246044" y="5778433"/>
            <a:ext cx="146942" cy="224735"/>
          </a:xfrm>
          <a:prstGeom prst="rect">
            <a:avLst/>
          </a:prstGeom>
        </p:spPr>
      </p:pic>
      <p:pic>
        <p:nvPicPr>
          <p:cNvPr id="34" name="Graphique 33">
            <a:extLst>
              <a:ext uri="{FF2B5EF4-FFF2-40B4-BE49-F238E27FC236}">
                <a16:creationId xmlns:a16="http://schemas.microsoft.com/office/drawing/2014/main" id="{592DF008-FBE7-6EF2-C714-E68C7BB885C7}"/>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54471" y="6639854"/>
            <a:ext cx="504825" cy="552450"/>
          </a:xfrm>
          <a:prstGeom prst="rect">
            <a:avLst/>
          </a:prstGeom>
        </p:spPr>
      </p:pic>
      <p:sp>
        <p:nvSpPr>
          <p:cNvPr id="35" name="ZoneTexte 34">
            <a:extLst>
              <a:ext uri="{FF2B5EF4-FFF2-40B4-BE49-F238E27FC236}">
                <a16:creationId xmlns:a16="http://schemas.microsoft.com/office/drawing/2014/main" id="{BD984F06-2250-0A93-B441-26F106434DDB}"/>
              </a:ext>
            </a:extLst>
          </p:cNvPr>
          <p:cNvSpPr txBox="1"/>
          <p:nvPr/>
        </p:nvSpPr>
        <p:spPr>
          <a:xfrm>
            <a:off x="1582760" y="7182348"/>
            <a:ext cx="946093" cy="416140"/>
          </a:xfrm>
          <a:prstGeom prst="rect">
            <a:avLst/>
          </a:prstGeom>
          <a:noFill/>
        </p:spPr>
        <p:txBody>
          <a:bodyPr wrap="none" rtlCol="0">
            <a:spAutoFit/>
          </a:bodyPr>
          <a:lstStyle/>
          <a:p>
            <a:pPr algn="ctr"/>
            <a:r>
              <a:rPr lang="fr-FR" sz="1052" dirty="0">
                <a:latin typeface="Arial Nova" panose="020B0504020202020204" pitchFamily="34" charset="0"/>
              </a:rPr>
              <a:t>Caméras de </a:t>
            </a:r>
          </a:p>
          <a:p>
            <a:pPr algn="ctr"/>
            <a:r>
              <a:rPr lang="fr-FR" sz="1052" dirty="0">
                <a:latin typeface="Arial Nova" panose="020B0504020202020204" pitchFamily="34" charset="0"/>
              </a:rPr>
              <a:t>surveillance</a:t>
            </a:r>
          </a:p>
        </p:txBody>
      </p:sp>
      <p:sp>
        <p:nvSpPr>
          <p:cNvPr id="36" name="ZoneTexte 35">
            <a:extLst>
              <a:ext uri="{FF2B5EF4-FFF2-40B4-BE49-F238E27FC236}">
                <a16:creationId xmlns:a16="http://schemas.microsoft.com/office/drawing/2014/main" id="{683F6069-0673-2714-3964-706D5B8F503D}"/>
              </a:ext>
            </a:extLst>
          </p:cNvPr>
          <p:cNvSpPr txBox="1"/>
          <p:nvPr/>
        </p:nvSpPr>
        <p:spPr>
          <a:xfrm>
            <a:off x="2617962" y="7217049"/>
            <a:ext cx="1168910" cy="254237"/>
          </a:xfrm>
          <a:prstGeom prst="rect">
            <a:avLst/>
          </a:prstGeom>
          <a:noFill/>
        </p:spPr>
        <p:txBody>
          <a:bodyPr wrap="none" rtlCol="0">
            <a:spAutoFit/>
          </a:bodyPr>
          <a:lstStyle/>
          <a:p>
            <a:r>
              <a:rPr lang="fr-FR" sz="1052" dirty="0">
                <a:latin typeface="Arial Nova" panose="020B0504020202020204" pitchFamily="34" charset="0"/>
              </a:rPr>
              <a:t>Domotique / IOT</a:t>
            </a:r>
          </a:p>
        </p:txBody>
      </p:sp>
      <p:sp>
        <p:nvSpPr>
          <p:cNvPr id="52" name="ZoneTexte 51">
            <a:extLst>
              <a:ext uri="{FF2B5EF4-FFF2-40B4-BE49-F238E27FC236}">
                <a16:creationId xmlns:a16="http://schemas.microsoft.com/office/drawing/2014/main" id="{8BD15BCE-716D-F669-F6B6-9156F62427E8}"/>
              </a:ext>
            </a:extLst>
          </p:cNvPr>
          <p:cNvSpPr txBox="1"/>
          <p:nvPr/>
        </p:nvSpPr>
        <p:spPr>
          <a:xfrm>
            <a:off x="4046061" y="7097368"/>
            <a:ext cx="845103" cy="416140"/>
          </a:xfrm>
          <a:prstGeom prst="rect">
            <a:avLst/>
          </a:prstGeom>
          <a:noFill/>
        </p:spPr>
        <p:txBody>
          <a:bodyPr wrap="none" rtlCol="0">
            <a:spAutoFit/>
          </a:bodyPr>
          <a:lstStyle/>
          <a:p>
            <a:r>
              <a:rPr lang="fr-FR" sz="1052" dirty="0">
                <a:latin typeface="Arial Nova" panose="020B0504020202020204" pitchFamily="34" charset="0"/>
              </a:rPr>
              <a:t>Affichage </a:t>
            </a:r>
          </a:p>
          <a:p>
            <a:r>
              <a:rPr lang="fr-FR" sz="1052" dirty="0">
                <a:latin typeface="Arial Nova" panose="020B0504020202020204" pitchFamily="34" charset="0"/>
              </a:rPr>
              <a:t>dynamique</a:t>
            </a:r>
          </a:p>
        </p:txBody>
      </p:sp>
      <p:pic>
        <p:nvPicPr>
          <p:cNvPr id="53" name="Graphique 52">
            <a:extLst>
              <a:ext uri="{FF2B5EF4-FFF2-40B4-BE49-F238E27FC236}">
                <a16:creationId xmlns:a16="http://schemas.microsoft.com/office/drawing/2014/main" id="{6CA8D62E-C0D6-ADD5-0228-FA5210F32EF0}"/>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4156309" y="6608134"/>
            <a:ext cx="417407" cy="416140"/>
          </a:xfrm>
          <a:prstGeom prst="rect">
            <a:avLst/>
          </a:prstGeom>
        </p:spPr>
      </p:pic>
      <p:pic>
        <p:nvPicPr>
          <p:cNvPr id="54" name="Graphique 53">
            <a:extLst>
              <a:ext uri="{FF2B5EF4-FFF2-40B4-BE49-F238E27FC236}">
                <a16:creationId xmlns:a16="http://schemas.microsoft.com/office/drawing/2014/main" id="{AF9985E0-41D0-115D-E32C-EAD588FCC412}"/>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818195" y="6679227"/>
            <a:ext cx="431745" cy="416140"/>
          </a:xfrm>
          <a:prstGeom prst="rect">
            <a:avLst/>
          </a:prstGeom>
        </p:spPr>
      </p:pic>
      <p:pic>
        <p:nvPicPr>
          <p:cNvPr id="55" name="Graphique 54">
            <a:extLst>
              <a:ext uri="{FF2B5EF4-FFF2-40B4-BE49-F238E27FC236}">
                <a16:creationId xmlns:a16="http://schemas.microsoft.com/office/drawing/2014/main" id="{44629EEC-95E9-B8A9-61C8-FBB776245705}"/>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2871493" y="6631202"/>
            <a:ext cx="527655" cy="527655"/>
          </a:xfrm>
          <a:prstGeom prst="rect">
            <a:avLst/>
          </a:prstGeom>
        </p:spPr>
      </p:pic>
    </p:spTree>
    <p:extLst>
      <p:ext uri="{BB962C8B-B14F-4D97-AF65-F5344CB8AC3E}">
        <p14:creationId xmlns:p14="http://schemas.microsoft.com/office/powerpoint/2010/main" val="1542213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67DDF-B395-351A-B3D7-36D2BA171AB3}"/>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7094E691-1A27-8720-25F1-C663067B2856}"/>
              </a:ext>
            </a:extLst>
          </p:cNvPr>
          <p:cNvGraphicFramePr>
            <a:graphicFrameLocks noGrp="1"/>
          </p:cNvGraphicFramePr>
          <p:nvPr>
            <p:extLst>
              <p:ext uri="{D42A27DB-BD31-4B8C-83A1-F6EECF244321}">
                <p14:modId xmlns:p14="http://schemas.microsoft.com/office/powerpoint/2010/main" val="1798582628"/>
              </p:ext>
            </p:extLst>
          </p:nvPr>
        </p:nvGraphicFramePr>
        <p:xfrm>
          <a:off x="684893" y="1810517"/>
          <a:ext cx="9611678" cy="2954580"/>
        </p:xfrm>
        <a:graphic>
          <a:graphicData uri="http://schemas.openxmlformats.org/drawingml/2006/table">
            <a:tbl>
              <a:tblPr firstRow="1" bandRow="1">
                <a:effectLst/>
                <a:tableStyleId>{F5AB1C69-6EDB-4FF4-983F-18BD219EF322}</a:tableStyleId>
              </a:tblPr>
              <a:tblGrid>
                <a:gridCol w="1766386">
                  <a:extLst>
                    <a:ext uri="{9D8B030D-6E8A-4147-A177-3AD203B41FA5}">
                      <a16:colId xmlns:a16="http://schemas.microsoft.com/office/drawing/2014/main" val="3615684430"/>
                    </a:ext>
                  </a:extLst>
                </a:gridCol>
                <a:gridCol w="1929283">
                  <a:extLst>
                    <a:ext uri="{9D8B030D-6E8A-4147-A177-3AD203B41FA5}">
                      <a16:colId xmlns:a16="http://schemas.microsoft.com/office/drawing/2014/main" val="1240341726"/>
                    </a:ext>
                  </a:extLst>
                </a:gridCol>
                <a:gridCol w="1712491">
                  <a:extLst>
                    <a:ext uri="{9D8B030D-6E8A-4147-A177-3AD203B41FA5}">
                      <a16:colId xmlns:a16="http://schemas.microsoft.com/office/drawing/2014/main" val="3418675952"/>
                    </a:ext>
                  </a:extLst>
                </a:gridCol>
                <a:gridCol w="1882603">
                  <a:extLst>
                    <a:ext uri="{9D8B030D-6E8A-4147-A177-3AD203B41FA5}">
                      <a16:colId xmlns:a16="http://schemas.microsoft.com/office/drawing/2014/main" val="3217757275"/>
                    </a:ext>
                  </a:extLst>
                </a:gridCol>
                <a:gridCol w="1204162">
                  <a:extLst>
                    <a:ext uri="{9D8B030D-6E8A-4147-A177-3AD203B41FA5}">
                      <a16:colId xmlns:a16="http://schemas.microsoft.com/office/drawing/2014/main" val="1507821284"/>
                    </a:ext>
                  </a:extLst>
                </a:gridCol>
                <a:gridCol w="1116753">
                  <a:extLst>
                    <a:ext uri="{9D8B030D-6E8A-4147-A177-3AD203B41FA5}">
                      <a16:colId xmlns:a16="http://schemas.microsoft.com/office/drawing/2014/main" val="3064555056"/>
                    </a:ext>
                  </a:extLst>
                </a:gridCol>
              </a:tblGrid>
              <a:tr h="426720">
                <a:tc>
                  <a:txBody>
                    <a:bodyPr/>
                    <a:lstStyle/>
                    <a:p>
                      <a:pPr marL="0" algn="ctr" defTabSz="457200" rtl="0" eaLnBrk="1" latinLnBrk="0" hangingPunct="1"/>
                      <a:r>
                        <a:rPr lang="fr-FR" sz="1100"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Adresse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Lien principal</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Lien de secours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Satisfaction débit / service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Engagement</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Coût mensuel</a:t>
                      </a:r>
                    </a:p>
                  </a:txBody>
                  <a:tcPr anchor="ctr">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extLst>
                  <a:ext uri="{0D108BD9-81ED-4DB2-BD59-A6C34878D82A}">
                    <a16:rowId xmlns:a16="http://schemas.microsoft.com/office/drawing/2014/main" val="3792040576"/>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0669157"/>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01410505"/>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486584"/>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07455821"/>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3903978"/>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6891561"/>
                  </a:ext>
                </a:extLst>
              </a:tr>
            </a:tbl>
          </a:graphicData>
        </a:graphic>
      </p:graphicFrame>
      <p:sp>
        <p:nvSpPr>
          <p:cNvPr id="5" name="Rectangle 4">
            <a:extLst>
              <a:ext uri="{FF2B5EF4-FFF2-40B4-BE49-F238E27FC236}">
                <a16:creationId xmlns:a16="http://schemas.microsoft.com/office/drawing/2014/main" id="{5C433A22-6B3C-B44A-31C4-5C6E9F51A269}"/>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6" name="Titre 1">
            <a:extLst>
              <a:ext uri="{FF2B5EF4-FFF2-40B4-BE49-F238E27FC236}">
                <a16:creationId xmlns:a16="http://schemas.microsoft.com/office/drawing/2014/main" id="{D9DE8F63-1F71-1DC7-E572-5936B541BDF0}"/>
              </a:ext>
            </a:extLst>
          </p:cNvPr>
          <p:cNvSpPr txBox="1">
            <a:spLocks/>
          </p:cNvSpPr>
          <p:nvPr/>
        </p:nvSpPr>
        <p:spPr>
          <a:xfrm>
            <a:off x="1320435" y="310646"/>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FIBRE &amp; TRÈS HAUT DÉBIT</a:t>
            </a:r>
          </a:p>
        </p:txBody>
      </p:sp>
      <p:pic>
        <p:nvPicPr>
          <p:cNvPr id="8" name="Image 7">
            <a:extLst>
              <a:ext uri="{FF2B5EF4-FFF2-40B4-BE49-F238E27FC236}">
                <a16:creationId xmlns:a16="http://schemas.microsoft.com/office/drawing/2014/main" id="{55B66D54-4FFD-DB90-43EF-B41505012FB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518640" y="225433"/>
            <a:ext cx="720000" cy="720000"/>
          </a:xfrm>
          <a:prstGeom prst="rect">
            <a:avLst/>
          </a:prstGeom>
        </p:spPr>
      </p:pic>
      <p:pic>
        <p:nvPicPr>
          <p:cNvPr id="4" name="Image 3">
            <a:extLst>
              <a:ext uri="{FF2B5EF4-FFF2-40B4-BE49-F238E27FC236}">
                <a16:creationId xmlns:a16="http://schemas.microsoft.com/office/drawing/2014/main" id="{8F949B8C-BD38-47F6-586D-1366AA20205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Tree>
    <p:extLst>
      <p:ext uri="{BB962C8B-B14F-4D97-AF65-F5344CB8AC3E}">
        <p14:creationId xmlns:p14="http://schemas.microsoft.com/office/powerpoint/2010/main" val="4076476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D9E00-270A-43C5-7F38-150108F6F6E3}"/>
            </a:ext>
          </a:extLst>
        </p:cNvPr>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102C836B-2E17-5070-9D49-9CD6E3227760}"/>
              </a:ext>
            </a:extLst>
          </p:cNvPr>
          <p:cNvSpPr txBox="1">
            <a:spLocks/>
          </p:cNvSpPr>
          <p:nvPr/>
        </p:nvSpPr>
        <p:spPr>
          <a:xfrm>
            <a:off x="1416202" y="2985622"/>
            <a:ext cx="4374681" cy="886753"/>
          </a:xfrm>
          <a:prstGeom prst="rect">
            <a:avLst/>
          </a:prstGeom>
          <a:noFill/>
        </p:spPr>
        <p:txBody>
          <a:bodyPr vert="horz" lIns="78203" tIns="39101" rIns="78203" bIns="39101" rtlCol="0" anchor="ctr"/>
          <a:lstStyle>
            <a:defPPr>
              <a:defRPr lang="en-US"/>
            </a:defPPr>
            <a:lvl1pPr marL="0" algn="l" defTabSz="457200" rtl="0" eaLnBrk="1" latinLnBrk="0" hangingPunct="1">
              <a:defRPr sz="1323"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3600" b="1" dirty="0">
                <a:solidFill>
                  <a:schemeClr val="tx1"/>
                </a:solidFill>
                <a:latin typeface="Century Gothic" panose="020B0502020202020204" pitchFamily="34" charset="0"/>
              </a:rPr>
              <a:t>Notre synthèse </a:t>
            </a:r>
          </a:p>
          <a:p>
            <a:r>
              <a:rPr lang="fr-FR" sz="3600" b="1" dirty="0">
                <a:solidFill>
                  <a:schemeClr val="tx1"/>
                </a:solidFill>
                <a:latin typeface="Century Gothic" panose="020B0502020202020204" pitchFamily="34" charset="0"/>
              </a:rPr>
              <a:t>financière</a:t>
            </a:r>
          </a:p>
        </p:txBody>
      </p:sp>
      <p:sp>
        <p:nvSpPr>
          <p:cNvPr id="6" name="Rectangle 5">
            <a:extLst>
              <a:ext uri="{FF2B5EF4-FFF2-40B4-BE49-F238E27FC236}">
                <a16:creationId xmlns:a16="http://schemas.microsoft.com/office/drawing/2014/main" id="{9FAFEEBD-6640-29D5-F737-8F2AFC8A991F}"/>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2" name="Image 1">
            <a:extLst>
              <a:ext uri="{FF2B5EF4-FFF2-40B4-BE49-F238E27FC236}">
                <a16:creationId xmlns:a16="http://schemas.microsoft.com/office/drawing/2014/main" id="{71E5702E-04FC-447B-CF80-DEA75966915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7" name="Rectangle 6">
            <a:extLst>
              <a:ext uri="{FF2B5EF4-FFF2-40B4-BE49-F238E27FC236}">
                <a16:creationId xmlns:a16="http://schemas.microsoft.com/office/drawing/2014/main" id="{98531BA4-3EB2-CFB8-2962-DAD6C406A28D}"/>
              </a:ext>
            </a:extLst>
          </p:cNvPr>
          <p:cNvSpPr/>
          <p:nvPr/>
        </p:nvSpPr>
        <p:spPr>
          <a:xfrm>
            <a:off x="0" y="3052966"/>
            <a:ext cx="1225118" cy="752067"/>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9" name="Rectangle 8">
            <a:extLst>
              <a:ext uri="{FF2B5EF4-FFF2-40B4-BE49-F238E27FC236}">
                <a16:creationId xmlns:a16="http://schemas.microsoft.com/office/drawing/2014/main" id="{0832908A-78AD-88CD-28BA-B77ACF777AD1}"/>
              </a:ext>
            </a:extLst>
          </p:cNvPr>
          <p:cNvSpPr/>
          <p:nvPr/>
        </p:nvSpPr>
        <p:spPr>
          <a:xfrm>
            <a:off x="5775683" y="2769466"/>
            <a:ext cx="3270471" cy="3270471"/>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2D8605C1-4C0E-6AA5-2FEF-C8A4E9DA9884}"/>
              </a:ext>
            </a:extLst>
          </p:cNvPr>
          <p:cNvSpPr/>
          <p:nvPr/>
        </p:nvSpPr>
        <p:spPr>
          <a:xfrm>
            <a:off x="9046154" y="1123807"/>
            <a:ext cx="1645659" cy="164565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descr="Une image contenant ordinateur portable, personne, habits, ordinateur&#10;&#10;Le contenu généré par l’IA peut être incorrect.">
            <a:extLst>
              <a:ext uri="{FF2B5EF4-FFF2-40B4-BE49-F238E27FC236}">
                <a16:creationId xmlns:a16="http://schemas.microsoft.com/office/drawing/2014/main" id="{6BE4015A-8E4E-E6E5-8A4D-D881991DC4F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526916" y="536141"/>
            <a:ext cx="8254008" cy="5503796"/>
          </a:xfrm>
          <a:prstGeom prst="rect">
            <a:avLst/>
          </a:prstGeom>
        </p:spPr>
      </p:pic>
    </p:spTree>
    <p:extLst>
      <p:ext uri="{BB962C8B-B14F-4D97-AF65-F5344CB8AC3E}">
        <p14:creationId xmlns:p14="http://schemas.microsoft.com/office/powerpoint/2010/main" val="3951442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803BA-A23B-E50F-BEB6-43D90F3482EE}"/>
            </a:ext>
          </a:extLst>
        </p:cNvPr>
        <p:cNvGrpSpPr/>
        <p:nvPr/>
      </p:nvGrpSpPr>
      <p:grpSpPr>
        <a:xfrm>
          <a:off x="0" y="0"/>
          <a:ext cx="0" cy="0"/>
          <a:chOff x="0" y="0"/>
          <a:chExt cx="0" cy="0"/>
        </a:xfrm>
      </p:grpSpPr>
      <p:sp>
        <p:nvSpPr>
          <p:cNvPr id="29" name="Espace réservé du texte 26">
            <a:extLst>
              <a:ext uri="{FF2B5EF4-FFF2-40B4-BE49-F238E27FC236}">
                <a16:creationId xmlns:a16="http://schemas.microsoft.com/office/drawing/2014/main" id="{C2F2CD77-A901-16D7-5500-E5050549097E}"/>
              </a:ext>
            </a:extLst>
          </p:cNvPr>
          <p:cNvSpPr>
            <a:spLocks noGrp="1"/>
          </p:cNvSpPr>
          <p:nvPr>
            <p:ph type="body" sz="quarter" idx="11"/>
          </p:nvPr>
        </p:nvSpPr>
        <p:spPr>
          <a:xfrm>
            <a:off x="628575" y="193325"/>
            <a:ext cx="4403526" cy="797254"/>
          </a:xfrm>
        </p:spPr>
        <p:txBody>
          <a:bodyPr>
            <a:normAutofit/>
          </a:bodyPr>
          <a:lstStyle/>
          <a:p>
            <a:pPr>
              <a:lnSpc>
                <a:spcPct val="100000"/>
              </a:lnSpc>
              <a:spcBef>
                <a:spcPts val="0"/>
              </a:spcBef>
            </a:pPr>
            <a:r>
              <a:rPr lang="fr-FR" dirty="0">
                <a:latin typeface="Century Gothic" panose="020B0502020202020204" pitchFamily="34" charset="0"/>
              </a:rPr>
              <a:t>La solution</a:t>
            </a:r>
          </a:p>
          <a:p>
            <a:pPr>
              <a:lnSpc>
                <a:spcPct val="100000"/>
              </a:lnSpc>
              <a:spcBef>
                <a:spcPts val="0"/>
              </a:spcBef>
            </a:pPr>
            <a:r>
              <a:rPr lang="fr-FR" sz="1800" b="0" dirty="0">
                <a:latin typeface="Century Gothic" panose="020B0502020202020204" pitchFamily="34" charset="0"/>
              </a:rPr>
              <a:t>LA SYNTHÈSE FINANCIÈRE GLOBALE</a:t>
            </a:r>
          </a:p>
        </p:txBody>
      </p:sp>
      <p:pic>
        <p:nvPicPr>
          <p:cNvPr id="30" name="Image 29" descr="Une image contenant Police, Graphique, logo, texte&#10;&#10;Description générée automatiquement">
            <a:extLst>
              <a:ext uri="{FF2B5EF4-FFF2-40B4-BE49-F238E27FC236}">
                <a16:creationId xmlns:a16="http://schemas.microsoft.com/office/drawing/2014/main" id="{5A99E0BF-CDE8-1CED-8CC1-903C9BC8626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144334" y="235574"/>
            <a:ext cx="1075840" cy="268960"/>
          </a:xfrm>
          <a:prstGeom prst="rect">
            <a:avLst/>
          </a:prstGeom>
        </p:spPr>
      </p:pic>
      <p:sp>
        <p:nvSpPr>
          <p:cNvPr id="67" name="Rectangle 66">
            <a:extLst>
              <a:ext uri="{FF2B5EF4-FFF2-40B4-BE49-F238E27FC236}">
                <a16:creationId xmlns:a16="http://schemas.microsoft.com/office/drawing/2014/main" id="{7463085B-453F-B018-7D0F-4493762B5D94}"/>
              </a:ext>
            </a:extLst>
          </p:cNvPr>
          <p:cNvSpPr/>
          <p:nvPr/>
        </p:nvSpPr>
        <p:spPr>
          <a:xfrm>
            <a:off x="6180852" y="4993461"/>
            <a:ext cx="2160420" cy="7459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space réservé du contenu 2">
            <a:extLst>
              <a:ext uri="{FF2B5EF4-FFF2-40B4-BE49-F238E27FC236}">
                <a16:creationId xmlns:a16="http://schemas.microsoft.com/office/drawing/2014/main" id="{F544A846-D9A6-341C-A6B7-CDD14A6EF514}"/>
              </a:ext>
            </a:extLst>
          </p:cNvPr>
          <p:cNvSpPr txBox="1">
            <a:spLocks/>
          </p:cNvSpPr>
          <p:nvPr/>
        </p:nvSpPr>
        <p:spPr>
          <a:xfrm>
            <a:off x="773045" y="1386560"/>
            <a:ext cx="6282382" cy="695916"/>
          </a:xfrm>
          <a:prstGeom prst="rect">
            <a:avLst/>
          </a:prstGeom>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buNone/>
            </a:pPr>
            <a:r>
              <a:rPr lang="fr-FR" sz="1400" dirty="0">
                <a:solidFill>
                  <a:srgbClr val="434341"/>
                </a:solidFill>
                <a:latin typeface="Arial Nova" panose="020B0504020202020204" pitchFamily="34" charset="0"/>
              </a:rPr>
              <a:t>Suite à nos échanges et en fonction des différents éléments que vous nous avez communiqués, veuillez trouver ci-après une proposition personnalisée, étudiée pour répondre à vos attentes :</a:t>
            </a:r>
          </a:p>
        </p:txBody>
      </p:sp>
      <p:cxnSp>
        <p:nvCxnSpPr>
          <p:cNvPr id="26" name="Connecteur droit 25">
            <a:extLst>
              <a:ext uri="{FF2B5EF4-FFF2-40B4-BE49-F238E27FC236}">
                <a16:creationId xmlns:a16="http://schemas.microsoft.com/office/drawing/2014/main" id="{C71E685D-0FF5-5C48-826C-FF835A60FACC}"/>
              </a:ext>
            </a:extLst>
          </p:cNvPr>
          <p:cNvCxnSpPr>
            <a:cxnSpLocks/>
          </p:cNvCxnSpPr>
          <p:nvPr/>
        </p:nvCxnSpPr>
        <p:spPr>
          <a:xfrm>
            <a:off x="738203" y="1379579"/>
            <a:ext cx="0" cy="682115"/>
          </a:xfrm>
          <a:prstGeom prst="line">
            <a:avLst/>
          </a:prstGeom>
          <a:noFill/>
          <a:ln w="25400" cap="flat" cmpd="sng" algn="ctr">
            <a:solidFill>
              <a:srgbClr val="7030A0"/>
            </a:solidFill>
            <a:prstDash val="solid"/>
            <a:miter lim="800000"/>
          </a:ln>
          <a:effectLst/>
        </p:spPr>
      </p:cxnSp>
      <p:sp>
        <p:nvSpPr>
          <p:cNvPr id="6" name="Titre 10">
            <a:extLst>
              <a:ext uri="{FF2B5EF4-FFF2-40B4-BE49-F238E27FC236}">
                <a16:creationId xmlns:a16="http://schemas.microsoft.com/office/drawing/2014/main" id="{286F3856-D677-E87D-ADE0-F19E154E4D11}"/>
              </a:ext>
            </a:extLst>
          </p:cNvPr>
          <p:cNvSpPr txBox="1">
            <a:spLocks/>
          </p:cNvSpPr>
          <p:nvPr/>
        </p:nvSpPr>
        <p:spPr>
          <a:xfrm>
            <a:off x="5987409" y="2541800"/>
            <a:ext cx="960050" cy="3042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i="0" kern="1200">
                <a:solidFill>
                  <a:schemeClr val="tx1"/>
                </a:solidFill>
                <a:latin typeface="Arial" panose="020B0604020202020204" pitchFamily="34" charset="0"/>
                <a:ea typeface="Microsoft YaHei UI" panose="020B0400000000000000" pitchFamily="34" charset="-122"/>
                <a:cs typeface="Arial" panose="020B0604020202020204" pitchFamily="34" charset="0"/>
              </a:defRPr>
            </a:lvl1pPr>
          </a:lstStyle>
          <a:p>
            <a:r>
              <a:rPr lang="fr-FR" sz="1200" dirty="0">
                <a:solidFill>
                  <a:srgbClr val="FFFFFF"/>
                </a:solidFill>
                <a:latin typeface="Century Gothic" panose="020B0502020202020204" pitchFamily="34" charset="0"/>
              </a:rPr>
              <a:t>APRES :</a:t>
            </a:r>
          </a:p>
        </p:txBody>
      </p:sp>
      <p:graphicFrame>
        <p:nvGraphicFramePr>
          <p:cNvPr id="16" name="tableau_recap_telecom">
            <a:extLst>
              <a:ext uri="{FF2B5EF4-FFF2-40B4-BE49-F238E27FC236}">
                <a16:creationId xmlns:a16="http://schemas.microsoft.com/office/drawing/2014/main" id="{C03D1603-D5F4-674C-CFE3-AF5FC6F252C9}"/>
              </a:ext>
            </a:extLst>
          </p:cNvPr>
          <p:cNvGraphicFramePr>
            <a:graphicFrameLocks noGrp="1"/>
          </p:cNvGraphicFramePr>
          <p:nvPr>
            <p:extLst>
              <p:ext uri="{D42A27DB-BD31-4B8C-83A1-F6EECF244321}">
                <p14:modId xmlns:p14="http://schemas.microsoft.com/office/powerpoint/2010/main" val="480161390"/>
              </p:ext>
            </p:extLst>
          </p:nvPr>
        </p:nvGraphicFramePr>
        <p:xfrm>
          <a:off x="1066488" y="3112654"/>
          <a:ext cx="4235819" cy="1523010"/>
        </p:xfrm>
        <a:graphic>
          <a:graphicData uri="http://schemas.openxmlformats.org/drawingml/2006/table">
            <a:tbl>
              <a:tblPr firstRow="1" bandRow="1"/>
              <a:tblGrid>
                <a:gridCol w="1080133">
                  <a:extLst>
                    <a:ext uri="{9D8B030D-6E8A-4147-A177-3AD203B41FA5}">
                      <a16:colId xmlns:a16="http://schemas.microsoft.com/office/drawing/2014/main" val="1769005819"/>
                    </a:ext>
                  </a:extLst>
                </a:gridCol>
                <a:gridCol w="2109587">
                  <a:extLst>
                    <a:ext uri="{9D8B030D-6E8A-4147-A177-3AD203B41FA5}">
                      <a16:colId xmlns:a16="http://schemas.microsoft.com/office/drawing/2014/main" val="42909584"/>
                    </a:ext>
                  </a:extLst>
                </a:gridCol>
                <a:gridCol w="1046099">
                  <a:extLst>
                    <a:ext uri="{9D8B030D-6E8A-4147-A177-3AD203B41FA5}">
                      <a16:colId xmlns:a16="http://schemas.microsoft.com/office/drawing/2014/main" val="2006166142"/>
                    </a:ext>
                  </a:extLst>
                </a:gridCol>
              </a:tblGrid>
              <a:tr h="243840">
                <a:tc gridSpan="2">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l"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Détail</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hMerge="1">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endParaRPr dirty="0"/>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ctr"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Montant</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extLst>
                  <a:ext uri="{0D108BD9-81ED-4DB2-BD59-A6C34878D82A}">
                    <a16:rowId xmlns:a16="http://schemas.microsoft.com/office/drawing/2014/main" val="3792040576"/>
                  </a:ext>
                </a:extLst>
              </a:tr>
              <a:tr h="421310">
                <a:tc gridSpan="3">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LIENS INTERNET + TÉLÉPHONIE FIXE + TÉLÉPHONIE MOBILE</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endParaRPr lang="fr-FR"/>
                    </a:p>
                  </a:txBody>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910777225"/>
                  </a:ext>
                </a:extLst>
              </a:tr>
              <a:tr h="421310">
                <a:tc gridSpan="2">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TOTAL</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dirty="0">
                          <a:ln>
                            <a:noFill/>
                          </a:ln>
                          <a:solidFill>
                            <a:schemeClr val="dk1"/>
                          </a:solidFill>
                          <a:effectLst/>
                          <a:uLnTx/>
                          <a:uFillTx/>
                          <a:latin typeface="Arial Nova" panose="020B0504020202020204" pitchFamily="34" charset="0"/>
                          <a:ea typeface="+mn-ea"/>
                          <a:cs typeface="+mn-cs"/>
                        </a:rPr>
                        <a:t>1250 €</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2084542455"/>
                  </a:ext>
                </a:extLst>
              </a:tr>
              <a:tr h="421310">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01410505"/>
                  </a:ext>
                </a:extLst>
              </a:tr>
            </a:tbl>
          </a:graphicData>
        </a:graphic>
      </p:graphicFrame>
      <p:graphicFrame>
        <p:nvGraphicFramePr>
          <p:cNvPr id="2" name="tableau_recap_telecom">
            <a:extLst>
              <a:ext uri="{FF2B5EF4-FFF2-40B4-BE49-F238E27FC236}">
                <a16:creationId xmlns:a16="http://schemas.microsoft.com/office/drawing/2014/main" id="{B14968AA-BF3E-F19C-1C0B-970AAC0BB9D2}"/>
              </a:ext>
            </a:extLst>
          </p:cNvPr>
          <p:cNvGraphicFramePr>
            <a:graphicFrameLocks noGrp="1"/>
          </p:cNvGraphicFramePr>
          <p:nvPr>
            <p:extLst>
              <p:ext uri="{D42A27DB-BD31-4B8C-83A1-F6EECF244321}">
                <p14:modId xmlns:p14="http://schemas.microsoft.com/office/powerpoint/2010/main" val="489820442"/>
              </p:ext>
            </p:extLst>
          </p:nvPr>
        </p:nvGraphicFramePr>
        <p:xfrm>
          <a:off x="5456932" y="3121492"/>
          <a:ext cx="4235819" cy="1523010"/>
        </p:xfrm>
        <a:graphic>
          <a:graphicData uri="http://schemas.openxmlformats.org/drawingml/2006/table">
            <a:tbl>
              <a:tblPr firstRow="1" bandRow="1"/>
              <a:tblGrid>
                <a:gridCol w="1080133">
                  <a:extLst>
                    <a:ext uri="{9D8B030D-6E8A-4147-A177-3AD203B41FA5}">
                      <a16:colId xmlns:a16="http://schemas.microsoft.com/office/drawing/2014/main" val="1769005819"/>
                    </a:ext>
                  </a:extLst>
                </a:gridCol>
                <a:gridCol w="2109587">
                  <a:extLst>
                    <a:ext uri="{9D8B030D-6E8A-4147-A177-3AD203B41FA5}">
                      <a16:colId xmlns:a16="http://schemas.microsoft.com/office/drawing/2014/main" val="42909584"/>
                    </a:ext>
                  </a:extLst>
                </a:gridCol>
                <a:gridCol w="1046099">
                  <a:extLst>
                    <a:ext uri="{9D8B030D-6E8A-4147-A177-3AD203B41FA5}">
                      <a16:colId xmlns:a16="http://schemas.microsoft.com/office/drawing/2014/main" val="2006166142"/>
                    </a:ext>
                  </a:extLst>
                </a:gridCol>
              </a:tblGrid>
              <a:tr h="243840">
                <a:tc gridSpan="2">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l"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Détail</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hMerge="1">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endParaRPr dirty="0"/>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ctr"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Montant</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extLst>
                  <a:ext uri="{0D108BD9-81ED-4DB2-BD59-A6C34878D82A}">
                    <a16:rowId xmlns:a16="http://schemas.microsoft.com/office/drawing/2014/main" val="3792040576"/>
                  </a:ext>
                </a:extLst>
              </a:tr>
              <a:tr h="421310">
                <a:tc gridSpan="3">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LIENS INTERNET + TÉLÉPHONIE FIXE + TÉLÉPHONIE MOBILE</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endParaRPr lang="fr-FR"/>
                    </a:p>
                  </a:txBody>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910777225"/>
                  </a:ext>
                </a:extLst>
              </a:tr>
              <a:tr h="421310">
                <a:tc gridSpan="2">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TOTAL</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dirty="0">
                          <a:ln>
                            <a:noFill/>
                          </a:ln>
                          <a:solidFill>
                            <a:schemeClr val="dk1"/>
                          </a:solidFill>
                          <a:effectLst/>
                          <a:uLnTx/>
                          <a:uFillTx/>
                          <a:latin typeface="Arial Nova" panose="020B0504020202020204" pitchFamily="34" charset="0"/>
                          <a:ea typeface="+mn-ea"/>
                          <a:cs typeface="+mn-cs"/>
                        </a:rPr>
                        <a:t>1500 €</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2084542455"/>
                  </a:ext>
                </a:extLst>
              </a:tr>
              <a:tr h="421310">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01410505"/>
                  </a:ext>
                </a:extLst>
              </a:tr>
            </a:tbl>
          </a:graphicData>
        </a:graphic>
      </p:graphicFrame>
      <p:sp>
        <p:nvSpPr>
          <p:cNvPr id="5" name="Rectangle 4">
            <a:extLst>
              <a:ext uri="{FF2B5EF4-FFF2-40B4-BE49-F238E27FC236}">
                <a16:creationId xmlns:a16="http://schemas.microsoft.com/office/drawing/2014/main" id="{4C0A0F56-B0ED-9E34-E133-DD99C779B025}"/>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7" name="Image 6">
            <a:extLst>
              <a:ext uri="{FF2B5EF4-FFF2-40B4-BE49-F238E27FC236}">
                <a16:creationId xmlns:a16="http://schemas.microsoft.com/office/drawing/2014/main" id="{2CB9E32D-EE3F-4390-EB47-7224364884D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9" name="Rectangle 8">
            <a:extLst>
              <a:ext uri="{FF2B5EF4-FFF2-40B4-BE49-F238E27FC236}">
                <a16:creationId xmlns:a16="http://schemas.microsoft.com/office/drawing/2014/main" id="{A63F8EA7-3AB1-DEBD-3EA0-BF574384245C}"/>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10" name="Rectangle 9">
            <a:extLst>
              <a:ext uri="{FF2B5EF4-FFF2-40B4-BE49-F238E27FC236}">
                <a16:creationId xmlns:a16="http://schemas.microsoft.com/office/drawing/2014/main" id="{94123837-4E58-BC14-4F1B-72F2DB319288}"/>
              </a:ext>
            </a:extLst>
          </p:cNvPr>
          <p:cNvSpPr/>
          <p:nvPr/>
        </p:nvSpPr>
        <p:spPr>
          <a:xfrm>
            <a:off x="1292159" y="2382703"/>
            <a:ext cx="960050" cy="281381"/>
          </a:xfrm>
          <a:prstGeom prst="rect">
            <a:avLst/>
          </a:prstGeom>
          <a:solidFill>
            <a:schemeClr val="bg2"/>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AVANT :</a:t>
            </a:r>
          </a:p>
        </p:txBody>
      </p:sp>
      <p:sp>
        <p:nvSpPr>
          <p:cNvPr id="11" name="Rectangle 10">
            <a:extLst>
              <a:ext uri="{FF2B5EF4-FFF2-40B4-BE49-F238E27FC236}">
                <a16:creationId xmlns:a16="http://schemas.microsoft.com/office/drawing/2014/main" id="{46BFEE75-18A5-45B2-BA90-BD7AF3722EF8}"/>
              </a:ext>
            </a:extLst>
          </p:cNvPr>
          <p:cNvSpPr/>
          <p:nvPr/>
        </p:nvSpPr>
        <p:spPr>
          <a:xfrm>
            <a:off x="5987409" y="2382703"/>
            <a:ext cx="960050" cy="281381"/>
          </a:xfrm>
          <a:prstGeom prst="rect">
            <a:avLst/>
          </a:prstGeom>
          <a:solidFill>
            <a:schemeClr val="bg2"/>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APRÈS :</a:t>
            </a:r>
          </a:p>
        </p:txBody>
      </p:sp>
    </p:spTree>
    <p:extLst>
      <p:ext uri="{BB962C8B-B14F-4D97-AF65-F5344CB8AC3E}">
        <p14:creationId xmlns:p14="http://schemas.microsoft.com/office/powerpoint/2010/main" val="1183321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1B7B6-95E3-0574-64EE-2161E910EBA8}"/>
            </a:ext>
          </a:extLst>
        </p:cNvPr>
        <p:cNvGrpSpPr/>
        <p:nvPr/>
      </p:nvGrpSpPr>
      <p:grpSpPr>
        <a:xfrm>
          <a:off x="0" y="0"/>
          <a:ext cx="0" cy="0"/>
          <a:chOff x="0" y="0"/>
          <a:chExt cx="0" cy="0"/>
        </a:xfrm>
      </p:grpSpPr>
      <p:pic>
        <p:nvPicPr>
          <p:cNvPr id="36" name="Graphique 35">
            <a:extLst>
              <a:ext uri="{FF2B5EF4-FFF2-40B4-BE49-F238E27FC236}">
                <a16:creationId xmlns:a16="http://schemas.microsoft.com/office/drawing/2014/main" id="{778F7C06-9565-7EDD-9D41-E7E7906B4C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92159" y="4766046"/>
            <a:ext cx="372400" cy="372400"/>
          </a:xfrm>
          <a:prstGeom prst="rect">
            <a:avLst/>
          </a:prstGeom>
        </p:spPr>
      </p:pic>
      <p:sp>
        <p:nvSpPr>
          <p:cNvPr id="29" name="Espace réservé du texte 26">
            <a:extLst>
              <a:ext uri="{FF2B5EF4-FFF2-40B4-BE49-F238E27FC236}">
                <a16:creationId xmlns:a16="http://schemas.microsoft.com/office/drawing/2014/main" id="{BB37AE82-BFBA-A47B-FD4A-168E59C2D775}"/>
              </a:ext>
            </a:extLst>
          </p:cNvPr>
          <p:cNvSpPr>
            <a:spLocks noGrp="1"/>
          </p:cNvSpPr>
          <p:nvPr>
            <p:ph type="body" sz="quarter" idx="11"/>
          </p:nvPr>
        </p:nvSpPr>
        <p:spPr>
          <a:xfrm>
            <a:off x="629636" y="187291"/>
            <a:ext cx="4403526" cy="797254"/>
          </a:xfrm>
        </p:spPr>
        <p:txBody>
          <a:bodyPr>
            <a:normAutofit/>
          </a:bodyPr>
          <a:lstStyle/>
          <a:p>
            <a:pPr>
              <a:lnSpc>
                <a:spcPct val="100000"/>
              </a:lnSpc>
              <a:spcBef>
                <a:spcPts val="0"/>
              </a:spcBef>
            </a:pPr>
            <a:r>
              <a:rPr lang="fr-FR" dirty="0">
                <a:latin typeface="Century Gothic" panose="020B0502020202020204" pitchFamily="34" charset="0"/>
              </a:rPr>
              <a:t>La solution</a:t>
            </a:r>
          </a:p>
          <a:p>
            <a:pPr>
              <a:lnSpc>
                <a:spcPct val="100000"/>
              </a:lnSpc>
              <a:spcBef>
                <a:spcPts val="0"/>
              </a:spcBef>
            </a:pPr>
            <a:r>
              <a:rPr lang="fr-FR" sz="1800" b="0" dirty="0">
                <a:latin typeface="Century Gothic" panose="020B0502020202020204" pitchFamily="34" charset="0"/>
              </a:rPr>
              <a:t>POUR REPONDRE A VOS ENJEUX</a:t>
            </a:r>
          </a:p>
        </p:txBody>
      </p:sp>
      <p:pic>
        <p:nvPicPr>
          <p:cNvPr id="30" name="Image 29" descr="Une image contenant Police, Graphique, logo, texte&#10;&#10;Description générée automatiquement">
            <a:extLst>
              <a:ext uri="{FF2B5EF4-FFF2-40B4-BE49-F238E27FC236}">
                <a16:creationId xmlns:a16="http://schemas.microsoft.com/office/drawing/2014/main" id="{5F45743F-F28A-DC02-DF13-7D4C3F907C3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145395" y="229540"/>
            <a:ext cx="1075840" cy="268960"/>
          </a:xfrm>
          <a:prstGeom prst="rect">
            <a:avLst/>
          </a:prstGeom>
        </p:spPr>
      </p:pic>
      <p:sp>
        <p:nvSpPr>
          <p:cNvPr id="67" name="Rectangle 66">
            <a:extLst>
              <a:ext uri="{FF2B5EF4-FFF2-40B4-BE49-F238E27FC236}">
                <a16:creationId xmlns:a16="http://schemas.microsoft.com/office/drawing/2014/main" id="{B3859E4F-EBB4-4E29-86E7-4A6692A3973A}"/>
              </a:ext>
            </a:extLst>
          </p:cNvPr>
          <p:cNvSpPr/>
          <p:nvPr/>
        </p:nvSpPr>
        <p:spPr>
          <a:xfrm>
            <a:off x="5987409" y="3517733"/>
            <a:ext cx="2160420" cy="7459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Titre 10">
            <a:extLst>
              <a:ext uri="{FF2B5EF4-FFF2-40B4-BE49-F238E27FC236}">
                <a16:creationId xmlns:a16="http://schemas.microsoft.com/office/drawing/2014/main" id="{3F2B2049-DE85-5CC1-364A-97BC7735ACC2}"/>
              </a:ext>
            </a:extLst>
          </p:cNvPr>
          <p:cNvSpPr txBox="1">
            <a:spLocks/>
          </p:cNvSpPr>
          <p:nvPr/>
        </p:nvSpPr>
        <p:spPr>
          <a:xfrm>
            <a:off x="1493045" y="2579950"/>
            <a:ext cx="960050" cy="3042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i="0" kern="1200">
                <a:solidFill>
                  <a:schemeClr val="tx1"/>
                </a:solidFill>
                <a:latin typeface="Arial" panose="020B0604020202020204" pitchFamily="34" charset="0"/>
                <a:ea typeface="Microsoft YaHei UI" panose="020B0400000000000000" pitchFamily="34" charset="-122"/>
                <a:cs typeface="Arial" panose="020B0604020202020204" pitchFamily="34" charset="0"/>
              </a:defRPr>
            </a:lvl1pPr>
          </a:lstStyle>
          <a:p>
            <a:r>
              <a:rPr lang="fr-FR" sz="1200" dirty="0">
                <a:solidFill>
                  <a:srgbClr val="FFFFFF"/>
                </a:solidFill>
                <a:latin typeface="Century Gothic" panose="020B0502020202020204" pitchFamily="34" charset="0"/>
              </a:rPr>
              <a:t>AVANT :</a:t>
            </a:r>
          </a:p>
        </p:txBody>
      </p:sp>
      <p:sp>
        <p:nvSpPr>
          <p:cNvPr id="25" name="Espace réservé du contenu 2">
            <a:extLst>
              <a:ext uri="{FF2B5EF4-FFF2-40B4-BE49-F238E27FC236}">
                <a16:creationId xmlns:a16="http://schemas.microsoft.com/office/drawing/2014/main" id="{3C07BC40-0925-98BC-50CD-725BE9A60F4E}"/>
              </a:ext>
            </a:extLst>
          </p:cNvPr>
          <p:cNvSpPr txBox="1">
            <a:spLocks/>
          </p:cNvSpPr>
          <p:nvPr/>
        </p:nvSpPr>
        <p:spPr>
          <a:xfrm>
            <a:off x="825083" y="1410511"/>
            <a:ext cx="7198055" cy="695916"/>
          </a:xfrm>
          <a:prstGeom prst="rect">
            <a:avLst/>
          </a:prstGeom>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buNone/>
            </a:pPr>
            <a:r>
              <a:rPr lang="fr-FR" sz="1400" dirty="0">
                <a:solidFill>
                  <a:srgbClr val="434341"/>
                </a:solidFill>
                <a:latin typeface="Arial Nova" panose="020B0504020202020204" pitchFamily="34" charset="0"/>
              </a:rPr>
              <a:t>Nous avons cherché la solution la plus adaptée pour répondre à vos enjeux essentiels. Au travers de nos offres, vous allez pouvoir améliorer les points attendus et op</a:t>
            </a:r>
          </a:p>
        </p:txBody>
      </p:sp>
      <p:cxnSp>
        <p:nvCxnSpPr>
          <p:cNvPr id="26" name="Connecteur droit 25">
            <a:extLst>
              <a:ext uri="{FF2B5EF4-FFF2-40B4-BE49-F238E27FC236}">
                <a16:creationId xmlns:a16="http://schemas.microsoft.com/office/drawing/2014/main" id="{7ADD80ED-D913-4764-5875-6B6334EED656}"/>
              </a:ext>
            </a:extLst>
          </p:cNvPr>
          <p:cNvCxnSpPr>
            <a:cxnSpLocks/>
          </p:cNvCxnSpPr>
          <p:nvPr/>
        </p:nvCxnSpPr>
        <p:spPr>
          <a:xfrm>
            <a:off x="809363" y="1450664"/>
            <a:ext cx="0" cy="408610"/>
          </a:xfrm>
          <a:prstGeom prst="line">
            <a:avLst/>
          </a:prstGeom>
          <a:noFill/>
          <a:ln w="25400" cap="flat" cmpd="sng" algn="ctr">
            <a:solidFill>
              <a:srgbClr val="7030A0"/>
            </a:solidFill>
            <a:prstDash val="solid"/>
            <a:miter lim="800000"/>
          </a:ln>
          <a:effectLst/>
        </p:spPr>
      </p:cxnSp>
      <p:pic>
        <p:nvPicPr>
          <p:cNvPr id="27" name="Image 26">
            <a:extLst>
              <a:ext uri="{FF2B5EF4-FFF2-40B4-BE49-F238E27FC236}">
                <a16:creationId xmlns:a16="http://schemas.microsoft.com/office/drawing/2014/main" id="{9D4B16E9-94CD-8D92-247A-9584C6820A0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991165" y="3199305"/>
            <a:ext cx="360979" cy="360979"/>
          </a:xfrm>
          <a:prstGeom prst="rect">
            <a:avLst/>
          </a:prstGeom>
        </p:spPr>
      </p:pic>
      <p:sp>
        <p:nvSpPr>
          <p:cNvPr id="33" name="ZoneTexte 32">
            <a:extLst>
              <a:ext uri="{FF2B5EF4-FFF2-40B4-BE49-F238E27FC236}">
                <a16:creationId xmlns:a16="http://schemas.microsoft.com/office/drawing/2014/main" id="{1494686B-88E9-85D6-680C-2A66FF95A61D}"/>
              </a:ext>
            </a:extLst>
          </p:cNvPr>
          <p:cNvSpPr txBox="1"/>
          <p:nvPr/>
        </p:nvSpPr>
        <p:spPr>
          <a:xfrm>
            <a:off x="6432264" y="3566455"/>
            <a:ext cx="2160420" cy="1061829"/>
          </a:xfrm>
          <a:prstGeom prst="rect">
            <a:avLst/>
          </a:prstGeom>
          <a:noFill/>
        </p:spPr>
        <p:txBody>
          <a:bodyPr wrap="square">
            <a:spAutoFit/>
          </a:bodyPr>
          <a:lstStyle/>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endParaRPr lang="fr-FR" sz="1050" dirty="0">
              <a:solidFill>
                <a:srgbClr val="434341"/>
              </a:solidFill>
              <a:latin typeface="Arial Nova" panose="020B0504020202020204" pitchFamily="34" charset="0"/>
            </a:endParaRPr>
          </a:p>
        </p:txBody>
      </p:sp>
      <p:sp>
        <p:nvSpPr>
          <p:cNvPr id="6" name="Titre 10">
            <a:extLst>
              <a:ext uri="{FF2B5EF4-FFF2-40B4-BE49-F238E27FC236}">
                <a16:creationId xmlns:a16="http://schemas.microsoft.com/office/drawing/2014/main" id="{4108FB63-49A6-B0BD-3668-2CB348910CEE}"/>
              </a:ext>
            </a:extLst>
          </p:cNvPr>
          <p:cNvSpPr txBox="1">
            <a:spLocks/>
          </p:cNvSpPr>
          <p:nvPr/>
        </p:nvSpPr>
        <p:spPr>
          <a:xfrm>
            <a:off x="5987409" y="2541800"/>
            <a:ext cx="960050" cy="3042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i="0" kern="1200">
                <a:solidFill>
                  <a:schemeClr val="tx1"/>
                </a:solidFill>
                <a:latin typeface="Arial" panose="020B0604020202020204" pitchFamily="34" charset="0"/>
                <a:ea typeface="Microsoft YaHei UI" panose="020B0400000000000000" pitchFamily="34" charset="-122"/>
                <a:cs typeface="Arial" panose="020B0604020202020204" pitchFamily="34" charset="0"/>
              </a:defRPr>
            </a:lvl1pPr>
          </a:lstStyle>
          <a:p>
            <a:r>
              <a:rPr lang="fr-FR" sz="1200" dirty="0">
                <a:solidFill>
                  <a:srgbClr val="FFFFFF"/>
                </a:solidFill>
                <a:latin typeface="Century Gothic" panose="020B0502020202020204" pitchFamily="34" charset="0"/>
              </a:rPr>
              <a:t>APRES :</a:t>
            </a:r>
          </a:p>
        </p:txBody>
      </p:sp>
      <p:sp>
        <p:nvSpPr>
          <p:cNvPr id="10" name="Rectangle 9">
            <a:extLst>
              <a:ext uri="{FF2B5EF4-FFF2-40B4-BE49-F238E27FC236}">
                <a16:creationId xmlns:a16="http://schemas.microsoft.com/office/drawing/2014/main" id="{52195249-1186-858C-9A30-743E3DD65A06}"/>
              </a:ext>
            </a:extLst>
          </p:cNvPr>
          <p:cNvSpPr/>
          <p:nvPr/>
        </p:nvSpPr>
        <p:spPr>
          <a:xfrm>
            <a:off x="1808458" y="3187333"/>
            <a:ext cx="2397222" cy="229430"/>
          </a:xfrm>
          <a:prstGeom prst="rect">
            <a:avLst/>
          </a:prstGeom>
          <a:solidFill>
            <a:srgbClr val="FFD618"/>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Améliorations attendues :</a:t>
            </a:r>
          </a:p>
        </p:txBody>
      </p:sp>
      <p:sp>
        <p:nvSpPr>
          <p:cNvPr id="12" name="ZoneTexte 11">
            <a:extLst>
              <a:ext uri="{FF2B5EF4-FFF2-40B4-BE49-F238E27FC236}">
                <a16:creationId xmlns:a16="http://schemas.microsoft.com/office/drawing/2014/main" id="{6D5ED66A-C3CB-FCD6-0A0E-F0D6032617FD}"/>
              </a:ext>
            </a:extLst>
          </p:cNvPr>
          <p:cNvSpPr txBox="1"/>
          <p:nvPr/>
        </p:nvSpPr>
        <p:spPr>
          <a:xfrm>
            <a:off x="1559300" y="3596655"/>
            <a:ext cx="3678656" cy="1061829"/>
          </a:xfrm>
          <a:prstGeom prst="rect">
            <a:avLst/>
          </a:prstGeom>
          <a:noFill/>
        </p:spPr>
        <p:txBody>
          <a:bodyPr wrap="square">
            <a:spAutoFit/>
          </a:bodyPr>
          <a:lstStyle/>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endParaRPr lang="fr-FR" sz="1050" dirty="0">
              <a:solidFill>
                <a:srgbClr val="434341"/>
              </a:solidFill>
              <a:latin typeface="Arial Nova" panose="020B0504020202020204" pitchFamily="34" charset="0"/>
            </a:endParaRPr>
          </a:p>
        </p:txBody>
      </p:sp>
      <p:grpSp>
        <p:nvGrpSpPr>
          <p:cNvPr id="13" name="Groupe 12">
            <a:extLst>
              <a:ext uri="{FF2B5EF4-FFF2-40B4-BE49-F238E27FC236}">
                <a16:creationId xmlns:a16="http://schemas.microsoft.com/office/drawing/2014/main" id="{F974D3CC-D9FD-1B63-0BEB-27AEFD2CA5BF}"/>
              </a:ext>
            </a:extLst>
          </p:cNvPr>
          <p:cNvGrpSpPr/>
          <p:nvPr/>
        </p:nvGrpSpPr>
        <p:grpSpPr>
          <a:xfrm>
            <a:off x="1299601" y="3186415"/>
            <a:ext cx="360000" cy="360000"/>
            <a:chOff x="3955774" y="3413099"/>
            <a:chExt cx="360000" cy="360000"/>
          </a:xfrm>
        </p:grpSpPr>
        <p:sp>
          <p:nvSpPr>
            <p:cNvPr id="8" name="Rectangle 7">
              <a:extLst>
                <a:ext uri="{FF2B5EF4-FFF2-40B4-BE49-F238E27FC236}">
                  <a16:creationId xmlns:a16="http://schemas.microsoft.com/office/drawing/2014/main" id="{98904387-903C-14ED-69DC-6F0E1F22660B}"/>
                </a:ext>
              </a:extLst>
            </p:cNvPr>
            <p:cNvSpPr/>
            <p:nvPr/>
          </p:nvSpPr>
          <p:spPr>
            <a:xfrm>
              <a:off x="3955774" y="3413099"/>
              <a:ext cx="360000" cy="360000"/>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Graphique 6" descr="Avertissement avec un remplissage uni">
              <a:extLst>
                <a:ext uri="{FF2B5EF4-FFF2-40B4-BE49-F238E27FC236}">
                  <a16:creationId xmlns:a16="http://schemas.microsoft.com/office/drawing/2014/main" id="{465640F5-F3BE-62D5-751E-04B3F7A4F9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87583" y="3434798"/>
              <a:ext cx="293254" cy="293254"/>
            </a:xfrm>
            <a:prstGeom prst="rect">
              <a:avLst/>
            </a:prstGeom>
          </p:spPr>
        </p:pic>
      </p:grpSp>
      <p:sp>
        <p:nvSpPr>
          <p:cNvPr id="3" name="ZoneTexte 2">
            <a:extLst>
              <a:ext uri="{FF2B5EF4-FFF2-40B4-BE49-F238E27FC236}">
                <a16:creationId xmlns:a16="http://schemas.microsoft.com/office/drawing/2014/main" id="{94F7F8EF-DE50-6C04-CDA7-548198A80C4D}"/>
              </a:ext>
            </a:extLst>
          </p:cNvPr>
          <p:cNvSpPr txBox="1"/>
          <p:nvPr/>
        </p:nvSpPr>
        <p:spPr>
          <a:xfrm>
            <a:off x="6432264" y="5272381"/>
            <a:ext cx="3790522" cy="630942"/>
          </a:xfrm>
          <a:prstGeom prst="rect">
            <a:avLst/>
          </a:prstGeom>
          <a:noFill/>
        </p:spPr>
        <p:txBody>
          <a:bodyPr wrap="square" rtlCol="0">
            <a:spAutoFit/>
          </a:bodyPr>
          <a:lstStyle/>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Une solution qui répond à toutes vos attentes.</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Une solution qui répond aux exigences de sécurité.</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Un service client de proximité</a:t>
            </a:r>
            <a:r>
              <a:rPr lang="fr-FR" sz="1400" dirty="0">
                <a:solidFill>
                  <a:srgbClr val="434341"/>
                </a:solidFill>
                <a:latin typeface="Arial Nova" panose="020B0504020202020204" pitchFamily="34" charset="0"/>
              </a:rPr>
              <a:t>.</a:t>
            </a:r>
          </a:p>
        </p:txBody>
      </p:sp>
      <p:sp>
        <p:nvSpPr>
          <p:cNvPr id="17" name="ZoneTexte 16">
            <a:extLst>
              <a:ext uri="{FF2B5EF4-FFF2-40B4-BE49-F238E27FC236}">
                <a16:creationId xmlns:a16="http://schemas.microsoft.com/office/drawing/2014/main" id="{F31187D4-569B-0153-DBE1-4AC127C0598D}"/>
              </a:ext>
            </a:extLst>
          </p:cNvPr>
          <p:cNvSpPr txBox="1"/>
          <p:nvPr/>
        </p:nvSpPr>
        <p:spPr>
          <a:xfrm>
            <a:off x="1493045" y="5245626"/>
            <a:ext cx="3678656" cy="1061829"/>
          </a:xfrm>
          <a:prstGeom prst="rect">
            <a:avLst/>
          </a:prstGeom>
          <a:noFill/>
        </p:spPr>
        <p:txBody>
          <a:bodyPr wrap="square">
            <a:spAutoFit/>
          </a:bodyPr>
          <a:lstStyle/>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endParaRPr lang="fr-FR" sz="1050" dirty="0">
              <a:solidFill>
                <a:srgbClr val="434341"/>
              </a:solidFill>
              <a:latin typeface="Arial Nova" panose="020B0504020202020204" pitchFamily="34" charset="0"/>
            </a:endParaRPr>
          </a:p>
        </p:txBody>
      </p:sp>
      <p:sp>
        <p:nvSpPr>
          <p:cNvPr id="16" name="Rectangle 15">
            <a:extLst>
              <a:ext uri="{FF2B5EF4-FFF2-40B4-BE49-F238E27FC236}">
                <a16:creationId xmlns:a16="http://schemas.microsoft.com/office/drawing/2014/main" id="{32B3C7B9-17C6-2022-8130-264B7454F06F}"/>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18" name="Image 17">
            <a:extLst>
              <a:ext uri="{FF2B5EF4-FFF2-40B4-BE49-F238E27FC236}">
                <a16:creationId xmlns:a16="http://schemas.microsoft.com/office/drawing/2014/main" id="{3318299E-2E6D-BE48-1295-C91B0CE597F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21" name="Rectangle 20">
            <a:extLst>
              <a:ext uri="{FF2B5EF4-FFF2-40B4-BE49-F238E27FC236}">
                <a16:creationId xmlns:a16="http://schemas.microsoft.com/office/drawing/2014/main" id="{818FE28A-B9AB-CD5D-C77D-67A367941F9E}"/>
              </a:ext>
            </a:extLst>
          </p:cNvPr>
          <p:cNvSpPr/>
          <p:nvPr/>
        </p:nvSpPr>
        <p:spPr>
          <a:xfrm>
            <a:off x="6506861" y="3199305"/>
            <a:ext cx="1223975" cy="249369"/>
          </a:xfrm>
          <a:prstGeom prst="rect">
            <a:avLst/>
          </a:prstGeom>
          <a:solidFill>
            <a:schemeClr val="accent6"/>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Avantages :</a:t>
            </a:r>
          </a:p>
        </p:txBody>
      </p:sp>
      <p:sp>
        <p:nvSpPr>
          <p:cNvPr id="22" name="Rectangle 21">
            <a:extLst>
              <a:ext uri="{FF2B5EF4-FFF2-40B4-BE49-F238E27FC236}">
                <a16:creationId xmlns:a16="http://schemas.microsoft.com/office/drawing/2014/main" id="{DD0FD39D-6B1B-ECDF-1BB9-EB4633B5C4DA}"/>
              </a:ext>
            </a:extLst>
          </p:cNvPr>
          <p:cNvSpPr/>
          <p:nvPr/>
        </p:nvSpPr>
        <p:spPr>
          <a:xfrm>
            <a:off x="1808458" y="4809316"/>
            <a:ext cx="2397222" cy="229430"/>
          </a:xfrm>
          <a:prstGeom prst="rect">
            <a:avLst/>
          </a:prstGeom>
          <a:solidFill>
            <a:srgbClr val="FFD618"/>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Nouveautés / évolutions :</a:t>
            </a:r>
          </a:p>
        </p:txBody>
      </p:sp>
      <p:pic>
        <p:nvPicPr>
          <p:cNvPr id="38" name="Graphique 37">
            <a:extLst>
              <a:ext uri="{FF2B5EF4-FFF2-40B4-BE49-F238E27FC236}">
                <a16:creationId xmlns:a16="http://schemas.microsoft.com/office/drawing/2014/main" id="{0A1A2F55-70F6-276C-046F-F6BDABADA42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85036" y="4968228"/>
            <a:ext cx="203515" cy="215924"/>
          </a:xfrm>
          <a:prstGeom prst="rect">
            <a:avLst/>
          </a:prstGeom>
        </p:spPr>
      </p:pic>
      <p:pic>
        <p:nvPicPr>
          <p:cNvPr id="39" name="Graphique 38">
            <a:extLst>
              <a:ext uri="{FF2B5EF4-FFF2-40B4-BE49-F238E27FC236}">
                <a16:creationId xmlns:a16="http://schemas.microsoft.com/office/drawing/2014/main" id="{9C81C322-660A-C3DD-66D1-DA090C13A53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01308" y="3354174"/>
            <a:ext cx="203515" cy="215924"/>
          </a:xfrm>
          <a:prstGeom prst="rect">
            <a:avLst/>
          </a:prstGeom>
        </p:spPr>
      </p:pic>
      <p:pic>
        <p:nvPicPr>
          <p:cNvPr id="40" name="Graphique 39">
            <a:extLst>
              <a:ext uri="{FF2B5EF4-FFF2-40B4-BE49-F238E27FC236}">
                <a16:creationId xmlns:a16="http://schemas.microsoft.com/office/drawing/2014/main" id="{EE6B72BD-6959-565B-881C-9527EE78910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85031" y="3380731"/>
            <a:ext cx="203515" cy="215924"/>
          </a:xfrm>
          <a:prstGeom prst="rect">
            <a:avLst/>
          </a:prstGeom>
        </p:spPr>
      </p:pic>
      <p:sp>
        <p:nvSpPr>
          <p:cNvPr id="41" name="Rectangle 40">
            <a:extLst>
              <a:ext uri="{FF2B5EF4-FFF2-40B4-BE49-F238E27FC236}">
                <a16:creationId xmlns:a16="http://schemas.microsoft.com/office/drawing/2014/main" id="{FF69EAF5-DF51-2392-6E4D-0A5F1A109C02}"/>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42" name="Rectangle 41">
            <a:extLst>
              <a:ext uri="{FF2B5EF4-FFF2-40B4-BE49-F238E27FC236}">
                <a16:creationId xmlns:a16="http://schemas.microsoft.com/office/drawing/2014/main" id="{98028C3E-0EFD-C117-666B-77860DD15ED6}"/>
              </a:ext>
            </a:extLst>
          </p:cNvPr>
          <p:cNvSpPr/>
          <p:nvPr/>
        </p:nvSpPr>
        <p:spPr>
          <a:xfrm>
            <a:off x="1292159" y="2382703"/>
            <a:ext cx="960050" cy="281381"/>
          </a:xfrm>
          <a:prstGeom prst="rect">
            <a:avLst/>
          </a:prstGeom>
          <a:solidFill>
            <a:schemeClr val="bg2"/>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AVANT :</a:t>
            </a:r>
          </a:p>
        </p:txBody>
      </p:sp>
      <p:sp>
        <p:nvSpPr>
          <p:cNvPr id="43" name="Rectangle 42">
            <a:extLst>
              <a:ext uri="{FF2B5EF4-FFF2-40B4-BE49-F238E27FC236}">
                <a16:creationId xmlns:a16="http://schemas.microsoft.com/office/drawing/2014/main" id="{FECB4141-64E2-7F2B-DF0A-EFFC48D4A4EE}"/>
              </a:ext>
            </a:extLst>
          </p:cNvPr>
          <p:cNvSpPr/>
          <p:nvPr/>
        </p:nvSpPr>
        <p:spPr>
          <a:xfrm>
            <a:off x="5987409" y="2382703"/>
            <a:ext cx="960050" cy="281381"/>
          </a:xfrm>
          <a:prstGeom prst="rect">
            <a:avLst/>
          </a:prstGeom>
          <a:solidFill>
            <a:schemeClr val="bg2"/>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APRÈS :</a:t>
            </a:r>
          </a:p>
        </p:txBody>
      </p:sp>
      <p:sp>
        <p:nvSpPr>
          <p:cNvPr id="9" name="Rectangle 8">
            <a:extLst>
              <a:ext uri="{FF2B5EF4-FFF2-40B4-BE49-F238E27FC236}">
                <a16:creationId xmlns:a16="http://schemas.microsoft.com/office/drawing/2014/main" id="{A9324E0C-A9AD-F782-5418-EC0D2B56C853}"/>
              </a:ext>
            </a:extLst>
          </p:cNvPr>
          <p:cNvSpPr/>
          <p:nvPr/>
        </p:nvSpPr>
        <p:spPr>
          <a:xfrm>
            <a:off x="6506861" y="4718859"/>
            <a:ext cx="1223975" cy="249369"/>
          </a:xfrm>
          <a:prstGeom prst="rect">
            <a:avLst/>
          </a:prstGeom>
          <a:solidFill>
            <a:schemeClr val="accent6"/>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LES + </a:t>
            </a:r>
          </a:p>
        </p:txBody>
      </p:sp>
      <p:pic>
        <p:nvPicPr>
          <p:cNvPr id="11" name="Graphique 10">
            <a:extLst>
              <a:ext uri="{FF2B5EF4-FFF2-40B4-BE49-F238E27FC236}">
                <a16:creationId xmlns:a16="http://schemas.microsoft.com/office/drawing/2014/main" id="{F4FAD2F2-6840-EBF0-3D4B-4F9027A5C2D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85031" y="4900285"/>
            <a:ext cx="203515" cy="215924"/>
          </a:xfrm>
          <a:prstGeom prst="rect">
            <a:avLst/>
          </a:prstGeom>
        </p:spPr>
      </p:pic>
      <p:sp>
        <p:nvSpPr>
          <p:cNvPr id="14" name="Rectangle 13">
            <a:extLst>
              <a:ext uri="{FF2B5EF4-FFF2-40B4-BE49-F238E27FC236}">
                <a16:creationId xmlns:a16="http://schemas.microsoft.com/office/drawing/2014/main" id="{038BFA60-49B5-D303-1619-61B7A269A0DA}"/>
              </a:ext>
            </a:extLst>
          </p:cNvPr>
          <p:cNvSpPr/>
          <p:nvPr/>
        </p:nvSpPr>
        <p:spPr>
          <a:xfrm>
            <a:off x="5987409" y="4717700"/>
            <a:ext cx="360979" cy="338301"/>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Graphique 3" descr="Case cochée avec un remplissage uni">
            <a:extLst>
              <a:ext uri="{FF2B5EF4-FFF2-40B4-BE49-F238E27FC236}">
                <a16:creationId xmlns:a16="http://schemas.microsoft.com/office/drawing/2014/main" id="{399D42EE-E721-AD64-E472-99D84461193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987408" y="4713663"/>
            <a:ext cx="360979" cy="360979"/>
          </a:xfrm>
          <a:prstGeom prst="rect">
            <a:avLst/>
          </a:prstGeom>
        </p:spPr>
      </p:pic>
    </p:spTree>
    <p:extLst>
      <p:ext uri="{BB962C8B-B14F-4D97-AF65-F5344CB8AC3E}">
        <p14:creationId xmlns:p14="http://schemas.microsoft.com/office/powerpoint/2010/main" val="3760755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A571A-844A-132B-AA68-979A9546873D}"/>
            </a:ext>
          </a:extLst>
        </p:cNvPr>
        <p:cNvGrpSpPr/>
        <p:nvPr/>
      </p:nvGrpSpPr>
      <p:grpSpPr>
        <a:xfrm>
          <a:off x="0" y="0"/>
          <a:ext cx="0" cy="0"/>
          <a:chOff x="0" y="0"/>
          <a:chExt cx="0" cy="0"/>
        </a:xfrm>
      </p:grpSpPr>
      <p:sp>
        <p:nvSpPr>
          <p:cNvPr id="29" name="Espace réservé du texte 26">
            <a:extLst>
              <a:ext uri="{FF2B5EF4-FFF2-40B4-BE49-F238E27FC236}">
                <a16:creationId xmlns:a16="http://schemas.microsoft.com/office/drawing/2014/main" id="{F1DC4789-5BE8-BC72-5E4A-BD107DBE4E7D}"/>
              </a:ext>
            </a:extLst>
          </p:cNvPr>
          <p:cNvSpPr>
            <a:spLocks noGrp="1"/>
          </p:cNvSpPr>
          <p:nvPr>
            <p:ph type="body" sz="quarter" idx="11"/>
          </p:nvPr>
        </p:nvSpPr>
        <p:spPr>
          <a:xfrm>
            <a:off x="584871" y="215746"/>
            <a:ext cx="4403526" cy="797254"/>
          </a:xfrm>
        </p:spPr>
        <p:txBody>
          <a:bodyPr>
            <a:normAutofit/>
          </a:bodyPr>
          <a:lstStyle/>
          <a:p>
            <a:pPr>
              <a:lnSpc>
                <a:spcPct val="100000"/>
              </a:lnSpc>
              <a:spcBef>
                <a:spcPts val="0"/>
              </a:spcBef>
            </a:pPr>
            <a:r>
              <a:rPr lang="fr-FR" dirty="0">
                <a:latin typeface="Century Gothic" panose="020B0502020202020204" pitchFamily="34" charset="0"/>
              </a:rPr>
              <a:t>COMMANDE</a:t>
            </a:r>
          </a:p>
          <a:p>
            <a:pPr>
              <a:lnSpc>
                <a:spcPct val="100000"/>
              </a:lnSpc>
              <a:spcBef>
                <a:spcPts val="0"/>
              </a:spcBef>
            </a:pPr>
            <a:r>
              <a:rPr lang="fr-FR" sz="1800" b="0" dirty="0">
                <a:latin typeface="Century Gothic" panose="020B0502020202020204" pitchFamily="34" charset="0"/>
              </a:rPr>
              <a:t>VOTRE PROPOSITION</a:t>
            </a:r>
          </a:p>
        </p:txBody>
      </p:sp>
      <p:sp>
        <p:nvSpPr>
          <p:cNvPr id="25" name="Espace réservé du contenu 2">
            <a:extLst>
              <a:ext uri="{FF2B5EF4-FFF2-40B4-BE49-F238E27FC236}">
                <a16:creationId xmlns:a16="http://schemas.microsoft.com/office/drawing/2014/main" id="{D4DD870D-99F6-9A75-44DA-C499C58E1F84}"/>
              </a:ext>
            </a:extLst>
          </p:cNvPr>
          <p:cNvSpPr txBox="1">
            <a:spLocks/>
          </p:cNvSpPr>
          <p:nvPr/>
        </p:nvSpPr>
        <p:spPr>
          <a:xfrm>
            <a:off x="726065" y="1301999"/>
            <a:ext cx="6643616" cy="695916"/>
          </a:xfrm>
          <a:prstGeom prst="rect">
            <a:avLst/>
          </a:prstGeom>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buNone/>
            </a:pPr>
            <a:r>
              <a:rPr lang="fr-FR" sz="1400" dirty="0">
                <a:solidFill>
                  <a:srgbClr val="434341"/>
                </a:solidFill>
                <a:latin typeface="Arial Nova" panose="020B0504020202020204" pitchFamily="34" charset="0"/>
              </a:rPr>
              <a:t>Suite à nos échanges et en fonction des différents éléments que vous nous avez communiqués, veuillez confirmer votre accord pour cette proposition personnalisée, étudiée pour répondre à vos attentes :</a:t>
            </a:r>
          </a:p>
        </p:txBody>
      </p:sp>
      <p:cxnSp>
        <p:nvCxnSpPr>
          <p:cNvPr id="26" name="Connecteur droit 25">
            <a:extLst>
              <a:ext uri="{FF2B5EF4-FFF2-40B4-BE49-F238E27FC236}">
                <a16:creationId xmlns:a16="http://schemas.microsoft.com/office/drawing/2014/main" id="{F3F1D159-28A3-3043-76D3-09FC324472CC}"/>
              </a:ext>
            </a:extLst>
          </p:cNvPr>
          <p:cNvCxnSpPr>
            <a:cxnSpLocks/>
          </p:cNvCxnSpPr>
          <p:nvPr/>
        </p:nvCxnSpPr>
        <p:spPr>
          <a:xfrm>
            <a:off x="661771" y="1290721"/>
            <a:ext cx="0" cy="707194"/>
          </a:xfrm>
          <a:prstGeom prst="line">
            <a:avLst/>
          </a:prstGeom>
          <a:noFill/>
          <a:ln w="25400" cap="flat" cmpd="sng" algn="ctr">
            <a:solidFill>
              <a:srgbClr val="7030A0"/>
            </a:solidFill>
            <a:prstDash val="solid"/>
            <a:miter lim="800000"/>
          </a:ln>
          <a:effectLst/>
        </p:spPr>
      </p:cxnSp>
      <p:sp>
        <p:nvSpPr>
          <p:cNvPr id="5" name="Rectangle 4">
            <a:extLst>
              <a:ext uri="{FF2B5EF4-FFF2-40B4-BE49-F238E27FC236}">
                <a16:creationId xmlns:a16="http://schemas.microsoft.com/office/drawing/2014/main" id="{4619E384-CE6F-CC6B-DF28-9EEB164091A8}"/>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graphicFrame>
        <p:nvGraphicFramePr>
          <p:cNvPr id="9" name="Tableau 8">
            <a:extLst>
              <a:ext uri="{FF2B5EF4-FFF2-40B4-BE49-F238E27FC236}">
                <a16:creationId xmlns:a16="http://schemas.microsoft.com/office/drawing/2014/main" id="{DF64DC74-4752-A33D-5A90-7A19C887DCD7}"/>
              </a:ext>
            </a:extLst>
          </p:cNvPr>
          <p:cNvGraphicFramePr>
            <a:graphicFrameLocks noGrp="1"/>
          </p:cNvGraphicFramePr>
          <p:nvPr>
            <p:extLst>
              <p:ext uri="{D42A27DB-BD31-4B8C-83A1-F6EECF244321}">
                <p14:modId xmlns:p14="http://schemas.microsoft.com/office/powerpoint/2010/main" val="2140372091"/>
              </p:ext>
            </p:extLst>
          </p:nvPr>
        </p:nvGraphicFramePr>
        <p:xfrm>
          <a:off x="846138" y="2350411"/>
          <a:ext cx="8462754" cy="1101700"/>
        </p:xfrm>
        <a:graphic>
          <a:graphicData uri="http://schemas.openxmlformats.org/drawingml/2006/table">
            <a:tbl>
              <a:tblPr firstRow="1" bandRow="1"/>
              <a:tblGrid>
                <a:gridCol w="6372750">
                  <a:extLst>
                    <a:ext uri="{9D8B030D-6E8A-4147-A177-3AD203B41FA5}">
                      <a16:colId xmlns:a16="http://schemas.microsoft.com/office/drawing/2014/main" val="1388680963"/>
                    </a:ext>
                  </a:extLst>
                </a:gridCol>
                <a:gridCol w="2090004">
                  <a:extLst>
                    <a:ext uri="{9D8B030D-6E8A-4147-A177-3AD203B41FA5}">
                      <a16:colId xmlns:a16="http://schemas.microsoft.com/office/drawing/2014/main" val="4262916439"/>
                    </a:ext>
                  </a:extLst>
                </a:gridCol>
              </a:tblGrid>
              <a:tr h="243840">
                <a:tc>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l"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Détail</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ctr"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Montant</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extLst>
                  <a:ext uri="{0D108BD9-81ED-4DB2-BD59-A6C34878D82A}">
                    <a16:rowId xmlns:a16="http://schemas.microsoft.com/office/drawing/2014/main" val="3662008187"/>
                  </a:ext>
                </a:extLst>
              </a:tr>
              <a:tr h="421310">
                <a:tc gridSpan="2">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NOM DES SOLUTIONS VENDUES</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1985111899"/>
                  </a:ext>
                </a:extLst>
              </a:tr>
              <a:tr h="421310">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TOTAL</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dirty="0">
                          <a:ln>
                            <a:noFill/>
                          </a:ln>
                          <a:solidFill>
                            <a:schemeClr val="dk1"/>
                          </a:solidFill>
                          <a:effectLst/>
                          <a:uLnTx/>
                          <a:uFillTx/>
                          <a:latin typeface="Arial Nova" panose="020B0504020202020204" pitchFamily="34" charset="0"/>
                          <a:ea typeface="+mn-ea"/>
                          <a:cs typeface="+mn-cs"/>
                        </a:rPr>
                        <a:t>€</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179854567"/>
                  </a:ext>
                </a:extLst>
              </a:tr>
            </a:tbl>
          </a:graphicData>
        </a:graphic>
      </p:graphicFrame>
      <p:sp>
        <p:nvSpPr>
          <p:cNvPr id="12" name="Rectangle 11">
            <a:extLst>
              <a:ext uri="{FF2B5EF4-FFF2-40B4-BE49-F238E27FC236}">
                <a16:creationId xmlns:a16="http://schemas.microsoft.com/office/drawing/2014/main" id="{0BE28793-D272-35E6-F639-7D2131EA7A49}"/>
              </a:ext>
            </a:extLst>
          </p:cNvPr>
          <p:cNvSpPr/>
          <p:nvPr/>
        </p:nvSpPr>
        <p:spPr>
          <a:xfrm>
            <a:off x="5545679" y="4107562"/>
            <a:ext cx="3763213" cy="2443139"/>
          </a:xfrm>
          <a:prstGeom prst="rect">
            <a:avLst/>
          </a:prstGeom>
          <a:solidFill>
            <a:schemeClr val="bg1"/>
          </a:solidFill>
          <a:ln>
            <a:solidFill>
              <a:schemeClr val="tx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13" name="ZoneTexte 12">
            <a:extLst>
              <a:ext uri="{FF2B5EF4-FFF2-40B4-BE49-F238E27FC236}">
                <a16:creationId xmlns:a16="http://schemas.microsoft.com/office/drawing/2014/main" id="{6CA8F299-EAD8-F44C-1AC0-C156C99BFE79}"/>
              </a:ext>
            </a:extLst>
          </p:cNvPr>
          <p:cNvSpPr txBox="1"/>
          <p:nvPr/>
        </p:nvSpPr>
        <p:spPr>
          <a:xfrm>
            <a:off x="5545679" y="4175430"/>
            <a:ext cx="2777299" cy="830997"/>
          </a:xfrm>
          <a:prstGeom prst="rect">
            <a:avLst/>
          </a:prstGeom>
          <a:noFill/>
        </p:spPr>
        <p:txBody>
          <a:bodyPr wrap="none" rtlCol="0">
            <a:spAutoFit/>
          </a:bodyPr>
          <a:lstStyle/>
          <a:p>
            <a:r>
              <a:rPr lang="fr-FR" sz="1200" b="1" dirty="0">
                <a:latin typeface="Arial Nova" panose="020B0504020202020204" pitchFamily="34" charset="0"/>
              </a:rPr>
              <a:t>Bon pour accord</a:t>
            </a:r>
          </a:p>
          <a:p>
            <a:r>
              <a:rPr lang="fr-FR" sz="1200" dirty="0">
                <a:latin typeface="Arial Nova" panose="020B0504020202020204" pitchFamily="34" charset="0"/>
              </a:rPr>
              <a:t>Date </a:t>
            </a:r>
          </a:p>
          <a:p>
            <a:r>
              <a:rPr lang="fr-FR" sz="1200" dirty="0">
                <a:latin typeface="Arial Nova" panose="020B0504020202020204" pitchFamily="34" charset="0"/>
              </a:rPr>
              <a:t>Nom, prénom et fonction du signataire</a:t>
            </a:r>
          </a:p>
          <a:p>
            <a:r>
              <a:rPr lang="fr-FR" sz="1200" dirty="0">
                <a:latin typeface="Arial Nova" panose="020B0504020202020204" pitchFamily="34" charset="0"/>
              </a:rPr>
              <a:t>Signature et cachet</a:t>
            </a:r>
          </a:p>
        </p:txBody>
      </p:sp>
      <p:sp>
        <p:nvSpPr>
          <p:cNvPr id="14" name="ZoneTexte 13">
            <a:extLst>
              <a:ext uri="{FF2B5EF4-FFF2-40B4-BE49-F238E27FC236}">
                <a16:creationId xmlns:a16="http://schemas.microsoft.com/office/drawing/2014/main" id="{09B4CB37-7983-FBF9-400D-1D0E67B08DD2}"/>
              </a:ext>
            </a:extLst>
          </p:cNvPr>
          <p:cNvSpPr txBox="1"/>
          <p:nvPr/>
        </p:nvSpPr>
        <p:spPr>
          <a:xfrm>
            <a:off x="753872" y="4077583"/>
            <a:ext cx="3159839" cy="261610"/>
          </a:xfrm>
          <a:prstGeom prst="rect">
            <a:avLst/>
          </a:prstGeom>
          <a:noFill/>
        </p:spPr>
        <p:txBody>
          <a:bodyPr wrap="none" rtlCol="0">
            <a:spAutoFit/>
          </a:bodyPr>
          <a:lstStyle/>
          <a:p>
            <a:r>
              <a:rPr lang="fr-FR" sz="1100" b="1" dirty="0">
                <a:latin typeface="Arial Nova" panose="020B0504020202020204" pitchFamily="34" charset="0"/>
              </a:rPr>
              <a:t>Frais d’accès aux service et mise en service :</a:t>
            </a:r>
          </a:p>
        </p:txBody>
      </p:sp>
      <p:sp>
        <p:nvSpPr>
          <p:cNvPr id="15" name="ZoneTexte 14">
            <a:extLst>
              <a:ext uri="{FF2B5EF4-FFF2-40B4-BE49-F238E27FC236}">
                <a16:creationId xmlns:a16="http://schemas.microsoft.com/office/drawing/2014/main" id="{ACAE46B7-D0B1-9C7E-16DD-B6EA9B68603B}"/>
              </a:ext>
            </a:extLst>
          </p:cNvPr>
          <p:cNvSpPr txBox="1"/>
          <p:nvPr/>
        </p:nvSpPr>
        <p:spPr>
          <a:xfrm>
            <a:off x="753872" y="4442385"/>
            <a:ext cx="1656223" cy="261610"/>
          </a:xfrm>
          <a:prstGeom prst="rect">
            <a:avLst/>
          </a:prstGeom>
          <a:noFill/>
        </p:spPr>
        <p:txBody>
          <a:bodyPr wrap="none" rtlCol="0">
            <a:spAutoFit/>
          </a:bodyPr>
          <a:lstStyle/>
          <a:p>
            <a:r>
              <a:rPr lang="fr-FR" sz="1100" b="1" dirty="0">
                <a:latin typeface="Arial Nova" panose="020B0504020202020204" pitchFamily="34" charset="0"/>
              </a:rPr>
              <a:t>Durée d’engagement :</a:t>
            </a:r>
          </a:p>
        </p:txBody>
      </p:sp>
      <p:sp>
        <p:nvSpPr>
          <p:cNvPr id="16" name="ZoneTexte 15">
            <a:extLst>
              <a:ext uri="{FF2B5EF4-FFF2-40B4-BE49-F238E27FC236}">
                <a16:creationId xmlns:a16="http://schemas.microsoft.com/office/drawing/2014/main" id="{18BF1AA4-8820-B18B-84B2-99DB334E0508}"/>
              </a:ext>
            </a:extLst>
          </p:cNvPr>
          <p:cNvSpPr txBox="1"/>
          <p:nvPr/>
        </p:nvSpPr>
        <p:spPr>
          <a:xfrm>
            <a:off x="753872" y="4845677"/>
            <a:ext cx="1023037" cy="261610"/>
          </a:xfrm>
          <a:prstGeom prst="rect">
            <a:avLst/>
          </a:prstGeom>
          <a:noFill/>
        </p:spPr>
        <p:txBody>
          <a:bodyPr wrap="none" rtlCol="0">
            <a:spAutoFit/>
          </a:bodyPr>
          <a:lstStyle/>
          <a:p>
            <a:r>
              <a:rPr lang="fr-FR" sz="1100" b="1" dirty="0">
                <a:latin typeface="Arial Nova" panose="020B0504020202020204" pitchFamily="34" charset="0"/>
              </a:rPr>
              <a:t>Facturation :</a:t>
            </a:r>
          </a:p>
        </p:txBody>
      </p:sp>
      <p:sp>
        <p:nvSpPr>
          <p:cNvPr id="19" name="ZoneTexte 18">
            <a:extLst>
              <a:ext uri="{FF2B5EF4-FFF2-40B4-BE49-F238E27FC236}">
                <a16:creationId xmlns:a16="http://schemas.microsoft.com/office/drawing/2014/main" id="{FA701CE2-97D5-B269-58DA-B84EDE213AC5}"/>
              </a:ext>
            </a:extLst>
          </p:cNvPr>
          <p:cNvSpPr txBox="1"/>
          <p:nvPr/>
        </p:nvSpPr>
        <p:spPr>
          <a:xfrm>
            <a:off x="732978" y="5494234"/>
            <a:ext cx="4369610" cy="1061829"/>
          </a:xfrm>
          <a:prstGeom prst="rect">
            <a:avLst/>
          </a:prstGeom>
          <a:noFill/>
        </p:spPr>
        <p:txBody>
          <a:bodyPr wrap="square" rtlCol="0">
            <a:spAutoFit/>
          </a:bodyPr>
          <a:lstStyle/>
          <a:p>
            <a:r>
              <a:rPr lang="fr-FR" sz="1050" dirty="0">
                <a:latin typeface="Arial Nova" panose="020B0504020202020204" pitchFamily="34" charset="0"/>
              </a:rPr>
              <a:t>Le Client reconnait avoir pris connaissance et accepter sans réserve les Conditions Générales et les Conditions spécifiques se rapportant aux produits et services visés dans ce Bon de commande. La signature de celui-ci vaut engagement ferme et définitif du Client sur l'ensemble des termes et conditions de l'offre. Le Client accepte un paiement par prélèvement bancaire et joins à cette fin un relevé d'identité bancaire.</a:t>
            </a:r>
          </a:p>
        </p:txBody>
      </p:sp>
      <p:pic>
        <p:nvPicPr>
          <p:cNvPr id="2" name="Image 1">
            <a:extLst>
              <a:ext uri="{FF2B5EF4-FFF2-40B4-BE49-F238E27FC236}">
                <a16:creationId xmlns:a16="http://schemas.microsoft.com/office/drawing/2014/main" id="{405F1643-7EA9-2771-BEB2-43589BBB9CA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3" name="Rectangle 2">
            <a:extLst>
              <a:ext uri="{FF2B5EF4-FFF2-40B4-BE49-F238E27FC236}">
                <a16:creationId xmlns:a16="http://schemas.microsoft.com/office/drawing/2014/main" id="{2AB92045-915F-C0ED-D303-4A28D03F8474}"/>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4" name="ZoneTexte 3">
            <a:extLst>
              <a:ext uri="{FF2B5EF4-FFF2-40B4-BE49-F238E27FC236}">
                <a16:creationId xmlns:a16="http://schemas.microsoft.com/office/drawing/2014/main" id="{E390E96C-B70B-C1B1-9D66-55B2D5AB33CC}"/>
              </a:ext>
            </a:extLst>
          </p:cNvPr>
          <p:cNvSpPr txBox="1"/>
          <p:nvPr/>
        </p:nvSpPr>
        <p:spPr>
          <a:xfrm>
            <a:off x="753872" y="5223541"/>
            <a:ext cx="4299575" cy="261610"/>
          </a:xfrm>
          <a:prstGeom prst="rect">
            <a:avLst/>
          </a:prstGeom>
          <a:noFill/>
        </p:spPr>
        <p:txBody>
          <a:bodyPr wrap="none" rtlCol="0">
            <a:spAutoFit/>
          </a:bodyPr>
          <a:lstStyle/>
          <a:p>
            <a:r>
              <a:rPr lang="fr-FR" sz="1100" b="1" dirty="0">
                <a:latin typeface="Arial Nova" panose="020B0504020202020204" pitchFamily="34" charset="0"/>
              </a:rPr>
              <a:t>Échéance du prélèvement : </a:t>
            </a:r>
            <a:r>
              <a:rPr lang="fr-FR" sz="1000" dirty="0">
                <a:latin typeface="Arial Nova" panose="020B0504020202020204" pitchFamily="34" charset="0"/>
              </a:rPr>
              <a:t>Règlement par prélèvement </a:t>
            </a:r>
            <a:r>
              <a:rPr lang="fr-FR" sz="1000" dirty="0">
                <a:highlight>
                  <a:srgbClr val="FFFF00"/>
                </a:highlight>
                <a:latin typeface="Arial Nova" panose="020B0504020202020204" pitchFamily="34" charset="0"/>
              </a:rPr>
              <a:t>[périodicité]</a:t>
            </a:r>
            <a:endParaRPr lang="fr-FR" sz="1100" b="1" dirty="0">
              <a:highlight>
                <a:srgbClr val="FFFF00"/>
              </a:highlight>
              <a:latin typeface="Arial Nova" panose="020B0504020202020204" pitchFamily="34" charset="0"/>
            </a:endParaRPr>
          </a:p>
        </p:txBody>
      </p:sp>
      <p:sp>
        <p:nvSpPr>
          <p:cNvPr id="7" name="ZoneTexte 6">
            <a:extLst>
              <a:ext uri="{FF2B5EF4-FFF2-40B4-BE49-F238E27FC236}">
                <a16:creationId xmlns:a16="http://schemas.microsoft.com/office/drawing/2014/main" id="{0FF9AB31-BC16-B05D-02AA-4A4CCE040FCF}"/>
              </a:ext>
            </a:extLst>
          </p:cNvPr>
          <p:cNvSpPr txBox="1"/>
          <p:nvPr/>
        </p:nvSpPr>
        <p:spPr>
          <a:xfrm>
            <a:off x="753872" y="6692383"/>
            <a:ext cx="8555020" cy="830997"/>
          </a:xfrm>
          <a:prstGeom prst="rect">
            <a:avLst/>
          </a:prstGeom>
          <a:noFill/>
        </p:spPr>
        <p:txBody>
          <a:bodyPr wrap="square">
            <a:spAutoFit/>
          </a:bodyPr>
          <a:lstStyle/>
          <a:p>
            <a:pPr algn="just"/>
            <a:r>
              <a:rPr lang="fr-FR" sz="800" dirty="0"/>
              <a:t>Les données à caractère personnel collectées dans le cadre des présentes sont nécessaires pour l'exécution de la commande reçue du Client et font l'objet d'un usage strictement réservé à </a:t>
            </a:r>
            <a:r>
              <a:rPr lang="fr-FR" sz="800" dirty="0" err="1"/>
              <a:t>Koesio</a:t>
            </a:r>
            <a:r>
              <a:rPr lang="fr-FR" sz="800" dirty="0"/>
              <a:t>. Conformément à la loi "Informatique et Libertés" du 6 janvier 1978 modifiée et au Règlement Européen sur la Protection des Données n°2016/679, toute personne concernée dispose à tout moment d'un droit d'accès, d'opposition, de rectification, de copie et de suppression ainsi qu'un droit à la portabilité et à la limitation du traitement des données la concernant, y compris le droit de définir des directives, spécifiques ou générales, relatives au sort de mes données post-mortem, en adressant sa demande via le formulaire disponible sur koesio.com soit par voie postale (cf. adresse de </a:t>
            </a:r>
            <a:r>
              <a:rPr lang="fr-FR" sz="800" dirty="0" err="1"/>
              <a:t>koesio</a:t>
            </a:r>
            <a:r>
              <a:rPr lang="fr-FR" sz="800" dirty="0"/>
              <a:t> mentionnée en tête des présentes ou disponible sur koesio.com). Toute personne concernée peut introduire une réclamation auprès de la CNIL dans le cas où ses données personnelles ne seraient pas traitées de manière conforme à la réglementation. Pour plus d'information le Client est invité à consulter la Politique de protection des données personnelles de </a:t>
            </a:r>
            <a:r>
              <a:rPr lang="fr-FR" sz="800" dirty="0" err="1"/>
              <a:t>Koesio</a:t>
            </a:r>
            <a:r>
              <a:rPr lang="fr-FR" sz="800" dirty="0"/>
              <a:t> disponible sur koesio.com</a:t>
            </a:r>
          </a:p>
        </p:txBody>
      </p:sp>
    </p:spTree>
    <p:extLst>
      <p:ext uri="{BB962C8B-B14F-4D97-AF65-F5344CB8AC3E}">
        <p14:creationId xmlns:p14="http://schemas.microsoft.com/office/powerpoint/2010/main" val="3418082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785E3-1601-D8DC-8AC7-08D5CC495291}"/>
            </a:ext>
          </a:extLst>
        </p:cNvPr>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97F1DEF5-6DBD-249C-6DAA-6482FF45E0B5}"/>
              </a:ext>
            </a:extLst>
          </p:cNvPr>
          <p:cNvSpPr txBox="1">
            <a:spLocks/>
          </p:cNvSpPr>
          <p:nvPr/>
        </p:nvSpPr>
        <p:spPr>
          <a:xfrm>
            <a:off x="1599902" y="2985622"/>
            <a:ext cx="4407198" cy="886753"/>
          </a:xfrm>
          <a:prstGeom prst="rect">
            <a:avLst/>
          </a:prstGeom>
          <a:noFill/>
        </p:spPr>
        <p:txBody>
          <a:bodyPr vert="horz" lIns="78203" tIns="39101" rIns="78203" bIns="39101" rtlCol="0" anchor="ctr"/>
          <a:lstStyle>
            <a:defPPr>
              <a:defRPr lang="en-US"/>
            </a:defPPr>
            <a:lvl1pPr marL="0" algn="l" defTabSz="457200" rtl="0" eaLnBrk="1" latinLnBrk="0" hangingPunct="1">
              <a:defRPr sz="1323"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3600" b="1" dirty="0">
                <a:solidFill>
                  <a:schemeClr val="tx1"/>
                </a:solidFill>
                <a:latin typeface="Century Gothic" panose="020B0502020202020204" pitchFamily="34" charset="0"/>
              </a:rPr>
              <a:t>Koesio vous accompagne dans vos enjeux numériques</a:t>
            </a:r>
          </a:p>
        </p:txBody>
      </p:sp>
      <p:sp>
        <p:nvSpPr>
          <p:cNvPr id="4" name="Rectangle 3">
            <a:extLst>
              <a:ext uri="{FF2B5EF4-FFF2-40B4-BE49-F238E27FC236}">
                <a16:creationId xmlns:a16="http://schemas.microsoft.com/office/drawing/2014/main" id="{C13B1F5B-EF5C-A815-4A70-EAAD2C58C60F}"/>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6" name="Image 5">
            <a:extLst>
              <a:ext uri="{FF2B5EF4-FFF2-40B4-BE49-F238E27FC236}">
                <a16:creationId xmlns:a16="http://schemas.microsoft.com/office/drawing/2014/main" id="{99EF226B-A24C-2CA4-CC2E-864560A78F1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8" name="Rectangle 7">
            <a:extLst>
              <a:ext uri="{FF2B5EF4-FFF2-40B4-BE49-F238E27FC236}">
                <a16:creationId xmlns:a16="http://schemas.microsoft.com/office/drawing/2014/main" id="{8B0887B9-58C9-CFDE-090C-F1A5388318C7}"/>
              </a:ext>
            </a:extLst>
          </p:cNvPr>
          <p:cNvSpPr/>
          <p:nvPr/>
        </p:nvSpPr>
        <p:spPr>
          <a:xfrm>
            <a:off x="0" y="3052966"/>
            <a:ext cx="1225118" cy="752067"/>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9" name="Rectangle 8">
            <a:extLst>
              <a:ext uri="{FF2B5EF4-FFF2-40B4-BE49-F238E27FC236}">
                <a16:creationId xmlns:a16="http://schemas.microsoft.com/office/drawing/2014/main" id="{F58F9ECA-E043-339B-50A3-F6E77C631268}"/>
              </a:ext>
            </a:extLst>
          </p:cNvPr>
          <p:cNvSpPr/>
          <p:nvPr/>
        </p:nvSpPr>
        <p:spPr>
          <a:xfrm>
            <a:off x="6168735" y="2643545"/>
            <a:ext cx="3270471" cy="327047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2639C00F-3242-C77F-4C4F-559700418DC4}"/>
              </a:ext>
            </a:extLst>
          </p:cNvPr>
          <p:cNvSpPr/>
          <p:nvPr/>
        </p:nvSpPr>
        <p:spPr>
          <a:xfrm>
            <a:off x="4523076" y="5914016"/>
            <a:ext cx="1645659" cy="164565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descr="Une image contenant habits, Visage humain, personne, sourire&#10;&#10;Le contenu généré par l’IA peut être incorrect.">
            <a:extLst>
              <a:ext uri="{FF2B5EF4-FFF2-40B4-BE49-F238E27FC236}">
                <a16:creationId xmlns:a16="http://schemas.microsoft.com/office/drawing/2014/main" id="{8C352D7F-9452-0D70-EA05-0D7DB7FF352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052484" y="170777"/>
            <a:ext cx="5743239" cy="5743239"/>
          </a:xfrm>
          <a:prstGeom prst="rect">
            <a:avLst/>
          </a:prstGeom>
        </p:spPr>
      </p:pic>
    </p:spTree>
    <p:extLst>
      <p:ext uri="{BB962C8B-B14F-4D97-AF65-F5344CB8AC3E}">
        <p14:creationId xmlns:p14="http://schemas.microsoft.com/office/powerpoint/2010/main" val="2161170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CE9E1-A0B7-D0CD-7DDF-6762DC02B51E}"/>
            </a:ext>
          </a:extLst>
        </p:cNvPr>
        <p:cNvGrpSpPr/>
        <p:nvPr/>
      </p:nvGrpSpPr>
      <p:grpSpPr>
        <a:xfrm>
          <a:off x="0" y="0"/>
          <a:ext cx="0" cy="0"/>
          <a:chOff x="0" y="0"/>
          <a:chExt cx="0" cy="0"/>
        </a:xfrm>
      </p:grpSpPr>
      <p:grpSp>
        <p:nvGrpSpPr>
          <p:cNvPr id="35" name="Groupe 34">
            <a:extLst>
              <a:ext uri="{FF2B5EF4-FFF2-40B4-BE49-F238E27FC236}">
                <a16:creationId xmlns:a16="http://schemas.microsoft.com/office/drawing/2014/main" id="{49A2C608-42D2-07F9-BE93-86CB53397BA8}"/>
              </a:ext>
            </a:extLst>
          </p:cNvPr>
          <p:cNvGrpSpPr/>
          <p:nvPr/>
        </p:nvGrpSpPr>
        <p:grpSpPr>
          <a:xfrm>
            <a:off x="5485670" y="2911256"/>
            <a:ext cx="4307221" cy="3187283"/>
            <a:chOff x="218022" y="2103185"/>
            <a:chExt cx="5036307" cy="3726796"/>
          </a:xfrm>
        </p:grpSpPr>
        <p:sp>
          <p:nvSpPr>
            <p:cNvPr id="36" name="Rectangle 35">
              <a:extLst>
                <a:ext uri="{FF2B5EF4-FFF2-40B4-BE49-F238E27FC236}">
                  <a16:creationId xmlns:a16="http://schemas.microsoft.com/office/drawing/2014/main" id="{F5F4BA96-6E58-A28A-F14F-7EC9AEA7D7AF}"/>
                </a:ext>
              </a:extLst>
            </p:cNvPr>
            <p:cNvSpPr/>
            <p:nvPr/>
          </p:nvSpPr>
          <p:spPr>
            <a:xfrm>
              <a:off x="3525371" y="4151953"/>
              <a:ext cx="552566" cy="552566"/>
            </a:xfrm>
            <a:prstGeom prst="rect">
              <a:avLst/>
            </a:prstGeom>
            <a:solidFill>
              <a:srgbClr val="E94B57"/>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37" name="Rectangle 36">
              <a:extLst>
                <a:ext uri="{FF2B5EF4-FFF2-40B4-BE49-F238E27FC236}">
                  <a16:creationId xmlns:a16="http://schemas.microsoft.com/office/drawing/2014/main" id="{3806B0D5-18B1-6FEE-E379-7684E47C8DEC}"/>
                </a:ext>
              </a:extLst>
            </p:cNvPr>
            <p:cNvSpPr/>
            <p:nvPr/>
          </p:nvSpPr>
          <p:spPr>
            <a:xfrm>
              <a:off x="2387803" y="3037306"/>
              <a:ext cx="552566" cy="552566"/>
            </a:xfrm>
            <a:prstGeom prst="rect">
              <a:avLst/>
            </a:prstGeom>
            <a:solidFill>
              <a:srgbClr val="E94B57"/>
            </a:solidFill>
            <a:ln w="254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grpSp>
          <p:nvGrpSpPr>
            <p:cNvPr id="38" name="Groupe 37">
              <a:extLst>
                <a:ext uri="{FF2B5EF4-FFF2-40B4-BE49-F238E27FC236}">
                  <a16:creationId xmlns:a16="http://schemas.microsoft.com/office/drawing/2014/main" id="{5DAEDF27-BCB3-3E5E-98CC-A281871DF7F6}"/>
                </a:ext>
              </a:extLst>
            </p:cNvPr>
            <p:cNvGrpSpPr/>
            <p:nvPr/>
          </p:nvGrpSpPr>
          <p:grpSpPr>
            <a:xfrm>
              <a:off x="218022" y="3609424"/>
              <a:ext cx="1291986" cy="1116353"/>
              <a:chOff x="3167259" y="4757935"/>
              <a:chExt cx="1813982" cy="1567390"/>
            </a:xfrm>
          </p:grpSpPr>
          <p:sp>
            <p:nvSpPr>
              <p:cNvPr id="59" name="Rectangle 58">
                <a:extLst>
                  <a:ext uri="{FF2B5EF4-FFF2-40B4-BE49-F238E27FC236}">
                    <a16:creationId xmlns:a16="http://schemas.microsoft.com/office/drawing/2014/main" id="{4B5CB016-F080-7A9A-5780-4C16B76502A9}"/>
                  </a:ext>
                </a:extLst>
              </p:cNvPr>
              <p:cNvSpPr/>
              <p:nvPr/>
            </p:nvSpPr>
            <p:spPr>
              <a:xfrm>
                <a:off x="3326994" y="4757935"/>
                <a:ext cx="1567390" cy="1567390"/>
              </a:xfrm>
              <a:prstGeom prst="rect">
                <a:avLst/>
              </a:prstGeom>
              <a:solidFill>
                <a:schemeClr val="accent5"/>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60" name="ZoneTexte 59">
                <a:extLst>
                  <a:ext uri="{FF2B5EF4-FFF2-40B4-BE49-F238E27FC236}">
                    <a16:creationId xmlns:a16="http://schemas.microsoft.com/office/drawing/2014/main" id="{C33A5FFB-0E95-53EF-C16A-B7EA22DD76BC}"/>
                  </a:ext>
                </a:extLst>
              </p:cNvPr>
              <p:cNvSpPr txBox="1"/>
              <p:nvPr/>
            </p:nvSpPr>
            <p:spPr>
              <a:xfrm>
                <a:off x="3167259" y="5422727"/>
                <a:ext cx="1813982" cy="682118"/>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collaborateurs</a:t>
                </a:r>
              </a:p>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informatiques</a:t>
                </a:r>
              </a:p>
            </p:txBody>
          </p:sp>
          <p:sp>
            <p:nvSpPr>
              <p:cNvPr id="61" name="ZoneTexte 60">
                <a:extLst>
                  <a:ext uri="{FF2B5EF4-FFF2-40B4-BE49-F238E27FC236}">
                    <a16:creationId xmlns:a16="http://schemas.microsoft.com/office/drawing/2014/main" id="{7B8A93F5-55A7-0E88-36A9-D9DAC92BF6D1}"/>
                  </a:ext>
                </a:extLst>
              </p:cNvPr>
              <p:cNvSpPr txBox="1"/>
              <p:nvPr/>
            </p:nvSpPr>
            <p:spPr>
              <a:xfrm>
                <a:off x="3209670" y="4979844"/>
                <a:ext cx="1729159" cy="568433"/>
              </a:xfrm>
              <a:prstGeom prst="rect">
                <a:avLst/>
              </a:prstGeom>
              <a:noFill/>
            </p:spPr>
            <p:txBody>
              <a:bodyPr wrap="square" rtlCol="0">
                <a:spAutoFit/>
              </a:bodyPr>
              <a:lstStyle/>
              <a:p>
                <a:pPr algn="ctr" defTabSz="781976">
                  <a:defRPr/>
                </a:pPr>
                <a:r>
                  <a:rPr lang="fr-FR" sz="1650" b="1" kern="0" dirty="0">
                    <a:solidFill>
                      <a:schemeClr val="bg1"/>
                    </a:solidFill>
                    <a:latin typeface="Arial Nova" panose="020B0504020202020204" pitchFamily="34" charset="0"/>
                  </a:rPr>
                  <a:t>1000</a:t>
                </a:r>
              </a:p>
            </p:txBody>
          </p:sp>
        </p:grpSp>
        <p:grpSp>
          <p:nvGrpSpPr>
            <p:cNvPr id="39" name="Groupe 38">
              <a:extLst>
                <a:ext uri="{FF2B5EF4-FFF2-40B4-BE49-F238E27FC236}">
                  <a16:creationId xmlns:a16="http://schemas.microsoft.com/office/drawing/2014/main" id="{B4016718-2106-C5B3-7B49-1E59251CA223}"/>
                </a:ext>
              </a:extLst>
            </p:cNvPr>
            <p:cNvGrpSpPr/>
            <p:nvPr/>
          </p:nvGrpSpPr>
          <p:grpSpPr>
            <a:xfrm>
              <a:off x="1371183" y="2649148"/>
              <a:ext cx="1116354" cy="940724"/>
              <a:chOff x="4644036" y="3412813"/>
              <a:chExt cx="1567391" cy="1320800"/>
            </a:xfrm>
          </p:grpSpPr>
          <p:sp>
            <p:nvSpPr>
              <p:cNvPr id="56" name="Rectangle 55">
                <a:extLst>
                  <a:ext uri="{FF2B5EF4-FFF2-40B4-BE49-F238E27FC236}">
                    <a16:creationId xmlns:a16="http://schemas.microsoft.com/office/drawing/2014/main" id="{A47A22B4-FEAF-2BA7-0BA4-919B92CE4ED7}"/>
                  </a:ext>
                </a:extLst>
              </p:cNvPr>
              <p:cNvSpPr/>
              <p:nvPr/>
            </p:nvSpPr>
            <p:spPr>
              <a:xfrm>
                <a:off x="4767332" y="3412813"/>
                <a:ext cx="1320800" cy="1320800"/>
              </a:xfrm>
              <a:prstGeom prst="rect">
                <a:avLst/>
              </a:prstGeom>
              <a:solidFill>
                <a:schemeClr val="accent2"/>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57" name="ZoneTexte 56">
                <a:extLst>
                  <a:ext uri="{FF2B5EF4-FFF2-40B4-BE49-F238E27FC236}">
                    <a16:creationId xmlns:a16="http://schemas.microsoft.com/office/drawing/2014/main" id="{2A4A9BB9-2C3F-0216-8704-421726358C52}"/>
                  </a:ext>
                </a:extLst>
              </p:cNvPr>
              <p:cNvSpPr txBox="1"/>
              <p:nvPr/>
            </p:nvSpPr>
            <p:spPr>
              <a:xfrm>
                <a:off x="4767333" y="4031855"/>
                <a:ext cx="1336021" cy="416850"/>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M€ de CA</a:t>
                </a:r>
              </a:p>
            </p:txBody>
          </p:sp>
          <p:sp>
            <p:nvSpPr>
              <p:cNvPr id="58" name="ZoneTexte 57">
                <a:extLst>
                  <a:ext uri="{FF2B5EF4-FFF2-40B4-BE49-F238E27FC236}">
                    <a16:creationId xmlns:a16="http://schemas.microsoft.com/office/drawing/2014/main" id="{B7A46F56-9831-5320-8930-A0BEC6B8AB44}"/>
                  </a:ext>
                </a:extLst>
              </p:cNvPr>
              <p:cNvSpPr txBox="1"/>
              <p:nvPr/>
            </p:nvSpPr>
            <p:spPr>
              <a:xfrm>
                <a:off x="4644036" y="3674683"/>
                <a:ext cx="1567391" cy="530535"/>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450 </a:t>
                </a:r>
              </a:p>
            </p:txBody>
          </p:sp>
        </p:grpSp>
        <p:grpSp>
          <p:nvGrpSpPr>
            <p:cNvPr id="40" name="Groupe 39">
              <a:extLst>
                <a:ext uri="{FF2B5EF4-FFF2-40B4-BE49-F238E27FC236}">
                  <a16:creationId xmlns:a16="http://schemas.microsoft.com/office/drawing/2014/main" id="{85A7B732-DD74-8789-F1E8-FE67E767234D}"/>
                </a:ext>
              </a:extLst>
            </p:cNvPr>
            <p:cNvGrpSpPr/>
            <p:nvPr/>
          </p:nvGrpSpPr>
          <p:grpSpPr>
            <a:xfrm>
              <a:off x="2410560" y="3589872"/>
              <a:ext cx="1129218" cy="1116354"/>
              <a:chOff x="2127764" y="3438741"/>
              <a:chExt cx="1336020" cy="1320800"/>
            </a:xfrm>
          </p:grpSpPr>
          <p:sp>
            <p:nvSpPr>
              <p:cNvPr id="53" name="Rectangle 52">
                <a:extLst>
                  <a:ext uri="{FF2B5EF4-FFF2-40B4-BE49-F238E27FC236}">
                    <a16:creationId xmlns:a16="http://schemas.microsoft.com/office/drawing/2014/main" id="{CBA2D50B-F592-922A-A5A3-2BA6DFF9ADA5}"/>
                  </a:ext>
                </a:extLst>
              </p:cNvPr>
              <p:cNvSpPr/>
              <p:nvPr/>
            </p:nvSpPr>
            <p:spPr>
              <a:xfrm>
                <a:off x="2127764" y="3438741"/>
                <a:ext cx="1320800" cy="1320800"/>
              </a:xfrm>
              <a:prstGeom prst="rect">
                <a:avLst/>
              </a:prstGeom>
              <a:solidFill>
                <a:schemeClr val="tx2"/>
              </a:solidFill>
              <a:ln w="381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54" name="ZoneTexte 53">
                <a:extLst>
                  <a:ext uri="{FF2B5EF4-FFF2-40B4-BE49-F238E27FC236}">
                    <a16:creationId xmlns:a16="http://schemas.microsoft.com/office/drawing/2014/main" id="{515B2F68-9863-0F45-200F-8EBF6C324C6E}"/>
                  </a:ext>
                </a:extLst>
              </p:cNvPr>
              <p:cNvSpPr txBox="1"/>
              <p:nvPr/>
            </p:nvSpPr>
            <p:spPr>
              <a:xfrm>
                <a:off x="2127764" y="4095113"/>
                <a:ext cx="1336020" cy="351269"/>
              </a:xfrm>
              <a:prstGeom prst="rect">
                <a:avLst/>
              </a:prstGeom>
              <a:noFill/>
            </p:spPr>
            <p:txBody>
              <a:bodyPr wrap="square" rtlCol="0">
                <a:spAutoFit/>
              </a:bodyPr>
              <a:lstStyle/>
              <a:p>
                <a:pPr algn="ctr" defTabSz="781976">
                  <a:defRPr/>
                </a:pPr>
                <a:r>
                  <a:rPr lang="fr-FR" sz="1050" kern="0" dirty="0">
                    <a:solidFill>
                      <a:schemeClr val="bg1"/>
                    </a:solidFill>
                    <a:latin typeface="Arial Nova" panose="020B0504020202020204" pitchFamily="34" charset="0"/>
                    <a:cs typeface="Arial" panose="020B0604020202020204" pitchFamily="34" charset="0"/>
                  </a:rPr>
                  <a:t>Datacenters</a:t>
                </a:r>
                <a:endParaRPr lang="fr-FR" sz="750" kern="0" dirty="0">
                  <a:solidFill>
                    <a:schemeClr val="bg1"/>
                  </a:solidFill>
                  <a:latin typeface="Arial Nova" panose="020B0504020202020204" pitchFamily="34" charset="0"/>
                  <a:cs typeface="Arial" panose="020B0604020202020204" pitchFamily="34" charset="0"/>
                </a:endParaRPr>
              </a:p>
            </p:txBody>
          </p:sp>
          <p:sp>
            <p:nvSpPr>
              <p:cNvPr id="55" name="ZoneTexte 54">
                <a:extLst>
                  <a:ext uri="{FF2B5EF4-FFF2-40B4-BE49-F238E27FC236}">
                    <a16:creationId xmlns:a16="http://schemas.microsoft.com/office/drawing/2014/main" id="{CB79A269-69B9-0319-4AC2-5DB478D7387F}"/>
                  </a:ext>
                </a:extLst>
              </p:cNvPr>
              <p:cNvSpPr txBox="1"/>
              <p:nvPr/>
            </p:nvSpPr>
            <p:spPr>
              <a:xfrm>
                <a:off x="2127765" y="3785565"/>
                <a:ext cx="1320798" cy="447069"/>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4</a:t>
                </a:r>
              </a:p>
            </p:txBody>
          </p:sp>
        </p:grpSp>
        <p:grpSp>
          <p:nvGrpSpPr>
            <p:cNvPr id="41" name="Groupe 40">
              <a:extLst>
                <a:ext uri="{FF2B5EF4-FFF2-40B4-BE49-F238E27FC236}">
                  <a16:creationId xmlns:a16="http://schemas.microsoft.com/office/drawing/2014/main" id="{E65A0E00-6BA7-8865-B1DC-4EFD5CB8CC8E}"/>
                </a:ext>
              </a:extLst>
            </p:cNvPr>
            <p:cNvGrpSpPr/>
            <p:nvPr/>
          </p:nvGrpSpPr>
          <p:grpSpPr>
            <a:xfrm>
              <a:off x="3468034" y="2634496"/>
              <a:ext cx="1116354" cy="940723"/>
              <a:chOff x="3323236" y="4757935"/>
              <a:chExt cx="1567391" cy="1320800"/>
            </a:xfrm>
          </p:grpSpPr>
          <p:sp>
            <p:nvSpPr>
              <p:cNvPr id="50" name="Rectangle 49">
                <a:extLst>
                  <a:ext uri="{FF2B5EF4-FFF2-40B4-BE49-F238E27FC236}">
                    <a16:creationId xmlns:a16="http://schemas.microsoft.com/office/drawing/2014/main" id="{72161A86-0798-8F2D-0949-8279098BB7A2}"/>
                  </a:ext>
                </a:extLst>
              </p:cNvPr>
              <p:cNvSpPr/>
              <p:nvPr/>
            </p:nvSpPr>
            <p:spPr>
              <a:xfrm>
                <a:off x="3446532" y="4757935"/>
                <a:ext cx="1320800" cy="1320800"/>
              </a:xfrm>
              <a:prstGeom prst="rect">
                <a:avLst/>
              </a:prstGeom>
              <a:solidFill>
                <a:schemeClr val="accent5"/>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51" name="ZoneTexte 50">
                <a:extLst>
                  <a:ext uri="{FF2B5EF4-FFF2-40B4-BE49-F238E27FC236}">
                    <a16:creationId xmlns:a16="http://schemas.microsoft.com/office/drawing/2014/main" id="{2F87650E-C0AC-5E8A-7874-B0D6FCD00B2F}"/>
                  </a:ext>
                </a:extLst>
              </p:cNvPr>
              <p:cNvSpPr txBox="1"/>
              <p:nvPr/>
            </p:nvSpPr>
            <p:spPr>
              <a:xfrm>
                <a:off x="3446533" y="5295885"/>
                <a:ext cx="1336020" cy="682118"/>
              </a:xfrm>
              <a:prstGeom prst="rect">
                <a:avLst/>
              </a:prstGeom>
              <a:noFill/>
            </p:spPr>
            <p:txBody>
              <a:bodyPr wrap="square" rtlCol="0">
                <a:spAutoFit/>
              </a:bodyPr>
              <a:lstStyle/>
              <a:p>
                <a:pPr algn="ctr" defTabSz="781976">
                  <a:buClr>
                    <a:srgbClr val="3799E8"/>
                  </a:buClr>
                  <a:defRPr/>
                </a:pPr>
                <a:r>
                  <a:rPr lang="fr-FR" sz="1050" kern="0" dirty="0" err="1">
                    <a:solidFill>
                      <a:schemeClr val="bg1"/>
                    </a:solidFill>
                    <a:latin typeface="Arial Nova" panose="020B0504020202020204" pitchFamily="34" charset="0"/>
                    <a:cs typeface="Arial" panose="020B0604020202020204" pitchFamily="34" charset="0"/>
                  </a:rPr>
                  <a:t>Users</a:t>
                </a:r>
                <a:r>
                  <a:rPr lang="fr-FR" sz="1050" kern="0" dirty="0">
                    <a:solidFill>
                      <a:schemeClr val="bg1"/>
                    </a:solidFill>
                    <a:latin typeface="Arial Nova" panose="020B0504020202020204" pitchFamily="34" charset="0"/>
                    <a:cs typeface="Arial" panose="020B0604020202020204" pitchFamily="34" charset="0"/>
                  </a:rPr>
                  <a:t> managés</a:t>
                </a:r>
              </a:p>
            </p:txBody>
          </p:sp>
          <p:sp>
            <p:nvSpPr>
              <p:cNvPr id="52" name="ZoneTexte 51">
                <a:extLst>
                  <a:ext uri="{FF2B5EF4-FFF2-40B4-BE49-F238E27FC236}">
                    <a16:creationId xmlns:a16="http://schemas.microsoft.com/office/drawing/2014/main" id="{F593B589-3BB3-512C-AFA2-7DBB013EF365}"/>
                  </a:ext>
                </a:extLst>
              </p:cNvPr>
              <p:cNvSpPr txBox="1"/>
              <p:nvPr/>
            </p:nvSpPr>
            <p:spPr>
              <a:xfrm>
                <a:off x="3323236" y="4869214"/>
                <a:ext cx="1567391" cy="568433"/>
              </a:xfrm>
              <a:prstGeom prst="rect">
                <a:avLst/>
              </a:prstGeom>
              <a:noFill/>
            </p:spPr>
            <p:txBody>
              <a:bodyPr wrap="square" rtlCol="0">
                <a:spAutoFit/>
              </a:bodyPr>
              <a:lstStyle/>
              <a:p>
                <a:pPr algn="ctr" defTabSz="781976">
                  <a:defRPr/>
                </a:pPr>
                <a:r>
                  <a:rPr lang="fr-FR" sz="1650" b="1" kern="0" dirty="0">
                    <a:solidFill>
                      <a:schemeClr val="bg1"/>
                    </a:solidFill>
                    <a:latin typeface="Arial Nova" panose="020B0504020202020204" pitchFamily="34" charset="0"/>
                  </a:rPr>
                  <a:t>10 000</a:t>
                </a:r>
              </a:p>
            </p:txBody>
          </p:sp>
        </p:grpSp>
        <p:sp>
          <p:nvSpPr>
            <p:cNvPr id="42" name="Rectangle 41">
              <a:extLst>
                <a:ext uri="{FF2B5EF4-FFF2-40B4-BE49-F238E27FC236}">
                  <a16:creationId xmlns:a16="http://schemas.microsoft.com/office/drawing/2014/main" id="{5A2FCF93-CDDF-B380-D7D0-CA159CF90EE6}"/>
                </a:ext>
              </a:extLst>
            </p:cNvPr>
            <p:cNvSpPr/>
            <p:nvPr/>
          </p:nvSpPr>
          <p:spPr>
            <a:xfrm>
              <a:off x="1873306" y="4706226"/>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3" name="Rectangle 42">
              <a:extLst>
                <a:ext uri="{FF2B5EF4-FFF2-40B4-BE49-F238E27FC236}">
                  <a16:creationId xmlns:a16="http://schemas.microsoft.com/office/drawing/2014/main" id="{56A02A08-F783-E6CB-9FB1-2D49D93B35D8}"/>
                </a:ext>
              </a:extLst>
            </p:cNvPr>
            <p:cNvSpPr/>
            <p:nvPr/>
          </p:nvSpPr>
          <p:spPr>
            <a:xfrm>
              <a:off x="4507413" y="3575219"/>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5" name="Rectangle 44">
              <a:extLst>
                <a:ext uri="{FF2B5EF4-FFF2-40B4-BE49-F238E27FC236}">
                  <a16:creationId xmlns:a16="http://schemas.microsoft.com/office/drawing/2014/main" id="{78469E32-1AFF-99D2-A951-BA6D1E50B486}"/>
                </a:ext>
              </a:extLst>
            </p:cNvPr>
            <p:cNvSpPr/>
            <p:nvPr/>
          </p:nvSpPr>
          <p:spPr>
            <a:xfrm>
              <a:off x="905715" y="2103185"/>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grpSp>
          <p:nvGrpSpPr>
            <p:cNvPr id="46" name="Groupe 45">
              <a:extLst>
                <a:ext uri="{FF2B5EF4-FFF2-40B4-BE49-F238E27FC236}">
                  <a16:creationId xmlns:a16="http://schemas.microsoft.com/office/drawing/2014/main" id="{DD1E1650-A894-1D8C-D43A-A0C5982D8318}"/>
                </a:ext>
              </a:extLst>
            </p:cNvPr>
            <p:cNvGrpSpPr/>
            <p:nvPr/>
          </p:nvGrpSpPr>
          <p:grpSpPr>
            <a:xfrm>
              <a:off x="4050849" y="4713627"/>
              <a:ext cx="1203480" cy="1116354"/>
              <a:chOff x="2076222" y="3424366"/>
              <a:chExt cx="1423882" cy="1320800"/>
            </a:xfrm>
          </p:grpSpPr>
          <p:sp>
            <p:nvSpPr>
              <p:cNvPr id="47" name="Rectangle 46">
                <a:extLst>
                  <a:ext uri="{FF2B5EF4-FFF2-40B4-BE49-F238E27FC236}">
                    <a16:creationId xmlns:a16="http://schemas.microsoft.com/office/drawing/2014/main" id="{D1CAB370-B70A-CE88-94E0-33457B496D01}"/>
                  </a:ext>
                </a:extLst>
              </p:cNvPr>
              <p:cNvSpPr/>
              <p:nvPr/>
            </p:nvSpPr>
            <p:spPr>
              <a:xfrm>
                <a:off x="2127764" y="3424366"/>
                <a:ext cx="1320800" cy="1320800"/>
              </a:xfrm>
              <a:prstGeom prst="rect">
                <a:avLst/>
              </a:prstGeom>
              <a:solidFill>
                <a:schemeClr val="tx2"/>
              </a:solidFill>
              <a:ln w="381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8" name="ZoneTexte 47">
                <a:extLst>
                  <a:ext uri="{FF2B5EF4-FFF2-40B4-BE49-F238E27FC236}">
                    <a16:creationId xmlns:a16="http://schemas.microsoft.com/office/drawing/2014/main" id="{254D3E4F-6594-8459-8A64-C8E1CCA52047}"/>
                  </a:ext>
                </a:extLst>
              </p:cNvPr>
              <p:cNvSpPr txBox="1"/>
              <p:nvPr/>
            </p:nvSpPr>
            <p:spPr>
              <a:xfrm>
                <a:off x="2120153" y="3969505"/>
                <a:ext cx="1336020" cy="574803"/>
              </a:xfrm>
              <a:prstGeom prst="rect">
                <a:avLst/>
              </a:prstGeom>
              <a:noFill/>
            </p:spPr>
            <p:txBody>
              <a:bodyPr wrap="square" rtlCol="0">
                <a:spAutoFit/>
              </a:bodyPr>
              <a:lstStyle/>
              <a:p>
                <a:pPr algn="ctr" defTabSz="781976">
                  <a:defRPr/>
                </a:pPr>
                <a:r>
                  <a:rPr lang="fr-FR" sz="1050" kern="0" dirty="0">
                    <a:solidFill>
                      <a:schemeClr val="bg1"/>
                    </a:solidFill>
                    <a:latin typeface="Arial Nova" panose="020B0504020202020204" pitchFamily="34" charset="0"/>
                    <a:cs typeface="Arial" panose="020B0604020202020204" pitchFamily="34" charset="0"/>
                  </a:rPr>
                  <a:t>serveurs supervisés</a:t>
                </a:r>
                <a:endParaRPr lang="fr-FR" sz="750" kern="0" dirty="0">
                  <a:solidFill>
                    <a:schemeClr val="bg1"/>
                  </a:solidFill>
                  <a:latin typeface="Arial Nova" panose="020B0504020202020204" pitchFamily="34" charset="0"/>
                  <a:cs typeface="Arial" panose="020B0604020202020204" pitchFamily="34" charset="0"/>
                </a:endParaRPr>
              </a:p>
            </p:txBody>
          </p:sp>
          <p:sp>
            <p:nvSpPr>
              <p:cNvPr id="49" name="ZoneTexte 48">
                <a:extLst>
                  <a:ext uri="{FF2B5EF4-FFF2-40B4-BE49-F238E27FC236}">
                    <a16:creationId xmlns:a16="http://schemas.microsoft.com/office/drawing/2014/main" id="{AD2F365A-764B-FB57-1045-3626ECE9D563}"/>
                  </a:ext>
                </a:extLst>
              </p:cNvPr>
              <p:cNvSpPr txBox="1"/>
              <p:nvPr/>
            </p:nvSpPr>
            <p:spPr>
              <a:xfrm>
                <a:off x="2076222" y="3693778"/>
                <a:ext cx="1423882" cy="447069"/>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5 000</a:t>
                </a:r>
              </a:p>
            </p:txBody>
          </p:sp>
        </p:grpSp>
      </p:grpSp>
      <p:sp>
        <p:nvSpPr>
          <p:cNvPr id="70" name="Espace réservé du texte 1">
            <a:extLst>
              <a:ext uri="{FF2B5EF4-FFF2-40B4-BE49-F238E27FC236}">
                <a16:creationId xmlns:a16="http://schemas.microsoft.com/office/drawing/2014/main" id="{29DEE302-95E6-A7F9-9B1E-603EA0F3637E}"/>
              </a:ext>
            </a:extLst>
          </p:cNvPr>
          <p:cNvSpPr txBox="1">
            <a:spLocks/>
          </p:cNvSpPr>
          <p:nvPr/>
        </p:nvSpPr>
        <p:spPr>
          <a:xfrm>
            <a:off x="692906" y="191723"/>
            <a:ext cx="7151005" cy="655243"/>
          </a:xfrm>
          <a:prstGeom prst="rect">
            <a:avLst/>
          </a:prstGeom>
        </p:spPr>
        <p:txBody>
          <a:bodyPr>
            <a:noAutofit/>
          </a:bodyPr>
          <a:lstStyle>
            <a:lvl1pPr marL="0" indent="0" algn="l" defTabSz="1007943" rtl="0" eaLnBrk="1" latinLnBrk="0" hangingPunct="1">
              <a:lnSpc>
                <a:spcPct val="90000"/>
              </a:lnSpc>
              <a:spcBef>
                <a:spcPts val="1102"/>
              </a:spcBef>
              <a:buFont typeface="Arial" panose="020B0604020202020204" pitchFamily="34" charset="0"/>
              <a:buNone/>
              <a:defRPr sz="2400" b="1" i="0" kern="1200">
                <a:solidFill>
                  <a:schemeClr val="tx1"/>
                </a:solidFill>
                <a:latin typeface="+mj-lt"/>
                <a:ea typeface="+mn-ea"/>
                <a:cs typeface="Arial" panose="020B0604020202020204" pitchFamily="34" charset="0"/>
              </a:defRPr>
            </a:lvl1pPr>
            <a:lvl2pPr marL="755957" indent="-251986" algn="l" defTabSz="1007943" rtl="0" eaLnBrk="1" latinLnBrk="0" hangingPunct="1">
              <a:lnSpc>
                <a:spcPct val="90000"/>
              </a:lnSpc>
              <a:spcBef>
                <a:spcPts val="551"/>
              </a:spcBef>
              <a:buFont typeface="Arial" panose="020B0604020202020204" pitchFamily="34" charset="0"/>
              <a:buChar char="•"/>
              <a:defRPr sz="2425" b="0" i="0" kern="1200">
                <a:solidFill>
                  <a:schemeClr val="tx1"/>
                </a:solidFill>
                <a:latin typeface="Arial" panose="020B0604020202020204" pitchFamily="34" charset="0"/>
                <a:ea typeface="+mn-ea"/>
                <a:cs typeface="Arial" panose="020B0604020202020204" pitchFamily="34" charset="0"/>
              </a:defRPr>
            </a:lvl2pPr>
            <a:lvl3pPr marL="1259929" indent="-251986" algn="l" defTabSz="1007943" rtl="0" eaLnBrk="1" latinLnBrk="0" hangingPunct="1">
              <a:lnSpc>
                <a:spcPct val="90000"/>
              </a:lnSpc>
              <a:spcBef>
                <a:spcPts val="551"/>
              </a:spcBef>
              <a:buFont typeface="Arial" panose="020B0604020202020204" pitchFamily="34" charset="0"/>
              <a:buChar char="•"/>
              <a:defRPr sz="2205" b="0" i="0" kern="1200">
                <a:solidFill>
                  <a:schemeClr val="tx1"/>
                </a:solidFill>
                <a:latin typeface="Arial" panose="020B0604020202020204" pitchFamily="34" charset="0"/>
                <a:ea typeface="+mn-ea"/>
                <a:cs typeface="Arial" panose="020B0604020202020204" pitchFamily="34" charset="0"/>
              </a:defRPr>
            </a:lvl3pPr>
            <a:lvl4pPr marL="1763900"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4pPr>
            <a:lvl5pPr marL="2267872"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fr-FR" sz="2051" dirty="0">
                <a:latin typeface="Century Gothic" panose="020B0502020202020204" pitchFamily="34" charset="0"/>
              </a:rPr>
              <a:t>L’expertise métier comme réponse à vos enjeux IT </a:t>
            </a:r>
            <a:r>
              <a:rPr lang="fr-FR" sz="2051" dirty="0">
                <a:solidFill>
                  <a:srgbClr val="E94B57"/>
                </a:solidFill>
                <a:latin typeface="Century Gothic" panose="020B0502020202020204" pitchFamily="34" charset="0"/>
              </a:rPr>
              <a:t>Informatique &amp; Sécurité</a:t>
            </a:r>
          </a:p>
          <a:p>
            <a:endParaRPr lang="fr-FR" sz="2051" dirty="0">
              <a:latin typeface="Century Gothic" panose="020B0502020202020204" pitchFamily="34" charset="0"/>
            </a:endParaRPr>
          </a:p>
        </p:txBody>
      </p:sp>
      <p:sp>
        <p:nvSpPr>
          <p:cNvPr id="72" name="ZoneTexte 71">
            <a:extLst>
              <a:ext uri="{FF2B5EF4-FFF2-40B4-BE49-F238E27FC236}">
                <a16:creationId xmlns:a16="http://schemas.microsoft.com/office/drawing/2014/main" id="{90D5CBDF-8D76-F3BB-72F5-3F675EE8399B}"/>
              </a:ext>
            </a:extLst>
          </p:cNvPr>
          <p:cNvSpPr txBox="1"/>
          <p:nvPr/>
        </p:nvSpPr>
        <p:spPr>
          <a:xfrm>
            <a:off x="692906" y="1364836"/>
            <a:ext cx="7819508" cy="738664"/>
          </a:xfrm>
          <a:prstGeom prst="rect">
            <a:avLst/>
          </a:prstGeom>
          <a:noFill/>
        </p:spPr>
        <p:txBody>
          <a:bodyPr wrap="square">
            <a:spAutoFit/>
          </a:bodyPr>
          <a:lstStyle>
            <a:defPPr>
              <a:defRPr lang="en-US"/>
            </a:defPPr>
            <a:lvl1pPr marR="0" lvl="0" indent="0" defTabSz="914400" fontAlgn="auto">
              <a:lnSpc>
                <a:spcPct val="100000"/>
              </a:lnSpc>
              <a:spcBef>
                <a:spcPts val="0"/>
              </a:spcBef>
              <a:spcAft>
                <a:spcPts val="600"/>
              </a:spcAft>
              <a:buClrTx/>
              <a:buSzTx/>
              <a:buFontTx/>
              <a:buNone/>
              <a:tabLst/>
              <a:defRPr kumimoji="0" sz="1200" b="0" i="0" u="none" strike="noStrike" cap="none" spc="0" normalizeH="0" baseline="0">
                <a:ln>
                  <a:noFill/>
                </a:ln>
                <a:effectLst/>
                <a:uLnTx/>
                <a:uFillTx/>
                <a:latin typeface="Century Gothic" panose="020B0502020202020204" pitchFamily="34" charset="0"/>
                <a:ea typeface="Open Sans" panose="020B0606030504020204" pitchFamily="34" charset="0"/>
                <a:cs typeface="Open Sans" panose="020B0606030504020204" pitchFamily="34" charset="0"/>
              </a:defRPr>
            </a:lvl1pPr>
          </a:lstStyle>
          <a:p>
            <a:r>
              <a:rPr lang="fr-FR" sz="1400" dirty="0">
                <a:latin typeface="Arial Nova" panose="020B0504020202020204" pitchFamily="34" charset="0"/>
                <a:sym typeface="Open Sans"/>
              </a:rPr>
              <a:t>Notre croissance sur les métiers de l’informatique a démarré dès 2002, et s’est particulièrement accrue depuis 2018, pour nous permettre de devenir leader dans les métiers numériques en France, autour d’une mission. </a:t>
            </a:r>
            <a:r>
              <a:rPr lang="fr-FR" sz="1400" b="1" dirty="0">
                <a:latin typeface="Arial Nova" panose="020B0504020202020204" pitchFamily="34" charset="0"/>
                <a:sym typeface="Open Sans"/>
              </a:rPr>
              <a:t>Un seul guichet pour tous vos enjeux numériques !</a:t>
            </a:r>
          </a:p>
        </p:txBody>
      </p:sp>
      <p:sp>
        <p:nvSpPr>
          <p:cNvPr id="3" name="ZoneTexte 2">
            <a:extLst>
              <a:ext uri="{FF2B5EF4-FFF2-40B4-BE49-F238E27FC236}">
                <a16:creationId xmlns:a16="http://schemas.microsoft.com/office/drawing/2014/main" id="{775FB574-5E38-BACD-CC61-650F257AB3AC}"/>
              </a:ext>
            </a:extLst>
          </p:cNvPr>
          <p:cNvSpPr txBox="1"/>
          <p:nvPr/>
        </p:nvSpPr>
        <p:spPr>
          <a:xfrm>
            <a:off x="930677" y="2696364"/>
            <a:ext cx="4249632" cy="3723840"/>
          </a:xfrm>
          <a:prstGeom prst="rect">
            <a:avLst/>
          </a:prstGeom>
          <a:noFill/>
        </p:spPr>
        <p:txBody>
          <a:bodyPr wrap="square">
            <a:spAutoFit/>
          </a:bodyPr>
          <a:lstStyle/>
          <a:p>
            <a:r>
              <a:rPr lang="fr-FR" sz="1999" b="1" dirty="0" err="1">
                <a:latin typeface="Arial Nova" panose="020B0504020202020204" pitchFamily="34" charset="0"/>
                <a:sym typeface="Open Sans"/>
              </a:rPr>
              <a:t>Koesio</a:t>
            </a:r>
            <a:r>
              <a:rPr lang="fr-FR" sz="1999" b="1" dirty="0">
                <a:latin typeface="Arial Nova" panose="020B0504020202020204" pitchFamily="34" charset="0"/>
                <a:sym typeface="Open Sans"/>
              </a:rPr>
              <a:t>, une synergie parfaite des métiers informatiques</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Avec notre expertise en services managés, nous </a:t>
            </a:r>
            <a:r>
              <a:rPr lang="fr-FR" sz="1400" b="1" dirty="0">
                <a:latin typeface="Arial Nova" panose="020B0504020202020204" pitchFamily="34" charset="0"/>
              </a:rPr>
              <a:t>pilotons proactivement vos postes informatiques</a:t>
            </a:r>
            <a:r>
              <a:rPr lang="fr-FR" sz="1400" dirty="0">
                <a:latin typeface="Arial Nova" panose="020B0504020202020204" pitchFamily="34" charset="0"/>
              </a:rPr>
              <a:t>, à distance avec un service illimité.</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Avec nos volumes d’achat, nous vous donnons accès au </a:t>
            </a:r>
            <a:r>
              <a:rPr lang="fr-FR" sz="1400" b="1" dirty="0">
                <a:latin typeface="Arial Nova" panose="020B0504020202020204" pitchFamily="34" charset="0"/>
              </a:rPr>
              <a:t>plus</a:t>
            </a:r>
            <a:r>
              <a:rPr lang="fr-FR" sz="1400" dirty="0">
                <a:latin typeface="Arial Nova" panose="020B0504020202020204" pitchFamily="34" charset="0"/>
              </a:rPr>
              <a:t> </a:t>
            </a:r>
            <a:r>
              <a:rPr lang="fr-FR" sz="1400" b="1" dirty="0">
                <a:latin typeface="Arial Nova" panose="020B0504020202020204" pitchFamily="34" charset="0"/>
              </a:rPr>
              <a:t>grand stock d’équipements informatiques et négocient au mieux les prix</a:t>
            </a:r>
            <a:r>
              <a:rPr lang="fr-FR" sz="1400" dirty="0">
                <a:latin typeface="Arial Nova" panose="020B0504020202020204" pitchFamily="34" charset="0"/>
              </a:rPr>
              <a:t>.</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Nos experts informatiques régionaux configurent, suivent et agissent pour vous </a:t>
            </a:r>
            <a:r>
              <a:rPr lang="fr-FR" sz="1400" b="1" dirty="0">
                <a:latin typeface="Arial Nova" panose="020B0504020202020204" pitchFamily="34" charset="0"/>
              </a:rPr>
              <a:t>garantir le maintien en conditions opérationnelles de votre IT</a:t>
            </a:r>
          </a:p>
        </p:txBody>
      </p:sp>
      <p:sp>
        <p:nvSpPr>
          <p:cNvPr id="4" name="Rectangle 3">
            <a:extLst>
              <a:ext uri="{FF2B5EF4-FFF2-40B4-BE49-F238E27FC236}">
                <a16:creationId xmlns:a16="http://schemas.microsoft.com/office/drawing/2014/main" id="{AC92B68D-89F1-FF68-EB4F-2C7B496D75E6}"/>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5" name="Image 4">
            <a:extLst>
              <a:ext uri="{FF2B5EF4-FFF2-40B4-BE49-F238E27FC236}">
                <a16:creationId xmlns:a16="http://schemas.microsoft.com/office/drawing/2014/main" id="{2F37630A-98EE-3171-2D25-62AAA36AEF2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6" name="Rectangle 5">
            <a:extLst>
              <a:ext uri="{FF2B5EF4-FFF2-40B4-BE49-F238E27FC236}">
                <a16:creationId xmlns:a16="http://schemas.microsoft.com/office/drawing/2014/main" id="{E01D55E8-F50B-AA6A-548F-7B881F3902CC}"/>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Tree>
    <p:extLst>
      <p:ext uri="{BB962C8B-B14F-4D97-AF65-F5344CB8AC3E}">
        <p14:creationId xmlns:p14="http://schemas.microsoft.com/office/powerpoint/2010/main" val="430280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3B6C7-ED8A-7600-7C10-556FD460198B}"/>
            </a:ext>
          </a:extLst>
        </p:cNvPr>
        <p:cNvGrpSpPr/>
        <p:nvPr/>
      </p:nvGrpSpPr>
      <p:grpSpPr>
        <a:xfrm>
          <a:off x="0" y="0"/>
          <a:ext cx="0" cy="0"/>
          <a:chOff x="0" y="0"/>
          <a:chExt cx="0" cy="0"/>
        </a:xfrm>
      </p:grpSpPr>
      <p:grpSp>
        <p:nvGrpSpPr>
          <p:cNvPr id="35" name="Groupe 34">
            <a:extLst>
              <a:ext uri="{FF2B5EF4-FFF2-40B4-BE49-F238E27FC236}">
                <a16:creationId xmlns:a16="http://schemas.microsoft.com/office/drawing/2014/main" id="{AC9BC1E2-44E6-0CDF-31A7-23E1976F48F5}"/>
              </a:ext>
            </a:extLst>
          </p:cNvPr>
          <p:cNvGrpSpPr/>
          <p:nvPr/>
        </p:nvGrpSpPr>
        <p:grpSpPr>
          <a:xfrm>
            <a:off x="5564328" y="2877540"/>
            <a:ext cx="4324570" cy="3217089"/>
            <a:chOff x="241299" y="2080487"/>
            <a:chExt cx="5056594" cy="3761648"/>
          </a:xfrm>
        </p:grpSpPr>
        <p:sp>
          <p:nvSpPr>
            <p:cNvPr id="36" name="Rectangle 35">
              <a:extLst>
                <a:ext uri="{FF2B5EF4-FFF2-40B4-BE49-F238E27FC236}">
                  <a16:creationId xmlns:a16="http://schemas.microsoft.com/office/drawing/2014/main" id="{E651D44A-28B2-C78F-223D-3A3C4922FB2A}"/>
                </a:ext>
              </a:extLst>
            </p:cNvPr>
            <p:cNvSpPr/>
            <p:nvPr/>
          </p:nvSpPr>
          <p:spPr>
            <a:xfrm>
              <a:off x="3525371" y="4164103"/>
              <a:ext cx="552566" cy="552566"/>
            </a:xfrm>
            <a:prstGeom prst="rect">
              <a:avLst/>
            </a:prstGeom>
            <a:solidFill>
              <a:srgbClr val="E94B57"/>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37" name="Rectangle 36">
              <a:extLst>
                <a:ext uri="{FF2B5EF4-FFF2-40B4-BE49-F238E27FC236}">
                  <a16:creationId xmlns:a16="http://schemas.microsoft.com/office/drawing/2014/main" id="{D6E0867E-9EF5-8550-C89D-E05309A238F0}"/>
                </a:ext>
              </a:extLst>
            </p:cNvPr>
            <p:cNvSpPr/>
            <p:nvPr/>
          </p:nvSpPr>
          <p:spPr>
            <a:xfrm>
              <a:off x="2387803" y="3037306"/>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grpSp>
          <p:nvGrpSpPr>
            <p:cNvPr id="38" name="Groupe 37">
              <a:extLst>
                <a:ext uri="{FF2B5EF4-FFF2-40B4-BE49-F238E27FC236}">
                  <a16:creationId xmlns:a16="http://schemas.microsoft.com/office/drawing/2014/main" id="{7350E52B-65CA-FD73-56C6-6BE35D9AE8A2}"/>
                </a:ext>
              </a:extLst>
            </p:cNvPr>
            <p:cNvGrpSpPr/>
            <p:nvPr/>
          </p:nvGrpSpPr>
          <p:grpSpPr>
            <a:xfrm>
              <a:off x="241299" y="3609424"/>
              <a:ext cx="1291986" cy="1116353"/>
              <a:chOff x="3199940" y="4757935"/>
              <a:chExt cx="1813982" cy="1567390"/>
            </a:xfrm>
          </p:grpSpPr>
          <p:sp>
            <p:nvSpPr>
              <p:cNvPr id="59" name="Rectangle 58">
                <a:extLst>
                  <a:ext uri="{FF2B5EF4-FFF2-40B4-BE49-F238E27FC236}">
                    <a16:creationId xmlns:a16="http://schemas.microsoft.com/office/drawing/2014/main" id="{4693DBCD-F75A-120D-EF6D-015CDD5AF598}"/>
                  </a:ext>
                </a:extLst>
              </p:cNvPr>
              <p:cNvSpPr/>
              <p:nvPr/>
            </p:nvSpPr>
            <p:spPr>
              <a:xfrm>
                <a:off x="3326994" y="4757935"/>
                <a:ext cx="1567390" cy="1567390"/>
              </a:xfrm>
              <a:prstGeom prst="rect">
                <a:avLst/>
              </a:prstGeom>
              <a:solidFill>
                <a:schemeClr val="accent5"/>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60" name="ZoneTexte 59">
                <a:extLst>
                  <a:ext uri="{FF2B5EF4-FFF2-40B4-BE49-F238E27FC236}">
                    <a16:creationId xmlns:a16="http://schemas.microsoft.com/office/drawing/2014/main" id="{2B25ECAC-60E0-B75D-85CA-BB8D2044D731}"/>
                  </a:ext>
                </a:extLst>
              </p:cNvPr>
              <p:cNvSpPr txBox="1"/>
              <p:nvPr/>
            </p:nvSpPr>
            <p:spPr>
              <a:xfrm>
                <a:off x="3199940" y="5441160"/>
                <a:ext cx="1813982" cy="682118"/>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Fibres </a:t>
                </a:r>
              </a:p>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dédiées</a:t>
                </a:r>
              </a:p>
            </p:txBody>
          </p:sp>
          <p:sp>
            <p:nvSpPr>
              <p:cNvPr id="61" name="ZoneTexte 60">
                <a:extLst>
                  <a:ext uri="{FF2B5EF4-FFF2-40B4-BE49-F238E27FC236}">
                    <a16:creationId xmlns:a16="http://schemas.microsoft.com/office/drawing/2014/main" id="{C71929E4-441C-0A9C-2AD2-D33E3CBD8EDB}"/>
                  </a:ext>
                </a:extLst>
              </p:cNvPr>
              <p:cNvSpPr txBox="1"/>
              <p:nvPr/>
            </p:nvSpPr>
            <p:spPr>
              <a:xfrm>
                <a:off x="3242351" y="4998276"/>
                <a:ext cx="1729159" cy="568433"/>
              </a:xfrm>
              <a:prstGeom prst="rect">
                <a:avLst/>
              </a:prstGeom>
              <a:noFill/>
            </p:spPr>
            <p:txBody>
              <a:bodyPr wrap="square" rtlCol="0">
                <a:spAutoFit/>
              </a:bodyPr>
              <a:lstStyle/>
              <a:p>
                <a:pPr algn="ctr" defTabSz="781976">
                  <a:defRPr/>
                </a:pPr>
                <a:r>
                  <a:rPr lang="fr-FR" sz="1650" b="1" kern="0" dirty="0">
                    <a:solidFill>
                      <a:schemeClr val="bg1"/>
                    </a:solidFill>
                    <a:latin typeface="Arial Nova" panose="020B0504020202020204" pitchFamily="34" charset="0"/>
                  </a:rPr>
                  <a:t>2000 km</a:t>
                </a:r>
              </a:p>
            </p:txBody>
          </p:sp>
        </p:grpSp>
        <p:grpSp>
          <p:nvGrpSpPr>
            <p:cNvPr id="39" name="Groupe 38">
              <a:extLst>
                <a:ext uri="{FF2B5EF4-FFF2-40B4-BE49-F238E27FC236}">
                  <a16:creationId xmlns:a16="http://schemas.microsoft.com/office/drawing/2014/main" id="{53E91CFA-6BD5-3A14-632F-5FB05E07E0AA}"/>
                </a:ext>
              </a:extLst>
            </p:cNvPr>
            <p:cNvGrpSpPr/>
            <p:nvPr/>
          </p:nvGrpSpPr>
          <p:grpSpPr>
            <a:xfrm>
              <a:off x="1371183" y="2649151"/>
              <a:ext cx="1116354" cy="961351"/>
              <a:chOff x="4644036" y="3412813"/>
              <a:chExt cx="1567391" cy="1349760"/>
            </a:xfrm>
          </p:grpSpPr>
          <p:sp>
            <p:nvSpPr>
              <p:cNvPr id="56" name="Rectangle 55">
                <a:extLst>
                  <a:ext uri="{FF2B5EF4-FFF2-40B4-BE49-F238E27FC236}">
                    <a16:creationId xmlns:a16="http://schemas.microsoft.com/office/drawing/2014/main" id="{3DB97B6E-6D66-3EBC-A438-43E4A3312D9A}"/>
                  </a:ext>
                </a:extLst>
              </p:cNvPr>
              <p:cNvSpPr/>
              <p:nvPr/>
            </p:nvSpPr>
            <p:spPr>
              <a:xfrm>
                <a:off x="4767332" y="3412813"/>
                <a:ext cx="1320800" cy="1320800"/>
              </a:xfrm>
              <a:prstGeom prst="rect">
                <a:avLst/>
              </a:prstGeom>
              <a:solidFill>
                <a:schemeClr val="accent2"/>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57" name="ZoneTexte 56">
                <a:extLst>
                  <a:ext uri="{FF2B5EF4-FFF2-40B4-BE49-F238E27FC236}">
                    <a16:creationId xmlns:a16="http://schemas.microsoft.com/office/drawing/2014/main" id="{19C0C794-2D0E-8E81-CEC4-C05E8E3545F6}"/>
                  </a:ext>
                </a:extLst>
              </p:cNvPr>
              <p:cNvSpPr txBox="1"/>
              <p:nvPr/>
            </p:nvSpPr>
            <p:spPr>
              <a:xfrm>
                <a:off x="4767333" y="3815188"/>
                <a:ext cx="1336021" cy="947385"/>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Points de présence opérateur</a:t>
                </a:r>
              </a:p>
            </p:txBody>
          </p:sp>
          <p:sp>
            <p:nvSpPr>
              <p:cNvPr id="58" name="ZoneTexte 57">
                <a:extLst>
                  <a:ext uri="{FF2B5EF4-FFF2-40B4-BE49-F238E27FC236}">
                    <a16:creationId xmlns:a16="http://schemas.microsoft.com/office/drawing/2014/main" id="{EF7744BF-AF26-FE83-39BC-38FED3780BC7}"/>
                  </a:ext>
                </a:extLst>
              </p:cNvPr>
              <p:cNvSpPr txBox="1"/>
              <p:nvPr/>
            </p:nvSpPr>
            <p:spPr>
              <a:xfrm>
                <a:off x="4644036" y="3458017"/>
                <a:ext cx="1567391" cy="530535"/>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70 </a:t>
                </a:r>
              </a:p>
            </p:txBody>
          </p:sp>
        </p:grpSp>
        <p:grpSp>
          <p:nvGrpSpPr>
            <p:cNvPr id="40" name="Groupe 39">
              <a:extLst>
                <a:ext uri="{FF2B5EF4-FFF2-40B4-BE49-F238E27FC236}">
                  <a16:creationId xmlns:a16="http://schemas.microsoft.com/office/drawing/2014/main" id="{F6E99939-A62A-4075-F01F-F32F1828742B}"/>
                </a:ext>
              </a:extLst>
            </p:cNvPr>
            <p:cNvGrpSpPr/>
            <p:nvPr/>
          </p:nvGrpSpPr>
          <p:grpSpPr>
            <a:xfrm>
              <a:off x="2410560" y="3589872"/>
              <a:ext cx="1129218" cy="1116354"/>
              <a:chOff x="2127764" y="3438741"/>
              <a:chExt cx="1336020" cy="1320800"/>
            </a:xfrm>
          </p:grpSpPr>
          <p:sp>
            <p:nvSpPr>
              <p:cNvPr id="53" name="Rectangle 52">
                <a:extLst>
                  <a:ext uri="{FF2B5EF4-FFF2-40B4-BE49-F238E27FC236}">
                    <a16:creationId xmlns:a16="http://schemas.microsoft.com/office/drawing/2014/main" id="{A9EB162F-876D-18F1-1B65-F0D55F7CF7FF}"/>
                  </a:ext>
                </a:extLst>
              </p:cNvPr>
              <p:cNvSpPr/>
              <p:nvPr/>
            </p:nvSpPr>
            <p:spPr>
              <a:xfrm>
                <a:off x="2127764" y="3438741"/>
                <a:ext cx="1320800" cy="1320800"/>
              </a:xfrm>
              <a:prstGeom prst="rect">
                <a:avLst/>
              </a:prstGeom>
              <a:solidFill>
                <a:schemeClr val="tx2"/>
              </a:solidFill>
              <a:ln w="381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54" name="ZoneTexte 53">
                <a:extLst>
                  <a:ext uri="{FF2B5EF4-FFF2-40B4-BE49-F238E27FC236}">
                    <a16:creationId xmlns:a16="http://schemas.microsoft.com/office/drawing/2014/main" id="{8D58FB5E-1059-D076-0970-02ACC55818E7}"/>
                  </a:ext>
                </a:extLst>
              </p:cNvPr>
              <p:cNvSpPr txBox="1"/>
              <p:nvPr/>
            </p:nvSpPr>
            <p:spPr>
              <a:xfrm>
                <a:off x="2127764" y="3966512"/>
                <a:ext cx="1336020" cy="574803"/>
              </a:xfrm>
              <a:prstGeom prst="rect">
                <a:avLst/>
              </a:prstGeom>
              <a:noFill/>
            </p:spPr>
            <p:txBody>
              <a:bodyPr wrap="square" rtlCol="0">
                <a:spAutoFit/>
              </a:bodyPr>
              <a:lstStyle/>
              <a:p>
                <a:pPr algn="ctr" defTabSz="781976">
                  <a:defRPr/>
                </a:pPr>
                <a:r>
                  <a:rPr lang="fr-FR" sz="1050" kern="0" dirty="0">
                    <a:solidFill>
                      <a:schemeClr val="bg1"/>
                    </a:solidFill>
                    <a:latin typeface="Arial Nova" panose="020B0504020202020204" pitchFamily="34" charset="0"/>
                    <a:cs typeface="Arial" panose="020B0604020202020204" pitchFamily="34" charset="0"/>
                  </a:rPr>
                  <a:t>Clients télécom</a:t>
                </a:r>
                <a:endParaRPr lang="fr-FR" sz="750" kern="0" dirty="0">
                  <a:solidFill>
                    <a:schemeClr val="bg1"/>
                  </a:solidFill>
                  <a:latin typeface="Arial Nova" panose="020B0504020202020204" pitchFamily="34" charset="0"/>
                  <a:cs typeface="Arial" panose="020B0604020202020204" pitchFamily="34" charset="0"/>
                </a:endParaRPr>
              </a:p>
            </p:txBody>
          </p:sp>
          <p:sp>
            <p:nvSpPr>
              <p:cNvPr id="55" name="ZoneTexte 54">
                <a:extLst>
                  <a:ext uri="{FF2B5EF4-FFF2-40B4-BE49-F238E27FC236}">
                    <a16:creationId xmlns:a16="http://schemas.microsoft.com/office/drawing/2014/main" id="{395BFDC8-F485-E25A-7F9E-2898B9F52939}"/>
                  </a:ext>
                </a:extLst>
              </p:cNvPr>
              <p:cNvSpPr txBox="1"/>
              <p:nvPr/>
            </p:nvSpPr>
            <p:spPr>
              <a:xfrm>
                <a:off x="2127765" y="3656965"/>
                <a:ext cx="1320798" cy="447069"/>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10 000</a:t>
                </a:r>
              </a:p>
            </p:txBody>
          </p:sp>
        </p:grpSp>
        <p:grpSp>
          <p:nvGrpSpPr>
            <p:cNvPr id="41" name="Groupe 40">
              <a:extLst>
                <a:ext uri="{FF2B5EF4-FFF2-40B4-BE49-F238E27FC236}">
                  <a16:creationId xmlns:a16="http://schemas.microsoft.com/office/drawing/2014/main" id="{42EE1E27-C6C9-C00B-A3FB-A8EA3C966266}"/>
                </a:ext>
              </a:extLst>
            </p:cNvPr>
            <p:cNvGrpSpPr/>
            <p:nvPr/>
          </p:nvGrpSpPr>
          <p:grpSpPr>
            <a:xfrm>
              <a:off x="3555850" y="2634496"/>
              <a:ext cx="951563" cy="940723"/>
              <a:chOff x="3446532" y="4757935"/>
              <a:chExt cx="1336020" cy="1320800"/>
            </a:xfrm>
          </p:grpSpPr>
          <p:sp>
            <p:nvSpPr>
              <p:cNvPr id="50" name="Rectangle 49">
                <a:extLst>
                  <a:ext uri="{FF2B5EF4-FFF2-40B4-BE49-F238E27FC236}">
                    <a16:creationId xmlns:a16="http://schemas.microsoft.com/office/drawing/2014/main" id="{8696C3CF-095A-6591-81E6-94FFEE0A8929}"/>
                  </a:ext>
                </a:extLst>
              </p:cNvPr>
              <p:cNvSpPr/>
              <p:nvPr/>
            </p:nvSpPr>
            <p:spPr>
              <a:xfrm>
                <a:off x="3446532" y="4757935"/>
                <a:ext cx="1320800" cy="1320800"/>
              </a:xfrm>
              <a:prstGeom prst="rect">
                <a:avLst/>
              </a:prstGeom>
              <a:solidFill>
                <a:schemeClr val="accent5"/>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51" name="ZoneTexte 50">
                <a:extLst>
                  <a:ext uri="{FF2B5EF4-FFF2-40B4-BE49-F238E27FC236}">
                    <a16:creationId xmlns:a16="http://schemas.microsoft.com/office/drawing/2014/main" id="{0D7BB17E-7C71-90EE-39A7-4C136F2B9A75}"/>
                  </a:ext>
                </a:extLst>
              </p:cNvPr>
              <p:cNvSpPr txBox="1"/>
              <p:nvPr/>
            </p:nvSpPr>
            <p:spPr>
              <a:xfrm>
                <a:off x="3446532" y="5295884"/>
                <a:ext cx="1336020" cy="682117"/>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experts métier</a:t>
                </a:r>
              </a:p>
            </p:txBody>
          </p:sp>
          <p:sp>
            <p:nvSpPr>
              <p:cNvPr id="52" name="ZoneTexte 51">
                <a:extLst>
                  <a:ext uri="{FF2B5EF4-FFF2-40B4-BE49-F238E27FC236}">
                    <a16:creationId xmlns:a16="http://schemas.microsoft.com/office/drawing/2014/main" id="{52684A49-05E1-41F3-AA8D-FA111EEDD942}"/>
                  </a:ext>
                </a:extLst>
              </p:cNvPr>
              <p:cNvSpPr txBox="1"/>
              <p:nvPr/>
            </p:nvSpPr>
            <p:spPr>
              <a:xfrm>
                <a:off x="3446532" y="4871875"/>
                <a:ext cx="1325618" cy="568433"/>
              </a:xfrm>
              <a:prstGeom prst="rect">
                <a:avLst/>
              </a:prstGeom>
              <a:noFill/>
            </p:spPr>
            <p:txBody>
              <a:bodyPr wrap="square" rtlCol="0">
                <a:spAutoFit/>
              </a:bodyPr>
              <a:lstStyle/>
              <a:p>
                <a:pPr algn="ctr" defTabSz="781976">
                  <a:defRPr/>
                </a:pPr>
                <a:r>
                  <a:rPr lang="fr-FR" sz="1650" b="1" kern="0" dirty="0">
                    <a:solidFill>
                      <a:schemeClr val="bg1"/>
                    </a:solidFill>
                    <a:latin typeface="Arial Nova" panose="020B0504020202020204" pitchFamily="34" charset="0"/>
                  </a:rPr>
                  <a:t>400</a:t>
                </a:r>
              </a:p>
            </p:txBody>
          </p:sp>
        </p:grpSp>
        <p:sp>
          <p:nvSpPr>
            <p:cNvPr id="42" name="Rectangle 41">
              <a:extLst>
                <a:ext uri="{FF2B5EF4-FFF2-40B4-BE49-F238E27FC236}">
                  <a16:creationId xmlns:a16="http://schemas.microsoft.com/office/drawing/2014/main" id="{7E50550D-7F5F-978E-776A-653197341E65}"/>
                </a:ext>
              </a:extLst>
            </p:cNvPr>
            <p:cNvSpPr/>
            <p:nvPr/>
          </p:nvSpPr>
          <p:spPr>
            <a:xfrm>
              <a:off x="1873306" y="4706226"/>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3" name="Rectangle 42">
              <a:extLst>
                <a:ext uri="{FF2B5EF4-FFF2-40B4-BE49-F238E27FC236}">
                  <a16:creationId xmlns:a16="http://schemas.microsoft.com/office/drawing/2014/main" id="{EBD6C03B-65F1-4131-C31C-2AABAAF6C64F}"/>
                </a:ext>
              </a:extLst>
            </p:cNvPr>
            <p:cNvSpPr/>
            <p:nvPr/>
          </p:nvSpPr>
          <p:spPr>
            <a:xfrm>
              <a:off x="4500005" y="3562762"/>
              <a:ext cx="552566" cy="552566"/>
            </a:xfrm>
            <a:prstGeom prst="rect">
              <a:avLst/>
            </a:prstGeom>
            <a:solidFill>
              <a:srgbClr val="E94B57"/>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5" name="Rectangle 44">
              <a:extLst>
                <a:ext uri="{FF2B5EF4-FFF2-40B4-BE49-F238E27FC236}">
                  <a16:creationId xmlns:a16="http://schemas.microsoft.com/office/drawing/2014/main" id="{4AC9910B-D0E5-163C-0A72-B8C31D39FC53}"/>
                </a:ext>
              </a:extLst>
            </p:cNvPr>
            <p:cNvSpPr/>
            <p:nvPr/>
          </p:nvSpPr>
          <p:spPr>
            <a:xfrm>
              <a:off x="924230" y="2080487"/>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grpSp>
          <p:nvGrpSpPr>
            <p:cNvPr id="46" name="Groupe 45">
              <a:extLst>
                <a:ext uri="{FF2B5EF4-FFF2-40B4-BE49-F238E27FC236}">
                  <a16:creationId xmlns:a16="http://schemas.microsoft.com/office/drawing/2014/main" id="{45967717-1782-493E-5AD2-97EB8D5A5567}"/>
                </a:ext>
              </a:extLst>
            </p:cNvPr>
            <p:cNvGrpSpPr/>
            <p:nvPr/>
          </p:nvGrpSpPr>
          <p:grpSpPr>
            <a:xfrm>
              <a:off x="4094413" y="4725780"/>
              <a:ext cx="1203480" cy="1116355"/>
              <a:chOff x="2127764" y="3438741"/>
              <a:chExt cx="1423882" cy="1320800"/>
            </a:xfrm>
          </p:grpSpPr>
          <p:sp>
            <p:nvSpPr>
              <p:cNvPr id="47" name="Rectangle 46">
                <a:extLst>
                  <a:ext uri="{FF2B5EF4-FFF2-40B4-BE49-F238E27FC236}">
                    <a16:creationId xmlns:a16="http://schemas.microsoft.com/office/drawing/2014/main" id="{5D35C2A6-398E-1FAB-5215-C534210FFCA6}"/>
                  </a:ext>
                </a:extLst>
              </p:cNvPr>
              <p:cNvSpPr/>
              <p:nvPr/>
            </p:nvSpPr>
            <p:spPr>
              <a:xfrm>
                <a:off x="2127764" y="3438741"/>
                <a:ext cx="1320800" cy="1320800"/>
              </a:xfrm>
              <a:prstGeom prst="rect">
                <a:avLst/>
              </a:prstGeom>
              <a:solidFill>
                <a:schemeClr val="tx2"/>
              </a:solidFill>
              <a:ln w="381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8" name="ZoneTexte 47">
                <a:extLst>
                  <a:ext uri="{FF2B5EF4-FFF2-40B4-BE49-F238E27FC236}">
                    <a16:creationId xmlns:a16="http://schemas.microsoft.com/office/drawing/2014/main" id="{2190B31A-D086-8F7E-A2C6-7BF2B9F8786E}"/>
                  </a:ext>
                </a:extLst>
              </p:cNvPr>
              <p:cNvSpPr txBox="1"/>
              <p:nvPr/>
            </p:nvSpPr>
            <p:spPr>
              <a:xfrm>
                <a:off x="2150302" y="4117651"/>
                <a:ext cx="1336020" cy="574803"/>
              </a:xfrm>
              <a:prstGeom prst="rect">
                <a:avLst/>
              </a:prstGeom>
              <a:noFill/>
            </p:spPr>
            <p:txBody>
              <a:bodyPr wrap="square" rtlCol="0">
                <a:spAutoFit/>
              </a:bodyPr>
              <a:lstStyle/>
              <a:p>
                <a:pPr algn="ctr" defTabSz="781976">
                  <a:defRPr/>
                </a:pPr>
                <a:r>
                  <a:rPr lang="fr-FR" sz="1050" kern="0" dirty="0">
                    <a:solidFill>
                      <a:schemeClr val="bg1"/>
                    </a:solidFill>
                    <a:latin typeface="Arial Nova" panose="020B0504020202020204" pitchFamily="34" charset="0"/>
                    <a:cs typeface="Arial" panose="020B0604020202020204" pitchFamily="34" charset="0"/>
                  </a:rPr>
                  <a:t>Minutes </a:t>
                </a:r>
              </a:p>
              <a:p>
                <a:pPr algn="ctr" defTabSz="781976">
                  <a:defRPr/>
                </a:pPr>
                <a:r>
                  <a:rPr lang="fr-FR" sz="1050" kern="0" dirty="0">
                    <a:solidFill>
                      <a:schemeClr val="bg1"/>
                    </a:solidFill>
                    <a:latin typeface="Arial Nova" panose="020B0504020202020204" pitchFamily="34" charset="0"/>
                    <a:cs typeface="Arial" panose="020B0604020202020204" pitchFamily="34" charset="0"/>
                  </a:rPr>
                  <a:t>voix</a:t>
                </a:r>
                <a:endParaRPr lang="fr-FR" sz="750" kern="0" dirty="0">
                  <a:solidFill>
                    <a:schemeClr val="bg1"/>
                  </a:solidFill>
                  <a:latin typeface="Arial Nova" panose="020B0504020202020204" pitchFamily="34" charset="0"/>
                  <a:cs typeface="Arial" panose="020B0604020202020204" pitchFamily="34" charset="0"/>
                </a:endParaRPr>
              </a:p>
            </p:txBody>
          </p:sp>
          <p:sp>
            <p:nvSpPr>
              <p:cNvPr id="49" name="ZoneTexte 48">
                <a:extLst>
                  <a:ext uri="{FF2B5EF4-FFF2-40B4-BE49-F238E27FC236}">
                    <a16:creationId xmlns:a16="http://schemas.microsoft.com/office/drawing/2014/main" id="{DD274F41-3C42-9D5A-5343-C5EBE9840968}"/>
                  </a:ext>
                </a:extLst>
              </p:cNvPr>
              <p:cNvSpPr txBox="1"/>
              <p:nvPr/>
            </p:nvSpPr>
            <p:spPr>
              <a:xfrm>
                <a:off x="2127764" y="3480210"/>
                <a:ext cx="1423882" cy="766405"/>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20</a:t>
                </a:r>
              </a:p>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Millions</a:t>
                </a:r>
              </a:p>
            </p:txBody>
          </p:sp>
        </p:grpSp>
      </p:grpSp>
      <p:sp>
        <p:nvSpPr>
          <p:cNvPr id="70" name="Espace réservé du texte 1">
            <a:extLst>
              <a:ext uri="{FF2B5EF4-FFF2-40B4-BE49-F238E27FC236}">
                <a16:creationId xmlns:a16="http://schemas.microsoft.com/office/drawing/2014/main" id="{CEA649CC-DF0B-674D-75C0-BAEDBAA37721}"/>
              </a:ext>
            </a:extLst>
          </p:cNvPr>
          <p:cNvSpPr txBox="1">
            <a:spLocks/>
          </p:cNvSpPr>
          <p:nvPr/>
        </p:nvSpPr>
        <p:spPr>
          <a:xfrm>
            <a:off x="582087" y="201777"/>
            <a:ext cx="7713285" cy="655243"/>
          </a:xfrm>
          <a:prstGeom prst="rect">
            <a:avLst/>
          </a:prstGeom>
        </p:spPr>
        <p:txBody>
          <a:bodyPr>
            <a:noAutofit/>
          </a:bodyPr>
          <a:lstStyle>
            <a:lvl1pPr marL="0" indent="0" algn="l" defTabSz="1007943" rtl="0" eaLnBrk="1" latinLnBrk="0" hangingPunct="1">
              <a:lnSpc>
                <a:spcPct val="90000"/>
              </a:lnSpc>
              <a:spcBef>
                <a:spcPts val="1102"/>
              </a:spcBef>
              <a:buFont typeface="Arial" panose="020B0604020202020204" pitchFamily="34" charset="0"/>
              <a:buNone/>
              <a:defRPr sz="2400" b="1" i="0" kern="1200">
                <a:solidFill>
                  <a:schemeClr val="tx1"/>
                </a:solidFill>
                <a:latin typeface="+mj-lt"/>
                <a:ea typeface="+mn-ea"/>
                <a:cs typeface="Arial" panose="020B0604020202020204" pitchFamily="34" charset="0"/>
              </a:defRPr>
            </a:lvl1pPr>
            <a:lvl2pPr marL="755957" indent="-251986" algn="l" defTabSz="1007943" rtl="0" eaLnBrk="1" latinLnBrk="0" hangingPunct="1">
              <a:lnSpc>
                <a:spcPct val="90000"/>
              </a:lnSpc>
              <a:spcBef>
                <a:spcPts val="551"/>
              </a:spcBef>
              <a:buFont typeface="Arial" panose="020B0604020202020204" pitchFamily="34" charset="0"/>
              <a:buChar char="•"/>
              <a:defRPr sz="2425" b="0" i="0" kern="1200">
                <a:solidFill>
                  <a:schemeClr val="tx1"/>
                </a:solidFill>
                <a:latin typeface="Arial" panose="020B0604020202020204" pitchFamily="34" charset="0"/>
                <a:ea typeface="+mn-ea"/>
                <a:cs typeface="Arial" panose="020B0604020202020204" pitchFamily="34" charset="0"/>
              </a:defRPr>
            </a:lvl2pPr>
            <a:lvl3pPr marL="1259929" indent="-251986" algn="l" defTabSz="1007943" rtl="0" eaLnBrk="1" latinLnBrk="0" hangingPunct="1">
              <a:lnSpc>
                <a:spcPct val="90000"/>
              </a:lnSpc>
              <a:spcBef>
                <a:spcPts val="551"/>
              </a:spcBef>
              <a:buFont typeface="Arial" panose="020B0604020202020204" pitchFamily="34" charset="0"/>
              <a:buChar char="•"/>
              <a:defRPr sz="2205" b="0" i="0" kern="1200">
                <a:solidFill>
                  <a:schemeClr val="tx1"/>
                </a:solidFill>
                <a:latin typeface="Arial" panose="020B0604020202020204" pitchFamily="34" charset="0"/>
                <a:ea typeface="+mn-ea"/>
                <a:cs typeface="Arial" panose="020B0604020202020204" pitchFamily="34" charset="0"/>
              </a:defRPr>
            </a:lvl3pPr>
            <a:lvl4pPr marL="1763900"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4pPr>
            <a:lvl5pPr marL="2267872"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fr-FR" sz="2051" dirty="0">
                <a:latin typeface="Century Gothic" panose="020B0502020202020204" pitchFamily="34" charset="0"/>
              </a:rPr>
              <a:t>L’expertise métier comme réponse à vos enjeux Télécom </a:t>
            </a:r>
            <a:r>
              <a:rPr lang="fr-FR" sz="2051" dirty="0">
                <a:solidFill>
                  <a:srgbClr val="E94B57"/>
                </a:solidFill>
                <a:latin typeface="Century Gothic" panose="020B0502020202020204" pitchFamily="34" charset="0"/>
              </a:rPr>
              <a:t>Opérateur &amp; Téléphonie</a:t>
            </a:r>
          </a:p>
          <a:p>
            <a:endParaRPr lang="fr-FR" sz="2051" dirty="0">
              <a:latin typeface="Century Gothic" panose="020B0502020202020204" pitchFamily="34" charset="0"/>
            </a:endParaRPr>
          </a:p>
        </p:txBody>
      </p:sp>
      <p:sp>
        <p:nvSpPr>
          <p:cNvPr id="72" name="ZoneTexte 71">
            <a:extLst>
              <a:ext uri="{FF2B5EF4-FFF2-40B4-BE49-F238E27FC236}">
                <a16:creationId xmlns:a16="http://schemas.microsoft.com/office/drawing/2014/main" id="{8EAC1F59-2FF3-07F5-BBC0-570A06B4BF7B}"/>
              </a:ext>
            </a:extLst>
          </p:cNvPr>
          <p:cNvSpPr txBox="1"/>
          <p:nvPr/>
        </p:nvSpPr>
        <p:spPr>
          <a:xfrm>
            <a:off x="582087" y="1205966"/>
            <a:ext cx="7819508" cy="954107"/>
          </a:xfrm>
          <a:prstGeom prst="rect">
            <a:avLst/>
          </a:prstGeom>
          <a:noFill/>
        </p:spPr>
        <p:txBody>
          <a:bodyPr wrap="square">
            <a:spAutoFit/>
          </a:bodyPr>
          <a:lstStyle>
            <a:defPPr>
              <a:defRPr lang="en-US"/>
            </a:defPPr>
            <a:lvl1pPr marR="0" lvl="0" indent="0" defTabSz="914400" fontAlgn="auto">
              <a:lnSpc>
                <a:spcPct val="100000"/>
              </a:lnSpc>
              <a:spcBef>
                <a:spcPts val="0"/>
              </a:spcBef>
              <a:spcAft>
                <a:spcPts val="600"/>
              </a:spcAft>
              <a:buClrTx/>
              <a:buSzTx/>
              <a:buFontTx/>
              <a:buNone/>
              <a:tabLst/>
              <a:defRPr kumimoji="0" sz="1200" b="0" i="0" u="none" strike="noStrike" cap="none" spc="0" normalizeH="0" baseline="0">
                <a:ln>
                  <a:noFill/>
                </a:ln>
                <a:effectLst/>
                <a:uLnTx/>
                <a:uFillTx/>
                <a:latin typeface="Century Gothic" panose="020B0502020202020204" pitchFamily="34" charset="0"/>
                <a:ea typeface="Open Sans" panose="020B0606030504020204" pitchFamily="34" charset="0"/>
                <a:cs typeface="Open Sans" panose="020B0606030504020204" pitchFamily="34" charset="0"/>
              </a:defRPr>
            </a:lvl1pPr>
          </a:lstStyle>
          <a:p>
            <a:r>
              <a:rPr lang="fr-FR" sz="1400" dirty="0">
                <a:latin typeface="Arial Nova" panose="020B0504020202020204" pitchFamily="34" charset="0"/>
                <a:sym typeface="Open Sans"/>
              </a:rPr>
              <a:t>Nous avons créé dès 2012 </a:t>
            </a:r>
            <a:r>
              <a:rPr lang="fr-FR" sz="1400" b="1" dirty="0">
                <a:latin typeface="Arial Nova" panose="020B0504020202020204" pitchFamily="34" charset="0"/>
                <a:sym typeface="Open Sans"/>
              </a:rPr>
              <a:t>l’usine Télécom Koesio Networks</a:t>
            </a:r>
            <a:r>
              <a:rPr lang="fr-FR" sz="1400" dirty="0">
                <a:latin typeface="Arial Nova" panose="020B0504020202020204" pitchFamily="34" charset="0"/>
                <a:sym typeface="Open Sans"/>
              </a:rPr>
              <a:t> qui opère la mise en production des liens internet, de la voix et des forfaits mobiles, conscient des enjeux vitaux que représente la communication unifiée. Ainsi, nos </a:t>
            </a:r>
            <a:r>
              <a:rPr lang="fr-FR" sz="1400" b="1" dirty="0">
                <a:latin typeface="Arial Nova" panose="020B0504020202020204" pitchFamily="34" charset="0"/>
                <a:sym typeface="Open Sans"/>
              </a:rPr>
              <a:t>entités régionales </a:t>
            </a:r>
            <a:r>
              <a:rPr lang="fr-FR" sz="1400" dirty="0">
                <a:latin typeface="Arial Nova" panose="020B0504020202020204" pitchFamily="34" charset="0"/>
                <a:sym typeface="Open Sans"/>
              </a:rPr>
              <a:t>peuvent ainsi se concentrer sur leur cœur de métier : </a:t>
            </a:r>
            <a:r>
              <a:rPr lang="fr-FR" sz="1400" b="1" dirty="0">
                <a:latin typeface="Arial Nova" panose="020B0504020202020204" pitchFamily="34" charset="0"/>
                <a:sym typeface="Open Sans"/>
              </a:rPr>
              <a:t>le conseil et la satisfaction de nos clients.</a:t>
            </a:r>
          </a:p>
        </p:txBody>
      </p:sp>
      <p:sp>
        <p:nvSpPr>
          <p:cNvPr id="3" name="ZoneTexte 2">
            <a:extLst>
              <a:ext uri="{FF2B5EF4-FFF2-40B4-BE49-F238E27FC236}">
                <a16:creationId xmlns:a16="http://schemas.microsoft.com/office/drawing/2014/main" id="{7E4DE61D-6987-62A0-49DA-09EC796278EF}"/>
              </a:ext>
            </a:extLst>
          </p:cNvPr>
          <p:cNvSpPr txBox="1"/>
          <p:nvPr/>
        </p:nvSpPr>
        <p:spPr>
          <a:xfrm>
            <a:off x="717325" y="2495276"/>
            <a:ext cx="4430015" cy="4801058"/>
          </a:xfrm>
          <a:prstGeom prst="rect">
            <a:avLst/>
          </a:prstGeom>
          <a:noFill/>
        </p:spPr>
        <p:txBody>
          <a:bodyPr wrap="square">
            <a:spAutoFit/>
          </a:bodyPr>
          <a:lstStyle/>
          <a:p>
            <a:r>
              <a:rPr lang="fr-FR" sz="1999" b="1" dirty="0">
                <a:latin typeface="Arial Nova" panose="020B0504020202020204" pitchFamily="34" charset="0"/>
                <a:sym typeface="Open Sans"/>
              </a:rPr>
              <a:t>La force de notre offre </a:t>
            </a:r>
          </a:p>
          <a:p>
            <a:r>
              <a:rPr lang="fr-FR" sz="1999" b="1" dirty="0">
                <a:latin typeface="Arial Nova" panose="020B0504020202020204" pitchFamily="34" charset="0"/>
                <a:sym typeface="Open Sans"/>
              </a:rPr>
              <a:t>Opérateur &amp; Téléphonie</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Fort de </a:t>
            </a:r>
            <a:r>
              <a:rPr lang="fr-FR" sz="1400" b="1" dirty="0">
                <a:latin typeface="Arial Nova" panose="020B0504020202020204" pitchFamily="34" charset="0"/>
              </a:rPr>
              <a:t>notre propre fibre </a:t>
            </a:r>
            <a:r>
              <a:rPr lang="fr-FR" sz="1400" b="1" dirty="0" err="1">
                <a:latin typeface="Arial Nova" panose="020B0504020202020204" pitchFamily="34" charset="0"/>
              </a:rPr>
              <a:t>Koesio</a:t>
            </a:r>
            <a:r>
              <a:rPr lang="fr-FR" sz="1400" dirty="0">
                <a:latin typeface="Arial Nova" panose="020B0504020202020204" pitchFamily="34" charset="0"/>
              </a:rPr>
              <a:t>, nous avons mis en place une </a:t>
            </a:r>
            <a:r>
              <a:rPr lang="fr-FR" sz="1400" b="1" dirty="0">
                <a:latin typeface="Arial Nova" panose="020B0504020202020204" pitchFamily="34" charset="0"/>
              </a:rPr>
              <a:t>infrastructure Télécom puissante </a:t>
            </a:r>
            <a:r>
              <a:rPr lang="fr-FR" sz="1400" dirty="0">
                <a:latin typeface="Arial Nova" panose="020B0504020202020204" pitchFamily="34" charset="0"/>
              </a:rPr>
              <a:t>(70 points de présence POP) pour garantir la qualité et la résilience de nos liens.</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Parmi les rares titulaires d’une </a:t>
            </a:r>
            <a:r>
              <a:rPr lang="fr-FR" sz="1400" b="1" dirty="0">
                <a:latin typeface="Arial Nova" panose="020B0504020202020204" pitchFamily="34" charset="0"/>
              </a:rPr>
              <a:t>MVNO avec Orange</a:t>
            </a:r>
            <a:r>
              <a:rPr lang="fr-FR" sz="1400" dirty="0">
                <a:latin typeface="Arial Nova" panose="020B0504020202020204" pitchFamily="34" charset="0"/>
              </a:rPr>
              <a:t>, nous apportons le service client dédié de proximité pour nos </a:t>
            </a:r>
            <a:r>
              <a:rPr lang="fr-FR" sz="1400" b="1" dirty="0">
                <a:latin typeface="Arial Nova" panose="020B0504020202020204" pitchFamily="34" charset="0"/>
              </a:rPr>
              <a:t>forfaits mobiles</a:t>
            </a:r>
            <a:r>
              <a:rPr lang="fr-FR" sz="1400" dirty="0">
                <a:latin typeface="Arial Nova" panose="020B0504020202020204" pitchFamily="34" charset="0"/>
              </a:rPr>
              <a:t>.</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Grâce à nos </a:t>
            </a:r>
            <a:r>
              <a:rPr lang="fr-FR" sz="1400" b="1" dirty="0">
                <a:latin typeface="Arial Nova" panose="020B0504020202020204" pitchFamily="34" charset="0"/>
              </a:rPr>
              <a:t>offres informatiques</a:t>
            </a:r>
            <a:r>
              <a:rPr lang="fr-FR" sz="1400" dirty="0">
                <a:latin typeface="Arial Nova" panose="020B0504020202020204" pitchFamily="34" charset="0"/>
              </a:rPr>
              <a:t>, nous complétons nos propositions de </a:t>
            </a:r>
            <a:r>
              <a:rPr lang="fr-FR" sz="1400" b="1" dirty="0">
                <a:latin typeface="Arial Nova" panose="020B0504020202020204" pitchFamily="34" charset="0"/>
              </a:rPr>
              <a:t>solutions de sécurité </a:t>
            </a:r>
            <a:r>
              <a:rPr lang="fr-FR" sz="1400" dirty="0">
                <a:latin typeface="Arial Nova" panose="020B0504020202020204" pitchFamily="34" charset="0"/>
              </a:rPr>
              <a:t>essentielles pour vous protéger.</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Nos </a:t>
            </a:r>
            <a:r>
              <a:rPr lang="fr-FR" sz="1400" b="1" dirty="0">
                <a:latin typeface="Arial Nova" panose="020B0504020202020204" pitchFamily="34" charset="0"/>
              </a:rPr>
              <a:t>contrats de maintenance </a:t>
            </a:r>
            <a:r>
              <a:rPr lang="fr-FR" sz="1400" dirty="0">
                <a:latin typeface="Arial Nova" panose="020B0504020202020204" pitchFamily="34" charset="0"/>
              </a:rPr>
              <a:t>vous permettent une </a:t>
            </a:r>
            <a:r>
              <a:rPr lang="fr-FR" sz="1400" b="1" dirty="0">
                <a:latin typeface="Arial Nova" panose="020B0504020202020204" pitchFamily="34" charset="0"/>
              </a:rPr>
              <a:t>garantie de votre matériel de téléphonie</a:t>
            </a:r>
            <a:r>
              <a:rPr lang="fr-FR" sz="1400" dirty="0">
                <a:latin typeface="Arial Nova" panose="020B0504020202020204" pitchFamily="34" charset="0"/>
              </a:rPr>
              <a:t>, et nos offres de financement un renouvellement régulier de votre matériel, à la vitesse des innovations technologiques.</a:t>
            </a:r>
          </a:p>
        </p:txBody>
      </p:sp>
      <p:sp>
        <p:nvSpPr>
          <p:cNvPr id="4" name="Rectangle 3">
            <a:extLst>
              <a:ext uri="{FF2B5EF4-FFF2-40B4-BE49-F238E27FC236}">
                <a16:creationId xmlns:a16="http://schemas.microsoft.com/office/drawing/2014/main" id="{23193EF4-DB40-C246-53CE-00FC12D83A72}"/>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5" name="Image 4">
            <a:extLst>
              <a:ext uri="{FF2B5EF4-FFF2-40B4-BE49-F238E27FC236}">
                <a16:creationId xmlns:a16="http://schemas.microsoft.com/office/drawing/2014/main" id="{B9F55453-A8A3-CCED-1850-9F26E559024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6" name="Rectangle 5">
            <a:extLst>
              <a:ext uri="{FF2B5EF4-FFF2-40B4-BE49-F238E27FC236}">
                <a16:creationId xmlns:a16="http://schemas.microsoft.com/office/drawing/2014/main" id="{81363B31-356C-8B60-0CAA-1663F46B97DA}"/>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Tree>
    <p:extLst>
      <p:ext uri="{BB962C8B-B14F-4D97-AF65-F5344CB8AC3E}">
        <p14:creationId xmlns:p14="http://schemas.microsoft.com/office/powerpoint/2010/main" val="3670309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A795F79-E10F-8CC4-179B-FEC73D03879E}"/>
              </a:ext>
            </a:extLst>
          </p:cNvPr>
          <p:cNvSpPr/>
          <p:nvPr/>
        </p:nvSpPr>
        <p:spPr>
          <a:xfrm>
            <a:off x="203745" y="3563937"/>
            <a:ext cx="10487838" cy="3995737"/>
          </a:xfrm>
          <a:prstGeom prst="rect">
            <a:avLst/>
          </a:prstGeom>
          <a:solidFill>
            <a:srgbClr val="E94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892C5C24-1C82-FEF1-BC0D-952984EB2FB1}"/>
              </a:ext>
            </a:extLst>
          </p:cNvPr>
          <p:cNvSpPr/>
          <p:nvPr/>
        </p:nvSpPr>
        <p:spPr>
          <a:xfrm>
            <a:off x="7342698" y="2152335"/>
            <a:ext cx="2419200" cy="24175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texte 1">
            <a:extLst>
              <a:ext uri="{FF2B5EF4-FFF2-40B4-BE49-F238E27FC236}">
                <a16:creationId xmlns:a16="http://schemas.microsoft.com/office/drawing/2014/main" id="{384D4F7E-06D1-47E8-1A68-C21F8BF8AF2D}"/>
              </a:ext>
            </a:extLst>
          </p:cNvPr>
          <p:cNvSpPr txBox="1">
            <a:spLocks/>
          </p:cNvSpPr>
          <p:nvPr/>
        </p:nvSpPr>
        <p:spPr>
          <a:xfrm>
            <a:off x="755239" y="834857"/>
            <a:ext cx="7151005" cy="388572"/>
          </a:xfrm>
          <a:prstGeom prst="rect">
            <a:avLst/>
          </a:prstGeom>
        </p:spPr>
        <p:txBody>
          <a:bodyPr>
            <a:noAutofit/>
          </a:bodyPr>
          <a:lstStyle>
            <a:lvl1pPr marL="0" indent="0" algn="l" defTabSz="1007943" rtl="0" eaLnBrk="1" latinLnBrk="0" hangingPunct="1">
              <a:lnSpc>
                <a:spcPct val="90000"/>
              </a:lnSpc>
              <a:spcBef>
                <a:spcPts val="1102"/>
              </a:spcBef>
              <a:buFont typeface="Arial" panose="020B0604020202020204" pitchFamily="34" charset="0"/>
              <a:buNone/>
              <a:defRPr sz="2400" b="1" i="0" kern="1200">
                <a:solidFill>
                  <a:schemeClr val="tx1"/>
                </a:solidFill>
                <a:latin typeface="+mj-lt"/>
                <a:ea typeface="+mn-ea"/>
                <a:cs typeface="Arial" panose="020B0604020202020204" pitchFamily="34" charset="0"/>
              </a:defRPr>
            </a:lvl1pPr>
            <a:lvl2pPr marL="755957" indent="-251986" algn="l" defTabSz="1007943" rtl="0" eaLnBrk="1" latinLnBrk="0" hangingPunct="1">
              <a:lnSpc>
                <a:spcPct val="90000"/>
              </a:lnSpc>
              <a:spcBef>
                <a:spcPts val="551"/>
              </a:spcBef>
              <a:buFont typeface="Arial" panose="020B0604020202020204" pitchFamily="34" charset="0"/>
              <a:buChar char="•"/>
              <a:defRPr sz="2425" b="0" i="0" kern="1200">
                <a:solidFill>
                  <a:schemeClr val="tx1"/>
                </a:solidFill>
                <a:latin typeface="Arial" panose="020B0604020202020204" pitchFamily="34" charset="0"/>
                <a:ea typeface="+mn-ea"/>
                <a:cs typeface="Arial" panose="020B0604020202020204" pitchFamily="34" charset="0"/>
              </a:defRPr>
            </a:lvl2pPr>
            <a:lvl3pPr marL="1259929" indent="-251986" algn="l" defTabSz="1007943" rtl="0" eaLnBrk="1" latinLnBrk="0" hangingPunct="1">
              <a:lnSpc>
                <a:spcPct val="90000"/>
              </a:lnSpc>
              <a:spcBef>
                <a:spcPts val="551"/>
              </a:spcBef>
              <a:buFont typeface="Arial" panose="020B0604020202020204" pitchFamily="34" charset="0"/>
              <a:buChar char="•"/>
              <a:defRPr sz="2205" b="0" i="0" kern="1200">
                <a:solidFill>
                  <a:schemeClr val="tx1"/>
                </a:solidFill>
                <a:latin typeface="Arial" panose="020B0604020202020204" pitchFamily="34" charset="0"/>
                <a:ea typeface="+mn-ea"/>
                <a:cs typeface="Arial" panose="020B0604020202020204" pitchFamily="34" charset="0"/>
              </a:defRPr>
            </a:lvl3pPr>
            <a:lvl4pPr marL="1763900"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4pPr>
            <a:lvl5pPr marL="2267872"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fr-FR" sz="3600" dirty="0">
                <a:latin typeface="Century Gothic" panose="020B0502020202020204" pitchFamily="34" charset="0"/>
              </a:rPr>
              <a:t>          </a:t>
            </a:r>
            <a:r>
              <a:rPr lang="fr-FR" sz="3600" dirty="0" err="1">
                <a:latin typeface="Century Gothic" panose="020B0502020202020204" pitchFamily="34" charset="0"/>
              </a:rPr>
              <a:t>oi</a:t>
            </a:r>
            <a:r>
              <a:rPr lang="fr-FR" sz="3600" dirty="0">
                <a:latin typeface="Century Gothic" panose="020B0502020202020204" pitchFamily="34" charset="0"/>
              </a:rPr>
              <a:t> de neuf ?</a:t>
            </a:r>
          </a:p>
        </p:txBody>
      </p:sp>
      <p:sp>
        <p:nvSpPr>
          <p:cNvPr id="10" name="Espace réservé du texte 3">
            <a:extLst>
              <a:ext uri="{FF2B5EF4-FFF2-40B4-BE49-F238E27FC236}">
                <a16:creationId xmlns:a16="http://schemas.microsoft.com/office/drawing/2014/main" id="{49A9A943-31DC-0978-7867-40A7EAFA9D19}"/>
              </a:ext>
            </a:extLst>
          </p:cNvPr>
          <p:cNvSpPr txBox="1">
            <a:spLocks/>
          </p:cNvSpPr>
          <p:nvPr/>
        </p:nvSpPr>
        <p:spPr>
          <a:xfrm>
            <a:off x="1499858" y="5246754"/>
            <a:ext cx="1805371" cy="1239707"/>
          </a:xfrm>
          <a:prstGeom prst="rect">
            <a:avLst/>
          </a:prstGeom>
        </p:spPr>
        <p:txBody>
          <a:bodyPr vert="horz" lIns="91440" tIns="45720" rIns="91440" bIns="45720" rtlCol="0" anchor="t"/>
          <a:lstStyle>
            <a:defPPr>
              <a:defRPr lang="en-US"/>
            </a:defPPr>
            <a:lvl1pPr marL="0" algn="r" defTabSz="457200" rtl="0" eaLnBrk="1" latinLnBrk="0" hangingPunct="1">
              <a:defRPr sz="1131"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fr-FR" sz="1200" b="1" dirty="0">
                <a:solidFill>
                  <a:schemeClr val="bg1"/>
                </a:solidFill>
                <a:latin typeface="Arial Nova" panose="020B0504020202020204" pitchFamily="34" charset="0"/>
              </a:rPr>
              <a:t>L’informatique managée des TPE / PME pour apporter le service à vos utilisateurs.</a:t>
            </a:r>
          </a:p>
        </p:txBody>
      </p:sp>
      <p:sp>
        <p:nvSpPr>
          <p:cNvPr id="11" name="Espace réservé du texte 10">
            <a:extLst>
              <a:ext uri="{FF2B5EF4-FFF2-40B4-BE49-F238E27FC236}">
                <a16:creationId xmlns:a16="http://schemas.microsoft.com/office/drawing/2014/main" id="{95AF983E-8E2D-7DDE-99CB-9FD4810131E8}"/>
              </a:ext>
            </a:extLst>
          </p:cNvPr>
          <p:cNvSpPr txBox="1">
            <a:spLocks/>
          </p:cNvSpPr>
          <p:nvPr/>
        </p:nvSpPr>
        <p:spPr>
          <a:xfrm>
            <a:off x="1264561" y="4813316"/>
            <a:ext cx="2275967" cy="364159"/>
          </a:xfrm>
          <a:prstGeom prst="rect">
            <a:avLst/>
          </a:prstGeom>
        </p:spPr>
        <p:txBody>
          <a:bodyPr/>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a:buNone/>
            </a:pPr>
            <a:r>
              <a:rPr lang="fr-FR" b="1" dirty="0">
                <a:solidFill>
                  <a:schemeClr val="bg1"/>
                </a:solidFill>
                <a:latin typeface="Arial Nova" panose="020B0504020202020204" pitchFamily="34" charset="0"/>
              </a:rPr>
              <a:t>Be </a:t>
            </a:r>
            <a:r>
              <a:rPr lang="fr-FR" b="1" dirty="0" err="1">
                <a:solidFill>
                  <a:schemeClr val="bg1"/>
                </a:solidFill>
                <a:latin typeface="Arial Nova" panose="020B0504020202020204" pitchFamily="34" charset="0"/>
              </a:rPr>
              <a:t>Proactiv</a:t>
            </a:r>
            <a:endParaRPr lang="fr-FR" b="1" dirty="0">
              <a:solidFill>
                <a:schemeClr val="bg1"/>
              </a:solidFill>
              <a:latin typeface="Arial Nova" panose="020B0504020202020204" pitchFamily="34" charset="0"/>
            </a:endParaRPr>
          </a:p>
        </p:txBody>
      </p:sp>
      <p:sp>
        <p:nvSpPr>
          <p:cNvPr id="14" name="Espace réservé du texte 6">
            <a:extLst>
              <a:ext uri="{FF2B5EF4-FFF2-40B4-BE49-F238E27FC236}">
                <a16:creationId xmlns:a16="http://schemas.microsoft.com/office/drawing/2014/main" id="{FBD3AFA6-D43E-DAA6-881D-908FABB59D7A}"/>
              </a:ext>
            </a:extLst>
          </p:cNvPr>
          <p:cNvSpPr txBox="1">
            <a:spLocks/>
          </p:cNvSpPr>
          <p:nvPr/>
        </p:nvSpPr>
        <p:spPr>
          <a:xfrm>
            <a:off x="4389246" y="5246754"/>
            <a:ext cx="2275967" cy="1078872"/>
          </a:xfrm>
          <a:prstGeom prst="rect">
            <a:avLst/>
          </a:prstGeom>
        </p:spPr>
        <p:txBody>
          <a:bodyPr anchor="t"/>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defTabSz="457189">
              <a:spcBef>
                <a:spcPts val="0"/>
              </a:spcBef>
              <a:buNone/>
            </a:pPr>
            <a:r>
              <a:rPr lang="fr-FR" sz="1200" b="1" dirty="0">
                <a:solidFill>
                  <a:schemeClr val="bg1"/>
                </a:solidFill>
                <a:latin typeface="Arial Nova" panose="020B0504020202020204" pitchFamily="34" charset="0"/>
              </a:rPr>
              <a:t>L’écran tactile </a:t>
            </a:r>
          </a:p>
          <a:p>
            <a:pPr marL="0" indent="0" algn="ctr" defTabSz="457189">
              <a:spcBef>
                <a:spcPts val="0"/>
              </a:spcBef>
              <a:buNone/>
            </a:pPr>
            <a:r>
              <a:rPr lang="fr-FR" sz="1200" b="1" dirty="0">
                <a:solidFill>
                  <a:schemeClr val="bg1"/>
                </a:solidFill>
                <a:latin typeface="Arial Nova" panose="020B0504020202020204" pitchFamily="34" charset="0"/>
              </a:rPr>
              <a:t>by </a:t>
            </a:r>
            <a:r>
              <a:rPr lang="fr-FR" sz="1200" b="1" dirty="0" err="1">
                <a:solidFill>
                  <a:schemeClr val="bg1"/>
                </a:solidFill>
                <a:latin typeface="Arial Nova" panose="020B0504020202020204" pitchFamily="34" charset="0"/>
              </a:rPr>
              <a:t>Koesio</a:t>
            </a:r>
            <a:r>
              <a:rPr lang="fr-FR" sz="1200" b="1" dirty="0">
                <a:solidFill>
                  <a:schemeClr val="bg1"/>
                </a:solidFill>
                <a:latin typeface="Arial Nova" panose="020B0504020202020204" pitchFamily="34" charset="0"/>
              </a:rPr>
              <a:t> vous apporte design et efficacité pour vos salles de réunion.</a:t>
            </a:r>
          </a:p>
        </p:txBody>
      </p:sp>
      <p:sp>
        <p:nvSpPr>
          <p:cNvPr id="16" name="Espace réservé du texte 11">
            <a:extLst>
              <a:ext uri="{FF2B5EF4-FFF2-40B4-BE49-F238E27FC236}">
                <a16:creationId xmlns:a16="http://schemas.microsoft.com/office/drawing/2014/main" id="{4271D354-A69A-E584-B067-833413A2DC40}"/>
              </a:ext>
            </a:extLst>
          </p:cNvPr>
          <p:cNvSpPr txBox="1">
            <a:spLocks/>
          </p:cNvSpPr>
          <p:nvPr/>
        </p:nvSpPr>
        <p:spPr>
          <a:xfrm>
            <a:off x="4389247" y="4900231"/>
            <a:ext cx="2275967" cy="364159"/>
          </a:xfrm>
          <a:prstGeom prst="rect">
            <a:avLst/>
          </a:prstGeom>
        </p:spPr>
        <p:txBody>
          <a:bodyPr>
            <a:normAutofit fontScale="77500" lnSpcReduction="20000"/>
          </a:bodyPr>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a:buNone/>
            </a:pPr>
            <a:r>
              <a:rPr lang="fr-FR" b="1" dirty="0">
                <a:solidFill>
                  <a:schemeClr val="bg1"/>
                </a:solidFill>
                <a:latin typeface="Arial Nova" panose="020B0504020202020204" pitchFamily="34" charset="0"/>
              </a:rPr>
              <a:t>Screen ISI </a:t>
            </a:r>
            <a:r>
              <a:rPr lang="fr-FR" b="1" dirty="0" err="1">
                <a:solidFill>
                  <a:schemeClr val="bg1"/>
                </a:solidFill>
                <a:latin typeface="Arial Nova" panose="020B0504020202020204" pitchFamily="34" charset="0"/>
              </a:rPr>
              <a:t>Touch</a:t>
            </a:r>
            <a:endParaRPr lang="fr-FR" b="1" dirty="0">
              <a:solidFill>
                <a:schemeClr val="bg1"/>
              </a:solidFill>
              <a:latin typeface="Arial Nova" panose="020B0504020202020204" pitchFamily="34" charset="0"/>
            </a:endParaRPr>
          </a:p>
        </p:txBody>
      </p:sp>
      <p:sp>
        <p:nvSpPr>
          <p:cNvPr id="18" name="AutoShape 4">
            <a:extLst>
              <a:ext uri="{FF2B5EF4-FFF2-40B4-BE49-F238E27FC236}">
                <a16:creationId xmlns:a16="http://schemas.microsoft.com/office/drawing/2014/main" id="{E493F19E-5AFD-68D9-3007-64E3EBD5BF63}"/>
              </a:ext>
            </a:extLst>
          </p:cNvPr>
          <p:cNvSpPr>
            <a:spLocks noChangeAspect="1" noChangeArrowheads="1"/>
          </p:cNvSpPr>
          <p:nvPr/>
        </p:nvSpPr>
        <p:spPr bwMode="auto">
          <a:xfrm>
            <a:off x="4986592" y="377271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pSp>
        <p:nvGrpSpPr>
          <p:cNvPr id="23" name="Groupe 22">
            <a:extLst>
              <a:ext uri="{FF2B5EF4-FFF2-40B4-BE49-F238E27FC236}">
                <a16:creationId xmlns:a16="http://schemas.microsoft.com/office/drawing/2014/main" id="{5B13BD93-36CA-8171-D01B-3A4E32F9C891}"/>
              </a:ext>
            </a:extLst>
          </p:cNvPr>
          <p:cNvGrpSpPr/>
          <p:nvPr/>
        </p:nvGrpSpPr>
        <p:grpSpPr>
          <a:xfrm>
            <a:off x="4346119" y="2155772"/>
            <a:ext cx="2512790" cy="2414081"/>
            <a:chOff x="3757905" y="1274211"/>
            <a:chExt cx="3179608" cy="3054705"/>
          </a:xfrm>
        </p:grpSpPr>
        <p:sp>
          <p:nvSpPr>
            <p:cNvPr id="21" name="Rectangle 20">
              <a:extLst>
                <a:ext uri="{FF2B5EF4-FFF2-40B4-BE49-F238E27FC236}">
                  <a16:creationId xmlns:a16="http://schemas.microsoft.com/office/drawing/2014/main" id="{49E6E69A-E393-4A74-57FA-FBF44080783B}"/>
                </a:ext>
              </a:extLst>
            </p:cNvPr>
            <p:cNvSpPr/>
            <p:nvPr/>
          </p:nvSpPr>
          <p:spPr>
            <a:xfrm>
              <a:off x="3757905" y="3703234"/>
              <a:ext cx="3179608" cy="625682"/>
            </a:xfrm>
            <a:prstGeom prst="rect">
              <a:avLst/>
            </a:prstGeom>
            <a:solidFill>
              <a:srgbClr val="946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43A48B5A-F878-2E02-492B-4D0D26433EED}"/>
                </a:ext>
              </a:extLst>
            </p:cNvPr>
            <p:cNvSpPr/>
            <p:nvPr/>
          </p:nvSpPr>
          <p:spPr>
            <a:xfrm>
              <a:off x="3757905" y="1274211"/>
              <a:ext cx="3179608" cy="670250"/>
            </a:xfrm>
            <a:prstGeom prst="rect">
              <a:avLst/>
            </a:prstGeom>
            <a:solidFill>
              <a:srgbClr val="946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 name="Image 19" descr="Une image contenant texte, capture d’écran, ligne, diagramme&#10;&#10;Description générée automatiquement">
              <a:extLst>
                <a:ext uri="{FF2B5EF4-FFF2-40B4-BE49-F238E27FC236}">
                  <a16:creationId xmlns:a16="http://schemas.microsoft.com/office/drawing/2014/main" id="{79360F83-745A-B43B-3A93-A62062C5B5F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757905" y="1870578"/>
              <a:ext cx="3179608" cy="2119739"/>
            </a:xfrm>
            <a:prstGeom prst="rect">
              <a:avLst/>
            </a:prstGeom>
          </p:spPr>
        </p:pic>
      </p:grpSp>
      <p:pic>
        <p:nvPicPr>
          <p:cNvPr id="12" name="Picture 2">
            <a:extLst>
              <a:ext uri="{FF2B5EF4-FFF2-40B4-BE49-F238E27FC236}">
                <a16:creationId xmlns:a16="http://schemas.microsoft.com/office/drawing/2014/main" id="{747737A9-EECA-4B39-0796-722649CD6DCF}"/>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247469" y="2152335"/>
            <a:ext cx="2512790" cy="2417517"/>
          </a:xfrm>
          <a:prstGeom prst="rect">
            <a:avLst/>
          </a:prstGeom>
          <a:noFill/>
          <a:extLst>
            <a:ext uri="{909E8E84-426E-40DD-AFC4-6F175D3DCCD1}">
              <a14:hiddenFill xmlns:a14="http://schemas.microsoft.com/office/drawing/2010/main">
                <a:solidFill>
                  <a:srgbClr val="FFFFFF"/>
                </a:solidFill>
              </a14:hiddenFill>
            </a:ext>
          </a:extLst>
        </p:spPr>
      </p:pic>
      <p:pic>
        <p:nvPicPr>
          <p:cNvPr id="24" name="Image 23">
            <a:extLst>
              <a:ext uri="{FF2B5EF4-FFF2-40B4-BE49-F238E27FC236}">
                <a16:creationId xmlns:a16="http://schemas.microsoft.com/office/drawing/2014/main" id="{7E4D33BB-F222-DDFB-03BC-64BFD22C51FF}"/>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rot="486971">
            <a:off x="8146846" y="2318718"/>
            <a:ext cx="1047354" cy="2029961"/>
          </a:xfrm>
          <a:prstGeom prst="rect">
            <a:avLst/>
          </a:prstGeom>
          <a:effectLst>
            <a:outerShdw blurRad="50800" dist="38100" dir="2700000" algn="tl" rotWithShape="0">
              <a:prstClr val="black">
                <a:alpha val="40000"/>
              </a:prstClr>
            </a:outerShdw>
          </a:effectLst>
        </p:spPr>
      </p:pic>
      <p:sp>
        <p:nvSpPr>
          <p:cNvPr id="25" name="Espace réservé du texte 6">
            <a:extLst>
              <a:ext uri="{FF2B5EF4-FFF2-40B4-BE49-F238E27FC236}">
                <a16:creationId xmlns:a16="http://schemas.microsoft.com/office/drawing/2014/main" id="{FE283D48-32F8-2984-E61A-7F0F4236350D}"/>
              </a:ext>
            </a:extLst>
          </p:cNvPr>
          <p:cNvSpPr txBox="1">
            <a:spLocks/>
          </p:cNvSpPr>
          <p:nvPr/>
        </p:nvSpPr>
        <p:spPr>
          <a:xfrm>
            <a:off x="7481403" y="5246754"/>
            <a:ext cx="2275967" cy="1078872"/>
          </a:xfrm>
          <a:prstGeom prst="rect">
            <a:avLst/>
          </a:prstGeom>
        </p:spPr>
        <p:txBody>
          <a:bodyPr anchor="t"/>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defTabSz="457189">
              <a:spcBef>
                <a:spcPts val="0"/>
              </a:spcBef>
              <a:buNone/>
            </a:pPr>
            <a:r>
              <a:rPr lang="fr-FR" sz="1200" b="1" dirty="0" err="1">
                <a:solidFill>
                  <a:schemeClr val="bg1"/>
                </a:solidFill>
                <a:latin typeface="Arial Nova" panose="020B0504020202020204" pitchFamily="34" charset="0"/>
              </a:rPr>
              <a:t>Koesio</a:t>
            </a:r>
            <a:r>
              <a:rPr lang="fr-FR" sz="1200" b="1" dirty="0">
                <a:solidFill>
                  <a:schemeClr val="bg1"/>
                </a:solidFill>
                <a:latin typeface="Arial Nova" panose="020B0504020202020204" pitchFamily="34" charset="0"/>
              </a:rPr>
              <a:t> est MVNO d’Orange pour vous apporter le meilleur des 2 mondes, le réseau n°1 et un service de proximité.</a:t>
            </a:r>
          </a:p>
        </p:txBody>
      </p:sp>
      <p:sp>
        <p:nvSpPr>
          <p:cNvPr id="26" name="Espace réservé du texte 11">
            <a:extLst>
              <a:ext uri="{FF2B5EF4-FFF2-40B4-BE49-F238E27FC236}">
                <a16:creationId xmlns:a16="http://schemas.microsoft.com/office/drawing/2014/main" id="{E98F62F7-C5A7-F6F0-2D09-002A4A71516F}"/>
              </a:ext>
            </a:extLst>
          </p:cNvPr>
          <p:cNvSpPr txBox="1">
            <a:spLocks/>
          </p:cNvSpPr>
          <p:nvPr/>
        </p:nvSpPr>
        <p:spPr>
          <a:xfrm>
            <a:off x="7481405" y="4881518"/>
            <a:ext cx="2275967" cy="364159"/>
          </a:xfrm>
          <a:prstGeom prst="rect">
            <a:avLst/>
          </a:prstGeom>
        </p:spPr>
        <p:txBody>
          <a:bodyPr>
            <a:normAutofit fontScale="92500" lnSpcReduction="20000"/>
          </a:bodyPr>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a:buNone/>
            </a:pPr>
            <a:r>
              <a:rPr lang="fr-FR" b="1" dirty="0">
                <a:solidFill>
                  <a:schemeClr val="bg1"/>
                </a:solidFill>
                <a:latin typeface="Arial Nova" panose="020B0504020202020204" pitchFamily="34" charset="0"/>
              </a:rPr>
              <a:t>Forfait Mobile</a:t>
            </a:r>
          </a:p>
        </p:txBody>
      </p:sp>
      <p:pic>
        <p:nvPicPr>
          <p:cNvPr id="29" name="Image 28" descr="Une image contenant logo, Graphique, graphisme, symbole&#10;&#10;Description générée automatiquement">
            <a:extLst>
              <a:ext uri="{FF2B5EF4-FFF2-40B4-BE49-F238E27FC236}">
                <a16:creationId xmlns:a16="http://schemas.microsoft.com/office/drawing/2014/main" id="{DD72E4F2-6585-CADC-1ED0-58CBF445ECDD}"/>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rot="21347017">
            <a:off x="1521639" y="843210"/>
            <a:ext cx="605962" cy="614802"/>
          </a:xfrm>
          <a:prstGeom prst="rect">
            <a:avLst/>
          </a:prstGeom>
        </p:spPr>
      </p:pic>
      <p:sp>
        <p:nvSpPr>
          <p:cNvPr id="3" name="Rectangle 2">
            <a:extLst>
              <a:ext uri="{FF2B5EF4-FFF2-40B4-BE49-F238E27FC236}">
                <a16:creationId xmlns:a16="http://schemas.microsoft.com/office/drawing/2014/main" id="{818EF81A-63B5-BABA-7CF1-BB1AD1C1B461}"/>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4" name="Image 3">
            <a:extLst>
              <a:ext uri="{FF2B5EF4-FFF2-40B4-BE49-F238E27FC236}">
                <a16:creationId xmlns:a16="http://schemas.microsoft.com/office/drawing/2014/main" id="{D0C8D0F7-6FB0-EBB7-7BDB-CBF456AF5C0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Tree>
    <p:extLst>
      <p:ext uri="{BB962C8B-B14F-4D97-AF65-F5344CB8AC3E}">
        <p14:creationId xmlns:p14="http://schemas.microsoft.com/office/powerpoint/2010/main" val="617930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21886-A49A-AA3D-4946-36B5C15C5F3B}"/>
            </a:ext>
          </a:extLst>
        </p:cNvPr>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AB8152CB-2E8C-E636-DB1E-2CA0FA88AE74}"/>
              </a:ext>
            </a:extLst>
          </p:cNvPr>
          <p:cNvSpPr txBox="1">
            <a:spLocks/>
          </p:cNvSpPr>
          <p:nvPr/>
        </p:nvSpPr>
        <p:spPr>
          <a:xfrm>
            <a:off x="1555902" y="2985622"/>
            <a:ext cx="4578197" cy="886753"/>
          </a:xfrm>
          <a:prstGeom prst="rect">
            <a:avLst/>
          </a:prstGeom>
          <a:noFill/>
        </p:spPr>
        <p:txBody>
          <a:bodyPr vert="horz" lIns="78203" tIns="39101" rIns="78203" bIns="39101" rtlCol="0" anchor="ctr"/>
          <a:lstStyle>
            <a:defPPr>
              <a:defRPr lang="en-US"/>
            </a:defPPr>
            <a:lvl1pPr marL="0" algn="l" defTabSz="457200" rtl="0" eaLnBrk="1" latinLnBrk="0" hangingPunct="1">
              <a:defRPr sz="1323"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3600" b="1" dirty="0">
                <a:solidFill>
                  <a:schemeClr val="tx1"/>
                </a:solidFill>
                <a:latin typeface="Century Gothic" panose="020B0502020202020204" pitchFamily="34" charset="0"/>
              </a:rPr>
              <a:t>ANNEXES</a:t>
            </a:r>
          </a:p>
          <a:p>
            <a:r>
              <a:rPr lang="fr-FR" sz="3600" b="1" dirty="0">
                <a:solidFill>
                  <a:schemeClr val="tx1"/>
                </a:solidFill>
                <a:latin typeface="Century Gothic" panose="020B0502020202020204" pitchFamily="34" charset="0"/>
              </a:rPr>
              <a:t>Fiches produits</a:t>
            </a:r>
          </a:p>
        </p:txBody>
      </p:sp>
      <p:sp>
        <p:nvSpPr>
          <p:cNvPr id="6" name="Rectangle 5">
            <a:extLst>
              <a:ext uri="{FF2B5EF4-FFF2-40B4-BE49-F238E27FC236}">
                <a16:creationId xmlns:a16="http://schemas.microsoft.com/office/drawing/2014/main" id="{83F885EF-70EF-A791-FAAF-96D85048FF11}"/>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7" name="Image 6">
            <a:extLst>
              <a:ext uri="{FF2B5EF4-FFF2-40B4-BE49-F238E27FC236}">
                <a16:creationId xmlns:a16="http://schemas.microsoft.com/office/drawing/2014/main" id="{77AD372B-65CF-BEAF-DC74-12D1848F3EF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8" name="Rectangle 7">
            <a:extLst>
              <a:ext uri="{FF2B5EF4-FFF2-40B4-BE49-F238E27FC236}">
                <a16:creationId xmlns:a16="http://schemas.microsoft.com/office/drawing/2014/main" id="{F1BA9365-C364-3C0E-E9EC-9E8728A7134F}"/>
              </a:ext>
            </a:extLst>
          </p:cNvPr>
          <p:cNvSpPr/>
          <p:nvPr/>
        </p:nvSpPr>
        <p:spPr>
          <a:xfrm>
            <a:off x="0" y="3052966"/>
            <a:ext cx="1225118" cy="752067"/>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9" name="Rectangle 8">
            <a:extLst>
              <a:ext uri="{FF2B5EF4-FFF2-40B4-BE49-F238E27FC236}">
                <a16:creationId xmlns:a16="http://schemas.microsoft.com/office/drawing/2014/main" id="{24A05A93-14E1-DFFA-C02D-1FFCA446256D}"/>
              </a:ext>
            </a:extLst>
          </p:cNvPr>
          <p:cNvSpPr/>
          <p:nvPr/>
        </p:nvSpPr>
        <p:spPr>
          <a:xfrm>
            <a:off x="5775683" y="2769466"/>
            <a:ext cx="3270471" cy="3270471"/>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038C48B8-E826-7F1B-F554-45C7934D7F81}"/>
              </a:ext>
            </a:extLst>
          </p:cNvPr>
          <p:cNvSpPr/>
          <p:nvPr/>
        </p:nvSpPr>
        <p:spPr>
          <a:xfrm>
            <a:off x="9046154" y="1123807"/>
            <a:ext cx="1645659" cy="164565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descr="Une image contenant personne&#10;&#10;Description générée automatiquement">
            <a:extLst>
              <a:ext uri="{FF2B5EF4-FFF2-40B4-BE49-F238E27FC236}">
                <a16:creationId xmlns:a16="http://schemas.microsoft.com/office/drawing/2014/main" id="{D3134360-4ED5-C04E-7126-42E8ADB342E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61683" y="1909262"/>
            <a:ext cx="3607601" cy="4130675"/>
          </a:xfrm>
          <a:prstGeom prst="rect">
            <a:avLst/>
          </a:prstGeom>
        </p:spPr>
      </p:pic>
    </p:spTree>
    <p:extLst>
      <p:ext uri="{BB962C8B-B14F-4D97-AF65-F5344CB8AC3E}">
        <p14:creationId xmlns:p14="http://schemas.microsoft.com/office/powerpoint/2010/main" val="1384154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9EF477E2-C40B-53F2-4E73-E528D3A2C405}"/>
              </a:ext>
            </a:extLst>
          </p:cNvPr>
          <p:cNvSpPr/>
          <p:nvPr/>
        </p:nvSpPr>
        <p:spPr>
          <a:xfrm>
            <a:off x="773907" y="6260361"/>
            <a:ext cx="9144000" cy="950379"/>
          </a:xfrm>
          <a:prstGeom prst="rect">
            <a:avLst/>
          </a:prstGeom>
          <a:solidFill>
            <a:srgbClr val="E94C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539"/>
          </a:p>
        </p:txBody>
      </p:sp>
      <p:grpSp>
        <p:nvGrpSpPr>
          <p:cNvPr id="20" name="Groupe 19">
            <a:extLst>
              <a:ext uri="{FF2B5EF4-FFF2-40B4-BE49-F238E27FC236}">
                <a16:creationId xmlns:a16="http://schemas.microsoft.com/office/drawing/2014/main" id="{DD2BCCD6-264C-4806-801D-90037C7EBF61}"/>
              </a:ext>
            </a:extLst>
          </p:cNvPr>
          <p:cNvGrpSpPr/>
          <p:nvPr/>
        </p:nvGrpSpPr>
        <p:grpSpPr>
          <a:xfrm>
            <a:off x="4650338" y="3501649"/>
            <a:ext cx="5129126" cy="1008348"/>
            <a:chOff x="1309238" y="2095978"/>
            <a:chExt cx="4435954" cy="1179032"/>
          </a:xfrm>
        </p:grpSpPr>
        <p:sp>
          <p:nvSpPr>
            <p:cNvPr id="26" name="ZoneTexte 2">
              <a:extLst>
                <a:ext uri="{FF2B5EF4-FFF2-40B4-BE49-F238E27FC236}">
                  <a16:creationId xmlns:a16="http://schemas.microsoft.com/office/drawing/2014/main" id="{A86139E5-BF60-458F-9C83-52F185D91958}"/>
                </a:ext>
              </a:extLst>
            </p:cNvPr>
            <p:cNvSpPr txBox="1"/>
            <p:nvPr/>
          </p:nvSpPr>
          <p:spPr>
            <a:xfrm>
              <a:off x="1309239" y="2397817"/>
              <a:ext cx="3090948" cy="877193"/>
            </a:xfrm>
            <a:prstGeom prst="rect">
              <a:avLst/>
            </a:prstGeom>
            <a:noFill/>
          </p:spPr>
          <p:txBody>
            <a:bodyPr wrap="square" numCol="1"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855" dirty="0">
                  <a:solidFill>
                    <a:schemeClr val="bg2">
                      <a:lumMod val="25000"/>
                    </a:schemeClr>
                  </a:solidFill>
                  <a:latin typeface="Century Gothic" panose="020B0502020202020204" pitchFamily="34" charset="0"/>
                  <a:cs typeface="Arial" panose="020B0604020202020204" pitchFamily="34" charset="0"/>
                </a:rPr>
                <a:t>{{simulation.projet.utilisateur.agence.adresse1}}</a:t>
              </a:r>
            </a:p>
            <a:p>
              <a:r>
                <a:rPr lang="fr-FR" sz="855" dirty="0">
                  <a:solidFill>
                    <a:schemeClr val="bg2">
                      <a:lumMod val="25000"/>
                    </a:schemeClr>
                  </a:solidFill>
                  <a:latin typeface="Century Gothic" panose="020B0502020202020204" pitchFamily="34" charset="0"/>
                  <a:cs typeface="Arial" panose="020B0604020202020204" pitchFamily="34" charset="0"/>
                </a:rPr>
                <a:t>{{simulation.projet.utilisateur.agence.adresse2}}</a:t>
              </a:r>
            </a:p>
            <a:p>
              <a:r>
                <a:rPr lang="fr-FR" sz="855" dirty="0">
                  <a:solidFill>
                    <a:schemeClr val="bg2">
                      <a:lumMod val="25000"/>
                    </a:schemeClr>
                  </a:solidFill>
                  <a:latin typeface="Century Gothic" panose="020B0502020202020204" pitchFamily="34" charset="0"/>
                  <a:cs typeface="Arial" panose="020B0604020202020204" pitchFamily="34" charset="0"/>
                </a:rPr>
                <a:t>{{</a:t>
              </a:r>
              <a:r>
                <a:rPr lang="fr-FR" sz="855" dirty="0" err="1">
                  <a:solidFill>
                    <a:schemeClr val="bg2">
                      <a:lumMod val="25000"/>
                    </a:schemeClr>
                  </a:solidFill>
                  <a:latin typeface="Century Gothic" panose="020B0502020202020204" pitchFamily="34" charset="0"/>
                  <a:cs typeface="Arial" panose="020B0604020202020204" pitchFamily="34" charset="0"/>
                </a:rPr>
                <a:t>simulation.projet.utilisateur.agence.codePostal</a:t>
              </a:r>
              <a:r>
                <a:rPr lang="fr-FR" sz="855" dirty="0">
                  <a:solidFill>
                    <a:schemeClr val="bg2">
                      <a:lumMod val="25000"/>
                    </a:schemeClr>
                  </a:solidFill>
                  <a:latin typeface="Century Gothic" panose="020B0502020202020204" pitchFamily="34" charset="0"/>
                  <a:cs typeface="Arial" panose="020B0604020202020204" pitchFamily="34" charset="0"/>
                </a:rPr>
                <a:t>}}</a:t>
              </a:r>
            </a:p>
            <a:p>
              <a:r>
                <a:rPr lang="fr-FR" sz="855" dirty="0">
                  <a:solidFill>
                    <a:schemeClr val="bg2">
                      <a:lumMod val="25000"/>
                    </a:schemeClr>
                  </a:solidFill>
                  <a:latin typeface="Century Gothic" panose="020B0502020202020204" pitchFamily="34" charset="0"/>
                  <a:cs typeface="Arial" panose="020B0604020202020204" pitchFamily="34" charset="0"/>
                </a:rPr>
                <a:t>{{</a:t>
              </a:r>
              <a:r>
                <a:rPr lang="fr-FR" sz="855" dirty="0" err="1">
                  <a:solidFill>
                    <a:schemeClr val="bg2">
                      <a:lumMod val="25000"/>
                    </a:schemeClr>
                  </a:solidFill>
                  <a:latin typeface="Century Gothic" panose="020B0502020202020204" pitchFamily="34" charset="0"/>
                  <a:cs typeface="Arial" panose="020B0604020202020204" pitchFamily="34" charset="0"/>
                </a:rPr>
                <a:t>simulation.projet.utilisateur.agence.ville</a:t>
              </a:r>
              <a:r>
                <a:rPr lang="fr-FR" sz="855" dirty="0">
                  <a:solidFill>
                    <a:schemeClr val="bg2">
                      <a:lumMod val="25000"/>
                    </a:schemeClr>
                  </a:solidFill>
                  <a:latin typeface="Century Gothic" panose="020B0502020202020204" pitchFamily="34" charset="0"/>
                  <a:cs typeface="Arial" panose="020B0604020202020204" pitchFamily="34" charset="0"/>
                </a:rPr>
                <a:t>}}</a:t>
              </a:r>
            </a:p>
            <a:p>
              <a:r>
                <a:rPr lang="fr-FR" sz="855" dirty="0">
                  <a:solidFill>
                    <a:schemeClr val="bg2">
                      <a:lumMod val="25000"/>
                    </a:schemeClr>
                  </a:solidFill>
                  <a:latin typeface="Century Gothic" panose="020B0502020202020204" pitchFamily="34" charset="0"/>
                  <a:cs typeface="Arial" panose="020B0604020202020204" pitchFamily="34" charset="0"/>
                </a:rPr>
                <a:t>{{</a:t>
              </a:r>
              <a:r>
                <a:rPr lang="fr-FR" sz="855" dirty="0" err="1">
                  <a:solidFill>
                    <a:schemeClr val="bg2">
                      <a:lumMod val="25000"/>
                    </a:schemeClr>
                  </a:solidFill>
                  <a:latin typeface="Century Gothic" panose="020B0502020202020204" pitchFamily="34" charset="0"/>
                  <a:cs typeface="Arial" panose="020B0604020202020204" pitchFamily="34" charset="0"/>
                </a:rPr>
                <a:t>simulation.projet.utilisateur.agence.telephone</a:t>
              </a:r>
              <a:r>
                <a:rPr lang="fr-FR" sz="855" dirty="0">
                  <a:solidFill>
                    <a:schemeClr val="bg2">
                      <a:lumMod val="25000"/>
                    </a:schemeClr>
                  </a:solidFill>
                  <a:latin typeface="Century Gothic" panose="020B0502020202020204" pitchFamily="34" charset="0"/>
                  <a:cs typeface="Arial" panose="020B0604020202020204" pitchFamily="34" charset="0"/>
                </a:rPr>
                <a:t>}} </a:t>
              </a:r>
            </a:p>
          </p:txBody>
        </p:sp>
        <p:sp>
          <p:nvSpPr>
            <p:cNvPr id="27" name="ZoneTexte 3">
              <a:extLst>
                <a:ext uri="{FF2B5EF4-FFF2-40B4-BE49-F238E27FC236}">
                  <a16:creationId xmlns:a16="http://schemas.microsoft.com/office/drawing/2014/main" id="{B98D8036-2BAB-486D-8B68-E5D222374095}"/>
                </a:ext>
              </a:extLst>
            </p:cNvPr>
            <p:cNvSpPr txBox="1"/>
            <p:nvPr/>
          </p:nvSpPr>
          <p:spPr>
            <a:xfrm>
              <a:off x="1309238" y="2095978"/>
              <a:ext cx="4435954" cy="261808"/>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855" dirty="0">
                  <a:solidFill>
                    <a:schemeClr val="bg2">
                      <a:lumMod val="25000"/>
                    </a:schemeClr>
                  </a:solidFill>
                  <a:latin typeface="Century Gothic" panose="020B0502020202020204" pitchFamily="34" charset="0"/>
                  <a:cs typeface="Arial" panose="020B0604020202020204" pitchFamily="34" charset="0"/>
                </a:rPr>
                <a:t>Agence de {{</a:t>
              </a:r>
              <a:r>
                <a:rPr lang="fr-FR" sz="855" dirty="0" err="1">
                  <a:solidFill>
                    <a:schemeClr val="bg2">
                      <a:lumMod val="25000"/>
                    </a:schemeClr>
                  </a:solidFill>
                  <a:latin typeface="Century Gothic" panose="020B0502020202020204" pitchFamily="34" charset="0"/>
                  <a:cs typeface="Arial" panose="020B0604020202020204" pitchFamily="34" charset="0"/>
                </a:rPr>
                <a:t>simulation.projet.utilisateur.agence.nom</a:t>
              </a:r>
              <a:r>
                <a:rPr lang="fr-FR" sz="855" dirty="0">
                  <a:solidFill>
                    <a:schemeClr val="bg2">
                      <a:lumMod val="25000"/>
                    </a:schemeClr>
                  </a:solidFill>
                  <a:latin typeface="Century Gothic" panose="020B0502020202020204" pitchFamily="34" charset="0"/>
                  <a:cs typeface="Arial" panose="020B0604020202020204" pitchFamily="34" charset="0"/>
                </a:rPr>
                <a:t>}}</a:t>
              </a:r>
            </a:p>
          </p:txBody>
        </p:sp>
      </p:grpSp>
      <p:sp>
        <p:nvSpPr>
          <p:cNvPr id="21" name="ZoneTexte 4">
            <a:extLst>
              <a:ext uri="{FF2B5EF4-FFF2-40B4-BE49-F238E27FC236}">
                <a16:creationId xmlns:a16="http://schemas.microsoft.com/office/drawing/2014/main" id="{7A1E36F9-11B4-4546-8BD5-9E3F780AF026}"/>
              </a:ext>
            </a:extLst>
          </p:cNvPr>
          <p:cNvSpPr txBox="1"/>
          <p:nvPr/>
        </p:nvSpPr>
        <p:spPr>
          <a:xfrm>
            <a:off x="4650340" y="2163897"/>
            <a:ext cx="5129126" cy="223907"/>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855" b="1" dirty="0">
                <a:solidFill>
                  <a:schemeClr val="bg2">
                    <a:lumMod val="25000"/>
                  </a:schemeClr>
                </a:solidFill>
                <a:latin typeface="Century Gothic" panose="020B0502020202020204" pitchFamily="34" charset="0"/>
                <a:cs typeface="Arial" panose="020B0604020202020204" pitchFamily="34" charset="0"/>
              </a:rPr>
              <a:t>{{</a:t>
            </a:r>
            <a:r>
              <a:rPr lang="fr-FR" sz="855" b="1" dirty="0" err="1">
                <a:solidFill>
                  <a:schemeClr val="bg2">
                    <a:lumMod val="25000"/>
                  </a:schemeClr>
                </a:solidFill>
                <a:latin typeface="Century Gothic" panose="020B0502020202020204" pitchFamily="34" charset="0"/>
                <a:cs typeface="Arial" panose="020B0604020202020204" pitchFamily="34" charset="0"/>
              </a:rPr>
              <a:t>simulation.projet.utilisateur.prenom</a:t>
            </a:r>
            <a:r>
              <a:rPr lang="fr-FR" sz="855" b="1" dirty="0">
                <a:solidFill>
                  <a:schemeClr val="bg2">
                    <a:lumMod val="25000"/>
                  </a:schemeClr>
                </a:solidFill>
                <a:latin typeface="Century Gothic" panose="020B0502020202020204" pitchFamily="34" charset="0"/>
                <a:cs typeface="Arial" panose="020B0604020202020204" pitchFamily="34" charset="0"/>
              </a:rPr>
              <a:t>}} {{</a:t>
            </a:r>
            <a:r>
              <a:rPr lang="fr-FR" sz="855" b="1" dirty="0" err="1">
                <a:solidFill>
                  <a:schemeClr val="bg2">
                    <a:lumMod val="25000"/>
                  </a:schemeClr>
                </a:solidFill>
                <a:latin typeface="Century Gothic" panose="020B0502020202020204" pitchFamily="34" charset="0"/>
                <a:cs typeface="Arial" panose="020B0604020202020204" pitchFamily="34" charset="0"/>
              </a:rPr>
              <a:t>simulation.projet.utilisateur.nom</a:t>
            </a:r>
            <a:r>
              <a:rPr lang="fr-FR" sz="855" b="1" dirty="0">
                <a:solidFill>
                  <a:schemeClr val="bg2">
                    <a:lumMod val="25000"/>
                  </a:schemeClr>
                </a:solidFill>
                <a:latin typeface="Century Gothic" panose="020B0502020202020204" pitchFamily="34" charset="0"/>
                <a:cs typeface="Arial" panose="020B0604020202020204" pitchFamily="34" charset="0"/>
              </a:rPr>
              <a:t>}}</a:t>
            </a:r>
          </a:p>
        </p:txBody>
      </p:sp>
      <p:sp>
        <p:nvSpPr>
          <p:cNvPr id="22" name="ZoneTexte 5">
            <a:extLst>
              <a:ext uri="{FF2B5EF4-FFF2-40B4-BE49-F238E27FC236}">
                <a16:creationId xmlns:a16="http://schemas.microsoft.com/office/drawing/2014/main" id="{7CE2E556-393F-47B6-8154-E2C9CBD516AD}"/>
              </a:ext>
            </a:extLst>
          </p:cNvPr>
          <p:cNvSpPr txBox="1"/>
          <p:nvPr/>
        </p:nvSpPr>
        <p:spPr>
          <a:xfrm>
            <a:off x="4650339" y="2560222"/>
            <a:ext cx="2845448" cy="487056"/>
          </a:xfrm>
          <a:prstGeom prst="rect">
            <a:avLst/>
          </a:prstGeom>
          <a:noFill/>
        </p:spPr>
        <p:txBody>
          <a:bodyPr wrap="square" numCol="1"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855" dirty="0">
                <a:solidFill>
                  <a:schemeClr val="bg2">
                    <a:lumMod val="25000"/>
                  </a:schemeClr>
                </a:solidFill>
                <a:latin typeface="Century Gothic" panose="020B0502020202020204" pitchFamily="34" charset="0"/>
                <a:cs typeface="Arial" panose="020B0604020202020204" pitchFamily="34" charset="0"/>
              </a:rPr>
              <a:t>{{</a:t>
            </a:r>
            <a:r>
              <a:rPr lang="fr-FR" sz="855" dirty="0" err="1">
                <a:solidFill>
                  <a:schemeClr val="bg2">
                    <a:lumMod val="25000"/>
                  </a:schemeClr>
                </a:solidFill>
                <a:latin typeface="Century Gothic" panose="020B0502020202020204" pitchFamily="34" charset="0"/>
                <a:cs typeface="Arial" panose="020B0604020202020204" pitchFamily="34" charset="0"/>
              </a:rPr>
              <a:t>simulation.projet.utilisateur.fonction.libelle</a:t>
            </a:r>
            <a:r>
              <a:rPr lang="fr-FR" sz="855" dirty="0">
                <a:solidFill>
                  <a:schemeClr val="bg2">
                    <a:lumMod val="25000"/>
                  </a:schemeClr>
                </a:solidFill>
                <a:latin typeface="Century Gothic" panose="020B0502020202020204" pitchFamily="34" charset="0"/>
                <a:cs typeface="Arial" panose="020B0604020202020204" pitchFamily="34" charset="0"/>
              </a:rPr>
              <a:t>}}</a:t>
            </a:r>
          </a:p>
          <a:p>
            <a:r>
              <a:rPr lang="fr-FR" sz="855" dirty="0">
                <a:solidFill>
                  <a:schemeClr val="bg2">
                    <a:lumMod val="25000"/>
                  </a:schemeClr>
                </a:solidFill>
                <a:latin typeface="Century Gothic" panose="020B0502020202020204" pitchFamily="34" charset="0"/>
                <a:cs typeface="Arial" panose="020B0604020202020204" pitchFamily="34" charset="0"/>
              </a:rPr>
              <a:t>{{</a:t>
            </a:r>
            <a:r>
              <a:rPr lang="fr-FR" sz="855" dirty="0" err="1">
                <a:solidFill>
                  <a:schemeClr val="bg2">
                    <a:lumMod val="25000"/>
                  </a:schemeClr>
                </a:solidFill>
                <a:latin typeface="Century Gothic" panose="020B0502020202020204" pitchFamily="34" charset="0"/>
                <a:cs typeface="Arial" panose="020B0604020202020204" pitchFamily="34" charset="0"/>
              </a:rPr>
              <a:t>simulation.projet.utilisateur.telephone</a:t>
            </a:r>
            <a:r>
              <a:rPr lang="fr-FR" sz="855" dirty="0">
                <a:solidFill>
                  <a:schemeClr val="bg2">
                    <a:lumMod val="25000"/>
                  </a:schemeClr>
                </a:solidFill>
                <a:latin typeface="Century Gothic" panose="020B0502020202020204" pitchFamily="34" charset="0"/>
                <a:cs typeface="Arial" panose="020B0604020202020204" pitchFamily="34" charset="0"/>
              </a:rPr>
              <a:t>}}</a:t>
            </a:r>
          </a:p>
          <a:p>
            <a:r>
              <a:rPr lang="fr-FR" sz="855" dirty="0">
                <a:solidFill>
                  <a:schemeClr val="bg2">
                    <a:lumMod val="25000"/>
                  </a:schemeClr>
                </a:solidFill>
                <a:latin typeface="Century Gothic" panose="020B0502020202020204" pitchFamily="34" charset="0"/>
                <a:cs typeface="Arial" panose="020B0604020202020204" pitchFamily="34" charset="0"/>
              </a:rPr>
              <a:t>{{</a:t>
            </a:r>
            <a:r>
              <a:rPr lang="fr-FR" sz="855" dirty="0" err="1">
                <a:solidFill>
                  <a:schemeClr val="bg2">
                    <a:lumMod val="25000"/>
                  </a:schemeClr>
                </a:solidFill>
                <a:latin typeface="Century Gothic" panose="020B0502020202020204" pitchFamily="34" charset="0"/>
                <a:cs typeface="Arial" panose="020B0604020202020204" pitchFamily="34" charset="0"/>
              </a:rPr>
              <a:t>simulation.projet.utilisateur.email</a:t>
            </a:r>
            <a:r>
              <a:rPr lang="fr-FR" sz="855" dirty="0">
                <a:solidFill>
                  <a:schemeClr val="bg2">
                    <a:lumMod val="25000"/>
                  </a:schemeClr>
                </a:solidFill>
                <a:latin typeface="Century Gothic" panose="020B0502020202020204" pitchFamily="34" charset="0"/>
                <a:cs typeface="Arial" panose="020B0604020202020204" pitchFamily="34" charset="0"/>
              </a:rPr>
              <a:t>}} </a:t>
            </a:r>
          </a:p>
        </p:txBody>
      </p:sp>
      <p:pic>
        <p:nvPicPr>
          <p:cNvPr id="23" name="Image 22" descr="simulation.projet.utilisateur.imageModel">
            <a:extLst>
              <a:ext uri="{FF2B5EF4-FFF2-40B4-BE49-F238E27FC236}">
                <a16:creationId xmlns:a16="http://schemas.microsoft.com/office/drawing/2014/main" id="{540CED81-BD0A-453E-9948-FA30A2C1CC9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001056" y="2514167"/>
            <a:ext cx="551863" cy="554193"/>
          </a:xfrm>
          <a:prstGeom prst="ellipse">
            <a:avLst/>
          </a:prstGeom>
          <a:noFill/>
          <a:ln w="9525">
            <a:solidFill>
              <a:schemeClr val="bg1"/>
            </a:solidFill>
          </a:ln>
        </p:spPr>
      </p:pic>
      <p:pic>
        <p:nvPicPr>
          <p:cNvPr id="24" name="Image 23" descr="Une image contenant texte, clipart&#10;&#10;Description générée automatiquement">
            <a:extLst>
              <a:ext uri="{FF2B5EF4-FFF2-40B4-BE49-F238E27FC236}">
                <a16:creationId xmlns:a16="http://schemas.microsoft.com/office/drawing/2014/main" id="{4684AE28-7531-4A2C-B937-8E66BC22443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694374" y="2801184"/>
            <a:ext cx="2083766" cy="908637"/>
          </a:xfrm>
          <a:prstGeom prst="rect">
            <a:avLst/>
          </a:prstGeom>
        </p:spPr>
      </p:pic>
      <p:cxnSp>
        <p:nvCxnSpPr>
          <p:cNvPr id="25" name="Connecteur droit 24">
            <a:extLst>
              <a:ext uri="{FF2B5EF4-FFF2-40B4-BE49-F238E27FC236}">
                <a16:creationId xmlns:a16="http://schemas.microsoft.com/office/drawing/2014/main" id="{EC0E3490-8873-4409-8CA5-98FA58BB64E0}"/>
              </a:ext>
            </a:extLst>
          </p:cNvPr>
          <p:cNvCxnSpPr/>
          <p:nvPr/>
        </p:nvCxnSpPr>
        <p:spPr>
          <a:xfrm>
            <a:off x="4197771" y="2275851"/>
            <a:ext cx="0" cy="2109093"/>
          </a:xfrm>
          <a:prstGeom prst="line">
            <a:avLst/>
          </a:prstGeom>
        </p:spPr>
        <p:style>
          <a:lnRef idx="1">
            <a:schemeClr val="dk1"/>
          </a:lnRef>
          <a:fillRef idx="0">
            <a:schemeClr val="dk1"/>
          </a:fillRef>
          <a:effectRef idx="0">
            <a:schemeClr val="dk1"/>
          </a:effectRef>
          <a:fontRef idx="minor">
            <a:schemeClr val="tx1"/>
          </a:fontRef>
        </p:style>
      </p:cxnSp>
      <p:sp>
        <p:nvSpPr>
          <p:cNvPr id="29" name="ZoneTexte 28">
            <a:extLst>
              <a:ext uri="{FF2B5EF4-FFF2-40B4-BE49-F238E27FC236}">
                <a16:creationId xmlns:a16="http://schemas.microsoft.com/office/drawing/2014/main" id="{4F944ED9-DC5E-3F49-E7CD-3129A8E1A59A}"/>
              </a:ext>
            </a:extLst>
          </p:cNvPr>
          <p:cNvSpPr txBox="1"/>
          <p:nvPr/>
        </p:nvSpPr>
        <p:spPr>
          <a:xfrm>
            <a:off x="1042730" y="6610547"/>
            <a:ext cx="6134015" cy="276679"/>
          </a:xfrm>
          <a:prstGeom prst="rect">
            <a:avLst/>
          </a:prstGeom>
          <a:noFill/>
        </p:spPr>
        <p:txBody>
          <a:bodyPr wrap="square" rtlCol="0">
            <a:spAutoFit/>
          </a:bodyPr>
          <a:lstStyle/>
          <a:p>
            <a:r>
              <a:rPr lang="fr-FR" sz="1198" b="1" dirty="0">
                <a:solidFill>
                  <a:schemeClr val="bg1"/>
                </a:solidFill>
                <a:latin typeface="Century Gothic" panose="020B0502020202020204" pitchFamily="34" charset="0"/>
              </a:rPr>
              <a:t>Retrouvez toute notre actualité sur www.koesio.com et sur nos réseaux sociaux !</a:t>
            </a:r>
          </a:p>
        </p:txBody>
      </p:sp>
      <p:cxnSp>
        <p:nvCxnSpPr>
          <p:cNvPr id="31" name="Connecteur droit 30">
            <a:extLst>
              <a:ext uri="{FF2B5EF4-FFF2-40B4-BE49-F238E27FC236}">
                <a16:creationId xmlns:a16="http://schemas.microsoft.com/office/drawing/2014/main" id="{5BA8092E-CF58-00B3-09CA-1F27773E2355}"/>
              </a:ext>
            </a:extLst>
          </p:cNvPr>
          <p:cNvCxnSpPr>
            <a:cxnSpLocks/>
          </p:cNvCxnSpPr>
          <p:nvPr/>
        </p:nvCxnSpPr>
        <p:spPr>
          <a:xfrm>
            <a:off x="7409808" y="6571268"/>
            <a:ext cx="0" cy="33508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2" name="Image 31" descr="Une image contenant texte, clipart&#10;&#10;Description générée automatiquement">
            <a:extLst>
              <a:ext uri="{FF2B5EF4-FFF2-40B4-BE49-F238E27FC236}">
                <a16:creationId xmlns:a16="http://schemas.microsoft.com/office/drawing/2014/main" id="{2F3AE8E1-CF08-2DA7-D528-0BA5BE9FFC24}"/>
              </a:ext>
            </a:extLst>
          </p:cNvPr>
          <p:cNvPicPr>
            <a:picLocks noChangeAspect="1"/>
          </p:cNvPicPr>
          <p:nvPr/>
        </p:nvPicPr>
        <p:blipFill>
          <a:blip r:embed="rId5"/>
          <a:stretch>
            <a:fillRect/>
          </a:stretch>
        </p:blipFill>
        <p:spPr>
          <a:xfrm>
            <a:off x="7987064" y="6610545"/>
            <a:ext cx="274666" cy="274666"/>
          </a:xfrm>
          <a:prstGeom prst="rect">
            <a:avLst/>
          </a:prstGeom>
        </p:spPr>
      </p:pic>
      <p:pic>
        <p:nvPicPr>
          <p:cNvPr id="33" name="Image 32">
            <a:extLst>
              <a:ext uri="{FF2B5EF4-FFF2-40B4-BE49-F238E27FC236}">
                <a16:creationId xmlns:a16="http://schemas.microsoft.com/office/drawing/2014/main" id="{FA676583-F7C5-260E-EFB8-91769338208C}"/>
              </a:ext>
            </a:extLst>
          </p:cNvPr>
          <p:cNvPicPr>
            <a:picLocks noChangeAspect="1"/>
          </p:cNvPicPr>
          <p:nvPr/>
        </p:nvPicPr>
        <p:blipFill>
          <a:blip r:embed="rId6"/>
          <a:stretch>
            <a:fillRect/>
          </a:stretch>
        </p:blipFill>
        <p:spPr>
          <a:xfrm>
            <a:off x="8507706" y="6610545"/>
            <a:ext cx="274666" cy="274666"/>
          </a:xfrm>
          <a:prstGeom prst="rect">
            <a:avLst/>
          </a:prstGeom>
        </p:spPr>
      </p:pic>
      <p:pic>
        <p:nvPicPr>
          <p:cNvPr id="35" name="Image 34" descr="Une image contenant texte, clipart&#10;&#10;Description générée automatiquement">
            <a:extLst>
              <a:ext uri="{FF2B5EF4-FFF2-40B4-BE49-F238E27FC236}">
                <a16:creationId xmlns:a16="http://schemas.microsoft.com/office/drawing/2014/main" id="{4046D5FB-63AC-EE00-060B-CEB255E77E7F}"/>
              </a:ext>
            </a:extLst>
          </p:cNvPr>
          <p:cNvPicPr>
            <a:picLocks noChangeAspect="1"/>
          </p:cNvPicPr>
          <p:nvPr/>
        </p:nvPicPr>
        <p:blipFill>
          <a:blip r:embed="rId7"/>
          <a:stretch>
            <a:fillRect/>
          </a:stretch>
        </p:blipFill>
        <p:spPr>
          <a:xfrm>
            <a:off x="9028347" y="6610545"/>
            <a:ext cx="274666" cy="274666"/>
          </a:xfrm>
          <a:prstGeom prst="rect">
            <a:avLst/>
          </a:prstGeom>
        </p:spPr>
      </p:pic>
      <p:sp>
        <p:nvSpPr>
          <p:cNvPr id="3" name="Rectangle 2">
            <a:extLst>
              <a:ext uri="{FF2B5EF4-FFF2-40B4-BE49-F238E27FC236}">
                <a16:creationId xmlns:a16="http://schemas.microsoft.com/office/drawing/2014/main" id="{D027FA17-FC54-F58E-CCF3-358839F736C8}"/>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Tree>
    <p:extLst>
      <p:ext uri="{BB962C8B-B14F-4D97-AF65-F5344CB8AC3E}">
        <p14:creationId xmlns:p14="http://schemas.microsoft.com/office/powerpoint/2010/main" val="3183021329"/>
      </p:ext>
    </p:extLst>
  </p:cSld>
  <p:clrMapOvr>
    <a:masterClrMapping/>
  </p:clrMapOvr>
</p:sld>
</file>

<file path=ppt/theme/theme1.xml><?xml version="1.0" encoding="utf-8"?>
<a:theme xmlns:a="http://schemas.openxmlformats.org/drawingml/2006/main" name="2_Thème Office 2013 – 2022">
  <a:themeElements>
    <a:clrScheme name="Koesio">
      <a:dk1>
        <a:srgbClr val="434341"/>
      </a:dk1>
      <a:lt1>
        <a:srgbClr val="FFFFFF"/>
      </a:lt1>
      <a:dk2>
        <a:srgbClr val="6E398E"/>
      </a:dk2>
      <a:lt2>
        <a:srgbClr val="E94B57"/>
      </a:lt2>
      <a:accent1>
        <a:srgbClr val="946AAB"/>
      </a:accent1>
      <a:accent2>
        <a:srgbClr val="F7A823"/>
      </a:accent2>
      <a:accent3>
        <a:srgbClr val="FFD618"/>
      </a:accent3>
      <a:accent4>
        <a:srgbClr val="95C11F"/>
      </a:accent4>
      <a:accent5>
        <a:srgbClr val="F7BFD9"/>
      </a:accent5>
      <a:accent6>
        <a:srgbClr val="6FCBF3"/>
      </a:accent6>
      <a:hlink>
        <a:srgbClr val="6E398E"/>
      </a:hlink>
      <a:folHlink>
        <a:srgbClr val="946AAB"/>
      </a:folHlink>
    </a:clrScheme>
    <a:fontScheme name="Thème 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1177</Words>
  <Application>Microsoft Office PowerPoint</Application>
  <PresentationFormat>Personnalisé</PresentationFormat>
  <Paragraphs>326</Paragraphs>
  <Slides>24</Slides>
  <Notes>4</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14</vt:i4>
      </vt:variant>
    </vt:vector>
  </HeadingPairs>
  <TitlesOfParts>
    <vt:vector size="21" baseType="lpstr">
      <vt:lpstr>Aptos</vt:lpstr>
      <vt:lpstr>Arial</vt:lpstr>
      <vt:lpstr>Arial Nova</vt:lpstr>
      <vt:lpstr>Calibri</vt:lpstr>
      <vt:lpstr>Calibri Light</vt:lpstr>
      <vt:lpstr>Century Gothic</vt:lpstr>
      <vt:lpstr>2_Thème Office 2013 – 2022</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CORBEAUX Virginie</dc:creator>
  <cp:lastModifiedBy>Jeremy TREDANT</cp:lastModifiedBy>
  <cp:revision>72</cp:revision>
  <dcterms:created xsi:type="dcterms:W3CDTF">2024-10-29T15:06:39Z</dcterms:created>
  <dcterms:modified xsi:type="dcterms:W3CDTF">2026-01-08T20:21:29Z</dcterms:modified>
</cp:coreProperties>
</file>