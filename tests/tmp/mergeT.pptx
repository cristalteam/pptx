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8.xml" ContentType="application/vnd.openxmlformats-officedocument.presentationml.slide+xml"/>
  <Override PartName="/ppt/notesSlides/notesSlide3.xml" ContentType="application/vnd.openxmlformats-officedocument.presentationml.notesSlide+xml"/>
  <Override PartName="/ppt/slideMasters/slideMaster2.xml" ContentType="application/vnd.openxmlformats-officedocument.presentationml.slideMaster+xml"/>
  <Override PartName="/ppt/theme/theme4.xml" ContentType="application/vnd.openxmlformats-officedocument.theme+xml"/>
  <Override PartName="/ppt/slides/slide9.xml" ContentType="application/vnd.openxmlformats-officedocument.presentationml.slide+xml"/>
  <Override PartName="/ppt/slideLayouts/slideLayout4.xml" ContentType="application/vnd.openxmlformats-officedocument.presentationml.slideLayout+xml"/>
  <Override PartName="/ppt/slideMasters/slideMaster3.xml" ContentType="application/vnd.openxmlformats-officedocument.presentationml.slideMaster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4681" r:id="rId1"/>
    <p:sldMasterId id="2147484682" r:id="rId2"/>
    <p:sldMasterId id="2147484683" r:id="rId3"/>
  </p:sldMasterIdLst>
  <p:notesMasterIdLst>
    <p:notesMasterId r:id="rId22"/>
  </p:notesMasterIdLst>
  <p:handoutMasterIdLst>
    <p:handoutMasterId r:id="rId19"/>
  </p:handout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906000" cy="6858000" type="A4"/>
  <p:notesSz cx="6858000" cy="9144000"/>
  <p:custDataLst>
    <p:tags r:id="rId29"/>
  </p:custDataLst>
  <p:defaultTextStyle>
    <a:defPPr>
      <a:defRPr lang="en-US"/>
    </a:defPPr>
    <a:lvl1pPr marL="0" algn="l" defTabSz="45711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1pPr>
    <a:lvl2pPr marL="457117" algn="l" defTabSz="45711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2pPr>
    <a:lvl3pPr marL="914235" algn="l" defTabSz="45711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3pPr>
    <a:lvl4pPr marL="1371353" algn="l" defTabSz="45711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4pPr>
    <a:lvl5pPr marL="1828470" algn="l" defTabSz="45711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5pPr>
    <a:lvl6pPr marL="2285588" algn="l" defTabSz="45711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6pPr>
    <a:lvl7pPr marL="2742705" algn="l" defTabSz="45711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7pPr>
    <a:lvl8pPr marL="3199823" algn="l" defTabSz="45711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8pPr>
    <a:lvl9pPr marL="3656940" algn="l" defTabSz="457117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2A0"/>
    <a:srgbClr val="EE7203"/>
    <a:srgbClr val="0184B3"/>
    <a:srgbClr val="232651"/>
    <a:srgbClr val="EEEEED"/>
    <a:srgbClr val="6E398E"/>
    <a:srgbClr val="136999"/>
    <a:srgbClr val="1F5F93"/>
    <a:srgbClr val="5F408F"/>
    <a:srgbClr val="5048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D381A8-E85A-4AE3-BBB8-7E095746C347}" v="11" dt="2026-03-02T17:55:44.0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Style clair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Style léger 3 - Accentuation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Style léger 3 - Accentuation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Style léger 3 - Accentuation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Style léger 3 - Accentuation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Style à thème 1 - Accentuation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Style léger 2 - Accentuation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Style léger 2 - Accentuation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Style léger 2 - Accentuation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46F890A9-2807-4EBB-B81D-B2AA78EC7F39}" styleName="Style foncé 2 - Accentuation 5/Accentuation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Style foncé 2 - Accentuation 3/Accentuation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Style foncé 2 - Accentuation 1/Accentuation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AF606853-7671-496A-8E4F-DF71F8EC918B}" styleName="Style foncé 1 - Accentuation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Style foncé 1 - Accentuation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Style foncé 1 - Accentuation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CAF9ED-07DC-4A11-8D7F-57B35C25682E}" styleName="Style moyen 1 - Accentuation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84E427A-3D55-4303-BF80-6455036E1DE7}" styleName="Style à thème 1 - Accentuation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B9631B5-78F2-41C9-869B-9F39066F8104}" styleName="Style moyen 3 - Accentuation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Style moyen 3 - Accentuation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Style moyen 3 - Accentuation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2838BEF-8BB2-4498-84A7-C5851F593DF1}" styleName="Style moyen 4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Style moyen 4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422" autoAdjust="0"/>
    <p:restoredTop sz="92009" autoAdjust="0"/>
  </p:normalViewPr>
  <p:slideViewPr>
    <p:cSldViewPr snapToGrid="0" snapToObjects="1">
      <p:cViewPr varScale="1">
        <p:scale>
          <a:sx n="82" d="100"/>
          <a:sy n="82" d="100"/>
        </p:scale>
        <p:origin x="1517" y="7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20" Type="http://schemas.openxmlformats.org/officeDocument/2006/relationships/tableStyles" Target="tableStyles.xml"/><Relationship Id="rId21" Type="http://schemas.openxmlformats.org/officeDocument/2006/relationships/customXml" Target="../customXml/item3.xml"/><Relationship Id="rId22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24" Type="http://schemas.openxmlformats.org/officeDocument/2006/relationships/customXml" Target="../customXml/item2.xml"/><Relationship Id="rId25" Type="http://schemas.openxmlformats.org/officeDocument/2006/relationships/viewProps" Target="viewProps.xml"/><Relationship Id="rId26" Type="http://schemas.openxmlformats.org/officeDocument/2006/relationships/customXml" Target="../customXml/item1.xml"/><Relationship Id="rId27" Type="http://schemas.openxmlformats.org/officeDocument/2006/relationships/presProps" Target="presProps.xml"/><Relationship Id="rId28" Type="http://schemas.microsoft.com/office/2015/10/relationships/revisionInfo" Target="revisionInfo.xml"/><Relationship Id="rId29" Type="http://schemas.openxmlformats.org/officeDocument/2006/relationships/tags" Target="tags/tag1.xml"/><Relationship Id="rId30" Type="http://schemas.openxmlformats.org/officeDocument/2006/relationships/theme" Target="theme/theme4.xml"/><Relationship Id="rId31" Type="http://schemas.openxmlformats.org/officeDocument/2006/relationships/theme" Target="theme/theme5.xml"/></Relationships>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4CCF17EA-0750-734A-AB11-C6BE1C8AAC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F0DFD55-BF47-FF46-B218-E7875DE3F9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47F726-697A-44D7-82CE-E417D31DFDAB}" type="datetime1">
              <a:rPr lang="fr-FR" smtClean="0"/>
              <a:t>02/03/2026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A1EE19C-D9E5-DB44-B446-8FDAA5BDC8A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2F731E4-1D5B-314A-B092-D1F67DB42BB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FED4A2-F628-8E49-B2EA-02C47A6111C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4669659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45CB05-50CD-4A3A-A163-9590CC578EA9}" type="datetime1">
              <a:rPr lang="fr-FR" smtClean="0"/>
              <a:t>02/03/2026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A9F9A8-5C53-684F-A7CC-57EADD1FE40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7405859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17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35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353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470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588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705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823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940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
</file>

<file path=ppt/notesSlides/_rels/notesSlide4.xml.rels><?xml version="1.0" encoding="UTF-8" standalone="yes"?>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94848-5D7E-EB15-2916-BE91DDE09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9245EB0-FD40-8534-96F1-A54319C232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47775" y="1143000"/>
            <a:ext cx="4362450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C88B573-57D3-65CD-763C-BD85079444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err="1"/>
              <a:t>Nbe</a:t>
            </a:r>
            <a:r>
              <a:rPr lang="fr-FR"/>
              <a:t> bpa</a:t>
            </a:r>
          </a:p>
          <a:p>
            <a:r>
              <a:rPr lang="fr-FR" err="1"/>
              <a:t>Nbe</a:t>
            </a:r>
            <a:r>
              <a:rPr lang="fr-FR"/>
              <a:t> firewall à mettre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9D65547-95F8-17DE-32D7-1912157C44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2FD6F-AB77-4C7E-891F-50C789B4267C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34803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D038B-00F9-4E7B-FA47-C0F9F66FA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77D49CC-9B53-DAB6-A2FD-1607084607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47775" y="1143000"/>
            <a:ext cx="4362450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20DB7DE-29B4-A64F-7100-7D095FC61C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err="1"/>
              <a:t>Nbe</a:t>
            </a:r>
            <a:r>
              <a:rPr lang="fr-FR"/>
              <a:t> bpa</a:t>
            </a:r>
          </a:p>
          <a:p>
            <a:r>
              <a:rPr lang="fr-FR" err="1"/>
              <a:t>Nbe</a:t>
            </a:r>
            <a:r>
              <a:rPr lang="fr-FR"/>
              <a:t> firewall à mettre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84CDB7A-E823-90DB-86FE-FBAFAE20D4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2FD6F-AB77-4C7E-891F-50C789B4267C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71364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2FD6F-AB77-4C7E-891F-50C789B4267C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08195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À demander à Emmanuel de m’envoyer les éléments contractuels pour unifier le </a:t>
            </a:r>
            <a:r>
              <a:rPr lang="fr-FR" dirty="0" err="1"/>
              <a:t>wording</a:t>
            </a:r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i="1" dirty="0"/>
              <a:t>Conditions à boucler avec les équipes télécom sur les prestations</a:t>
            </a:r>
          </a:p>
          <a:p>
            <a:r>
              <a:rPr lang="fr-FR" sz="1200" i="1" dirty="0"/>
              <a:t>+ affichage des SLA</a:t>
            </a:r>
          </a:p>
          <a:p>
            <a:r>
              <a:rPr lang="fr-FR" sz="1200" i="1" dirty="0"/>
              <a:t>Services managés (slide à part ?)</a:t>
            </a:r>
          </a:p>
          <a:p>
            <a:r>
              <a:rPr lang="fr-FR" sz="1200" i="1" dirty="0"/>
              <a:t>Horaires standards</a:t>
            </a:r>
          </a:p>
          <a:p>
            <a:r>
              <a:rPr lang="fr-FR" sz="1200" i="1" dirty="0"/>
              <a:t>		étendus</a:t>
            </a:r>
          </a:p>
          <a:p>
            <a:r>
              <a:rPr lang="fr-FR" sz="1200" i="1" dirty="0"/>
              <a:t>		24/7 (que sur certains éléments)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0EF67D-F771-43F2-9BC9-8E012AD24F8E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9738833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1358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9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3" indent="0" algn="ctr">
              <a:buNone/>
              <a:defRPr sz="2000"/>
            </a:lvl2pPr>
            <a:lvl3pPr marL="914406" indent="0" algn="ctr">
              <a:buNone/>
              <a:defRPr sz="1800"/>
            </a:lvl3pPr>
            <a:lvl4pPr marL="1371609" indent="0" algn="ctr">
              <a:buNone/>
              <a:defRPr sz="1600"/>
            </a:lvl4pPr>
            <a:lvl5pPr marL="1828812" indent="0" algn="ctr">
              <a:buNone/>
              <a:defRPr sz="1600"/>
            </a:lvl5pPr>
            <a:lvl6pPr marL="2286015" indent="0" algn="ctr">
              <a:buNone/>
              <a:defRPr sz="1600"/>
            </a:lvl6pPr>
            <a:lvl7pPr marL="2743218" indent="0" algn="ctr">
              <a:buNone/>
              <a:defRPr sz="1600"/>
            </a:lvl7pPr>
            <a:lvl8pPr marL="3200421" indent="0" algn="ctr">
              <a:buNone/>
              <a:defRPr sz="1600"/>
            </a:lvl8pPr>
            <a:lvl9pPr marL="3657624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3130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5523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8032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U V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31">
            <a:extLst>
              <a:ext uri="{FF2B5EF4-FFF2-40B4-BE49-F238E27FC236}">
                <a16:creationId xmlns:a16="http://schemas.microsoft.com/office/drawing/2014/main" id="{01D4BEEE-C528-26A8-8441-EC58C49F22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5593" y="683268"/>
            <a:ext cx="3948447" cy="60297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71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Insérez votre titre</a:t>
            </a:r>
          </a:p>
        </p:txBody>
      </p:sp>
      <p:sp>
        <p:nvSpPr>
          <p:cNvPr id="2" name="Espace réservé du texte 6">
            <a:extLst>
              <a:ext uri="{FF2B5EF4-FFF2-40B4-BE49-F238E27FC236}">
                <a16:creationId xmlns:a16="http://schemas.microsoft.com/office/drawing/2014/main" id="{C75EC255-9E3E-FDA9-8664-14249714B5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5594" y="1524004"/>
            <a:ext cx="4421233" cy="4670605"/>
          </a:xfrm>
          <a:prstGeom prst="rect">
            <a:avLst/>
          </a:prstGeom>
        </p:spPr>
        <p:txBody>
          <a:bodyPr/>
          <a:lstStyle>
            <a:lvl1pPr marL="136408" indent="-136408">
              <a:buClr>
                <a:schemeClr val="bg2"/>
              </a:buClr>
              <a:buFont typeface="Arial Nova" panose="020B0504020202020204" pitchFamily="34" charset="0"/>
              <a:buChar char="&gt;"/>
              <a:defRPr sz="1432">
                <a:latin typeface="+mn-lt"/>
              </a:defRPr>
            </a:lvl1pPr>
            <a:lvl2pPr marL="409224" indent="-136408">
              <a:buClr>
                <a:schemeClr val="bg2"/>
              </a:buClr>
              <a:buFont typeface="Arial Nova" panose="020B0504020202020204" pitchFamily="34" charset="0"/>
              <a:buChar char="&gt;"/>
              <a:defRPr sz="1194">
                <a:latin typeface="+mn-lt"/>
              </a:defRPr>
            </a:lvl2pPr>
            <a:lvl3pPr marL="682040" indent="-136408">
              <a:buClr>
                <a:schemeClr val="bg2"/>
              </a:buClr>
              <a:buFont typeface="Arial Nova" panose="020B0504020202020204" pitchFamily="34" charset="0"/>
              <a:buChar char="&gt;"/>
              <a:defRPr sz="1074">
                <a:latin typeface="+mn-lt"/>
              </a:defRPr>
            </a:lvl3pPr>
            <a:lvl4pPr marL="954857" indent="-136408">
              <a:buClr>
                <a:schemeClr val="bg2"/>
              </a:buClr>
              <a:buFont typeface="Arial Nova" panose="020B0504020202020204" pitchFamily="34" charset="0"/>
              <a:buChar char="&gt;"/>
              <a:defRPr sz="836">
                <a:latin typeface="+mn-lt"/>
              </a:defRPr>
            </a:lvl4pPr>
            <a:lvl5pPr marL="1227673" indent="-136408">
              <a:buClr>
                <a:schemeClr val="bg2"/>
              </a:buClr>
              <a:buFont typeface="Arial Nova" panose="020B0504020202020204" pitchFamily="34" charset="0"/>
              <a:buChar char="&gt;"/>
              <a:defRPr sz="836">
                <a:latin typeface="+mn-lt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pour une image  4">
            <a:extLst>
              <a:ext uri="{FF2B5EF4-FFF2-40B4-BE49-F238E27FC236}">
                <a16:creationId xmlns:a16="http://schemas.microsoft.com/office/drawing/2014/main" id="{874A3F1B-998C-6FEB-BC1D-019E6E18139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730496" y="1524004"/>
            <a:ext cx="3304657" cy="391636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pPr marL="0" marR="0" lvl="0" indent="0" algn="l" defTabSz="545633" rtl="0" eaLnBrk="1" fontAlgn="auto" latinLnBrk="0" hangingPunct="1">
              <a:lnSpc>
                <a:spcPct val="90000"/>
              </a:lnSpc>
              <a:spcBef>
                <a:spcPts val="59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/>
              <a:t>Insérez une image si vous le souhaitez</a:t>
            </a:r>
          </a:p>
        </p:txBody>
      </p:sp>
    </p:spTree>
    <p:extLst>
      <p:ext uri="{BB962C8B-B14F-4D97-AF65-F5344CB8AC3E}">
        <p14:creationId xmlns:p14="http://schemas.microsoft.com/office/powerpoint/2010/main" val="3557983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10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"1.0" encoding="UTF-8" standalone="yes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1.xml"/></Relationships>

</file>

<file path=ppt/slideMasters/_rels/slideMaster3.xml.rels><?xml version="1.0" encoding="UTF-8" standalone="yes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FE09E2-9F57-A6A4-944D-D29F2D0666C2}"/>
              </a:ext>
            </a:extLst>
          </p:cNvPr>
          <p:cNvSpPr/>
          <p:nvPr userDrawn="1"/>
        </p:nvSpPr>
        <p:spPr>
          <a:xfrm>
            <a:off x="1" y="-11430"/>
            <a:ext cx="161818" cy="686943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45" dirty="0"/>
          </a:p>
        </p:txBody>
      </p:sp>
    </p:spTree>
    <p:extLst>
      <p:ext uri="{BB962C8B-B14F-4D97-AF65-F5344CB8AC3E}">
        <p14:creationId xmlns:p14="http://schemas.microsoft.com/office/powerpoint/2010/main" val="957534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44" r:id="rId3"/>
  </p:sldLayoutIdLst>
  <p:hf hdr="0"/>
  <p:txStyles>
    <p:titleStyle>
      <a:lvl1pPr algn="l" defTabSz="530689" rtl="0" eaLnBrk="1" latinLnBrk="0" hangingPunct="1">
        <a:lnSpc>
          <a:spcPct val="90000"/>
        </a:lnSpc>
        <a:spcBef>
          <a:spcPct val="0"/>
        </a:spcBef>
        <a:buNone/>
        <a:defRPr sz="2089" b="1" i="0" kern="1200">
          <a:solidFill>
            <a:schemeClr val="tx1"/>
          </a:solidFill>
          <a:latin typeface="+mj-lt"/>
          <a:ea typeface="Microsoft YaHei UI" panose="020B0400000000000000" pitchFamily="34" charset="-122"/>
          <a:cs typeface="Arial" panose="020B0604020202020204" pitchFamily="34" charset="0"/>
        </a:defRPr>
      </a:lvl1pPr>
    </p:titleStyle>
    <p:bodyStyle>
      <a:lvl1pPr marL="132673" indent="-132673" algn="l" defTabSz="530689" rtl="0" eaLnBrk="1" latinLnBrk="0" hangingPunct="1">
        <a:lnSpc>
          <a:spcPct val="90000"/>
        </a:lnSpc>
        <a:spcBef>
          <a:spcPts val="581"/>
        </a:spcBef>
        <a:buClr>
          <a:schemeClr val="tx2"/>
        </a:buClr>
        <a:buFont typeface="Arial" panose="020B0604020202020204" pitchFamily="34" charset="0"/>
        <a:buChar char="•"/>
        <a:defRPr sz="1509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398017" indent="-132673" algn="l" defTabSz="530689" rtl="0" eaLnBrk="1" latinLnBrk="0" hangingPunct="1">
        <a:lnSpc>
          <a:spcPct val="90000"/>
        </a:lnSpc>
        <a:spcBef>
          <a:spcPts val="290"/>
        </a:spcBef>
        <a:buClr>
          <a:schemeClr val="tx2"/>
        </a:buClr>
        <a:buFont typeface="Arial" panose="020B0604020202020204" pitchFamily="34" charset="0"/>
        <a:buChar char="•"/>
        <a:defRPr sz="1277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663362" indent="-132673" algn="l" defTabSz="530689" rtl="0" eaLnBrk="1" latinLnBrk="0" hangingPunct="1">
        <a:lnSpc>
          <a:spcPct val="90000"/>
        </a:lnSpc>
        <a:spcBef>
          <a:spcPts val="290"/>
        </a:spcBef>
        <a:buClr>
          <a:schemeClr val="tx2"/>
        </a:buClr>
        <a:buFont typeface="Arial" panose="020B0604020202020204" pitchFamily="34" charset="0"/>
        <a:buChar char="•"/>
        <a:defRPr sz="1161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664406" indent="-132673" algn="l" defTabSz="530689" rtl="0" eaLnBrk="1" latinLnBrk="0" hangingPunct="1">
        <a:lnSpc>
          <a:spcPct val="90000"/>
        </a:lnSpc>
        <a:spcBef>
          <a:spcPts val="290"/>
        </a:spcBef>
        <a:buClr>
          <a:schemeClr val="tx2"/>
        </a:buClr>
        <a:buFont typeface="Arial" panose="020B0604020202020204" pitchFamily="34" charset="0"/>
        <a:buChar char="•"/>
        <a:defRPr sz="1045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664406" indent="-132673" algn="l" defTabSz="530689" rtl="0" eaLnBrk="1" latinLnBrk="0" hangingPunct="1">
        <a:lnSpc>
          <a:spcPct val="90000"/>
        </a:lnSpc>
        <a:spcBef>
          <a:spcPts val="290"/>
        </a:spcBef>
        <a:buClr>
          <a:schemeClr val="tx2"/>
        </a:buClr>
        <a:buFont typeface="Arial" panose="020B0604020202020204" pitchFamily="34" charset="0"/>
        <a:buChar char="•"/>
        <a:defRPr sz="929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664406" indent="-132673" algn="l" defTabSz="530689" rtl="0" eaLnBrk="1" latinLnBrk="0" hangingPunct="1">
        <a:lnSpc>
          <a:spcPct val="90000"/>
        </a:lnSpc>
        <a:spcBef>
          <a:spcPts val="290"/>
        </a:spcBef>
        <a:buClr>
          <a:schemeClr val="tx2"/>
        </a:buClr>
        <a:buFont typeface="Arial" panose="020B0604020202020204" pitchFamily="34" charset="0"/>
        <a:buChar char="•"/>
        <a:defRPr sz="929" kern="1200">
          <a:solidFill>
            <a:schemeClr val="tx1"/>
          </a:solidFill>
          <a:latin typeface="+mn-lt"/>
          <a:ea typeface="+mn-ea"/>
          <a:cs typeface="+mn-cs"/>
        </a:defRPr>
      </a:lvl6pPr>
      <a:lvl7pPr marL="664406" indent="-132673" algn="l" defTabSz="530689" rtl="0" eaLnBrk="1" latinLnBrk="0" hangingPunct="1">
        <a:lnSpc>
          <a:spcPct val="90000"/>
        </a:lnSpc>
        <a:spcBef>
          <a:spcPts val="290"/>
        </a:spcBef>
        <a:buClr>
          <a:schemeClr val="tx2"/>
        </a:buClr>
        <a:buFont typeface="Arial" panose="020B0604020202020204" pitchFamily="34" charset="0"/>
        <a:buChar char="•"/>
        <a:defRPr sz="929" kern="1200">
          <a:solidFill>
            <a:schemeClr val="tx1"/>
          </a:solidFill>
          <a:latin typeface="+mn-lt"/>
          <a:ea typeface="+mn-ea"/>
          <a:cs typeface="+mn-cs"/>
        </a:defRPr>
      </a:lvl7pPr>
      <a:lvl8pPr marL="664406" indent="-132673" algn="l" defTabSz="530689" rtl="0" eaLnBrk="1" latinLnBrk="0" hangingPunct="1">
        <a:lnSpc>
          <a:spcPct val="90000"/>
        </a:lnSpc>
        <a:spcBef>
          <a:spcPts val="290"/>
        </a:spcBef>
        <a:buClr>
          <a:schemeClr val="tx2"/>
        </a:buClr>
        <a:buFont typeface="Arial" panose="020B0604020202020204" pitchFamily="34" charset="0"/>
        <a:buChar char="•"/>
        <a:defRPr sz="929" kern="1200">
          <a:solidFill>
            <a:schemeClr val="tx1"/>
          </a:solidFill>
          <a:latin typeface="+mn-lt"/>
          <a:ea typeface="+mn-ea"/>
          <a:cs typeface="+mn-cs"/>
        </a:defRPr>
      </a:lvl8pPr>
      <a:lvl9pPr marL="664406" indent="-132673" algn="l" defTabSz="530689" rtl="0" eaLnBrk="1" latinLnBrk="0" hangingPunct="1">
        <a:lnSpc>
          <a:spcPct val="90000"/>
        </a:lnSpc>
        <a:spcBef>
          <a:spcPts val="290"/>
        </a:spcBef>
        <a:buClr>
          <a:schemeClr val="tx2"/>
        </a:buClr>
        <a:buFont typeface="Arial" panose="020B0604020202020204" pitchFamily="34" charset="0"/>
        <a:buChar char="•"/>
        <a:defRPr sz="92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0689" rtl="0" eaLnBrk="1" latinLnBrk="0" hangingPunct="1">
        <a:defRPr sz="1045" kern="1200">
          <a:solidFill>
            <a:schemeClr val="tx1"/>
          </a:solidFill>
          <a:latin typeface="+mn-lt"/>
          <a:ea typeface="+mn-ea"/>
          <a:cs typeface="+mn-cs"/>
        </a:defRPr>
      </a:lvl1pPr>
      <a:lvl2pPr marL="265345" algn="l" defTabSz="530689" rtl="0" eaLnBrk="1" latinLnBrk="0" hangingPunct="1">
        <a:defRPr sz="1045" kern="1200">
          <a:solidFill>
            <a:schemeClr val="tx1"/>
          </a:solidFill>
          <a:latin typeface="+mn-lt"/>
          <a:ea typeface="+mn-ea"/>
          <a:cs typeface="+mn-cs"/>
        </a:defRPr>
      </a:lvl2pPr>
      <a:lvl3pPr marL="530689" algn="l" defTabSz="530689" rtl="0" eaLnBrk="1" latinLnBrk="0" hangingPunct="1">
        <a:defRPr sz="1045" kern="1200">
          <a:solidFill>
            <a:schemeClr val="tx1"/>
          </a:solidFill>
          <a:latin typeface="+mn-lt"/>
          <a:ea typeface="+mn-ea"/>
          <a:cs typeface="+mn-cs"/>
        </a:defRPr>
      </a:lvl3pPr>
      <a:lvl4pPr marL="796034" algn="l" defTabSz="530689" rtl="0" eaLnBrk="1" latinLnBrk="0" hangingPunct="1">
        <a:defRPr sz="1045" kern="1200">
          <a:solidFill>
            <a:schemeClr val="tx1"/>
          </a:solidFill>
          <a:latin typeface="+mn-lt"/>
          <a:ea typeface="+mn-ea"/>
          <a:cs typeface="+mn-cs"/>
        </a:defRPr>
      </a:lvl4pPr>
      <a:lvl5pPr marL="1061378" algn="l" defTabSz="530689" rtl="0" eaLnBrk="1" latinLnBrk="0" hangingPunct="1">
        <a:defRPr sz="1045" kern="1200">
          <a:solidFill>
            <a:schemeClr val="tx1"/>
          </a:solidFill>
          <a:latin typeface="+mn-lt"/>
          <a:ea typeface="+mn-ea"/>
          <a:cs typeface="+mn-cs"/>
        </a:defRPr>
      </a:lvl5pPr>
      <a:lvl6pPr marL="1326723" algn="l" defTabSz="530689" rtl="0" eaLnBrk="1" latinLnBrk="0" hangingPunct="1">
        <a:defRPr sz="1045" kern="1200">
          <a:solidFill>
            <a:schemeClr val="tx1"/>
          </a:solidFill>
          <a:latin typeface="+mn-lt"/>
          <a:ea typeface="+mn-ea"/>
          <a:cs typeface="+mn-cs"/>
        </a:defRPr>
      </a:lvl6pPr>
      <a:lvl7pPr marL="1592068" algn="l" defTabSz="530689" rtl="0" eaLnBrk="1" latinLnBrk="0" hangingPunct="1">
        <a:defRPr sz="1045" kern="1200">
          <a:solidFill>
            <a:schemeClr val="tx1"/>
          </a:solidFill>
          <a:latin typeface="+mn-lt"/>
          <a:ea typeface="+mn-ea"/>
          <a:cs typeface="+mn-cs"/>
        </a:defRPr>
      </a:lvl7pPr>
      <a:lvl8pPr marL="1857412" algn="l" defTabSz="530689" rtl="0" eaLnBrk="1" latinLnBrk="0" hangingPunct="1">
        <a:defRPr sz="1045" kern="1200">
          <a:solidFill>
            <a:schemeClr val="tx1"/>
          </a:solidFill>
          <a:latin typeface="+mn-lt"/>
          <a:ea typeface="+mn-ea"/>
          <a:cs typeface="+mn-cs"/>
        </a:defRPr>
      </a:lvl8pPr>
      <a:lvl9pPr marL="2122757" algn="l" defTabSz="530689" rtl="0" eaLnBrk="1" latinLnBrk="0" hangingPunct="1">
        <a:defRPr sz="10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FE09E2-9F57-A6A4-944D-D29F2D0666C2}"/>
              </a:ext>
            </a:extLst>
          </p:cNvPr>
          <p:cNvSpPr/>
          <p:nvPr userDrawn="1"/>
        </p:nvSpPr>
        <p:spPr>
          <a:xfrm>
            <a:off x="1" y="-11430"/>
            <a:ext cx="161818" cy="686943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63" dirty="0"/>
          </a:p>
        </p:txBody>
      </p:sp>
    </p:spTree>
    <p:extLst>
      <p:ext uri="{BB962C8B-B14F-4D97-AF65-F5344CB8AC3E}">
        <p14:creationId xmlns:p14="http://schemas.microsoft.com/office/powerpoint/2010/main" val="957534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48" r:id="rId2"/>
    <p:sldLayoutId id="2147484649" r:id="rId3"/>
  </p:sldLayoutIdLst>
  <p:hf hdr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2925" b="1" i="0" kern="1200">
          <a:solidFill>
            <a:schemeClr val="tx1"/>
          </a:solidFill>
          <a:latin typeface="+mj-lt"/>
          <a:ea typeface="Microsoft YaHei UI" panose="020B0400000000000000" pitchFamily="34" charset="-122"/>
          <a:cs typeface="Arial" panose="020B0604020202020204" pitchFamily="34" charset="0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Clr>
          <a:schemeClr val="tx2"/>
        </a:buClr>
        <a:buFont typeface="Arial" panose="020B0604020202020204" pitchFamily="34" charset="0"/>
        <a:buChar char="•"/>
        <a:defRPr sz="2113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788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625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930150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463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30150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300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930150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930150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930150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930150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FE09E2-9F57-A6A4-944D-D29F2D0666C2}"/>
              </a:ext>
            </a:extLst>
          </p:cNvPr>
          <p:cNvSpPr/>
          <p:nvPr userDrawn="1"/>
        </p:nvSpPr>
        <p:spPr>
          <a:xfrm>
            <a:off x="1" y="-11430"/>
            <a:ext cx="161818" cy="686943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63" dirty="0"/>
          </a:p>
        </p:txBody>
      </p:sp>
    </p:spTree>
    <p:extLst>
      <p:ext uri="{BB962C8B-B14F-4D97-AF65-F5344CB8AC3E}">
        <p14:creationId xmlns:p14="http://schemas.microsoft.com/office/powerpoint/2010/main" val="957534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55" r:id="rId2"/>
    <p:sldLayoutId id="2147484656" r:id="rId3"/>
  </p:sldLayoutIdLst>
  <p:hf hdr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2925" b="1" i="0" kern="1200">
          <a:solidFill>
            <a:schemeClr val="tx1"/>
          </a:solidFill>
          <a:latin typeface="+mj-lt"/>
          <a:ea typeface="Microsoft YaHei UI" panose="020B0400000000000000" pitchFamily="34" charset="-122"/>
          <a:cs typeface="Arial" panose="020B0604020202020204" pitchFamily="34" charset="0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Clr>
          <a:schemeClr val="tx2"/>
        </a:buClr>
        <a:buFont typeface="Arial" panose="020B0604020202020204" pitchFamily="34" charset="0"/>
        <a:buChar char="•"/>
        <a:defRPr sz="2113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788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625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930150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463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30150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300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930150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930150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930150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930150" indent="-185738" algn="l" defTabSz="742950" rtl="0" eaLnBrk="1" latinLnBrk="0" hangingPunct="1">
        <a:lnSpc>
          <a:spcPct val="90000"/>
        </a:lnSpc>
        <a:spcBef>
          <a:spcPts val="406"/>
        </a:spcBef>
        <a:buClr>
          <a:schemeClr val="tx2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18" Type="http://schemas.openxmlformats.org/officeDocument/2006/relationships/image" Target="../media/image25.pn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17" Type="http://schemas.openxmlformats.org/officeDocument/2006/relationships/image" Target="../media/image24.svg"/><Relationship Id="rId2" Type="http://schemas.openxmlformats.org/officeDocument/2006/relationships/image" Target="../media/image9.jpeg"/><Relationship Id="rId16" Type="http://schemas.openxmlformats.org/officeDocument/2006/relationships/image" Target="../media/image23.png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5" Type="http://schemas.openxmlformats.org/officeDocument/2006/relationships/image" Target="../media/image22.svg"/><Relationship Id="rId10" Type="http://schemas.openxmlformats.org/officeDocument/2006/relationships/image" Target="../media/image17.png"/><Relationship Id="rId19" Type="http://schemas.openxmlformats.org/officeDocument/2006/relationships/image" Target="../media/image26.svg"/><Relationship Id="rId4" Type="http://schemas.openxmlformats.org/officeDocument/2006/relationships/image" Target="../media/image11.png"/><Relationship Id="rId9" Type="http://schemas.openxmlformats.org/officeDocument/2006/relationships/image" Target="../media/image16.svg"/><Relationship Id="rId1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31.jpeg"/><Relationship Id="rId4" Type="http://schemas.openxmlformats.org/officeDocument/2006/relationships/image" Target="../media/image30.png"/></Relationships>
</file>

<file path=ppt/slides/_rels/slide8.xml.rels><?xml version="1.0" encoding="UTF-8" standalone="yes"?>
<Relationships xmlns="http://schemas.openxmlformats.org/package/2006/relationships"><Relationship Id="rId3" Type="http://schemas.openxmlformats.org/officeDocument/2006/relationships/image" Target="../media/image32.jpe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5.png"/><Relationship Id="rId4" Type="http://schemas.openxmlformats.org/officeDocument/2006/relationships/image" Target="../media/image36.jpeg"/></Relationships>

</file>

<file path=ppt/slides/_rels/slide9.xml.rels><?xml version="1.0" encoding="UTF-8" standalone="yes"?>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8.png"/><Relationship Id="rId7" Type="http://schemas.openxmlformats.org/officeDocument/2006/relationships/image" Target="../media/image3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.png"/><Relationship Id="rId5" Type="http://schemas.openxmlformats.org/officeDocument/2006/relationships/image" Target="../media/image42.png"/><Relationship Id="rId4" Type="http://schemas.openxmlformats.org/officeDocument/2006/relationships/image" Target="../media/image43.png"/></Relationships>

</file>

<file path=ppt/slides/_rels/slide10.xml.rels><?xml version="1.0" encoding="UTF-8" standalone="yes"?>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7.png"/><Relationship Id="rId5" Type="http://schemas.openxmlformats.org/officeDocument/2006/relationships/image" Target="../media/image39.png"/><Relationship Id="rId4" Type="http://schemas.openxmlformats.org/officeDocument/2006/relationships/image" Target="../media/image43.png"/></Relationships>

</file>

<file path=ppt/slides/_rels/slide11.xml.rels><?xml version="1.0" encoding="UTF-8" standalone="yes"?>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8.png"/><Relationship Id="rId7" Type="http://schemas.openxmlformats.org/officeDocument/2006/relationships/image" Target="../media/image3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.png"/><Relationship Id="rId5" Type="http://schemas.openxmlformats.org/officeDocument/2006/relationships/image" Target="../media/image42.png"/><Relationship Id="rId4" Type="http://schemas.openxmlformats.org/officeDocument/2006/relationships/image" Target="../media/image43.png"/></Relationships>

</file>

<file path=ppt/slides/_rels/slide12.xml.rels><?xml version="1.0" encoding="UTF-8" standalone="yes"?>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8.png"/><Relationship Id="rId7" Type="http://schemas.openxmlformats.org/officeDocument/2006/relationships/image" Target="../media/image3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.png"/><Relationship Id="rId5" Type="http://schemas.openxmlformats.org/officeDocument/2006/relationships/image" Target="../media/image42.png"/><Relationship Id="rId4" Type="http://schemas.openxmlformats.org/officeDocument/2006/relationships/image" Target="../media/image43.png"/></Relationships>

</file>

<file path=ppt/slides/_rels/slide13.xml.rels><?xml version="1.0" encoding="UTF-8" standalone="yes"?>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8.png"/><Relationship Id="rId7" Type="http://schemas.openxmlformats.org/officeDocument/2006/relationships/image" Target="../media/image3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.png"/><Relationship Id="rId5" Type="http://schemas.openxmlformats.org/officeDocument/2006/relationships/image" Target="../media/image42.png"/><Relationship Id="rId4" Type="http://schemas.openxmlformats.org/officeDocument/2006/relationships/image" Target="../media/image43.png"/></Relationships>

</file>

<file path=ppt/slides/_rels/slide14.xml.rels><?xml version="1.0" encoding="UTF-8" standalone="yes"?>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8.png"/><Relationship Id="rId7" Type="http://schemas.openxmlformats.org/officeDocument/2006/relationships/image" Target="../media/image3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.png"/><Relationship Id="rId5" Type="http://schemas.openxmlformats.org/officeDocument/2006/relationships/image" Target="../media/image42.png"/><Relationship Id="rId4" Type="http://schemas.openxmlformats.org/officeDocument/2006/relationships/image" Target="../media/image43.png"/></Relationships>

</file>

<file path=ppt/slides/_rels/slide15.xml.rels><?xml version="1.0" encoding="UTF-8" standalone="yes"?>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ZoneTexte 35">
            <a:extLst>
              <a:ext uri="{FF2B5EF4-FFF2-40B4-BE49-F238E27FC236}">
                <a16:creationId xmlns:a16="http://schemas.microsoft.com/office/drawing/2014/main" id="{5CC54840-7A9C-4B53-8620-8A8509347D53}"/>
              </a:ext>
            </a:extLst>
          </p:cNvPr>
          <p:cNvSpPr txBox="1"/>
          <p:nvPr/>
        </p:nvSpPr>
        <p:spPr>
          <a:xfrm>
            <a:off x="5023543" y="2128493"/>
            <a:ext cx="4077096" cy="378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rgbClr val="353535"/>
                </a:solidFill>
              </a:defRPr>
            </a:lvl1pPr>
          </a:lstStyle>
          <a:p>
            <a:pPr defTabSz="354703"/>
            <a:r>
              <a:rPr lang="fr-FR" sz="1861" b="1">
                <a:solidFill>
                  <a:srgbClr val="E94C57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ÉTUDE PERSONNALISÉE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64B7E121-52D4-57C4-7010-DC4573E414DA}"/>
              </a:ext>
            </a:extLst>
          </p:cNvPr>
          <p:cNvSpPr txBox="1"/>
          <p:nvPr/>
        </p:nvSpPr>
        <p:spPr>
          <a:xfrm>
            <a:off x="5046183" y="2425853"/>
            <a:ext cx="1547255" cy="21172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353535"/>
                </a:solidFill>
              </a:defRPr>
            </a:lvl1pPr>
          </a:lstStyle>
          <a:p>
            <a:pPr defTabSz="354703"/>
            <a:r>
              <a:rPr lang="fr-FR" sz="776">
                <a:solidFill>
                  <a:srgbClr val="E7E6E6">
                    <a:lumMod val="25000"/>
                  </a:srgb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Date d’édition de l’offre :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87F0DD2D-306C-5A82-159B-398D94100376}"/>
              </a:ext>
            </a:extLst>
          </p:cNvPr>
          <p:cNvSpPr txBox="1"/>
          <p:nvPr/>
        </p:nvSpPr>
        <p:spPr>
          <a:xfrm>
            <a:off x="6419854" y="2423714"/>
            <a:ext cx="1653764" cy="21172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100">
                <a:solidFill>
                  <a:srgbClr val="353535"/>
                </a:solidFill>
                <a:latin typeface="+mj-lt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pPr defTabSz="354703"/>
            <a:r>
              <a:rPr lang="fr-FR" sz="776">
                <a:solidFill>
                  <a:srgbClr val="E7E6E6">
                    <a:lumMod val="25000"/>
                  </a:srgb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{{date}} 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5A7BF358-E2F4-BE57-F27E-7C62249A308A}"/>
              </a:ext>
            </a:extLst>
          </p:cNvPr>
          <p:cNvSpPr txBox="1"/>
          <p:nvPr/>
        </p:nvSpPr>
        <p:spPr>
          <a:xfrm>
            <a:off x="5023543" y="2826171"/>
            <a:ext cx="3813848" cy="21172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354703"/>
            <a:r>
              <a:rPr lang="fr-FR" sz="776" b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776" b="1" err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simulation.projet.nomProjet</a:t>
            </a:r>
            <a:r>
              <a:rPr lang="fr-FR" sz="776" b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BE339342-D8CA-824B-B8E7-1FF07368217D}"/>
              </a:ext>
            </a:extLst>
          </p:cNvPr>
          <p:cNvSpPr txBox="1"/>
          <p:nvPr/>
        </p:nvSpPr>
        <p:spPr>
          <a:xfrm>
            <a:off x="5046184" y="4259173"/>
            <a:ext cx="2936663" cy="331116"/>
          </a:xfrm>
          <a:prstGeom prst="rect">
            <a:avLst/>
          </a:prstGeom>
          <a:noFill/>
        </p:spPr>
        <p:txBody>
          <a:bodyPr wrap="square" numCol="1" rtlCol="0" anchor="t">
            <a:spAutoFit/>
          </a:bodyPr>
          <a:lstStyle>
            <a:defPPr>
              <a:defRPr lang="en-US"/>
            </a:defPPr>
            <a:lvl1pPr>
              <a:defRPr sz="1100">
                <a:solidFill>
                  <a:srgbClr val="353535"/>
                </a:solidFill>
                <a:latin typeface="+mj-lt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pPr defTabSz="354703"/>
            <a:r>
              <a:rPr lang="fr-FR" sz="776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776" err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simulation.projet.contact.nom</a:t>
            </a:r>
            <a:r>
              <a:rPr lang="fr-FR" sz="776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{{</a:t>
            </a:r>
            <a:r>
              <a:rPr lang="fr-FR" sz="776" err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simulation.projet.contact.prenom</a:t>
            </a:r>
            <a:r>
              <a:rPr lang="fr-FR" sz="776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688D49CD-CEDE-475F-CE2D-4DA1C275FD94}"/>
              </a:ext>
            </a:extLst>
          </p:cNvPr>
          <p:cNvSpPr txBox="1"/>
          <p:nvPr/>
        </p:nvSpPr>
        <p:spPr>
          <a:xfrm>
            <a:off x="5046183" y="4081868"/>
            <a:ext cx="1585832" cy="21172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353535"/>
                </a:solidFill>
              </a:defRPr>
            </a:lvl1pPr>
          </a:lstStyle>
          <a:p>
            <a:pPr defTabSz="354703"/>
            <a:r>
              <a:rPr lang="fr-FR" sz="776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À l’attention de :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2D26F997-04E2-270D-7350-CE47B70F1B44}"/>
              </a:ext>
            </a:extLst>
          </p:cNvPr>
          <p:cNvSpPr/>
          <p:nvPr/>
        </p:nvSpPr>
        <p:spPr>
          <a:xfrm flipV="1">
            <a:off x="5489822" y="3647890"/>
            <a:ext cx="76555" cy="7655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354703"/>
            <a:endParaRPr lang="fr-FR" sz="776">
              <a:solidFill>
                <a:prstClr val="black"/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45" name="Groupe 44">
            <a:extLst>
              <a:ext uri="{FF2B5EF4-FFF2-40B4-BE49-F238E27FC236}">
                <a16:creationId xmlns:a16="http://schemas.microsoft.com/office/drawing/2014/main" id="{F70D14D9-BB44-2993-85A3-AA456253D35D}"/>
              </a:ext>
            </a:extLst>
          </p:cNvPr>
          <p:cNvGrpSpPr/>
          <p:nvPr/>
        </p:nvGrpSpPr>
        <p:grpSpPr>
          <a:xfrm>
            <a:off x="5023541" y="3167507"/>
            <a:ext cx="3403451" cy="771602"/>
            <a:chOff x="5995758" y="4145905"/>
            <a:chExt cx="3777415" cy="994524"/>
          </a:xfrm>
        </p:grpSpPr>
        <p:sp>
          <p:nvSpPr>
            <p:cNvPr id="46" name="ZoneTexte 45">
              <a:extLst>
                <a:ext uri="{FF2B5EF4-FFF2-40B4-BE49-F238E27FC236}">
                  <a16:creationId xmlns:a16="http://schemas.microsoft.com/office/drawing/2014/main" id="{D4A39A64-6A89-8D3F-88E8-D716006756D6}"/>
                </a:ext>
              </a:extLst>
            </p:cNvPr>
            <p:cNvSpPr txBox="1"/>
            <p:nvPr/>
          </p:nvSpPr>
          <p:spPr>
            <a:xfrm>
              <a:off x="5995758" y="4145905"/>
              <a:ext cx="3777415" cy="27289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defTabSz="354703"/>
              <a:r>
                <a:rPr lang="fr-FR" sz="776" b="1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776" b="1" err="1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simulation.projet.organisation.raisonSociale</a:t>
              </a:r>
              <a:r>
                <a:rPr lang="fr-FR" sz="776" b="1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 </a:t>
              </a:r>
            </a:p>
          </p:txBody>
        </p:sp>
        <p:sp>
          <p:nvSpPr>
            <p:cNvPr id="47" name="ZoneTexte 46">
              <a:extLst>
                <a:ext uri="{FF2B5EF4-FFF2-40B4-BE49-F238E27FC236}">
                  <a16:creationId xmlns:a16="http://schemas.microsoft.com/office/drawing/2014/main" id="{474899F4-78BE-E0CB-DA42-ACE554826DFF}"/>
                </a:ext>
              </a:extLst>
            </p:cNvPr>
            <p:cNvSpPr txBox="1"/>
            <p:nvPr/>
          </p:nvSpPr>
          <p:spPr>
            <a:xfrm>
              <a:off x="5995758" y="4405880"/>
              <a:ext cx="3676747" cy="734549"/>
            </a:xfrm>
            <a:prstGeom prst="rect">
              <a:avLst/>
            </a:prstGeom>
            <a:noFill/>
          </p:spPr>
          <p:txBody>
            <a:bodyPr wrap="square" numCol="1" rtlCol="0" anchor="t">
              <a:spAutoFit/>
            </a:bodyPr>
            <a:lstStyle>
              <a:defPPr>
                <a:defRPr lang="en-US"/>
              </a:defPPr>
              <a:lvl1pPr>
                <a:defRPr sz="1100">
                  <a:solidFill>
                    <a:srgbClr val="353535"/>
                  </a:solidFill>
                  <a:latin typeface="+mj-lt"/>
                  <a:ea typeface="Lato Semibold" panose="020F0502020204030203" pitchFamily="34" charset="0"/>
                  <a:cs typeface="Lato Semibold" panose="020F0502020204030203" pitchFamily="34" charset="0"/>
                </a:defRPr>
              </a:lvl1pPr>
            </a:lstStyle>
            <a:p>
              <a:pPr defTabSz="354703"/>
              <a:r>
                <a:rPr lang="fr-FR" sz="776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{{simulation.projet.organisation.adresse1}}</a:t>
              </a:r>
            </a:p>
            <a:p>
              <a:pPr defTabSz="354703"/>
              <a:r>
                <a:rPr lang="fr-FR" sz="776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{{simulation.projet.organisation.adresse2}}</a:t>
              </a:r>
            </a:p>
            <a:p>
              <a:pPr defTabSz="354703"/>
              <a:r>
                <a:rPr lang="fr-FR" sz="776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776" err="1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simulation.projet.organisation.codePostal</a:t>
              </a:r>
              <a:r>
                <a:rPr lang="fr-FR" sz="776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 {{</a:t>
              </a:r>
              <a:r>
                <a:rPr lang="fr-FR" sz="776" err="1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simulation.projet.organisation.ville</a:t>
              </a:r>
              <a:r>
                <a:rPr lang="fr-FR" sz="776">
                  <a:solidFill>
                    <a:prstClr val="black"/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 </a:t>
              </a:r>
            </a:p>
          </p:txBody>
        </p:sp>
      </p:grpSp>
      <p:sp>
        <p:nvSpPr>
          <p:cNvPr id="48" name="ZoneTexte 47">
            <a:extLst>
              <a:ext uri="{FF2B5EF4-FFF2-40B4-BE49-F238E27FC236}">
                <a16:creationId xmlns:a16="http://schemas.microsoft.com/office/drawing/2014/main" id="{38B05EA3-7F24-817E-0B7B-45861E4E3A92}"/>
              </a:ext>
            </a:extLst>
          </p:cNvPr>
          <p:cNvSpPr txBox="1"/>
          <p:nvPr/>
        </p:nvSpPr>
        <p:spPr>
          <a:xfrm>
            <a:off x="5046184" y="4856792"/>
            <a:ext cx="2680638" cy="5699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>
              <a:defRPr sz="1100">
                <a:solidFill>
                  <a:srgbClr val="353535"/>
                </a:solidFill>
                <a:latin typeface="+mj-lt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pPr defTabSz="354703"/>
            <a:r>
              <a:rPr lang="fr-FR" sz="776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776" err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simulation.projet.utilisateur.prenom</a:t>
            </a:r>
            <a:r>
              <a:rPr lang="fr-FR" sz="776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{{</a:t>
            </a:r>
            <a:r>
              <a:rPr lang="fr-FR" sz="776" err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simulation.projet.utilisateur.nom</a:t>
            </a:r>
            <a:r>
              <a:rPr lang="fr-FR" sz="776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  <a:p>
            <a:pPr defTabSz="354703"/>
            <a:r>
              <a:rPr lang="fr-FR" sz="776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776" err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simulation.projet.utilisateur.telephone</a:t>
            </a:r>
            <a:r>
              <a:rPr lang="fr-FR" sz="776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  <a:p>
            <a:pPr defTabSz="354703"/>
            <a:r>
              <a:rPr lang="fr-FR" sz="776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776" err="1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simulation.projet.utilisateur.email</a:t>
            </a:r>
            <a:r>
              <a:rPr lang="fr-FR" sz="776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EDBE787A-A814-F03E-E736-66B779407BAA}"/>
              </a:ext>
            </a:extLst>
          </p:cNvPr>
          <p:cNvSpPr txBox="1"/>
          <p:nvPr/>
        </p:nvSpPr>
        <p:spPr>
          <a:xfrm>
            <a:off x="5046183" y="4679206"/>
            <a:ext cx="1585832" cy="21172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353535"/>
                </a:solidFill>
              </a:defRPr>
            </a:lvl1pPr>
          </a:lstStyle>
          <a:p>
            <a:pPr defTabSz="354703"/>
            <a:r>
              <a:rPr lang="fr-FR" sz="776">
                <a:solidFill>
                  <a:prstClr val="black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Offre présentée par :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2AC41B73-EE3F-9E8D-8FA8-7D2B20FFC92A}"/>
              </a:ext>
            </a:extLst>
          </p:cNvPr>
          <p:cNvSpPr/>
          <p:nvPr/>
        </p:nvSpPr>
        <p:spPr>
          <a:xfrm flipV="1">
            <a:off x="5489822" y="2720436"/>
            <a:ext cx="76555" cy="7655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354703"/>
            <a:endParaRPr lang="fr-FR" sz="776">
              <a:solidFill>
                <a:prstClr val="black"/>
              </a:solidFill>
              <a:latin typeface="Century Gothic" panose="020B0502020202020204" pitchFamily="34" charset="0"/>
            </a:endParaRPr>
          </a:p>
        </p:txBody>
      </p:sp>
      <p:pic>
        <p:nvPicPr>
          <p:cNvPr id="51" name="Image 50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A03C3216-2A5C-8296-DB2F-2EAAAAB1C4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6006" y="1105058"/>
            <a:ext cx="1413847" cy="616515"/>
          </a:xfrm>
          <a:prstGeom prst="rect">
            <a:avLst/>
          </a:prstGeom>
        </p:spPr>
      </p:pic>
      <p:sp>
        <p:nvSpPr>
          <p:cNvPr id="54" name="Rectangle 53" descr="simulation.projet.organisation.image" title="simulation.projet.organisation.image">
            <a:extLst>
              <a:ext uri="{FF2B5EF4-FFF2-40B4-BE49-F238E27FC236}">
                <a16:creationId xmlns:a16="http://schemas.microsoft.com/office/drawing/2014/main" id="{4564F8D9-F6AD-E76B-1653-2F83D0D91DC1}"/>
              </a:ext>
            </a:extLst>
          </p:cNvPr>
          <p:cNvSpPr/>
          <p:nvPr/>
        </p:nvSpPr>
        <p:spPr>
          <a:xfrm>
            <a:off x="6981594" y="1049628"/>
            <a:ext cx="1547255" cy="772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54703"/>
            <a:endParaRPr lang="fr-FR" sz="1396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44A3A6CA-1279-5D1C-617A-B17D5E4791DC}"/>
              </a:ext>
            </a:extLst>
          </p:cNvPr>
          <p:cNvSpPr txBox="1"/>
          <p:nvPr/>
        </p:nvSpPr>
        <p:spPr>
          <a:xfrm>
            <a:off x="5046183" y="2536305"/>
            <a:ext cx="1547255" cy="21172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353535"/>
                </a:solidFill>
              </a:defRPr>
            </a:lvl1pPr>
          </a:lstStyle>
          <a:p>
            <a:pPr defTabSz="354703"/>
            <a:r>
              <a:rPr lang="fr-FR" sz="776">
                <a:solidFill>
                  <a:srgbClr val="E7E6E6">
                    <a:lumMod val="25000"/>
                  </a:srgb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Validité de l’offre : 1 mois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D3ADA18A-DE26-5907-027A-90F81AB51B38}"/>
              </a:ext>
            </a:extLst>
          </p:cNvPr>
          <p:cNvGrpSpPr/>
          <p:nvPr/>
        </p:nvGrpSpPr>
        <p:grpSpPr>
          <a:xfrm>
            <a:off x="280767" y="1"/>
            <a:ext cx="4170474" cy="6858000"/>
            <a:chOff x="178333" y="0"/>
            <a:chExt cx="5115594" cy="8412172"/>
          </a:xfrm>
        </p:grpSpPr>
        <p:pic>
          <p:nvPicPr>
            <p:cNvPr id="3" name="Image 2">
              <a:extLst>
                <a:ext uri="{FF2B5EF4-FFF2-40B4-BE49-F238E27FC236}">
                  <a16:creationId xmlns:a16="http://schemas.microsoft.com/office/drawing/2014/main" id="{8EC8255A-E473-3552-7B83-D30D6DEB3C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78333" y="0"/>
              <a:ext cx="5111587" cy="3406272"/>
            </a:xfrm>
            <a:prstGeom prst="rect">
              <a:avLst/>
            </a:prstGeom>
          </p:spPr>
        </p:pic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BC62A945-0E03-794F-8DED-8EA2E63D9E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87085" y="5050431"/>
              <a:ext cx="5106842" cy="3361741"/>
            </a:xfrm>
            <a:prstGeom prst="rect">
              <a:avLst/>
            </a:prstGeom>
          </p:spPr>
        </p:pic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9CE23816-19BC-A961-3FD3-50150DD71B0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592801" y="3406272"/>
              <a:ext cx="1698003" cy="1681992"/>
            </a:xfrm>
            <a:prstGeom prst="rect">
              <a:avLst/>
            </a:prstGeom>
          </p:spPr>
        </p:pic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6A334966-AFF1-3025-85CA-AFFC28119DF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87085" y="3406617"/>
              <a:ext cx="1717121" cy="1668081"/>
            </a:xfrm>
            <a:prstGeom prst="rect">
              <a:avLst/>
            </a:prstGeom>
          </p:spPr>
        </p:pic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DDD25EBE-C5DA-B00B-750F-DFBA8B760E9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903458" y="3408581"/>
              <a:ext cx="1698003" cy="1681992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BB2415E8-0418-998F-9F0D-149E9BC92015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CD8BFED4-C10F-9135-5699-5096ACA97141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80896" y="6494386"/>
            <a:ext cx="994232" cy="25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47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1">
            <a:extLst>
              <a:ext uri="{FF2B5EF4-FFF2-40B4-BE49-F238E27FC236}">
                <a16:creationId xmlns:a16="http://schemas.microsoft.com/office/drawing/2014/main" id="{197EF8C7-A33D-C349-4167-360B00E015CE}"/>
              </a:ext>
            </a:extLst>
          </p:cNvPr>
          <p:cNvSpPr txBox="1">
            <a:spLocks/>
          </p:cNvSpPr>
          <p:nvPr/>
        </p:nvSpPr>
        <p:spPr>
          <a:xfrm>
            <a:off x="1473813" y="2592781"/>
            <a:ext cx="3098373" cy="1035891"/>
          </a:xfrm>
          <a:prstGeom prst="rect">
            <a:avLst/>
          </a:prstGeom>
        </p:spPr>
        <p:txBody>
          <a:bodyPr vert="horz" lIns="70944" tIns="35472" rIns="70944" bIns="35472" rtlCol="0" anchor="ctr"/>
          <a:lstStyle>
            <a:defPPr>
              <a:defRPr lang="en-US"/>
            </a:defPPr>
            <a:lvl1pPr marL="0" algn="l" defTabSz="457200" rtl="0" eaLnBrk="1" latinLnBrk="0" hangingPunct="1">
              <a:defRPr sz="132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54703"/>
            <a:r>
              <a:rPr lang="fr-FR" sz="3266" b="1">
                <a:solidFill>
                  <a:prstClr val="black"/>
                </a:solidFill>
                <a:latin typeface="Century Gothic" panose="020B0502020202020204" pitchFamily="34" charset="0"/>
              </a:rPr>
              <a:t>Présentation </a:t>
            </a:r>
          </a:p>
          <a:p>
            <a:pPr defTabSz="354703"/>
            <a:r>
              <a:rPr lang="fr-FR" sz="3266" b="1">
                <a:solidFill>
                  <a:prstClr val="black"/>
                </a:solidFill>
                <a:latin typeface="Century Gothic" panose="020B0502020202020204" pitchFamily="34" charset="0"/>
              </a:rPr>
              <a:t>de l’entreprise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F0E767-8BB0-9442-6D4D-E7BAB9D05198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BF1DED-D2C6-25E9-081E-3BB98B60E794}"/>
              </a:ext>
            </a:extLst>
          </p:cNvPr>
          <p:cNvSpPr/>
          <p:nvPr/>
        </p:nvSpPr>
        <p:spPr>
          <a:xfrm>
            <a:off x="103291" y="2769596"/>
            <a:ext cx="1111405" cy="682262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/>
            <a:endParaRPr lang="fr-FR" sz="1633" kern="0">
              <a:solidFill>
                <a:srgbClr val="FFFFFF"/>
              </a:solidFill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217A770-E1D6-3DFE-8F91-6780FB18A02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80896" y="6494386"/>
            <a:ext cx="994232" cy="25441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8EF8903-A0EA-85B4-6943-D6E0DB5D4A0E}"/>
              </a:ext>
            </a:extLst>
          </p:cNvPr>
          <p:cNvSpPr/>
          <p:nvPr/>
        </p:nvSpPr>
        <p:spPr>
          <a:xfrm>
            <a:off x="5342886" y="2512410"/>
            <a:ext cx="2966912" cy="29669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32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4C1E82-F55C-B778-D037-1CC1C460A36B}"/>
              </a:ext>
            </a:extLst>
          </p:cNvPr>
          <p:cNvSpPr/>
          <p:nvPr/>
        </p:nvSpPr>
        <p:spPr>
          <a:xfrm>
            <a:off x="8309798" y="1019498"/>
            <a:ext cx="1492912" cy="149291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32"/>
          </a:p>
        </p:txBody>
      </p:sp>
      <p:pic>
        <p:nvPicPr>
          <p:cNvPr id="5" name="Image 4" descr="Une image contenant personne, Visage humain, Blazer, habits&#10;&#10;Le contenu généré par l’IA peut être incorrect.">
            <a:extLst>
              <a:ext uri="{FF2B5EF4-FFF2-40B4-BE49-F238E27FC236}">
                <a16:creationId xmlns:a16="http://schemas.microsoft.com/office/drawing/2014/main" id="{4544F399-605E-DB10-1735-167833BDEA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03247" y="125102"/>
            <a:ext cx="3977649" cy="5354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748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roupe 188">
            <a:extLst>
              <a:ext uri="{FF2B5EF4-FFF2-40B4-BE49-F238E27FC236}">
                <a16:creationId xmlns:a16="http://schemas.microsoft.com/office/drawing/2014/main" id="{804B5D71-5D9E-4BB9-A118-8EAB2A864002}"/>
              </a:ext>
            </a:extLst>
          </p:cNvPr>
          <p:cNvGrpSpPr/>
          <p:nvPr/>
        </p:nvGrpSpPr>
        <p:grpSpPr>
          <a:xfrm>
            <a:off x="3474416" y="2333416"/>
            <a:ext cx="2905894" cy="2021503"/>
            <a:chOff x="3274308" y="1337521"/>
            <a:chExt cx="4452372" cy="3097320"/>
          </a:xfrm>
        </p:grpSpPr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5FE7C024-5CC4-4C53-A854-E3A4ED8D0332}"/>
                </a:ext>
              </a:extLst>
            </p:cNvPr>
            <p:cNvSpPr/>
            <p:nvPr/>
          </p:nvSpPr>
          <p:spPr>
            <a:xfrm>
              <a:off x="3274308" y="2201134"/>
              <a:ext cx="2226186" cy="22261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354703"/>
              <a:endParaRPr lang="fr-FR" sz="1396">
                <a:solidFill>
                  <a:prstClr val="white"/>
                </a:solidFill>
                <a:latin typeface="Arial Nova" panose="020B05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21" name="Image 220" descr="Une image contenant texte, clipart, graphiques vectoriels&#10;&#10;Description générée automatiquement">
              <a:extLst>
                <a:ext uri="{FF2B5EF4-FFF2-40B4-BE49-F238E27FC236}">
                  <a16:creationId xmlns:a16="http://schemas.microsoft.com/office/drawing/2014/main" id="{01625E29-6D93-47C6-9554-BE5ACD5499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0494" y="2201134"/>
              <a:ext cx="2226186" cy="2233707"/>
            </a:xfrm>
            <a:prstGeom prst="rect">
              <a:avLst/>
            </a:prstGeom>
          </p:spPr>
        </p:pic>
        <p:pic>
          <p:nvPicPr>
            <p:cNvPr id="222" name="Image 221" descr="Une image contenant personne&#10;&#10;Description générée automatiquement">
              <a:extLst>
                <a:ext uri="{FF2B5EF4-FFF2-40B4-BE49-F238E27FC236}">
                  <a16:creationId xmlns:a16="http://schemas.microsoft.com/office/drawing/2014/main" id="{A5F13AFD-AF0C-406D-A0A0-5CE138D10C4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768085" y="1337521"/>
              <a:ext cx="3464819" cy="3097320"/>
            </a:xfrm>
            <a:prstGeom prst="rect">
              <a:avLst/>
            </a:prstGeom>
          </p:spPr>
        </p:pic>
      </p:grpSp>
      <p:sp>
        <p:nvSpPr>
          <p:cNvPr id="190" name="ZoneTexte 12">
            <a:extLst>
              <a:ext uri="{FF2B5EF4-FFF2-40B4-BE49-F238E27FC236}">
                <a16:creationId xmlns:a16="http://schemas.microsoft.com/office/drawing/2014/main" id="{B62DEBA0-40CB-489E-842F-0C01FB1800E3}"/>
              </a:ext>
            </a:extLst>
          </p:cNvPr>
          <p:cNvSpPr txBox="1"/>
          <p:nvPr/>
        </p:nvSpPr>
        <p:spPr>
          <a:xfrm>
            <a:off x="997619" y="1805640"/>
            <a:ext cx="1906603" cy="14604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54703"/>
            <a:endParaRPr lang="fr-FR" sz="1270" b="1" baseline="30000">
              <a:solidFill>
                <a:srgbClr val="000000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Imprimantes A4 et A3 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270" baseline="30000">
                <a:latin typeface="Arial Nova" panose="020B0504020202020204" pitchFamily="34" charset="0"/>
                <a:cs typeface="Arial" panose="020B0604020202020204" pitchFamily="34" charset="0"/>
              </a:rPr>
              <a:t>P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hotocopieurs A4 et A3 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Imprimantes grand format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Gestion de parc d’impression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Presse numérique &amp; traceurs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Scanners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Consommables</a:t>
            </a:r>
          </a:p>
          <a:p>
            <a:pPr defTabSz="354703"/>
            <a:endParaRPr lang="fr-FR" sz="1270" baseline="30000">
              <a:solidFill>
                <a:srgbClr val="434341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  <a:p>
            <a:pPr defTabSz="354703"/>
            <a:endParaRPr lang="fr-FR" sz="1270">
              <a:solidFill>
                <a:prstClr val="black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1" name="ZoneTexte 14">
            <a:extLst>
              <a:ext uri="{FF2B5EF4-FFF2-40B4-BE49-F238E27FC236}">
                <a16:creationId xmlns:a16="http://schemas.microsoft.com/office/drawing/2014/main" id="{5D7A0C58-1D48-4EF1-966D-B2A1D56D61BA}"/>
              </a:ext>
            </a:extLst>
          </p:cNvPr>
          <p:cNvSpPr txBox="1"/>
          <p:nvPr/>
        </p:nvSpPr>
        <p:spPr>
          <a:xfrm>
            <a:off x="6663779" y="1505220"/>
            <a:ext cx="2178409" cy="113467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54703"/>
            <a:endParaRPr lang="fr-FR" sz="1270" b="1" baseline="30000">
              <a:solidFill>
                <a:srgbClr val="000000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Liens Internet (</a:t>
            </a:r>
            <a:r>
              <a:rPr lang="fr-FR" sz="1270" baseline="30000" err="1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adsl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, fibre …)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Téléphonie fixe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Forfaits mobile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270" baseline="30000">
                <a:latin typeface="Arial Nova" panose="020B0504020202020204" pitchFamily="34" charset="0"/>
                <a:cs typeface="Arial" panose="020B0604020202020204" pitchFamily="34" charset="0"/>
              </a:rPr>
              <a:t>Interconnexion de sites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270" baseline="30000">
                <a:latin typeface="Arial Nova" panose="020B0504020202020204" pitchFamily="34" charset="0"/>
                <a:cs typeface="Arial" panose="020B0604020202020204" pitchFamily="34" charset="0"/>
              </a:rPr>
              <a:t>Visioconférence</a:t>
            </a:r>
            <a:endParaRPr lang="fr-FR" sz="1270" baseline="30000">
              <a:solidFill>
                <a:srgbClr val="E94B57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270" baseline="30000">
                <a:latin typeface="Arial Nova" panose="020B0504020202020204" pitchFamily="34" charset="0"/>
                <a:cs typeface="Arial" panose="020B0604020202020204" pitchFamily="34" charset="0"/>
              </a:rPr>
              <a:t>Postes téléphoniques &amp; casques</a:t>
            </a:r>
            <a:endParaRPr lang="fr-FR" sz="1270" baseline="30000">
              <a:solidFill>
                <a:srgbClr val="E94B57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</a:t>
            </a:r>
            <a:r>
              <a:rPr lang="fr-FR" sz="1270" baseline="30000" err="1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Softphonie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et téléphonie cloud</a:t>
            </a:r>
          </a:p>
        </p:txBody>
      </p:sp>
      <p:sp>
        <p:nvSpPr>
          <p:cNvPr id="192" name="ZoneTexte 16">
            <a:extLst>
              <a:ext uri="{FF2B5EF4-FFF2-40B4-BE49-F238E27FC236}">
                <a16:creationId xmlns:a16="http://schemas.microsoft.com/office/drawing/2014/main" id="{E10D4F72-5F37-4B82-A76D-8939DD40EE60}"/>
              </a:ext>
            </a:extLst>
          </p:cNvPr>
          <p:cNvSpPr txBox="1"/>
          <p:nvPr/>
        </p:nvSpPr>
        <p:spPr>
          <a:xfrm>
            <a:off x="944336" y="5258397"/>
            <a:ext cx="2054106" cy="74379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Gestion : comptabilité, finance, RH, ERP, production… 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CRM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Business intelligence</a:t>
            </a:r>
          </a:p>
          <a:p>
            <a:pPr defTabSz="354703"/>
            <a:endParaRPr lang="fr-FR" sz="1270" baseline="30000">
              <a:solidFill>
                <a:srgbClr val="434341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3" name="ZoneTexte 18">
            <a:extLst>
              <a:ext uri="{FF2B5EF4-FFF2-40B4-BE49-F238E27FC236}">
                <a16:creationId xmlns:a16="http://schemas.microsoft.com/office/drawing/2014/main" id="{F571674E-37FB-4E8B-AF6F-E402BBBE91DC}"/>
              </a:ext>
            </a:extLst>
          </p:cNvPr>
          <p:cNvSpPr txBox="1"/>
          <p:nvPr/>
        </p:nvSpPr>
        <p:spPr>
          <a:xfrm>
            <a:off x="939692" y="4604755"/>
            <a:ext cx="2026290" cy="9392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Dématérialisation des documents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Signature électronique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Automatisation des processus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Gestion électronique des documents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Composition et édition du document</a:t>
            </a:r>
          </a:p>
          <a:p>
            <a:pPr defTabSz="354703"/>
            <a:endParaRPr lang="fr-FR" sz="1270">
              <a:solidFill>
                <a:prstClr val="black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ZoneTexte 20">
            <a:extLst>
              <a:ext uri="{FF2B5EF4-FFF2-40B4-BE49-F238E27FC236}">
                <a16:creationId xmlns:a16="http://schemas.microsoft.com/office/drawing/2014/main" id="{F7995F77-6589-422A-87C1-83D768D495B2}"/>
              </a:ext>
            </a:extLst>
          </p:cNvPr>
          <p:cNvSpPr txBox="1"/>
          <p:nvPr/>
        </p:nvSpPr>
        <p:spPr>
          <a:xfrm>
            <a:off x="7187563" y="4601806"/>
            <a:ext cx="2137415" cy="11998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Utilisateurs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Sécurité proactive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RGPD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Equipement audio &amp; visioconférence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Écrans tactiles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Affichage dynamique</a:t>
            </a:r>
          </a:p>
          <a:p>
            <a:pPr defTabSz="354703"/>
            <a:endParaRPr lang="fr-FR" sz="1270" baseline="30000">
              <a:solidFill>
                <a:srgbClr val="434341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  <a:p>
            <a:pPr defTabSz="354703"/>
            <a:endParaRPr lang="fr-FR" sz="1270">
              <a:solidFill>
                <a:prstClr val="black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0" name="ZoneTexte 32">
            <a:extLst>
              <a:ext uri="{FF2B5EF4-FFF2-40B4-BE49-F238E27FC236}">
                <a16:creationId xmlns:a16="http://schemas.microsoft.com/office/drawing/2014/main" id="{3BD0D439-6B25-41A7-8560-B469443A8DB0}"/>
              </a:ext>
            </a:extLst>
          </p:cNvPr>
          <p:cNvSpPr txBox="1"/>
          <p:nvPr/>
        </p:nvSpPr>
        <p:spPr>
          <a:xfrm>
            <a:off x="7185151" y="3811337"/>
            <a:ext cx="2251292" cy="8740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Infrastructure (serveurs, stockage, réseaux…)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Environnement utilisateur : postes de travail, outils collaboratifs…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 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Hébergement &amp; Cloud</a:t>
            </a:r>
          </a:p>
          <a:p>
            <a:pPr defTabSz="354703"/>
            <a:r>
              <a:rPr lang="fr-FR" sz="1270" baseline="30000">
                <a:solidFill>
                  <a:srgbClr val="E94B57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•</a:t>
            </a:r>
            <a:r>
              <a:rPr lang="fr-FR" sz="1270" baseline="30000">
                <a:solidFill>
                  <a:srgbClr val="43434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 Services managés</a:t>
            </a:r>
          </a:p>
        </p:txBody>
      </p:sp>
      <p:pic>
        <p:nvPicPr>
          <p:cNvPr id="202" name="Graphique 39">
            <a:extLst>
              <a:ext uri="{FF2B5EF4-FFF2-40B4-BE49-F238E27FC236}">
                <a16:creationId xmlns:a16="http://schemas.microsoft.com/office/drawing/2014/main" id="{A204F90A-065D-4063-81E3-28E6EAA940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39572" y="2251025"/>
            <a:ext cx="641007" cy="641007"/>
          </a:xfrm>
          <a:prstGeom prst="rect">
            <a:avLst/>
          </a:prstGeom>
        </p:spPr>
      </p:pic>
      <p:pic>
        <p:nvPicPr>
          <p:cNvPr id="203" name="Graphique 41">
            <a:extLst>
              <a:ext uri="{FF2B5EF4-FFF2-40B4-BE49-F238E27FC236}">
                <a16:creationId xmlns:a16="http://schemas.microsoft.com/office/drawing/2014/main" id="{5058263D-CE35-4163-82DB-5621BD8D95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39573" y="1917777"/>
            <a:ext cx="333247" cy="333247"/>
          </a:xfrm>
          <a:prstGeom prst="rect">
            <a:avLst/>
          </a:prstGeom>
        </p:spPr>
      </p:pic>
      <p:pic>
        <p:nvPicPr>
          <p:cNvPr id="207" name="Graphique 47">
            <a:extLst>
              <a:ext uri="{FF2B5EF4-FFF2-40B4-BE49-F238E27FC236}">
                <a16:creationId xmlns:a16="http://schemas.microsoft.com/office/drawing/2014/main" id="{82A2AE6E-6F38-4890-A630-ED89A53CEAC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03763" y="4973726"/>
            <a:ext cx="319421" cy="319421"/>
          </a:xfrm>
          <a:prstGeom prst="rect">
            <a:avLst/>
          </a:prstGeom>
        </p:spPr>
      </p:pic>
      <p:pic>
        <p:nvPicPr>
          <p:cNvPr id="209" name="Graphique 50">
            <a:extLst>
              <a:ext uri="{FF2B5EF4-FFF2-40B4-BE49-F238E27FC236}">
                <a16:creationId xmlns:a16="http://schemas.microsoft.com/office/drawing/2014/main" id="{4D1D5E16-19FD-4427-B79C-F6E53FB3ECA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155305" y="4679754"/>
            <a:ext cx="643240" cy="643240"/>
          </a:xfrm>
          <a:prstGeom prst="rect">
            <a:avLst/>
          </a:prstGeom>
        </p:spPr>
      </p:pic>
      <p:pic>
        <p:nvPicPr>
          <p:cNvPr id="210" name="Graphique 52">
            <a:extLst>
              <a:ext uri="{FF2B5EF4-FFF2-40B4-BE49-F238E27FC236}">
                <a16:creationId xmlns:a16="http://schemas.microsoft.com/office/drawing/2014/main" id="{C4918393-7FEE-40D5-B3C6-46C1750A7F6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747810" y="1939332"/>
            <a:ext cx="639317" cy="639317"/>
          </a:xfrm>
          <a:prstGeom prst="rect">
            <a:avLst/>
          </a:prstGeom>
        </p:spPr>
      </p:pic>
      <p:pic>
        <p:nvPicPr>
          <p:cNvPr id="212" name="Graphique 59">
            <a:extLst>
              <a:ext uri="{FF2B5EF4-FFF2-40B4-BE49-F238E27FC236}">
                <a16:creationId xmlns:a16="http://schemas.microsoft.com/office/drawing/2014/main" id="{D7D4F7C0-4EAE-4B9B-9429-3EA977EFF33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371603" y="4325965"/>
            <a:ext cx="653409" cy="653409"/>
          </a:xfrm>
          <a:prstGeom prst="rect">
            <a:avLst/>
          </a:prstGeom>
        </p:spPr>
      </p:pic>
      <p:pic>
        <p:nvPicPr>
          <p:cNvPr id="213" name="Graphique 62">
            <a:extLst>
              <a:ext uri="{FF2B5EF4-FFF2-40B4-BE49-F238E27FC236}">
                <a16:creationId xmlns:a16="http://schemas.microsoft.com/office/drawing/2014/main" id="{657BD877-908D-4D59-8EEC-6188C115A3B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470751" y="4350010"/>
            <a:ext cx="326875" cy="326875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58C35189-C4B8-2701-F6A8-E872334C766A}"/>
              </a:ext>
            </a:extLst>
          </p:cNvPr>
          <p:cNvSpPr txBox="1"/>
          <p:nvPr/>
        </p:nvSpPr>
        <p:spPr>
          <a:xfrm>
            <a:off x="6663779" y="919823"/>
            <a:ext cx="1896789" cy="650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14" b="1">
                <a:latin typeface="Arial Nova" panose="020B0504020202020204" pitchFamily="34" charset="0"/>
              </a:rPr>
              <a:t>Opérateur &amp; Téléphonie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74C1891-DBE3-35D9-62CE-DAFCF4E331A5}"/>
              </a:ext>
            </a:extLst>
          </p:cNvPr>
          <p:cNvSpPr txBox="1"/>
          <p:nvPr/>
        </p:nvSpPr>
        <p:spPr>
          <a:xfrm>
            <a:off x="942684" y="3903567"/>
            <a:ext cx="2591714" cy="650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14" b="1">
                <a:latin typeface="Arial Nova" panose="020B0504020202020204" pitchFamily="34" charset="0"/>
              </a:rPr>
              <a:t>Gestion, BI, GED &amp; Dématérialisation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7897664-87DF-B9DB-7514-10CD12501403}"/>
              </a:ext>
            </a:extLst>
          </p:cNvPr>
          <p:cNvSpPr txBox="1"/>
          <p:nvPr/>
        </p:nvSpPr>
        <p:spPr>
          <a:xfrm>
            <a:off x="7185150" y="3095011"/>
            <a:ext cx="2555236" cy="650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14" b="1">
                <a:latin typeface="Arial Nova" panose="020B0504020202020204" pitchFamily="34" charset="0"/>
              </a:rPr>
              <a:t>Informatique &amp; Sécurité</a:t>
            </a:r>
          </a:p>
        </p:txBody>
      </p:sp>
      <p:pic>
        <p:nvPicPr>
          <p:cNvPr id="211" name="Graphique 54">
            <a:extLst>
              <a:ext uri="{FF2B5EF4-FFF2-40B4-BE49-F238E27FC236}">
                <a16:creationId xmlns:a16="http://schemas.microsoft.com/office/drawing/2014/main" id="{FC21A16C-448E-4028-A17E-81B119ED28B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058042" y="2571530"/>
            <a:ext cx="326875" cy="326875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306C1CFD-D81E-42E4-5866-62455739EC48}"/>
              </a:ext>
            </a:extLst>
          </p:cNvPr>
          <p:cNvSpPr txBox="1"/>
          <p:nvPr/>
        </p:nvSpPr>
        <p:spPr>
          <a:xfrm>
            <a:off x="1022001" y="1522555"/>
            <a:ext cx="2591714" cy="371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14" b="1">
                <a:latin typeface="Arial Nova" panose="020B0504020202020204" pitchFamily="34" charset="0"/>
              </a:rPr>
              <a:t>Impression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FAADFF-0F24-9C96-CAB1-29FCB6F9A679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654489-15BD-7351-8E13-BB5DBE3C50BC}"/>
              </a:ext>
            </a:extLst>
          </p:cNvPr>
          <p:cNvSpPr/>
          <p:nvPr/>
        </p:nvSpPr>
        <p:spPr>
          <a:xfrm>
            <a:off x="103292" y="274396"/>
            <a:ext cx="501009" cy="172166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/>
            <a:endParaRPr lang="fr-FR" sz="1633" kern="0">
              <a:solidFill>
                <a:srgbClr val="FFFFFF"/>
              </a:solidFill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3B460DA-CCC3-46D8-BC13-BAD8626E51CB}"/>
              </a:ext>
            </a:extLst>
          </p:cNvPr>
          <p:cNvPicPr>
            <a:picLocks noChangeAspect="1"/>
          </p:cNvPicPr>
          <p:nvPr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80896" y="6494386"/>
            <a:ext cx="994232" cy="254416"/>
          </a:xfrm>
          <a:prstGeom prst="rect">
            <a:avLst/>
          </a:prstGeom>
        </p:spPr>
      </p:pic>
      <p:sp>
        <p:nvSpPr>
          <p:cNvPr id="11" name="Titre 1">
            <a:extLst>
              <a:ext uri="{FF2B5EF4-FFF2-40B4-BE49-F238E27FC236}">
                <a16:creationId xmlns:a16="http://schemas.microsoft.com/office/drawing/2014/main" id="{B0F572B2-CD0E-63FB-1018-159BF722ED27}"/>
              </a:ext>
            </a:extLst>
          </p:cNvPr>
          <p:cNvSpPr txBox="1">
            <a:spLocks/>
          </p:cNvSpPr>
          <p:nvPr/>
        </p:nvSpPr>
        <p:spPr>
          <a:xfrm>
            <a:off x="795386" y="240701"/>
            <a:ext cx="4937054" cy="9386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09409"/>
            <a:r>
              <a:rPr lang="fr-FR" sz="1861">
                <a:solidFill>
                  <a:srgbClr val="323231"/>
                </a:solidFill>
                <a:latin typeface="Century Gothic" panose="020B0502020202020204" pitchFamily="34" charset="0"/>
              </a:rPr>
              <a:t>Une convergence unique pour vous accompagner dans la transformation numérique</a:t>
            </a:r>
          </a:p>
        </p:txBody>
      </p:sp>
    </p:spTree>
    <p:extLst>
      <p:ext uri="{BB962C8B-B14F-4D97-AF65-F5344CB8AC3E}">
        <p14:creationId xmlns:p14="http://schemas.microsoft.com/office/powerpoint/2010/main" val="478675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785E3-1601-D8DC-8AC7-08D5CC495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1">
            <a:extLst>
              <a:ext uri="{FF2B5EF4-FFF2-40B4-BE49-F238E27FC236}">
                <a16:creationId xmlns:a16="http://schemas.microsoft.com/office/drawing/2014/main" id="{97F1DEF5-6DBD-249C-6DAA-6482FF45E0B5}"/>
              </a:ext>
            </a:extLst>
          </p:cNvPr>
          <p:cNvSpPr txBox="1">
            <a:spLocks/>
          </p:cNvSpPr>
          <p:nvPr/>
        </p:nvSpPr>
        <p:spPr>
          <a:xfrm>
            <a:off x="1554693" y="2708503"/>
            <a:ext cx="3998130" cy="804446"/>
          </a:xfrm>
          <a:prstGeom prst="rect">
            <a:avLst/>
          </a:prstGeom>
          <a:noFill/>
        </p:spPr>
        <p:txBody>
          <a:bodyPr vert="horz" lIns="70944" tIns="35472" rIns="70944" bIns="35472" rtlCol="0" anchor="ctr"/>
          <a:lstStyle>
            <a:defPPr>
              <a:defRPr lang="en-US"/>
            </a:defPPr>
            <a:lvl1pPr marL="0" algn="l" defTabSz="457200" rtl="0" eaLnBrk="1" latinLnBrk="0" hangingPunct="1">
              <a:defRPr sz="132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3266" b="1">
                <a:solidFill>
                  <a:schemeClr val="tx1"/>
                </a:solidFill>
                <a:latin typeface="Century Gothic" panose="020B0502020202020204" pitchFamily="34" charset="0"/>
              </a:rPr>
              <a:t>Koesio vous accompagne dans vos enjeux numériques</a:t>
            </a:r>
          </a:p>
        </p:txBody>
      </p:sp>
      <p:sp>
        <p:nvSpPr>
          <p:cNvPr id="4" name="color:primary">
            <a:extLst>
              <a:ext uri="{FF2B5EF4-FFF2-40B4-BE49-F238E27FC236}">
                <a16:creationId xmlns:a16="http://schemas.microsoft.com/office/drawing/2014/main" id="{C13B1F5B-EF5C-A815-4A70-EAAD2C58C60F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9EF226B-A24C-2CA4-CC2E-864560A78F1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80896" y="6494386"/>
            <a:ext cx="994232" cy="25441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B0887B9-58C9-CFDE-090C-F1A5388318C7}"/>
              </a:ext>
            </a:extLst>
          </p:cNvPr>
          <p:cNvSpPr/>
          <p:nvPr/>
        </p:nvSpPr>
        <p:spPr>
          <a:xfrm>
            <a:off x="103291" y="2769596"/>
            <a:ext cx="1111405" cy="682262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/>
            <a:endParaRPr lang="fr-FR" sz="1633" kern="0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8F9ECA-E043-339B-50A3-F6E77C631268}"/>
              </a:ext>
            </a:extLst>
          </p:cNvPr>
          <p:cNvSpPr/>
          <p:nvPr/>
        </p:nvSpPr>
        <p:spPr>
          <a:xfrm>
            <a:off x="5699456" y="2398177"/>
            <a:ext cx="2966912" cy="29669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32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39C00F-3242-C77F-4C4F-559700418DC4}"/>
              </a:ext>
            </a:extLst>
          </p:cNvPr>
          <p:cNvSpPr/>
          <p:nvPr/>
        </p:nvSpPr>
        <p:spPr>
          <a:xfrm>
            <a:off x="4206544" y="5365089"/>
            <a:ext cx="1492912" cy="14929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32"/>
          </a:p>
        </p:txBody>
      </p:sp>
      <p:pic>
        <p:nvPicPr>
          <p:cNvPr id="7" name="Image 6" descr="Une image contenant habits, Visage humain, personne, sourire&#10;&#10;Le contenu généré par l’IA peut être incorrect.">
            <a:extLst>
              <a:ext uri="{FF2B5EF4-FFF2-40B4-BE49-F238E27FC236}">
                <a16:creationId xmlns:a16="http://schemas.microsoft.com/office/drawing/2014/main" id="{8C352D7F-9452-0D70-EA05-0D7DB7FF352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86813" y="154927"/>
            <a:ext cx="5210162" cy="5210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170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CE9E1-A0B7-D0CD-7DDF-6762DC02B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e 34">
            <a:extLst>
              <a:ext uri="{FF2B5EF4-FFF2-40B4-BE49-F238E27FC236}">
                <a16:creationId xmlns:a16="http://schemas.microsoft.com/office/drawing/2014/main" id="{49A2C608-42D2-07F9-BE93-86CB53397BA8}"/>
              </a:ext>
            </a:extLst>
          </p:cNvPr>
          <p:cNvGrpSpPr/>
          <p:nvPr/>
        </p:nvGrpSpPr>
        <p:grpSpPr>
          <a:xfrm>
            <a:off x="5079792" y="2641040"/>
            <a:ext cx="3907433" cy="2891445"/>
            <a:chOff x="218022" y="2103185"/>
            <a:chExt cx="5036307" cy="3726796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5F4BA96-6E58-A28A-F14F-7EC9AEA7D7AF}"/>
                </a:ext>
              </a:extLst>
            </p:cNvPr>
            <p:cNvSpPr/>
            <p:nvPr/>
          </p:nvSpPr>
          <p:spPr>
            <a:xfrm>
              <a:off x="3525371" y="4151953"/>
              <a:ext cx="552566" cy="552566"/>
            </a:xfrm>
            <a:prstGeom prst="rect">
              <a:avLst/>
            </a:prstGeom>
            <a:solidFill>
              <a:srgbClr val="E94B57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09409">
                <a:defRPr/>
              </a:pPr>
              <a:endParaRPr lang="fr-FR" sz="1225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806B0D5-18B1-6FEE-E379-7684E47C8DEC}"/>
                </a:ext>
              </a:extLst>
            </p:cNvPr>
            <p:cNvSpPr/>
            <p:nvPr/>
          </p:nvSpPr>
          <p:spPr>
            <a:xfrm>
              <a:off x="2387803" y="3037306"/>
              <a:ext cx="552566" cy="552566"/>
            </a:xfrm>
            <a:prstGeom prst="rect">
              <a:avLst/>
            </a:prstGeom>
            <a:solidFill>
              <a:srgbClr val="E94B57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09409">
                <a:defRPr/>
              </a:pPr>
              <a:endParaRPr lang="fr-FR" sz="1225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grpSp>
          <p:nvGrpSpPr>
            <p:cNvPr id="38" name="Groupe 37">
              <a:extLst>
                <a:ext uri="{FF2B5EF4-FFF2-40B4-BE49-F238E27FC236}">
                  <a16:creationId xmlns:a16="http://schemas.microsoft.com/office/drawing/2014/main" id="{5DAEDF27-BCB3-3E5E-98CC-A281871DF7F6}"/>
                </a:ext>
              </a:extLst>
            </p:cNvPr>
            <p:cNvGrpSpPr/>
            <p:nvPr/>
          </p:nvGrpSpPr>
          <p:grpSpPr>
            <a:xfrm>
              <a:off x="218022" y="3609424"/>
              <a:ext cx="1291986" cy="1116353"/>
              <a:chOff x="3167259" y="4757935"/>
              <a:chExt cx="1813982" cy="1567390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4B5CB016-F080-7A9A-5780-4C16B76502A9}"/>
                  </a:ext>
                </a:extLst>
              </p:cNvPr>
              <p:cNvSpPr/>
              <p:nvPr/>
            </p:nvSpPr>
            <p:spPr>
              <a:xfrm>
                <a:off x="3326994" y="4757935"/>
                <a:ext cx="1567390" cy="1567390"/>
              </a:xfrm>
              <a:prstGeom prst="rect">
                <a:avLst/>
              </a:prstGeom>
              <a:solidFill>
                <a:schemeClr val="accent5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09409">
                  <a:defRPr/>
                </a:pPr>
                <a:endParaRPr lang="fr-FR" sz="1225" kern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60" name="ZoneTexte 59">
                <a:extLst>
                  <a:ext uri="{FF2B5EF4-FFF2-40B4-BE49-F238E27FC236}">
                    <a16:creationId xmlns:a16="http://schemas.microsoft.com/office/drawing/2014/main" id="{C33A5FFB-0E95-53EF-C16A-B7EA22DD76BC}"/>
                  </a:ext>
                </a:extLst>
              </p:cNvPr>
              <p:cNvSpPr txBox="1"/>
              <p:nvPr/>
            </p:nvSpPr>
            <p:spPr>
              <a:xfrm>
                <a:off x="3167259" y="5422727"/>
                <a:ext cx="1813982" cy="6978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buClr>
                    <a:srgbClr val="3799E8"/>
                  </a:buClr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collaborateurs</a:t>
                </a:r>
              </a:p>
              <a:p>
                <a:pPr algn="ctr" defTabSz="709409">
                  <a:buClr>
                    <a:srgbClr val="3799E8"/>
                  </a:buClr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informatiques</a:t>
                </a:r>
              </a:p>
            </p:txBody>
          </p:sp>
          <p:sp>
            <p:nvSpPr>
              <p:cNvPr id="61" name="ZoneTexte 60">
                <a:extLst>
                  <a:ext uri="{FF2B5EF4-FFF2-40B4-BE49-F238E27FC236}">
                    <a16:creationId xmlns:a16="http://schemas.microsoft.com/office/drawing/2014/main" id="{7B8A93F5-55A7-0E88-36A9-D9DAC92BF6D1}"/>
                  </a:ext>
                </a:extLst>
              </p:cNvPr>
              <p:cNvSpPr txBox="1"/>
              <p:nvPr/>
            </p:nvSpPr>
            <p:spPr>
              <a:xfrm>
                <a:off x="3209670" y="4979844"/>
                <a:ext cx="1729160" cy="5840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1497" b="1" kern="0">
                    <a:solidFill>
                      <a:schemeClr val="bg1"/>
                    </a:solidFill>
                    <a:latin typeface="Arial Nova" panose="020B0504020202020204" pitchFamily="34" charset="0"/>
                  </a:rPr>
                  <a:t>1000</a:t>
                </a:r>
              </a:p>
            </p:txBody>
          </p:sp>
        </p:grpSp>
        <p:grpSp>
          <p:nvGrpSpPr>
            <p:cNvPr id="39" name="Groupe 38">
              <a:extLst>
                <a:ext uri="{FF2B5EF4-FFF2-40B4-BE49-F238E27FC236}">
                  <a16:creationId xmlns:a16="http://schemas.microsoft.com/office/drawing/2014/main" id="{B4016718-2106-C5B3-7B49-1E59251CA223}"/>
                </a:ext>
              </a:extLst>
            </p:cNvPr>
            <p:cNvGrpSpPr/>
            <p:nvPr/>
          </p:nvGrpSpPr>
          <p:grpSpPr>
            <a:xfrm>
              <a:off x="1371183" y="2649148"/>
              <a:ext cx="1116354" cy="940724"/>
              <a:chOff x="4644036" y="3412813"/>
              <a:chExt cx="1567391" cy="1320800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A47A22B4-FEAF-2BA7-0BA4-919B92CE4ED7}"/>
                  </a:ext>
                </a:extLst>
              </p:cNvPr>
              <p:cNvSpPr/>
              <p:nvPr/>
            </p:nvSpPr>
            <p:spPr>
              <a:xfrm>
                <a:off x="4767332" y="3412813"/>
                <a:ext cx="1320800" cy="1320800"/>
              </a:xfrm>
              <a:prstGeom prst="rect">
                <a:avLst/>
              </a:prstGeom>
              <a:solidFill>
                <a:schemeClr val="accent2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09409">
                  <a:defRPr/>
                </a:pPr>
                <a:endParaRPr lang="fr-FR" sz="1225" kern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57" name="ZoneTexte 56">
                <a:extLst>
                  <a:ext uri="{FF2B5EF4-FFF2-40B4-BE49-F238E27FC236}">
                    <a16:creationId xmlns:a16="http://schemas.microsoft.com/office/drawing/2014/main" id="{2A4A9BB9-2C3F-0216-8704-421726358C52}"/>
                  </a:ext>
                </a:extLst>
              </p:cNvPr>
              <p:cNvSpPr txBox="1"/>
              <p:nvPr/>
            </p:nvSpPr>
            <p:spPr>
              <a:xfrm>
                <a:off x="4767333" y="4031854"/>
                <a:ext cx="1336021" cy="4324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buClr>
                    <a:srgbClr val="3799E8"/>
                  </a:buClr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M€ de CA</a:t>
                </a:r>
              </a:p>
            </p:txBody>
          </p:sp>
          <p:sp>
            <p:nvSpPr>
              <p:cNvPr id="58" name="ZoneTexte 57">
                <a:extLst>
                  <a:ext uri="{FF2B5EF4-FFF2-40B4-BE49-F238E27FC236}">
                    <a16:creationId xmlns:a16="http://schemas.microsoft.com/office/drawing/2014/main" id="{B7A46F56-9831-5320-8930-A0BEC6B8AB44}"/>
                  </a:ext>
                </a:extLst>
              </p:cNvPr>
              <p:cNvSpPr txBox="1"/>
              <p:nvPr/>
            </p:nvSpPr>
            <p:spPr>
              <a:xfrm>
                <a:off x="4644036" y="3674683"/>
                <a:ext cx="1567391" cy="546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1361" b="1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 Black" panose="020B0604020202020204" pitchFamily="34" charset="0"/>
                  </a:rPr>
                  <a:t>450 </a:t>
                </a:r>
              </a:p>
            </p:txBody>
          </p:sp>
        </p:grpSp>
        <p:grpSp>
          <p:nvGrpSpPr>
            <p:cNvPr id="40" name="Groupe 39">
              <a:extLst>
                <a:ext uri="{FF2B5EF4-FFF2-40B4-BE49-F238E27FC236}">
                  <a16:creationId xmlns:a16="http://schemas.microsoft.com/office/drawing/2014/main" id="{85A7B732-DD74-8789-F1E8-FE67E767234D}"/>
                </a:ext>
              </a:extLst>
            </p:cNvPr>
            <p:cNvGrpSpPr/>
            <p:nvPr/>
          </p:nvGrpSpPr>
          <p:grpSpPr>
            <a:xfrm>
              <a:off x="2410560" y="3589872"/>
              <a:ext cx="1129218" cy="1116354"/>
              <a:chOff x="2127764" y="3438741"/>
              <a:chExt cx="1336020" cy="1320800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CBA2D50B-F592-922A-A5A3-2BA6DFF9ADA5}"/>
                  </a:ext>
                </a:extLst>
              </p:cNvPr>
              <p:cNvSpPr/>
              <p:nvPr/>
            </p:nvSpPr>
            <p:spPr>
              <a:xfrm>
                <a:off x="2127764" y="3438741"/>
                <a:ext cx="1320800" cy="1320800"/>
              </a:xfrm>
              <a:prstGeom prst="rect">
                <a:avLst/>
              </a:prstGeom>
              <a:solidFill>
                <a:schemeClr val="tx2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09409">
                  <a:defRPr/>
                </a:pPr>
                <a:endParaRPr lang="fr-FR" sz="1225" kern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54" name="ZoneTexte 53">
                <a:extLst>
                  <a:ext uri="{FF2B5EF4-FFF2-40B4-BE49-F238E27FC236}">
                    <a16:creationId xmlns:a16="http://schemas.microsoft.com/office/drawing/2014/main" id="{515B2F68-9863-0F45-200F-8EBF6C324C6E}"/>
                  </a:ext>
                </a:extLst>
              </p:cNvPr>
              <p:cNvSpPr txBox="1"/>
              <p:nvPr/>
            </p:nvSpPr>
            <p:spPr>
              <a:xfrm>
                <a:off x="2127764" y="4095114"/>
                <a:ext cx="1336020" cy="3644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Datacenters</a:t>
                </a:r>
                <a:endParaRPr lang="fr-FR" sz="680" kern="0">
                  <a:solidFill>
                    <a:schemeClr val="bg1"/>
                  </a:solidFill>
                  <a:latin typeface="Arial Nova" panose="020B05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CB79A269-69B9-0319-4AC2-5DB478D7387F}"/>
                  </a:ext>
                </a:extLst>
              </p:cNvPr>
              <p:cNvSpPr txBox="1"/>
              <p:nvPr/>
            </p:nvSpPr>
            <p:spPr>
              <a:xfrm>
                <a:off x="2127766" y="3785565"/>
                <a:ext cx="1320798" cy="4601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1361" b="1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 Black" panose="020B0604020202020204" pitchFamily="34" charset="0"/>
                  </a:rPr>
                  <a:t>4</a:t>
                </a:r>
              </a:p>
            </p:txBody>
          </p:sp>
        </p:grp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E65A0E00-6BA7-8865-B1DC-4EFD5CB8CC8E}"/>
                </a:ext>
              </a:extLst>
            </p:cNvPr>
            <p:cNvGrpSpPr/>
            <p:nvPr/>
          </p:nvGrpSpPr>
          <p:grpSpPr>
            <a:xfrm>
              <a:off x="3468034" y="2634496"/>
              <a:ext cx="1116354" cy="940723"/>
              <a:chOff x="3323236" y="4757935"/>
              <a:chExt cx="1567391" cy="1320800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72161A86-0798-8F2D-0949-8279098BB7A2}"/>
                  </a:ext>
                </a:extLst>
              </p:cNvPr>
              <p:cNvSpPr/>
              <p:nvPr/>
            </p:nvSpPr>
            <p:spPr>
              <a:xfrm>
                <a:off x="3446532" y="4757935"/>
                <a:ext cx="1320800" cy="1320800"/>
              </a:xfrm>
              <a:prstGeom prst="rect">
                <a:avLst/>
              </a:prstGeom>
              <a:solidFill>
                <a:schemeClr val="accent5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09409">
                  <a:defRPr/>
                </a:pPr>
                <a:endParaRPr lang="fr-FR" sz="1225" kern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51" name="ZoneTexte 50">
                <a:extLst>
                  <a:ext uri="{FF2B5EF4-FFF2-40B4-BE49-F238E27FC236}">
                    <a16:creationId xmlns:a16="http://schemas.microsoft.com/office/drawing/2014/main" id="{2F87650E-C0AC-5E8A-7874-B0D6FCD00B2F}"/>
                  </a:ext>
                </a:extLst>
              </p:cNvPr>
              <p:cNvSpPr txBox="1"/>
              <p:nvPr/>
            </p:nvSpPr>
            <p:spPr>
              <a:xfrm>
                <a:off x="3446533" y="5295886"/>
                <a:ext cx="1336019" cy="697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buClr>
                    <a:srgbClr val="3799E8"/>
                  </a:buClr>
                  <a:defRPr/>
                </a:pPr>
                <a:r>
                  <a:rPr lang="fr-FR" sz="953" kern="0" err="1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Users</a:t>
                </a: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 managés</a:t>
                </a:r>
              </a:p>
            </p:txBody>
          </p:sp>
          <p:sp>
            <p:nvSpPr>
              <p:cNvPr id="52" name="ZoneTexte 51">
                <a:extLst>
                  <a:ext uri="{FF2B5EF4-FFF2-40B4-BE49-F238E27FC236}">
                    <a16:creationId xmlns:a16="http://schemas.microsoft.com/office/drawing/2014/main" id="{F593B589-3BB3-512C-AFA2-7DBB013EF365}"/>
                  </a:ext>
                </a:extLst>
              </p:cNvPr>
              <p:cNvSpPr txBox="1"/>
              <p:nvPr/>
            </p:nvSpPr>
            <p:spPr>
              <a:xfrm>
                <a:off x="3323236" y="4869214"/>
                <a:ext cx="1567391" cy="5840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1497" b="1" kern="0">
                    <a:solidFill>
                      <a:schemeClr val="bg1"/>
                    </a:solidFill>
                    <a:latin typeface="Arial Nova" panose="020B0504020202020204" pitchFamily="34" charset="0"/>
                  </a:rPr>
                  <a:t>10 000</a:t>
                </a:r>
              </a:p>
            </p:txBody>
          </p:sp>
        </p:grp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A2FCF93-CDDF-B380-D7D0-CA159CF90EE6}"/>
                </a:ext>
              </a:extLst>
            </p:cNvPr>
            <p:cNvSpPr/>
            <p:nvPr/>
          </p:nvSpPr>
          <p:spPr>
            <a:xfrm>
              <a:off x="1873306" y="4706226"/>
              <a:ext cx="552566" cy="552566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09409">
                <a:defRPr/>
              </a:pPr>
              <a:endParaRPr lang="fr-FR" sz="1225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6A02A08-F783-E6CB-9FB1-2D49D93B35D8}"/>
                </a:ext>
              </a:extLst>
            </p:cNvPr>
            <p:cNvSpPr/>
            <p:nvPr/>
          </p:nvSpPr>
          <p:spPr>
            <a:xfrm>
              <a:off x="4507413" y="3575219"/>
              <a:ext cx="552566" cy="552566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09409">
                <a:defRPr/>
              </a:pPr>
              <a:endParaRPr lang="fr-FR" sz="1225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8469E32-1AFF-99D2-A951-BA6D1E50B486}"/>
                </a:ext>
              </a:extLst>
            </p:cNvPr>
            <p:cNvSpPr/>
            <p:nvPr/>
          </p:nvSpPr>
          <p:spPr>
            <a:xfrm>
              <a:off x="905715" y="2103185"/>
              <a:ext cx="552566" cy="552566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09409">
                <a:defRPr/>
              </a:pPr>
              <a:endParaRPr lang="fr-FR" sz="1225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grpSp>
          <p:nvGrpSpPr>
            <p:cNvPr id="46" name="Groupe 45">
              <a:extLst>
                <a:ext uri="{FF2B5EF4-FFF2-40B4-BE49-F238E27FC236}">
                  <a16:creationId xmlns:a16="http://schemas.microsoft.com/office/drawing/2014/main" id="{DD1E1650-A894-1D8C-D43A-A0C5982D8318}"/>
                </a:ext>
              </a:extLst>
            </p:cNvPr>
            <p:cNvGrpSpPr/>
            <p:nvPr/>
          </p:nvGrpSpPr>
          <p:grpSpPr>
            <a:xfrm>
              <a:off x="4050849" y="4713627"/>
              <a:ext cx="1203480" cy="1116354"/>
              <a:chOff x="2076222" y="3424366"/>
              <a:chExt cx="1423882" cy="1320800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D1CAB370-B70A-CE88-94E0-33457B496D01}"/>
                  </a:ext>
                </a:extLst>
              </p:cNvPr>
              <p:cNvSpPr/>
              <p:nvPr/>
            </p:nvSpPr>
            <p:spPr>
              <a:xfrm>
                <a:off x="2127764" y="3424366"/>
                <a:ext cx="1320800" cy="1320800"/>
              </a:xfrm>
              <a:prstGeom prst="rect">
                <a:avLst/>
              </a:prstGeom>
              <a:solidFill>
                <a:schemeClr val="tx2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09409">
                  <a:defRPr/>
                </a:pPr>
                <a:endParaRPr lang="fr-FR" sz="1225" kern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254D3E4F-6594-8459-8A64-C8E1CCA52047}"/>
                  </a:ext>
                </a:extLst>
              </p:cNvPr>
              <p:cNvSpPr txBox="1"/>
              <p:nvPr/>
            </p:nvSpPr>
            <p:spPr>
              <a:xfrm>
                <a:off x="2120153" y="3969506"/>
                <a:ext cx="1336020" cy="5880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serveurs supervisés</a:t>
                </a:r>
                <a:endParaRPr lang="fr-FR" sz="680" kern="0">
                  <a:solidFill>
                    <a:schemeClr val="bg1"/>
                  </a:solidFill>
                  <a:latin typeface="Arial Nova" panose="020B05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AD2F365A-764B-FB57-1045-3626ECE9D563}"/>
                  </a:ext>
                </a:extLst>
              </p:cNvPr>
              <p:cNvSpPr txBox="1"/>
              <p:nvPr/>
            </p:nvSpPr>
            <p:spPr>
              <a:xfrm>
                <a:off x="2076222" y="3693778"/>
                <a:ext cx="1423882" cy="4601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1361" b="1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 Black" panose="020B0604020202020204" pitchFamily="34" charset="0"/>
                  </a:rPr>
                  <a:t>5 000</a:t>
                </a:r>
              </a:p>
            </p:txBody>
          </p:sp>
        </p:grpSp>
      </p:grpSp>
      <p:sp>
        <p:nvSpPr>
          <p:cNvPr id="70" name="Espace réservé du texte 1">
            <a:extLst>
              <a:ext uri="{FF2B5EF4-FFF2-40B4-BE49-F238E27FC236}">
                <a16:creationId xmlns:a16="http://schemas.microsoft.com/office/drawing/2014/main" id="{29DEE302-95E6-A7F9-9B1E-603EA0F3637E}"/>
              </a:ext>
            </a:extLst>
          </p:cNvPr>
          <p:cNvSpPr txBox="1">
            <a:spLocks/>
          </p:cNvSpPr>
          <p:nvPr/>
        </p:nvSpPr>
        <p:spPr>
          <a:xfrm>
            <a:off x="731883" y="173928"/>
            <a:ext cx="6487262" cy="5944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425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764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764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861">
                <a:latin typeface="Century Gothic" panose="020B0502020202020204" pitchFamily="34" charset="0"/>
              </a:rPr>
              <a:t>L’expertise métier comme réponse à vos enjeux IT </a:t>
            </a:r>
            <a:r>
              <a:rPr lang="fr-FR" sz="1861">
                <a:solidFill>
                  <a:srgbClr val="E94B57"/>
                </a:solidFill>
                <a:latin typeface="Century Gothic" panose="020B0502020202020204" pitchFamily="34" charset="0"/>
              </a:rPr>
              <a:t>Informatique &amp; Sécurité</a:t>
            </a:r>
          </a:p>
          <a:p>
            <a:endParaRPr lang="fr-FR" sz="1861">
              <a:latin typeface="Century Gothic" panose="020B0502020202020204" pitchFamily="34" charset="0"/>
            </a:endParaRP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0D5CBDF-8D76-F3BB-72F5-3F675EE8399B}"/>
              </a:ext>
            </a:extLst>
          </p:cNvPr>
          <p:cNvSpPr txBox="1"/>
          <p:nvPr/>
        </p:nvSpPr>
        <p:spPr>
          <a:xfrm>
            <a:off x="731883" y="1238155"/>
            <a:ext cx="7093716" cy="67864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Century Gothic" panose="020B0502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fr-FR" sz="1270">
                <a:latin typeface="Arial Nova" panose="020B0504020202020204" pitchFamily="34" charset="0"/>
                <a:sym typeface="Open Sans"/>
              </a:rPr>
              <a:t>Notre croissance sur les métiers de l’informatique a démarré dès 2002, et s’est particulièrement accrue depuis 2018, pour nous permettre de devenir leader dans les métiers numériques en France, autour d’une mission. </a:t>
            </a:r>
            <a:r>
              <a:rPr lang="fr-FR" sz="1270" b="1">
                <a:latin typeface="Arial Nova" panose="020B0504020202020204" pitchFamily="34" charset="0"/>
                <a:sym typeface="Open Sans"/>
              </a:rPr>
              <a:t>Un seul guichet pour tous vos enjeux numériques !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75FB574-5E38-BACD-CC61-650F257AB3AC}"/>
              </a:ext>
            </a:extLst>
          </p:cNvPr>
          <p:cNvSpPr txBox="1"/>
          <p:nvPr/>
        </p:nvSpPr>
        <p:spPr>
          <a:xfrm>
            <a:off x="947584" y="2446093"/>
            <a:ext cx="3855189" cy="338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13" b="1" err="1">
                <a:latin typeface="Arial Nova" panose="020B0504020202020204" pitchFamily="34" charset="0"/>
                <a:sym typeface="Open Sans"/>
              </a:rPr>
              <a:t>Koesio</a:t>
            </a:r>
            <a:r>
              <a:rPr lang="fr-FR" sz="1813" b="1">
                <a:latin typeface="Arial Nova" panose="020B0504020202020204" pitchFamily="34" charset="0"/>
                <a:sym typeface="Open Sans"/>
              </a:rPr>
              <a:t>, une synergie parfaite des métiers informatiques</a:t>
            </a:r>
          </a:p>
          <a:p>
            <a:pPr marL="221690" indent="-221690">
              <a:buFont typeface="Arial" panose="020B0604020202020204" pitchFamily="34" charset="0"/>
              <a:buChar char="•"/>
            </a:pPr>
            <a:endParaRPr lang="fr-FR" sz="1270">
              <a:latin typeface="Arial Nova" panose="020B0504020202020204" pitchFamily="34" charset="0"/>
            </a:endParaRPr>
          </a:p>
          <a:p>
            <a:pPr marL="221690" indent="-221690">
              <a:buFont typeface="Arial" panose="020B0604020202020204" pitchFamily="34" charset="0"/>
              <a:buChar char="•"/>
            </a:pPr>
            <a:r>
              <a:rPr lang="fr-FR" sz="1270">
                <a:latin typeface="Arial Nova" panose="020B0504020202020204" pitchFamily="34" charset="0"/>
              </a:rPr>
              <a:t>Avec notre expertise en services managés, nous </a:t>
            </a:r>
            <a:r>
              <a:rPr lang="fr-FR" sz="1270" b="1">
                <a:latin typeface="Arial Nova" panose="020B0504020202020204" pitchFamily="34" charset="0"/>
              </a:rPr>
              <a:t>pilotons proactivement vos postes informatiques</a:t>
            </a:r>
            <a:r>
              <a:rPr lang="fr-FR" sz="1270">
                <a:latin typeface="Arial Nova" panose="020B0504020202020204" pitchFamily="34" charset="0"/>
              </a:rPr>
              <a:t>, à distance avec un service illimité.</a:t>
            </a:r>
          </a:p>
          <a:p>
            <a:pPr marL="221690" indent="-221690">
              <a:buFont typeface="Arial" panose="020B0604020202020204" pitchFamily="34" charset="0"/>
              <a:buChar char="•"/>
            </a:pPr>
            <a:endParaRPr lang="fr-FR" sz="1270">
              <a:latin typeface="Arial Nova" panose="020B0504020202020204" pitchFamily="34" charset="0"/>
            </a:endParaRPr>
          </a:p>
          <a:p>
            <a:pPr marL="221690" indent="-221690">
              <a:buFont typeface="Arial" panose="020B0604020202020204" pitchFamily="34" charset="0"/>
              <a:buChar char="•"/>
            </a:pPr>
            <a:r>
              <a:rPr lang="fr-FR" sz="1270">
                <a:latin typeface="Arial Nova" panose="020B0504020202020204" pitchFamily="34" charset="0"/>
              </a:rPr>
              <a:t>Avec nos volumes d’achat, nous vous donnons accès au </a:t>
            </a:r>
            <a:r>
              <a:rPr lang="fr-FR" sz="1270" b="1">
                <a:latin typeface="Arial Nova" panose="020B0504020202020204" pitchFamily="34" charset="0"/>
              </a:rPr>
              <a:t>plus</a:t>
            </a:r>
            <a:r>
              <a:rPr lang="fr-FR" sz="1270">
                <a:latin typeface="Arial Nova" panose="020B0504020202020204" pitchFamily="34" charset="0"/>
              </a:rPr>
              <a:t> </a:t>
            </a:r>
            <a:r>
              <a:rPr lang="fr-FR" sz="1270" b="1">
                <a:latin typeface="Arial Nova" panose="020B0504020202020204" pitchFamily="34" charset="0"/>
              </a:rPr>
              <a:t>grand stock d’équipements informatiques et négocient au mieux les prix</a:t>
            </a:r>
            <a:r>
              <a:rPr lang="fr-FR" sz="1270">
                <a:latin typeface="Arial Nova" panose="020B0504020202020204" pitchFamily="34" charset="0"/>
              </a:rPr>
              <a:t>.</a:t>
            </a:r>
          </a:p>
          <a:p>
            <a:pPr marL="221690" indent="-221690">
              <a:buFont typeface="Arial" panose="020B0604020202020204" pitchFamily="34" charset="0"/>
              <a:buChar char="•"/>
            </a:pPr>
            <a:endParaRPr lang="fr-FR" sz="1270">
              <a:latin typeface="Arial Nova" panose="020B0504020202020204" pitchFamily="34" charset="0"/>
            </a:endParaRPr>
          </a:p>
          <a:p>
            <a:pPr marL="221690" indent="-221690">
              <a:buFont typeface="Arial" panose="020B0604020202020204" pitchFamily="34" charset="0"/>
              <a:buChar char="•"/>
            </a:pPr>
            <a:r>
              <a:rPr lang="fr-FR" sz="1270">
                <a:latin typeface="Arial Nova" panose="020B0504020202020204" pitchFamily="34" charset="0"/>
              </a:rPr>
              <a:t>Nos experts informatiques régionaux configurent, suivent et agissent pour vous </a:t>
            </a:r>
            <a:r>
              <a:rPr lang="fr-FR" sz="1270" b="1">
                <a:latin typeface="Arial Nova" panose="020B0504020202020204" pitchFamily="34" charset="0"/>
              </a:rPr>
              <a:t>garantir le maintien en conditions opérationnelles de votre IT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92B68D-89F1-FF68-EB4F-2C7B496D75E6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F37630A-98EE-3171-2D25-62AAA36AEF2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80896" y="6494386"/>
            <a:ext cx="994232" cy="25441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01D55E8-F50B-AA6A-548F-7B881F3902CC}"/>
              </a:ext>
            </a:extLst>
          </p:cNvPr>
          <p:cNvSpPr/>
          <p:nvPr/>
        </p:nvSpPr>
        <p:spPr>
          <a:xfrm>
            <a:off x="103292" y="274396"/>
            <a:ext cx="501009" cy="172166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/>
            <a:endParaRPr lang="fr-FR" sz="1633" kern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0280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3B6C7-ED8A-7600-7C10-556FD4601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e 34">
            <a:extLst>
              <a:ext uri="{FF2B5EF4-FFF2-40B4-BE49-F238E27FC236}">
                <a16:creationId xmlns:a16="http://schemas.microsoft.com/office/drawing/2014/main" id="{AC9BC1E2-44E6-0CDF-31A7-23E1976F48F5}"/>
              </a:ext>
            </a:extLst>
          </p:cNvPr>
          <p:cNvGrpSpPr/>
          <p:nvPr/>
        </p:nvGrpSpPr>
        <p:grpSpPr>
          <a:xfrm>
            <a:off x="5151149" y="2610453"/>
            <a:ext cx="3923171" cy="2918485"/>
            <a:chOff x="241299" y="2080487"/>
            <a:chExt cx="5056594" cy="3761648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651D44A-28B2-C78F-223D-3A3C4922FB2A}"/>
                </a:ext>
              </a:extLst>
            </p:cNvPr>
            <p:cNvSpPr/>
            <p:nvPr/>
          </p:nvSpPr>
          <p:spPr>
            <a:xfrm>
              <a:off x="3525371" y="4164103"/>
              <a:ext cx="552566" cy="552566"/>
            </a:xfrm>
            <a:prstGeom prst="rect">
              <a:avLst/>
            </a:prstGeom>
            <a:solidFill>
              <a:srgbClr val="E94B57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09409">
                <a:defRPr/>
              </a:pPr>
              <a:endParaRPr lang="fr-FR" sz="1225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6E0867E-9EF5-8550-C89D-E05309A238F0}"/>
                </a:ext>
              </a:extLst>
            </p:cNvPr>
            <p:cNvSpPr/>
            <p:nvPr/>
          </p:nvSpPr>
          <p:spPr>
            <a:xfrm>
              <a:off x="2387803" y="3037306"/>
              <a:ext cx="552566" cy="552566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09409">
                <a:defRPr/>
              </a:pPr>
              <a:endParaRPr lang="fr-FR" sz="1225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grpSp>
          <p:nvGrpSpPr>
            <p:cNvPr id="38" name="Groupe 37">
              <a:extLst>
                <a:ext uri="{FF2B5EF4-FFF2-40B4-BE49-F238E27FC236}">
                  <a16:creationId xmlns:a16="http://schemas.microsoft.com/office/drawing/2014/main" id="{7350E52B-65CA-FD73-56C6-6BE35D9AE8A2}"/>
                </a:ext>
              </a:extLst>
            </p:cNvPr>
            <p:cNvGrpSpPr/>
            <p:nvPr/>
          </p:nvGrpSpPr>
          <p:grpSpPr>
            <a:xfrm>
              <a:off x="241299" y="3609424"/>
              <a:ext cx="1291986" cy="1116353"/>
              <a:chOff x="3199940" y="4757935"/>
              <a:chExt cx="1813982" cy="1567390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4693DBCD-F75A-120D-EF6D-015CDD5AF598}"/>
                  </a:ext>
                </a:extLst>
              </p:cNvPr>
              <p:cNvSpPr/>
              <p:nvPr/>
            </p:nvSpPr>
            <p:spPr>
              <a:xfrm>
                <a:off x="3326994" y="4757935"/>
                <a:ext cx="1567390" cy="1567390"/>
              </a:xfrm>
              <a:prstGeom prst="rect">
                <a:avLst/>
              </a:prstGeom>
              <a:solidFill>
                <a:schemeClr val="accent5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09409">
                  <a:defRPr/>
                </a:pPr>
                <a:endParaRPr lang="fr-FR" sz="1225" kern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60" name="ZoneTexte 59">
                <a:extLst>
                  <a:ext uri="{FF2B5EF4-FFF2-40B4-BE49-F238E27FC236}">
                    <a16:creationId xmlns:a16="http://schemas.microsoft.com/office/drawing/2014/main" id="{2B25ECAC-60E0-B75D-85CA-BB8D2044D731}"/>
                  </a:ext>
                </a:extLst>
              </p:cNvPr>
              <p:cNvSpPr txBox="1"/>
              <p:nvPr/>
            </p:nvSpPr>
            <p:spPr>
              <a:xfrm>
                <a:off x="3199940" y="5441160"/>
                <a:ext cx="1813982" cy="6978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buClr>
                    <a:srgbClr val="3799E8"/>
                  </a:buClr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Fibres </a:t>
                </a:r>
              </a:p>
              <a:p>
                <a:pPr algn="ctr" defTabSz="709409">
                  <a:buClr>
                    <a:srgbClr val="3799E8"/>
                  </a:buClr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dédiées</a:t>
                </a:r>
              </a:p>
            </p:txBody>
          </p:sp>
          <p:sp>
            <p:nvSpPr>
              <p:cNvPr id="61" name="ZoneTexte 60">
                <a:extLst>
                  <a:ext uri="{FF2B5EF4-FFF2-40B4-BE49-F238E27FC236}">
                    <a16:creationId xmlns:a16="http://schemas.microsoft.com/office/drawing/2014/main" id="{C71929E4-441C-0A9C-2AD2-D33E3CBD8EDB}"/>
                  </a:ext>
                </a:extLst>
              </p:cNvPr>
              <p:cNvSpPr txBox="1"/>
              <p:nvPr/>
            </p:nvSpPr>
            <p:spPr>
              <a:xfrm>
                <a:off x="3242351" y="4998275"/>
                <a:ext cx="1729160" cy="5840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1497" b="1" kern="0">
                    <a:solidFill>
                      <a:schemeClr val="bg1"/>
                    </a:solidFill>
                    <a:latin typeface="Arial Nova" panose="020B0504020202020204" pitchFamily="34" charset="0"/>
                  </a:rPr>
                  <a:t>2000 km</a:t>
                </a:r>
              </a:p>
            </p:txBody>
          </p:sp>
        </p:grpSp>
        <p:grpSp>
          <p:nvGrpSpPr>
            <p:cNvPr id="39" name="Groupe 38">
              <a:extLst>
                <a:ext uri="{FF2B5EF4-FFF2-40B4-BE49-F238E27FC236}">
                  <a16:creationId xmlns:a16="http://schemas.microsoft.com/office/drawing/2014/main" id="{53E91CFA-6BD5-3A14-632F-5FB05E07E0AA}"/>
                </a:ext>
              </a:extLst>
            </p:cNvPr>
            <p:cNvGrpSpPr/>
            <p:nvPr/>
          </p:nvGrpSpPr>
          <p:grpSpPr>
            <a:xfrm>
              <a:off x="1371183" y="2649152"/>
              <a:ext cx="1116354" cy="972621"/>
              <a:chOff x="4644036" y="3412813"/>
              <a:chExt cx="1567391" cy="1365583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3DB97B6E-6D66-3EBC-A438-43E4A3312D9A}"/>
                  </a:ext>
                </a:extLst>
              </p:cNvPr>
              <p:cNvSpPr/>
              <p:nvPr/>
            </p:nvSpPr>
            <p:spPr>
              <a:xfrm>
                <a:off x="4767332" y="3412813"/>
                <a:ext cx="1320800" cy="1320800"/>
              </a:xfrm>
              <a:prstGeom prst="rect">
                <a:avLst/>
              </a:prstGeom>
              <a:solidFill>
                <a:schemeClr val="accent2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09409">
                  <a:defRPr/>
                </a:pPr>
                <a:endParaRPr lang="fr-FR" sz="1225" kern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57" name="ZoneTexte 56">
                <a:extLst>
                  <a:ext uri="{FF2B5EF4-FFF2-40B4-BE49-F238E27FC236}">
                    <a16:creationId xmlns:a16="http://schemas.microsoft.com/office/drawing/2014/main" id="{19C0C794-2D0E-8E81-CEC4-C05E8E3545F6}"/>
                  </a:ext>
                </a:extLst>
              </p:cNvPr>
              <p:cNvSpPr txBox="1"/>
              <p:nvPr/>
            </p:nvSpPr>
            <p:spPr>
              <a:xfrm>
                <a:off x="4767333" y="3815187"/>
                <a:ext cx="1336021" cy="9632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buClr>
                    <a:srgbClr val="3799E8"/>
                  </a:buClr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Points de présence opérateur</a:t>
                </a:r>
              </a:p>
            </p:txBody>
          </p:sp>
          <p:sp>
            <p:nvSpPr>
              <p:cNvPr id="58" name="ZoneTexte 57">
                <a:extLst>
                  <a:ext uri="{FF2B5EF4-FFF2-40B4-BE49-F238E27FC236}">
                    <a16:creationId xmlns:a16="http://schemas.microsoft.com/office/drawing/2014/main" id="{EF7744BF-AF26-FE83-39BC-38FED3780BC7}"/>
                  </a:ext>
                </a:extLst>
              </p:cNvPr>
              <p:cNvSpPr txBox="1"/>
              <p:nvPr/>
            </p:nvSpPr>
            <p:spPr>
              <a:xfrm>
                <a:off x="4644036" y="3458016"/>
                <a:ext cx="1567391" cy="546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1361" b="1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 Black" panose="020B0604020202020204" pitchFamily="34" charset="0"/>
                  </a:rPr>
                  <a:t>70 </a:t>
                </a:r>
              </a:p>
            </p:txBody>
          </p:sp>
        </p:grpSp>
        <p:grpSp>
          <p:nvGrpSpPr>
            <p:cNvPr id="40" name="Groupe 39">
              <a:extLst>
                <a:ext uri="{FF2B5EF4-FFF2-40B4-BE49-F238E27FC236}">
                  <a16:creationId xmlns:a16="http://schemas.microsoft.com/office/drawing/2014/main" id="{F6E99939-A62A-4075-F01F-F32F1828742B}"/>
                </a:ext>
              </a:extLst>
            </p:cNvPr>
            <p:cNvGrpSpPr/>
            <p:nvPr/>
          </p:nvGrpSpPr>
          <p:grpSpPr>
            <a:xfrm>
              <a:off x="2410560" y="3589872"/>
              <a:ext cx="1129218" cy="1116354"/>
              <a:chOff x="2127764" y="3438741"/>
              <a:chExt cx="1336020" cy="1320800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A9EB162F-876D-18F1-1B65-F0D55F7CF7FF}"/>
                  </a:ext>
                </a:extLst>
              </p:cNvPr>
              <p:cNvSpPr/>
              <p:nvPr/>
            </p:nvSpPr>
            <p:spPr>
              <a:xfrm>
                <a:off x="2127764" y="3438741"/>
                <a:ext cx="1320800" cy="1320800"/>
              </a:xfrm>
              <a:prstGeom prst="rect">
                <a:avLst/>
              </a:prstGeom>
              <a:solidFill>
                <a:schemeClr val="tx2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09409">
                  <a:defRPr/>
                </a:pPr>
                <a:endParaRPr lang="fr-FR" sz="1225" kern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54" name="ZoneTexte 53">
                <a:extLst>
                  <a:ext uri="{FF2B5EF4-FFF2-40B4-BE49-F238E27FC236}">
                    <a16:creationId xmlns:a16="http://schemas.microsoft.com/office/drawing/2014/main" id="{8D58FB5E-1059-D076-0970-02ACC55818E7}"/>
                  </a:ext>
                </a:extLst>
              </p:cNvPr>
              <p:cNvSpPr txBox="1"/>
              <p:nvPr/>
            </p:nvSpPr>
            <p:spPr>
              <a:xfrm>
                <a:off x="2127764" y="3966511"/>
                <a:ext cx="1336020" cy="5880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Clients télécom</a:t>
                </a:r>
                <a:endParaRPr lang="fr-FR" sz="680" kern="0">
                  <a:solidFill>
                    <a:schemeClr val="bg1"/>
                  </a:solidFill>
                  <a:latin typeface="Arial Nova" panose="020B05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395BFDC8-F485-E25A-7F9E-2898B9F52939}"/>
                  </a:ext>
                </a:extLst>
              </p:cNvPr>
              <p:cNvSpPr txBox="1"/>
              <p:nvPr/>
            </p:nvSpPr>
            <p:spPr>
              <a:xfrm>
                <a:off x="2127766" y="3656965"/>
                <a:ext cx="1320798" cy="4601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1361" b="1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 Black" panose="020B0604020202020204" pitchFamily="34" charset="0"/>
                  </a:rPr>
                  <a:t>10 000</a:t>
                </a:r>
              </a:p>
            </p:txBody>
          </p:sp>
        </p:grpSp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42EE1E27-C6C9-C00B-A3FB-A8EA3C966266}"/>
                </a:ext>
              </a:extLst>
            </p:cNvPr>
            <p:cNvGrpSpPr/>
            <p:nvPr/>
          </p:nvGrpSpPr>
          <p:grpSpPr>
            <a:xfrm>
              <a:off x="3555850" y="2634496"/>
              <a:ext cx="951563" cy="940723"/>
              <a:chOff x="3446532" y="4757935"/>
              <a:chExt cx="1336020" cy="1320800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8696C3CF-095A-6591-81E6-94FFEE0A8929}"/>
                  </a:ext>
                </a:extLst>
              </p:cNvPr>
              <p:cNvSpPr/>
              <p:nvPr/>
            </p:nvSpPr>
            <p:spPr>
              <a:xfrm>
                <a:off x="3446532" y="4757935"/>
                <a:ext cx="1320800" cy="1320800"/>
              </a:xfrm>
              <a:prstGeom prst="rect">
                <a:avLst/>
              </a:prstGeom>
              <a:solidFill>
                <a:schemeClr val="accent5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09409">
                  <a:defRPr/>
                </a:pPr>
                <a:endParaRPr lang="fr-FR" sz="1225" kern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51" name="ZoneTexte 50">
                <a:extLst>
                  <a:ext uri="{FF2B5EF4-FFF2-40B4-BE49-F238E27FC236}">
                    <a16:creationId xmlns:a16="http://schemas.microsoft.com/office/drawing/2014/main" id="{0D7BB17E-7C71-90EE-39A7-4C136F2B9A75}"/>
                  </a:ext>
                </a:extLst>
              </p:cNvPr>
              <p:cNvSpPr txBox="1"/>
              <p:nvPr/>
            </p:nvSpPr>
            <p:spPr>
              <a:xfrm>
                <a:off x="3446532" y="5295886"/>
                <a:ext cx="1336020" cy="697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buClr>
                    <a:srgbClr val="3799E8"/>
                  </a:buClr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experts métier</a:t>
                </a:r>
              </a:p>
            </p:txBody>
          </p:sp>
          <p:sp>
            <p:nvSpPr>
              <p:cNvPr id="52" name="ZoneTexte 51">
                <a:extLst>
                  <a:ext uri="{FF2B5EF4-FFF2-40B4-BE49-F238E27FC236}">
                    <a16:creationId xmlns:a16="http://schemas.microsoft.com/office/drawing/2014/main" id="{52684A49-05E1-41F3-AA8D-FA111EEDD942}"/>
                  </a:ext>
                </a:extLst>
              </p:cNvPr>
              <p:cNvSpPr txBox="1"/>
              <p:nvPr/>
            </p:nvSpPr>
            <p:spPr>
              <a:xfrm>
                <a:off x="3446532" y="4871874"/>
                <a:ext cx="1325618" cy="5840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1497" b="1" kern="0">
                    <a:solidFill>
                      <a:schemeClr val="bg1"/>
                    </a:solidFill>
                    <a:latin typeface="Arial Nova" panose="020B0504020202020204" pitchFamily="34" charset="0"/>
                  </a:rPr>
                  <a:t>400</a:t>
                </a:r>
              </a:p>
            </p:txBody>
          </p:sp>
        </p:grp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E50550D-7F5F-978E-776A-653197341E65}"/>
                </a:ext>
              </a:extLst>
            </p:cNvPr>
            <p:cNvSpPr/>
            <p:nvPr/>
          </p:nvSpPr>
          <p:spPr>
            <a:xfrm>
              <a:off x="1873306" y="4706226"/>
              <a:ext cx="552566" cy="552566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09409">
                <a:defRPr/>
              </a:pPr>
              <a:endParaRPr lang="fr-FR" sz="1225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BD6C03B-65F1-4131-C31C-2AABAAF6C64F}"/>
                </a:ext>
              </a:extLst>
            </p:cNvPr>
            <p:cNvSpPr/>
            <p:nvPr/>
          </p:nvSpPr>
          <p:spPr>
            <a:xfrm>
              <a:off x="4500005" y="3562762"/>
              <a:ext cx="552566" cy="552566"/>
            </a:xfrm>
            <a:prstGeom prst="rect">
              <a:avLst/>
            </a:prstGeom>
            <a:solidFill>
              <a:srgbClr val="E94B57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09409">
                <a:defRPr/>
              </a:pPr>
              <a:endParaRPr lang="fr-FR" sz="1225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4AC9910B-D0E5-163C-0A72-B8C31D39FC53}"/>
                </a:ext>
              </a:extLst>
            </p:cNvPr>
            <p:cNvSpPr/>
            <p:nvPr/>
          </p:nvSpPr>
          <p:spPr>
            <a:xfrm>
              <a:off x="924230" y="2080487"/>
              <a:ext cx="552566" cy="552566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09409">
                <a:defRPr/>
              </a:pPr>
              <a:endParaRPr lang="fr-FR" sz="1225" kern="0">
                <a:solidFill>
                  <a:srgbClr val="FFFFFF"/>
                </a:solidFill>
                <a:latin typeface="Arial Nova" panose="020B0504020202020204" pitchFamily="34" charset="0"/>
              </a:endParaRPr>
            </a:p>
          </p:txBody>
        </p:sp>
        <p:grpSp>
          <p:nvGrpSpPr>
            <p:cNvPr id="46" name="Groupe 45">
              <a:extLst>
                <a:ext uri="{FF2B5EF4-FFF2-40B4-BE49-F238E27FC236}">
                  <a16:creationId xmlns:a16="http://schemas.microsoft.com/office/drawing/2014/main" id="{45967717-1782-493E-5AD2-97EB8D5A5567}"/>
                </a:ext>
              </a:extLst>
            </p:cNvPr>
            <p:cNvGrpSpPr/>
            <p:nvPr/>
          </p:nvGrpSpPr>
          <p:grpSpPr>
            <a:xfrm>
              <a:off x="4094413" y="4725780"/>
              <a:ext cx="1203480" cy="1116355"/>
              <a:chOff x="2127764" y="3438741"/>
              <a:chExt cx="1423882" cy="1320800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5D35C2A6-398E-1FAB-5215-C534210FFCA6}"/>
                  </a:ext>
                </a:extLst>
              </p:cNvPr>
              <p:cNvSpPr/>
              <p:nvPr/>
            </p:nvSpPr>
            <p:spPr>
              <a:xfrm>
                <a:off x="2127764" y="3438741"/>
                <a:ext cx="1320800" cy="1320800"/>
              </a:xfrm>
              <a:prstGeom prst="rect">
                <a:avLst/>
              </a:prstGeom>
              <a:solidFill>
                <a:schemeClr val="tx2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709409">
                  <a:defRPr/>
                </a:pPr>
                <a:endParaRPr lang="fr-FR" sz="1225" kern="0">
                  <a:solidFill>
                    <a:srgbClr val="FFFFFF"/>
                  </a:solidFill>
                  <a:latin typeface="Arial Nova" panose="020B0504020202020204" pitchFamily="34" charset="0"/>
                </a:endParaRPr>
              </a:p>
            </p:txBody>
          </p:sp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2190B31A-D086-8F7E-A2C6-7BF2B9F8786E}"/>
                  </a:ext>
                </a:extLst>
              </p:cNvPr>
              <p:cNvSpPr txBox="1"/>
              <p:nvPr/>
            </p:nvSpPr>
            <p:spPr>
              <a:xfrm>
                <a:off x="2150301" y="4117652"/>
                <a:ext cx="1336020" cy="5880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Minutes </a:t>
                </a:r>
              </a:p>
              <a:p>
                <a:pPr algn="ctr" defTabSz="709409">
                  <a:defRPr/>
                </a:pPr>
                <a:r>
                  <a:rPr lang="fr-FR" sz="953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" panose="020B0604020202020204" pitchFamily="34" charset="0"/>
                  </a:rPr>
                  <a:t>voix</a:t>
                </a:r>
                <a:endParaRPr lang="fr-FR" sz="680" kern="0">
                  <a:solidFill>
                    <a:schemeClr val="bg1"/>
                  </a:solidFill>
                  <a:latin typeface="Arial Nova" panose="020B05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DD274F41-3C42-9D5A-5343-C5EBE9840968}"/>
                  </a:ext>
                </a:extLst>
              </p:cNvPr>
              <p:cNvSpPr txBox="1"/>
              <p:nvPr/>
            </p:nvSpPr>
            <p:spPr>
              <a:xfrm>
                <a:off x="2127764" y="3480210"/>
                <a:ext cx="1423882" cy="7795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709409">
                  <a:defRPr/>
                </a:pPr>
                <a:r>
                  <a:rPr lang="fr-FR" sz="1361" b="1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 Black" panose="020B0604020202020204" pitchFamily="34" charset="0"/>
                  </a:rPr>
                  <a:t>20</a:t>
                </a:r>
              </a:p>
              <a:p>
                <a:pPr algn="ctr" defTabSz="709409">
                  <a:defRPr/>
                </a:pPr>
                <a:r>
                  <a:rPr lang="fr-FR" sz="1361" b="1" kern="0">
                    <a:solidFill>
                      <a:schemeClr val="bg1"/>
                    </a:solidFill>
                    <a:latin typeface="Arial Nova" panose="020B0504020202020204" pitchFamily="34" charset="0"/>
                    <a:cs typeface="Arial Black" panose="020B0604020202020204" pitchFamily="34" charset="0"/>
                  </a:rPr>
                  <a:t>Millions</a:t>
                </a:r>
              </a:p>
            </p:txBody>
          </p:sp>
        </p:grpSp>
      </p:grpSp>
      <p:sp>
        <p:nvSpPr>
          <p:cNvPr id="70" name="Espace réservé du texte 1">
            <a:extLst>
              <a:ext uri="{FF2B5EF4-FFF2-40B4-BE49-F238E27FC236}">
                <a16:creationId xmlns:a16="http://schemas.microsoft.com/office/drawing/2014/main" id="{CEA649CC-DF0B-674D-75C0-BAEDBAA37721}"/>
              </a:ext>
            </a:extLst>
          </p:cNvPr>
          <p:cNvSpPr txBox="1">
            <a:spLocks/>
          </p:cNvSpPr>
          <p:nvPr/>
        </p:nvSpPr>
        <p:spPr>
          <a:xfrm>
            <a:off x="631350" y="183049"/>
            <a:ext cx="6997352" cy="5944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425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764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764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861">
                <a:latin typeface="Century Gothic" panose="020B0502020202020204" pitchFamily="34" charset="0"/>
              </a:rPr>
              <a:t>L’expertise métier comme réponse à vos enjeux Télécom </a:t>
            </a:r>
            <a:r>
              <a:rPr lang="fr-FR" sz="1861">
                <a:solidFill>
                  <a:srgbClr val="E94B57"/>
                </a:solidFill>
                <a:latin typeface="Century Gothic" panose="020B0502020202020204" pitchFamily="34" charset="0"/>
              </a:rPr>
              <a:t>Opérateur &amp; Téléphonie</a:t>
            </a:r>
          </a:p>
          <a:p>
            <a:endParaRPr lang="fr-FR" sz="1861">
              <a:latin typeface="Century Gothic" panose="020B0502020202020204" pitchFamily="34" charset="0"/>
            </a:endParaRP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8EAC1F59-2FF3-07F5-BBC0-570A06B4BF7B}"/>
              </a:ext>
            </a:extLst>
          </p:cNvPr>
          <p:cNvSpPr txBox="1"/>
          <p:nvPr/>
        </p:nvSpPr>
        <p:spPr>
          <a:xfrm>
            <a:off x="631350" y="1094031"/>
            <a:ext cx="7093716" cy="8740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Century Gothic" panose="020B0502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fr-FR" sz="1270">
                <a:latin typeface="Arial Nova" panose="020B0504020202020204" pitchFamily="34" charset="0"/>
                <a:sym typeface="Open Sans"/>
              </a:rPr>
              <a:t>Nous avons créé dès 2012 </a:t>
            </a:r>
            <a:r>
              <a:rPr lang="fr-FR" sz="1270" b="1">
                <a:latin typeface="Arial Nova" panose="020B0504020202020204" pitchFamily="34" charset="0"/>
                <a:sym typeface="Open Sans"/>
              </a:rPr>
              <a:t>l’usine Télécom Koesio Networks</a:t>
            </a:r>
            <a:r>
              <a:rPr lang="fr-FR" sz="1270">
                <a:latin typeface="Arial Nova" panose="020B0504020202020204" pitchFamily="34" charset="0"/>
                <a:sym typeface="Open Sans"/>
              </a:rPr>
              <a:t> qui opère la mise en production des liens internet, de la voix et des forfaits mobiles, conscient des enjeux vitaux que représente la communication unifiée. Ainsi, nos </a:t>
            </a:r>
            <a:r>
              <a:rPr lang="fr-FR" sz="1270" b="1">
                <a:latin typeface="Arial Nova" panose="020B0504020202020204" pitchFamily="34" charset="0"/>
                <a:sym typeface="Open Sans"/>
              </a:rPr>
              <a:t>entités régionales </a:t>
            </a:r>
            <a:r>
              <a:rPr lang="fr-FR" sz="1270">
                <a:latin typeface="Arial Nova" panose="020B0504020202020204" pitchFamily="34" charset="0"/>
                <a:sym typeface="Open Sans"/>
              </a:rPr>
              <a:t>peuvent ainsi se concentrer sur leur cœur de métier : </a:t>
            </a:r>
            <a:r>
              <a:rPr lang="fr-FR" sz="1270" b="1">
                <a:latin typeface="Arial Nova" panose="020B0504020202020204" pitchFamily="34" charset="0"/>
                <a:sym typeface="Open Sans"/>
              </a:rPr>
              <a:t>le conseil et la satisfaction de nos clients.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E4DE61D-6987-62A0-49DA-09EC796278EF}"/>
              </a:ext>
            </a:extLst>
          </p:cNvPr>
          <p:cNvSpPr txBox="1"/>
          <p:nvPr/>
        </p:nvSpPr>
        <p:spPr>
          <a:xfrm>
            <a:off x="754036" y="2263670"/>
            <a:ext cx="4018829" cy="4363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13" b="1">
                <a:latin typeface="Arial Nova" panose="020B0504020202020204" pitchFamily="34" charset="0"/>
                <a:sym typeface="Open Sans"/>
              </a:rPr>
              <a:t>La force de notre offre </a:t>
            </a:r>
          </a:p>
          <a:p>
            <a:r>
              <a:rPr lang="fr-FR" sz="1813" b="1">
                <a:latin typeface="Arial Nova" panose="020B0504020202020204" pitchFamily="34" charset="0"/>
                <a:sym typeface="Open Sans"/>
              </a:rPr>
              <a:t>Opérateur &amp; Téléphonie</a:t>
            </a:r>
          </a:p>
          <a:p>
            <a:pPr marL="221690" indent="-221690">
              <a:buFont typeface="Arial" panose="020B0604020202020204" pitchFamily="34" charset="0"/>
              <a:buChar char="•"/>
            </a:pPr>
            <a:endParaRPr lang="fr-FR" sz="1270">
              <a:latin typeface="Arial Nova" panose="020B0504020202020204" pitchFamily="34" charset="0"/>
            </a:endParaRPr>
          </a:p>
          <a:p>
            <a:pPr marL="221690" indent="-221690">
              <a:buFont typeface="Arial" panose="020B0604020202020204" pitchFamily="34" charset="0"/>
              <a:buChar char="•"/>
            </a:pPr>
            <a:r>
              <a:rPr lang="fr-FR" sz="1270">
                <a:latin typeface="Arial Nova" panose="020B0504020202020204" pitchFamily="34" charset="0"/>
              </a:rPr>
              <a:t>Fort de </a:t>
            </a:r>
            <a:r>
              <a:rPr lang="fr-FR" sz="1270" b="1">
                <a:latin typeface="Arial Nova" panose="020B0504020202020204" pitchFamily="34" charset="0"/>
              </a:rPr>
              <a:t>notre propre fibre </a:t>
            </a:r>
            <a:r>
              <a:rPr lang="fr-FR" sz="1270" b="1" err="1">
                <a:latin typeface="Arial Nova" panose="020B0504020202020204" pitchFamily="34" charset="0"/>
              </a:rPr>
              <a:t>Koesio</a:t>
            </a:r>
            <a:r>
              <a:rPr lang="fr-FR" sz="1270">
                <a:latin typeface="Arial Nova" panose="020B0504020202020204" pitchFamily="34" charset="0"/>
              </a:rPr>
              <a:t>, nous avons mis en place une </a:t>
            </a:r>
            <a:r>
              <a:rPr lang="fr-FR" sz="1270" b="1">
                <a:latin typeface="Arial Nova" panose="020B0504020202020204" pitchFamily="34" charset="0"/>
              </a:rPr>
              <a:t>infrastructure Télécom puissante </a:t>
            </a:r>
            <a:r>
              <a:rPr lang="fr-FR" sz="1270">
                <a:latin typeface="Arial Nova" panose="020B0504020202020204" pitchFamily="34" charset="0"/>
              </a:rPr>
              <a:t>(70 points de présence POP) pour garantir la qualité et la résilience de nos liens.</a:t>
            </a:r>
          </a:p>
          <a:p>
            <a:pPr marL="221690" indent="-221690">
              <a:buFont typeface="Arial" panose="020B0604020202020204" pitchFamily="34" charset="0"/>
              <a:buChar char="•"/>
            </a:pPr>
            <a:endParaRPr lang="fr-FR" sz="1270">
              <a:latin typeface="Arial Nova" panose="020B0504020202020204" pitchFamily="34" charset="0"/>
            </a:endParaRPr>
          </a:p>
          <a:p>
            <a:pPr marL="221690" indent="-221690">
              <a:buFont typeface="Arial" panose="020B0604020202020204" pitchFamily="34" charset="0"/>
              <a:buChar char="•"/>
            </a:pPr>
            <a:r>
              <a:rPr lang="fr-FR" sz="1270">
                <a:latin typeface="Arial Nova" panose="020B0504020202020204" pitchFamily="34" charset="0"/>
              </a:rPr>
              <a:t>Parmi les rares titulaires d’une </a:t>
            </a:r>
            <a:r>
              <a:rPr lang="fr-FR" sz="1270" b="1">
                <a:latin typeface="Arial Nova" panose="020B0504020202020204" pitchFamily="34" charset="0"/>
              </a:rPr>
              <a:t>MVNO avec Orange</a:t>
            </a:r>
            <a:r>
              <a:rPr lang="fr-FR" sz="1270">
                <a:latin typeface="Arial Nova" panose="020B0504020202020204" pitchFamily="34" charset="0"/>
              </a:rPr>
              <a:t>, nous apportons le service client dédié de proximité pour nos </a:t>
            </a:r>
            <a:r>
              <a:rPr lang="fr-FR" sz="1270" b="1">
                <a:latin typeface="Arial Nova" panose="020B0504020202020204" pitchFamily="34" charset="0"/>
              </a:rPr>
              <a:t>forfaits mobiles</a:t>
            </a:r>
            <a:r>
              <a:rPr lang="fr-FR" sz="1270">
                <a:latin typeface="Arial Nova" panose="020B0504020202020204" pitchFamily="34" charset="0"/>
              </a:rPr>
              <a:t>.</a:t>
            </a:r>
          </a:p>
          <a:p>
            <a:pPr marL="221690" indent="-221690">
              <a:buFont typeface="Arial" panose="020B0604020202020204" pitchFamily="34" charset="0"/>
              <a:buChar char="•"/>
            </a:pPr>
            <a:endParaRPr lang="fr-FR" sz="1270">
              <a:latin typeface="Arial Nova" panose="020B0504020202020204" pitchFamily="34" charset="0"/>
            </a:endParaRPr>
          </a:p>
          <a:p>
            <a:pPr marL="221690" indent="-221690">
              <a:buFont typeface="Arial" panose="020B0604020202020204" pitchFamily="34" charset="0"/>
              <a:buChar char="•"/>
            </a:pPr>
            <a:r>
              <a:rPr lang="fr-FR" sz="1270">
                <a:latin typeface="Arial Nova" panose="020B0504020202020204" pitchFamily="34" charset="0"/>
              </a:rPr>
              <a:t>Grâce à nos </a:t>
            </a:r>
            <a:r>
              <a:rPr lang="fr-FR" sz="1270" b="1">
                <a:latin typeface="Arial Nova" panose="020B0504020202020204" pitchFamily="34" charset="0"/>
              </a:rPr>
              <a:t>offres informatiques</a:t>
            </a:r>
            <a:r>
              <a:rPr lang="fr-FR" sz="1270">
                <a:latin typeface="Arial Nova" panose="020B0504020202020204" pitchFamily="34" charset="0"/>
              </a:rPr>
              <a:t>, nous complétons nos propositions de </a:t>
            </a:r>
            <a:r>
              <a:rPr lang="fr-FR" sz="1270" b="1">
                <a:latin typeface="Arial Nova" panose="020B0504020202020204" pitchFamily="34" charset="0"/>
              </a:rPr>
              <a:t>solutions de sécurité </a:t>
            </a:r>
            <a:r>
              <a:rPr lang="fr-FR" sz="1270">
                <a:latin typeface="Arial Nova" panose="020B0504020202020204" pitchFamily="34" charset="0"/>
              </a:rPr>
              <a:t>essentielles pour vous protéger.</a:t>
            </a:r>
          </a:p>
          <a:p>
            <a:pPr marL="221690" indent="-221690">
              <a:buFont typeface="Arial" panose="020B0604020202020204" pitchFamily="34" charset="0"/>
              <a:buChar char="•"/>
            </a:pPr>
            <a:endParaRPr lang="fr-FR" sz="1270">
              <a:latin typeface="Arial Nova" panose="020B0504020202020204" pitchFamily="34" charset="0"/>
            </a:endParaRPr>
          </a:p>
          <a:p>
            <a:pPr marL="221690" indent="-221690">
              <a:buFont typeface="Arial" panose="020B0604020202020204" pitchFamily="34" charset="0"/>
              <a:buChar char="•"/>
            </a:pPr>
            <a:r>
              <a:rPr lang="fr-FR" sz="1270">
                <a:latin typeface="Arial Nova" panose="020B0504020202020204" pitchFamily="34" charset="0"/>
              </a:rPr>
              <a:t>Nos </a:t>
            </a:r>
            <a:r>
              <a:rPr lang="fr-FR" sz="1270" b="1">
                <a:latin typeface="Arial Nova" panose="020B0504020202020204" pitchFamily="34" charset="0"/>
              </a:rPr>
              <a:t>contrats de maintenance </a:t>
            </a:r>
            <a:r>
              <a:rPr lang="fr-FR" sz="1270">
                <a:latin typeface="Arial Nova" panose="020B0504020202020204" pitchFamily="34" charset="0"/>
              </a:rPr>
              <a:t>vous permettent une </a:t>
            </a:r>
            <a:r>
              <a:rPr lang="fr-FR" sz="1270" b="1">
                <a:latin typeface="Arial Nova" panose="020B0504020202020204" pitchFamily="34" charset="0"/>
              </a:rPr>
              <a:t>garantie de votre matériel de téléphonie</a:t>
            </a:r>
            <a:r>
              <a:rPr lang="fr-FR" sz="1270">
                <a:latin typeface="Arial Nova" panose="020B0504020202020204" pitchFamily="34" charset="0"/>
              </a:rPr>
              <a:t>, et nos offres de financement un renouvellement régulier de votre matériel, à la vitesse des innovations technologiques.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193EF4-DB40-C246-53CE-00FC12D83A72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9F55453-A8A3-CCED-1850-9F26E559024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80896" y="6494386"/>
            <a:ext cx="994232" cy="25441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1363B31-356C-8B60-0CAA-1663F46B97DA}"/>
              </a:ext>
            </a:extLst>
          </p:cNvPr>
          <p:cNvSpPr/>
          <p:nvPr/>
        </p:nvSpPr>
        <p:spPr>
          <a:xfrm>
            <a:off x="103292" y="274396"/>
            <a:ext cx="501009" cy="172166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/>
            <a:endParaRPr lang="fr-FR" sz="1633" kern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0309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A795F79-E10F-8CC4-179B-FEC73D03879E}"/>
              </a:ext>
            </a:extLst>
          </p:cNvPr>
          <p:cNvSpPr/>
          <p:nvPr/>
        </p:nvSpPr>
        <p:spPr>
          <a:xfrm>
            <a:off x="288125" y="3233140"/>
            <a:ext cx="9514376" cy="3624860"/>
          </a:xfrm>
          <a:prstGeom prst="rect">
            <a:avLst/>
          </a:prstGeom>
          <a:solidFill>
            <a:srgbClr val="E94B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32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92C5C24-1C82-FEF1-BC0D-952984EB2FB1}"/>
              </a:ext>
            </a:extLst>
          </p:cNvPr>
          <p:cNvSpPr/>
          <p:nvPr/>
        </p:nvSpPr>
        <p:spPr>
          <a:xfrm>
            <a:off x="6764454" y="1952560"/>
            <a:ext cx="2194654" cy="2193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32"/>
          </a:p>
        </p:txBody>
      </p:sp>
      <p:sp>
        <p:nvSpPr>
          <p:cNvPr id="8" name="Espace réservé du texte 1">
            <a:extLst>
              <a:ext uri="{FF2B5EF4-FFF2-40B4-BE49-F238E27FC236}">
                <a16:creationId xmlns:a16="http://schemas.microsoft.com/office/drawing/2014/main" id="{384D4F7E-06D1-47E8-1A68-C21F8BF8AF2D}"/>
              </a:ext>
            </a:extLst>
          </p:cNvPr>
          <p:cNvSpPr txBox="1">
            <a:spLocks/>
          </p:cNvSpPr>
          <p:nvPr/>
        </p:nvSpPr>
        <p:spPr>
          <a:xfrm>
            <a:off x="788431" y="757368"/>
            <a:ext cx="6487262" cy="3525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tx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425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764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764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3266">
                <a:latin typeface="Century Gothic" panose="020B0502020202020204" pitchFamily="34" charset="0"/>
              </a:rPr>
              <a:t>          </a:t>
            </a:r>
            <a:r>
              <a:rPr lang="fr-FR" sz="3266" err="1">
                <a:latin typeface="Century Gothic" panose="020B0502020202020204" pitchFamily="34" charset="0"/>
              </a:rPr>
              <a:t>oi</a:t>
            </a:r>
            <a:r>
              <a:rPr lang="fr-FR" sz="3266">
                <a:latin typeface="Century Gothic" panose="020B0502020202020204" pitchFamily="34" charset="0"/>
              </a:rPr>
              <a:t> de neuf ?</a:t>
            </a:r>
          </a:p>
        </p:txBody>
      </p:sp>
      <p:sp>
        <p:nvSpPr>
          <p:cNvPr id="10" name="Espace réservé du texte 3">
            <a:extLst>
              <a:ext uri="{FF2B5EF4-FFF2-40B4-BE49-F238E27FC236}">
                <a16:creationId xmlns:a16="http://schemas.microsoft.com/office/drawing/2014/main" id="{49A9A943-31DC-0978-7867-40A7EAFA9D19}"/>
              </a:ext>
            </a:extLst>
          </p:cNvPr>
          <p:cNvSpPr txBox="1">
            <a:spLocks/>
          </p:cNvSpPr>
          <p:nvPr/>
        </p:nvSpPr>
        <p:spPr>
          <a:xfrm>
            <a:off x="1463935" y="4759761"/>
            <a:ext cx="1637800" cy="1124640"/>
          </a:xfrm>
          <a:prstGeom prst="rect">
            <a:avLst/>
          </a:prstGeom>
        </p:spPr>
        <p:txBody>
          <a:bodyPr vert="horz" lIns="82953" tIns="41476" rIns="82953" bIns="41476" rtlCol="0" anchor="t"/>
          <a:lstStyle>
            <a:defPPr>
              <a:defRPr lang="en-US"/>
            </a:defPPr>
            <a:lvl1pPr marL="0" algn="r" defTabSz="457200" rtl="0" eaLnBrk="1" latinLnBrk="0" hangingPunct="1">
              <a:defRPr sz="113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089" b="1">
                <a:solidFill>
                  <a:schemeClr val="bg1"/>
                </a:solidFill>
                <a:latin typeface="Arial Nova" panose="020B0504020202020204" pitchFamily="34" charset="0"/>
              </a:rPr>
              <a:t>L’informatique managée des TPE / PME pour apporter le service à vos utilisateurs.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95AF983E-8E2D-7DDE-99CB-9FD4810131E8}"/>
              </a:ext>
            </a:extLst>
          </p:cNvPr>
          <p:cNvSpPr txBox="1">
            <a:spLocks/>
          </p:cNvSpPr>
          <p:nvPr/>
        </p:nvSpPr>
        <p:spPr>
          <a:xfrm>
            <a:off x="1250478" y="4366554"/>
            <a:ext cx="2064716" cy="330358"/>
          </a:xfrm>
          <a:prstGeom prst="rect">
            <a:avLst/>
          </a:prstGeom>
        </p:spPr>
        <p:txBody>
          <a:bodyPr/>
          <a:lstStyle>
            <a:lvl1pPr marL="215498" indent="-215498" algn="l" defTabSz="861993" rtl="0" eaLnBrk="1" latinLnBrk="0" hangingPunct="1">
              <a:lnSpc>
                <a:spcPct val="90000"/>
              </a:lnSpc>
              <a:spcBef>
                <a:spcPts val="942"/>
              </a:spcBef>
              <a:buFont typeface="Arial" panose="020B0604020202020204" pitchFamily="34" charset="0"/>
              <a:buChar char="•"/>
              <a:defRPr sz="26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649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22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7491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8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08487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948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0481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1477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247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63470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2394" b="1">
                <a:solidFill>
                  <a:schemeClr val="bg1"/>
                </a:solidFill>
                <a:latin typeface="Arial Nova" panose="020B0504020202020204" pitchFamily="34" charset="0"/>
              </a:rPr>
              <a:t>Be </a:t>
            </a:r>
            <a:r>
              <a:rPr lang="fr-FR" sz="2394" b="1" err="1">
                <a:solidFill>
                  <a:schemeClr val="bg1"/>
                </a:solidFill>
                <a:latin typeface="Arial Nova" panose="020B0504020202020204" pitchFamily="34" charset="0"/>
              </a:rPr>
              <a:t>Proactiv</a:t>
            </a:r>
            <a:endParaRPr lang="fr-FR" sz="2394" b="1">
              <a:solidFill>
                <a:schemeClr val="bg1"/>
              </a:solidFill>
              <a:latin typeface="Arial Nova" panose="020B0504020202020204" pitchFamily="34" charset="0"/>
            </a:endParaRPr>
          </a:p>
        </p:txBody>
      </p:sp>
      <p:sp>
        <p:nvSpPr>
          <p:cNvPr id="14" name="Espace réservé du texte 6">
            <a:extLst>
              <a:ext uri="{FF2B5EF4-FFF2-40B4-BE49-F238E27FC236}">
                <a16:creationId xmlns:a16="http://schemas.microsoft.com/office/drawing/2014/main" id="{FBD3AFA6-D43E-DAA6-881D-908FABB59D7A}"/>
              </a:ext>
            </a:extLst>
          </p:cNvPr>
          <p:cNvSpPr txBox="1">
            <a:spLocks/>
          </p:cNvSpPr>
          <p:nvPr/>
        </p:nvSpPr>
        <p:spPr>
          <a:xfrm>
            <a:off x="4085136" y="4759761"/>
            <a:ext cx="2064716" cy="978733"/>
          </a:xfrm>
          <a:prstGeom prst="rect">
            <a:avLst/>
          </a:prstGeom>
        </p:spPr>
        <p:txBody>
          <a:bodyPr anchor="t"/>
          <a:lstStyle>
            <a:lvl1pPr marL="215498" indent="-215498" algn="l" defTabSz="861993" rtl="0" eaLnBrk="1" latinLnBrk="0" hangingPunct="1">
              <a:lnSpc>
                <a:spcPct val="90000"/>
              </a:lnSpc>
              <a:spcBef>
                <a:spcPts val="942"/>
              </a:spcBef>
              <a:buFont typeface="Arial" panose="020B0604020202020204" pitchFamily="34" charset="0"/>
              <a:buChar char="•"/>
              <a:defRPr sz="26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649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22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7491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8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08487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948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0481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1477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247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63470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414762">
              <a:spcBef>
                <a:spcPts val="0"/>
              </a:spcBef>
              <a:buNone/>
            </a:pPr>
            <a:r>
              <a:rPr lang="fr-FR" sz="1089" b="1">
                <a:solidFill>
                  <a:schemeClr val="bg1"/>
                </a:solidFill>
                <a:latin typeface="Arial Nova" panose="020B0504020202020204" pitchFamily="34" charset="0"/>
              </a:rPr>
              <a:t>L’écran tactile </a:t>
            </a:r>
          </a:p>
          <a:p>
            <a:pPr marL="0" indent="0" algn="ctr" defTabSz="414762">
              <a:spcBef>
                <a:spcPts val="0"/>
              </a:spcBef>
              <a:buNone/>
            </a:pPr>
            <a:r>
              <a:rPr lang="fr-FR" sz="1089" b="1">
                <a:solidFill>
                  <a:schemeClr val="bg1"/>
                </a:solidFill>
                <a:latin typeface="Arial Nova" panose="020B0504020202020204" pitchFamily="34" charset="0"/>
              </a:rPr>
              <a:t>by </a:t>
            </a:r>
            <a:r>
              <a:rPr lang="fr-FR" sz="1089" b="1" err="1">
                <a:solidFill>
                  <a:schemeClr val="bg1"/>
                </a:solidFill>
                <a:latin typeface="Arial Nova" panose="020B0504020202020204" pitchFamily="34" charset="0"/>
              </a:rPr>
              <a:t>Koesio</a:t>
            </a:r>
            <a:r>
              <a:rPr lang="fr-FR" sz="1089" b="1">
                <a:solidFill>
                  <a:schemeClr val="bg1"/>
                </a:solidFill>
                <a:latin typeface="Arial Nova" panose="020B0504020202020204" pitchFamily="34" charset="0"/>
              </a:rPr>
              <a:t> vous apporte design et efficacité pour vos salles de réunion.</a:t>
            </a:r>
          </a:p>
        </p:txBody>
      </p:sp>
      <p:sp>
        <p:nvSpPr>
          <p:cNvPr id="16" name="Espace réservé du texte 11">
            <a:extLst>
              <a:ext uri="{FF2B5EF4-FFF2-40B4-BE49-F238E27FC236}">
                <a16:creationId xmlns:a16="http://schemas.microsoft.com/office/drawing/2014/main" id="{4271D354-A69A-E584-B067-833413A2DC40}"/>
              </a:ext>
            </a:extLst>
          </p:cNvPr>
          <p:cNvSpPr txBox="1">
            <a:spLocks/>
          </p:cNvSpPr>
          <p:nvPr/>
        </p:nvSpPr>
        <p:spPr>
          <a:xfrm>
            <a:off x="4085137" y="4445402"/>
            <a:ext cx="2064716" cy="330358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15498" indent="-215498" algn="l" defTabSz="861993" rtl="0" eaLnBrk="1" latinLnBrk="0" hangingPunct="1">
              <a:lnSpc>
                <a:spcPct val="90000"/>
              </a:lnSpc>
              <a:spcBef>
                <a:spcPts val="942"/>
              </a:spcBef>
              <a:buFont typeface="Arial" panose="020B0604020202020204" pitchFamily="34" charset="0"/>
              <a:buChar char="•"/>
              <a:defRPr sz="26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649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22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7491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8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08487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948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0481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1477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247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63470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2394" b="1">
                <a:solidFill>
                  <a:schemeClr val="bg1"/>
                </a:solidFill>
                <a:latin typeface="Arial Nova" panose="020B0504020202020204" pitchFamily="34" charset="0"/>
              </a:rPr>
              <a:t>Screen ISI </a:t>
            </a:r>
            <a:r>
              <a:rPr lang="fr-FR" sz="2394" b="1" err="1">
                <a:solidFill>
                  <a:schemeClr val="bg1"/>
                </a:solidFill>
                <a:latin typeface="Arial Nova" panose="020B0504020202020204" pitchFamily="34" charset="0"/>
              </a:rPr>
              <a:t>Touch</a:t>
            </a:r>
            <a:endParaRPr lang="fr-FR" sz="2394" b="1">
              <a:solidFill>
                <a:schemeClr val="bg1"/>
              </a:solidFill>
              <a:latin typeface="Arial Nova" panose="020B0504020202020204" pitchFamily="34" charset="0"/>
            </a:endParaRPr>
          </a:p>
        </p:txBody>
      </p:sp>
      <p:sp>
        <p:nvSpPr>
          <p:cNvPr id="18" name="AutoShape 4">
            <a:extLst>
              <a:ext uri="{FF2B5EF4-FFF2-40B4-BE49-F238E27FC236}">
                <a16:creationId xmlns:a16="http://schemas.microsoft.com/office/drawing/2014/main" id="{E493F19E-5AFD-68D9-3007-64E3EBD5BF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27037" y="3422540"/>
            <a:ext cx="276509" cy="276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82953" tIns="41476" rIns="82953" bIns="41476" numCol="1" anchor="t" anchorCtr="0" compatLnSpc="1">
            <a:prstTxWarp prst="textNoShape">
              <a:avLst/>
            </a:prstTxWarp>
          </a:bodyPr>
          <a:lstStyle/>
          <a:p>
            <a:endParaRPr lang="fr-FR" sz="1632"/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5B13BD93-36CA-8171-D01B-3A4E32F9C891}"/>
              </a:ext>
            </a:extLst>
          </p:cNvPr>
          <p:cNvGrpSpPr/>
          <p:nvPr/>
        </p:nvGrpSpPr>
        <p:grpSpPr>
          <a:xfrm>
            <a:off x="4046012" y="1955678"/>
            <a:ext cx="2279557" cy="2190010"/>
            <a:chOff x="3757905" y="1274211"/>
            <a:chExt cx="3179608" cy="305470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9E6E69A-E393-4A74-57FA-FBF44080783B}"/>
                </a:ext>
              </a:extLst>
            </p:cNvPr>
            <p:cNvSpPr/>
            <p:nvPr/>
          </p:nvSpPr>
          <p:spPr>
            <a:xfrm>
              <a:off x="3757905" y="3703234"/>
              <a:ext cx="3179608" cy="625682"/>
            </a:xfrm>
            <a:prstGeom prst="rect">
              <a:avLst/>
            </a:prstGeom>
            <a:solidFill>
              <a:srgbClr val="946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32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3A48B5A-F878-2E02-492B-4D0D26433EED}"/>
                </a:ext>
              </a:extLst>
            </p:cNvPr>
            <p:cNvSpPr/>
            <p:nvPr/>
          </p:nvSpPr>
          <p:spPr>
            <a:xfrm>
              <a:off x="3757905" y="1274211"/>
              <a:ext cx="3179608" cy="670250"/>
            </a:xfrm>
            <a:prstGeom prst="rect">
              <a:avLst/>
            </a:prstGeom>
            <a:solidFill>
              <a:srgbClr val="946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32"/>
            </a:p>
          </p:txBody>
        </p:sp>
        <p:pic>
          <p:nvPicPr>
            <p:cNvPr id="20" name="Image 19" descr="Une image contenant texte, capture d’écran, ligne, diagramme&#10;&#10;Description générée automatiquement">
              <a:extLst>
                <a:ext uri="{FF2B5EF4-FFF2-40B4-BE49-F238E27FC236}">
                  <a16:creationId xmlns:a16="http://schemas.microsoft.com/office/drawing/2014/main" id="{79360F83-745A-B43B-3A93-A62062C5B5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57905" y="1870578"/>
              <a:ext cx="3179608" cy="2119739"/>
            </a:xfrm>
            <a:prstGeom prst="rect">
              <a:avLst/>
            </a:prstGeom>
          </p:spPr>
        </p:pic>
      </p:grpSp>
      <p:pic>
        <p:nvPicPr>
          <p:cNvPr id="12" name="Picture 2">
            <a:extLst>
              <a:ext uri="{FF2B5EF4-FFF2-40B4-BE49-F238E27FC236}">
                <a16:creationId xmlns:a16="http://schemas.microsoft.com/office/drawing/2014/main" id="{747737A9-EECA-4B39-0796-722649CD6D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34973" y="1952560"/>
            <a:ext cx="2279557" cy="2193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7E4D33BB-F222-DDFB-03BC-64BFD22C51F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486971">
            <a:off x="7493962" y="2103500"/>
            <a:ext cx="950141" cy="18415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5" name="Espace réservé du texte 6">
            <a:extLst>
              <a:ext uri="{FF2B5EF4-FFF2-40B4-BE49-F238E27FC236}">
                <a16:creationId xmlns:a16="http://schemas.microsoft.com/office/drawing/2014/main" id="{FE283D48-32F8-2984-E61A-7F0F4236350D}"/>
              </a:ext>
            </a:extLst>
          </p:cNvPr>
          <p:cNvSpPr txBox="1">
            <a:spLocks/>
          </p:cNvSpPr>
          <p:nvPr/>
        </p:nvSpPr>
        <p:spPr>
          <a:xfrm>
            <a:off x="6890285" y="4759761"/>
            <a:ext cx="2064716" cy="978733"/>
          </a:xfrm>
          <a:prstGeom prst="rect">
            <a:avLst/>
          </a:prstGeom>
        </p:spPr>
        <p:txBody>
          <a:bodyPr anchor="t"/>
          <a:lstStyle>
            <a:lvl1pPr marL="215498" indent="-215498" algn="l" defTabSz="861993" rtl="0" eaLnBrk="1" latinLnBrk="0" hangingPunct="1">
              <a:lnSpc>
                <a:spcPct val="90000"/>
              </a:lnSpc>
              <a:spcBef>
                <a:spcPts val="942"/>
              </a:spcBef>
              <a:buFont typeface="Arial" panose="020B0604020202020204" pitchFamily="34" charset="0"/>
              <a:buChar char="•"/>
              <a:defRPr sz="26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649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22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7491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8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08487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948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0481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1477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247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63470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414762">
              <a:spcBef>
                <a:spcPts val="0"/>
              </a:spcBef>
              <a:buNone/>
            </a:pPr>
            <a:r>
              <a:rPr lang="fr-FR" sz="1089" b="1" err="1">
                <a:solidFill>
                  <a:schemeClr val="bg1"/>
                </a:solidFill>
                <a:latin typeface="Arial Nova" panose="020B0504020202020204" pitchFamily="34" charset="0"/>
              </a:rPr>
              <a:t>Koesio</a:t>
            </a:r>
            <a:r>
              <a:rPr lang="fr-FR" sz="1089" b="1">
                <a:solidFill>
                  <a:schemeClr val="bg1"/>
                </a:solidFill>
                <a:latin typeface="Arial Nova" panose="020B0504020202020204" pitchFamily="34" charset="0"/>
              </a:rPr>
              <a:t> est MVNO d’Orange pour vous apporter le meilleur des 2 mondes, le réseau n°1 et un service de proximité.</a:t>
            </a:r>
          </a:p>
        </p:txBody>
      </p:sp>
      <p:sp>
        <p:nvSpPr>
          <p:cNvPr id="26" name="text:typogr">
            <a:extLst>
              <a:ext uri="{FF2B5EF4-FFF2-40B4-BE49-F238E27FC236}">
                <a16:creationId xmlns:a16="http://schemas.microsoft.com/office/drawing/2014/main" id="{E98F62F7-C5A7-F6F0-2D09-002A4A71516F}"/>
              </a:ext>
            </a:extLst>
          </p:cNvPr>
          <p:cNvSpPr txBox="1">
            <a:spLocks/>
          </p:cNvSpPr>
          <p:nvPr/>
        </p:nvSpPr>
        <p:spPr>
          <a:xfrm>
            <a:off x="6890286" y="4428426"/>
            <a:ext cx="2064716" cy="33035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15498" indent="-215498" algn="l" defTabSz="861993" rtl="0" eaLnBrk="1" latinLnBrk="0" hangingPunct="1">
              <a:lnSpc>
                <a:spcPct val="90000"/>
              </a:lnSpc>
              <a:spcBef>
                <a:spcPts val="942"/>
              </a:spcBef>
              <a:buFont typeface="Arial" panose="020B0604020202020204" pitchFamily="34" charset="0"/>
              <a:buChar char="•"/>
              <a:defRPr sz="26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649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22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7491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8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08487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3948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0481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1477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2474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63470" indent="-215498" algn="l" defTabSz="861993" rtl="0" eaLnBrk="1" latinLnBrk="0" hangingPunct="1">
              <a:lnSpc>
                <a:spcPct val="90000"/>
              </a:lnSpc>
              <a:spcBef>
                <a:spcPts val="471"/>
              </a:spcBef>
              <a:buFont typeface="Arial" panose="020B0604020202020204" pitchFamily="34" charset="0"/>
              <a:buChar char="•"/>
              <a:defRPr sz="16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2394" b="1">
                <a:solidFill>
                  <a:schemeClr val="bg1"/>
                </a:solidFill>
                <a:latin typeface="Arial Nova" panose="020B0504020202020204" pitchFamily="34" charset="0"/>
              </a:rPr>
              <a:t>Forfait Mobile</a:t>
            </a:r>
          </a:p>
        </p:txBody>
      </p:sp>
      <p:pic>
        <p:nvPicPr>
          <p:cNvPr id="29" name="Image 28" descr="Une image contenant logo, Graphique, graphisme, symbole&#10;&#10;Description générée automatiquement">
            <a:extLst>
              <a:ext uri="{FF2B5EF4-FFF2-40B4-BE49-F238E27FC236}">
                <a16:creationId xmlns:a16="http://schemas.microsoft.com/office/drawing/2014/main" id="{DD72E4F2-6585-CADC-1ED0-58CBF445ECD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21347017">
            <a:off x="1483694" y="764945"/>
            <a:ext cx="549718" cy="55773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18EF81A-63B5-BABA-7CF1-BB1AD1C1B461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0C8D0F7-6FB0-EBB7-7BDB-CBF456AF5C0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80896" y="6494386"/>
            <a:ext cx="994232" cy="25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930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9EF477E2-C40B-53F2-4E73-E528D3A2C405}"/>
              </a:ext>
            </a:extLst>
          </p:cNvPr>
          <p:cNvSpPr/>
          <p:nvPr/>
        </p:nvSpPr>
        <p:spPr>
          <a:xfrm>
            <a:off x="805365" y="5679287"/>
            <a:ext cx="8295271" cy="862167"/>
          </a:xfrm>
          <a:prstGeom prst="rect">
            <a:avLst/>
          </a:prstGeom>
          <a:solidFill>
            <a:srgbClr val="E94C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96"/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DD2BCCD6-264C-4806-801D-90037C7EBF61}"/>
              </a:ext>
            </a:extLst>
          </p:cNvPr>
          <p:cNvGrpSpPr/>
          <p:nvPr/>
        </p:nvGrpSpPr>
        <p:grpSpPr>
          <a:xfrm>
            <a:off x="4321993" y="3172333"/>
            <a:ext cx="4653050" cy="927774"/>
            <a:chOff x="1309238" y="2090435"/>
            <a:chExt cx="4435954" cy="1195813"/>
          </a:xfrm>
        </p:grpSpPr>
        <p:sp>
          <p:nvSpPr>
            <p:cNvPr id="26" name="ZoneTexte 2">
              <a:extLst>
                <a:ext uri="{FF2B5EF4-FFF2-40B4-BE49-F238E27FC236}">
                  <a16:creationId xmlns:a16="http://schemas.microsoft.com/office/drawing/2014/main" id="{A86139E5-BF60-458F-9C83-52F185D91958}"/>
                </a:ext>
              </a:extLst>
            </p:cNvPr>
            <p:cNvSpPr txBox="1"/>
            <p:nvPr/>
          </p:nvSpPr>
          <p:spPr>
            <a:xfrm>
              <a:off x="1309239" y="2397817"/>
              <a:ext cx="3090948" cy="888431"/>
            </a:xfrm>
            <a:prstGeom prst="rect">
              <a:avLst/>
            </a:prstGeom>
            <a:noFill/>
          </p:spPr>
          <p:txBody>
            <a:bodyPr wrap="square" numCol="1" rtlCol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776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{{simulation.projet.utilisateur.agence.adresse1}}</a:t>
              </a:r>
            </a:p>
            <a:p>
              <a:r>
                <a:rPr lang="fr-FR" sz="776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{{simulation.projet.utilisateur.agence.adresse2}}</a:t>
              </a:r>
            </a:p>
            <a:p>
              <a:r>
                <a:rPr lang="fr-FR" sz="776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776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simulation.projet.utilisateur.agence.codePostal</a:t>
              </a:r>
              <a:r>
                <a:rPr lang="fr-FR" sz="776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  <a:p>
              <a:r>
                <a:rPr lang="fr-FR" sz="776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776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simulation.projet.utilisateur.agence.ville</a:t>
              </a:r>
              <a:r>
                <a:rPr lang="fr-FR" sz="776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  <a:p>
              <a:r>
                <a:rPr lang="fr-FR" sz="776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776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simulation.projet.utilisateur.agence.telephone</a:t>
              </a:r>
              <a:r>
                <a:rPr lang="fr-FR" sz="776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 </a:t>
              </a:r>
            </a:p>
          </p:txBody>
        </p:sp>
        <p:sp>
          <p:nvSpPr>
            <p:cNvPr id="27" name="ZoneTexte 3">
              <a:extLst>
                <a:ext uri="{FF2B5EF4-FFF2-40B4-BE49-F238E27FC236}">
                  <a16:creationId xmlns:a16="http://schemas.microsoft.com/office/drawing/2014/main" id="{B98D8036-2BAB-486D-8B68-E5D222374095}"/>
                </a:ext>
              </a:extLst>
            </p:cNvPr>
            <p:cNvSpPr txBox="1"/>
            <p:nvPr/>
          </p:nvSpPr>
          <p:spPr>
            <a:xfrm>
              <a:off x="1309238" y="2090435"/>
              <a:ext cx="4435954" cy="27289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776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Agence de {{</a:t>
              </a:r>
              <a:r>
                <a:rPr lang="fr-FR" sz="776" err="1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simulation.projet.utilisateur.agence.nom</a:t>
              </a:r>
              <a:r>
                <a:rPr lang="fr-FR" sz="776">
                  <a:solidFill>
                    <a:schemeClr val="bg2">
                      <a:lumMod val="25000"/>
                    </a:schemeClr>
                  </a:solidFill>
                  <a:latin typeface="Century Gothic" panose="020B0502020202020204" pitchFamily="34" charset="0"/>
                  <a:cs typeface="Arial" panose="020B0604020202020204" pitchFamily="34" charset="0"/>
                </a:rPr>
                <a:t>}}</a:t>
              </a:r>
            </a:p>
          </p:txBody>
        </p:sp>
      </p:grpSp>
      <p:sp>
        <p:nvSpPr>
          <p:cNvPr id="21" name="ZoneTexte 4">
            <a:extLst>
              <a:ext uri="{FF2B5EF4-FFF2-40B4-BE49-F238E27FC236}">
                <a16:creationId xmlns:a16="http://schemas.microsoft.com/office/drawing/2014/main" id="{7A1E36F9-11B4-4546-8BD5-9E3F780AF026}"/>
              </a:ext>
            </a:extLst>
          </p:cNvPr>
          <p:cNvSpPr txBox="1"/>
          <p:nvPr/>
        </p:nvSpPr>
        <p:spPr>
          <a:xfrm>
            <a:off x="4321995" y="1958749"/>
            <a:ext cx="4653050" cy="21172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776" b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776" b="1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simulation.projet.utilisateur.prenom</a:t>
            </a:r>
            <a:r>
              <a:rPr lang="fr-FR" sz="776" b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{{</a:t>
            </a:r>
            <a:r>
              <a:rPr lang="fr-FR" sz="776" b="1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simulation.projet.utilisateur.nom</a:t>
            </a:r>
            <a:r>
              <a:rPr lang="fr-FR" sz="776" b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22" name="ZoneTexte 5">
            <a:extLst>
              <a:ext uri="{FF2B5EF4-FFF2-40B4-BE49-F238E27FC236}">
                <a16:creationId xmlns:a16="http://schemas.microsoft.com/office/drawing/2014/main" id="{7CE2E556-393F-47B6-8154-E2C9CBD516AD}"/>
              </a:ext>
            </a:extLst>
          </p:cNvPr>
          <p:cNvSpPr txBox="1"/>
          <p:nvPr/>
        </p:nvSpPr>
        <p:spPr>
          <a:xfrm>
            <a:off x="4321994" y="2322587"/>
            <a:ext cx="2581339" cy="450508"/>
          </a:xfrm>
          <a:prstGeom prst="rect">
            <a:avLst/>
          </a:prstGeom>
          <a:noFill/>
        </p:spPr>
        <p:txBody>
          <a:bodyPr wrap="square" numCol="1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776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776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simulation.projet.utilisateur.fonction.libelle</a:t>
            </a:r>
            <a:r>
              <a:rPr lang="fr-FR" sz="776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  <a:p>
            <a:r>
              <a:rPr lang="fr-FR" sz="776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776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simulation.projet.utilisateur.telephone</a:t>
            </a:r>
            <a:r>
              <a:rPr lang="fr-FR" sz="776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</a:t>
            </a:r>
          </a:p>
          <a:p>
            <a:r>
              <a:rPr lang="fr-FR" sz="776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{{</a:t>
            </a:r>
            <a:r>
              <a:rPr lang="fr-FR" sz="776" err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simulation.projet.utilisateur.email</a:t>
            </a:r>
            <a:r>
              <a:rPr lang="fr-FR" sz="776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}} </a:t>
            </a:r>
          </a:p>
        </p:txBody>
      </p:sp>
      <p:pic>
        <p:nvPicPr>
          <p:cNvPr id="23" name="Image 22" descr="simulation.projet.utilisateur.imageModel">
            <a:extLst>
              <a:ext uri="{FF2B5EF4-FFF2-40B4-BE49-F238E27FC236}">
                <a16:creationId xmlns:a16="http://schemas.microsoft.com/office/drawing/2014/main" id="{540CED81-BD0A-453E-9948-FA30A2C1CC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61704" y="2280808"/>
            <a:ext cx="500640" cy="502754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</p:pic>
      <p:pic>
        <p:nvPicPr>
          <p:cNvPr id="24" name="Image 23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4684AE28-7531-4A2C-B937-8E66BC2244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40396" y="2541184"/>
            <a:ext cx="1890355" cy="824299"/>
          </a:xfrm>
          <a:prstGeom prst="rect">
            <a:avLst/>
          </a:prstGeom>
        </p:spPr>
      </p:pic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EC0E3490-8873-4409-8CA5-98FA58BB64E0}"/>
              </a:ext>
            </a:extLst>
          </p:cNvPr>
          <p:cNvCxnSpPr/>
          <p:nvPr/>
        </p:nvCxnSpPr>
        <p:spPr>
          <a:xfrm>
            <a:off x="3911433" y="2064612"/>
            <a:ext cx="0" cy="19133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4F944ED9-DC5E-3F49-E7CD-3129A8E1A59A}"/>
              </a:ext>
            </a:extLst>
          </p:cNvPr>
          <p:cNvSpPr txBox="1"/>
          <p:nvPr/>
        </p:nvSpPr>
        <p:spPr>
          <a:xfrm>
            <a:off x="1049237" y="5996969"/>
            <a:ext cx="5564667" cy="259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87" b="1">
                <a:solidFill>
                  <a:schemeClr val="bg1"/>
                </a:solidFill>
                <a:latin typeface="Century Gothic" panose="020B0502020202020204" pitchFamily="34" charset="0"/>
              </a:rPr>
              <a:t>Retrouvez toute notre actualité sur www.koesio.com et sur nos réseaux sociaux !</a:t>
            </a:r>
          </a:p>
        </p:txBody>
      </p: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5BA8092E-CF58-00B3-09CA-1F27773E2355}"/>
              </a:ext>
            </a:extLst>
          </p:cNvPr>
          <p:cNvCxnSpPr>
            <a:cxnSpLocks/>
          </p:cNvCxnSpPr>
          <p:nvPr/>
        </p:nvCxnSpPr>
        <p:spPr>
          <a:xfrm>
            <a:off x="6825334" y="5961336"/>
            <a:ext cx="0" cy="30398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Image 31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2F3AE8E1-CF08-2DA7-D528-0BA5BE9FFC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9011" y="5996967"/>
            <a:ext cx="249172" cy="249172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FA676583-F7C5-260E-EFB8-9176933820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1328" y="5996967"/>
            <a:ext cx="249172" cy="249172"/>
          </a:xfrm>
          <a:prstGeom prst="rect">
            <a:avLst/>
          </a:prstGeom>
        </p:spPr>
      </p:pic>
      <p:pic>
        <p:nvPicPr>
          <p:cNvPr id="35" name="Image 34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4046D5FB-63AC-EE00-060B-CEB255E77E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93644" y="5996967"/>
            <a:ext cx="249172" cy="24917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027FA17-FC54-F58E-CCF3-358839F736C8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0"/>
          </a:p>
        </p:txBody>
      </p:sp>
    </p:spTree>
    <p:extLst>
      <p:ext uri="{BB962C8B-B14F-4D97-AF65-F5344CB8AC3E}">
        <p14:creationId xmlns:p14="http://schemas.microsoft.com/office/powerpoint/2010/main" val="3183021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4B2D1-1D4C-E4DF-BC76-A8665B738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538D3C9-4009-71B1-AB23-7B238D380B58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4772">
              <a:defRPr/>
            </a:pPr>
            <a:endParaRPr lang="fr-F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A9DE743-FBE7-7DE6-D94A-E737B0397E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63" r="6072" b="6495"/>
          <a:stretch/>
        </p:blipFill>
        <p:spPr>
          <a:xfrm>
            <a:off x="8950338" y="6001442"/>
            <a:ext cx="707670" cy="70767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72550CD-BD70-C2B4-BE56-5F62CDA9CB4C}"/>
              </a:ext>
            </a:extLst>
          </p:cNvPr>
          <p:cNvSpPr/>
          <p:nvPr/>
        </p:nvSpPr>
        <p:spPr>
          <a:xfrm>
            <a:off x="103292" y="274396"/>
            <a:ext cx="501009" cy="172166"/>
          </a:xfrm>
          <a:prstGeom prst="rect">
            <a:avLst/>
          </a:prstGeom>
          <a:solidFill>
            <a:srgbClr val="E94B5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>
              <a:defRPr/>
            </a:pPr>
            <a:endParaRPr lang="fr-FR" sz="1633" kern="0" dirty="0">
              <a:solidFill>
                <a:srgbClr val="F7A823"/>
              </a:solidFill>
              <a:latin typeface="Calibri" panose="020F0502020204030204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273145C-9520-BDA5-7554-FF48D65B7412}"/>
              </a:ext>
            </a:extLst>
          </p:cNvPr>
          <p:cNvSpPr txBox="1"/>
          <p:nvPr/>
        </p:nvSpPr>
        <p:spPr>
          <a:xfrm>
            <a:off x="7397885" y="37983"/>
            <a:ext cx="2404826" cy="2319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414772">
              <a:defRPr/>
            </a:pPr>
            <a:r>
              <a:rPr lang="fr-FR" sz="907" dirty="0">
                <a:solidFill>
                  <a:srgbClr val="434341"/>
                </a:solidFill>
                <a:latin typeface="Arial Nova" panose="020B0504020202020204" pitchFamily="34" charset="0"/>
              </a:rPr>
              <a:t>| Notre solution technique – Téléphonie fixe</a:t>
            </a:r>
          </a:p>
        </p:txBody>
      </p:sp>
      <p:sp>
        <p:nvSpPr>
          <p:cNvPr id="18" name="ZoneTexte 61">
            <a:extLst>
              <a:ext uri="{FF2B5EF4-FFF2-40B4-BE49-F238E27FC236}">
                <a16:creationId xmlns:a16="http://schemas.microsoft.com/office/drawing/2014/main" id="{B9131FC0-7C40-3C8B-D8B6-F03ABB6E7CFC}"/>
              </a:ext>
            </a:extLst>
          </p:cNvPr>
          <p:cNvSpPr txBox="1"/>
          <p:nvPr/>
        </p:nvSpPr>
        <p:spPr>
          <a:xfrm>
            <a:off x="674485" y="1076188"/>
            <a:ext cx="8393884" cy="315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buClr>
                <a:srgbClr val="F7A823"/>
              </a:buClr>
              <a:defRPr/>
            </a:pPr>
            <a:r>
              <a:rPr lang="fr-FR" sz="1452" b="1" dirty="0">
                <a:solidFill>
                  <a:srgbClr val="6E398E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Service Maintenance Premium Utilisateur </a:t>
            </a:r>
            <a:r>
              <a:rPr lang="fr-FR" sz="1452" b="1" dirty="0">
                <a:solidFill>
                  <a:srgbClr val="6E398E"/>
                </a:solidFill>
                <a:highlight>
                  <a:srgbClr val="FFFF00"/>
                </a:highlight>
                <a:latin typeface="Arial Nova" panose="020B0504020202020204" pitchFamily="34" charset="0"/>
                <a:cs typeface="Arial" panose="020B0604020202020204" pitchFamily="34" charset="0"/>
              </a:rPr>
              <a:t>(Achat)</a:t>
            </a:r>
          </a:p>
        </p:txBody>
      </p:sp>
      <p:sp>
        <p:nvSpPr>
          <p:cNvPr id="19" name="Espace réservé du contenu 2">
            <a:extLst>
              <a:ext uri="{FF2B5EF4-FFF2-40B4-BE49-F238E27FC236}">
                <a16:creationId xmlns:a16="http://schemas.microsoft.com/office/drawing/2014/main" id="{A7A12248-D472-166B-6AE0-BF9C6F320101}"/>
              </a:ext>
            </a:extLst>
          </p:cNvPr>
          <p:cNvSpPr>
            <a:spLocks noGrp="1"/>
          </p:cNvSpPr>
          <p:nvPr/>
        </p:nvSpPr>
        <p:spPr>
          <a:xfrm>
            <a:off x="674485" y="1436752"/>
            <a:ext cx="5225962" cy="1559558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600" b="1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b="0" i="1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829544">
              <a:spcBef>
                <a:spcPts val="907"/>
              </a:spcBef>
              <a:buClr>
                <a:srgbClr val="F7A823"/>
              </a:buClr>
              <a:buNone/>
              <a:defRPr/>
            </a:pP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</a:rPr>
              <a:t>Ayez l’esprit tranquille</a:t>
            </a:r>
            <a:r>
              <a:rPr lang="fr-FR" sz="1089" b="0" dirty="0">
                <a:solidFill>
                  <a:srgbClr val="434341"/>
                </a:solidFill>
                <a:latin typeface="Arial Nova" panose="020B0504020202020204" pitchFamily="34" charset="0"/>
              </a:rPr>
              <a:t>, Koesio vous offre un service exclusif, de qualité, clé en main. Ce service vous garantit de vous référer à un seul interlocuteur en matière de téléphonie et de trouver une réponse rapide à vos problématiques grâce à des équipes dédiées à votre structure. </a:t>
            </a:r>
          </a:p>
          <a:p>
            <a:pPr marL="0" indent="0" defTabSz="829544">
              <a:spcBef>
                <a:spcPts val="907"/>
              </a:spcBef>
              <a:buClr>
                <a:srgbClr val="F7A823"/>
              </a:buClr>
              <a:buNone/>
              <a:defRPr/>
            </a:pPr>
            <a:br>
              <a:rPr lang="fr-FR" sz="1089" b="0" dirty="0">
                <a:solidFill>
                  <a:srgbClr val="434341"/>
                </a:solidFill>
                <a:latin typeface="Arial Nova" panose="020B0504020202020204" pitchFamily="34" charset="0"/>
              </a:rPr>
            </a:br>
            <a:r>
              <a:rPr lang="fr-FR" sz="1089" b="0" dirty="0">
                <a:solidFill>
                  <a:srgbClr val="434341"/>
                </a:solidFill>
                <a:latin typeface="Arial Nova" panose="020B0504020202020204" pitchFamily="34" charset="0"/>
              </a:rPr>
              <a:t>Ce service </a:t>
            </a: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</a:rPr>
              <a:t>est inclus dans votre offre </a:t>
            </a:r>
            <a:r>
              <a:rPr lang="fr-FR" sz="1089" b="0" dirty="0">
                <a:solidFill>
                  <a:srgbClr val="434341"/>
                </a:solidFill>
                <a:latin typeface="Arial Nova" panose="020B0504020202020204" pitchFamily="34" charset="0"/>
              </a:rPr>
              <a:t>et n’est pas optionnel, soyez tranquille, Koesio se charge de votre système.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3A76875C-00B9-50CE-3B48-BEB8C269FC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2099" y="2125804"/>
            <a:ext cx="3445531" cy="5166805"/>
          </a:xfrm>
          <a:prstGeom prst="rect">
            <a:avLst/>
          </a:prstGeom>
        </p:spPr>
      </p:pic>
      <p:sp>
        <p:nvSpPr>
          <p:cNvPr id="21" name="Espace réservé du texte 26">
            <a:extLst>
              <a:ext uri="{FF2B5EF4-FFF2-40B4-BE49-F238E27FC236}">
                <a16:creationId xmlns:a16="http://schemas.microsoft.com/office/drawing/2014/main" id="{88A3E137-A1B8-534D-C84E-BFBC6FAA7CC7}"/>
              </a:ext>
            </a:extLst>
          </p:cNvPr>
          <p:cNvSpPr txBox="1">
            <a:spLocks/>
          </p:cNvSpPr>
          <p:nvPr/>
        </p:nvSpPr>
        <p:spPr>
          <a:xfrm>
            <a:off x="674484" y="169908"/>
            <a:ext cx="7854254" cy="723254"/>
          </a:xfrm>
          <a:prstGeom prst="rect">
            <a:avLst/>
          </a:prstGeom>
        </p:spPr>
        <p:txBody>
          <a:bodyPr vert="horz" lIns="82953" tIns="41476" rIns="82953" bIns="41476" rtlCol="0">
            <a:norm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905" dirty="0">
                <a:solidFill>
                  <a:srgbClr val="434341"/>
                </a:solidFill>
                <a:latin typeface="Century Gothic" panose="020B0502020202020204" pitchFamily="34" charset="0"/>
              </a:rPr>
              <a:t>La solution</a:t>
            </a:r>
          </a:p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633" b="0" dirty="0">
                <a:solidFill>
                  <a:srgbClr val="434341"/>
                </a:solidFill>
                <a:latin typeface="Century Gothic" panose="020B0502020202020204" pitchFamily="34" charset="0"/>
              </a:rPr>
              <a:t>NOS SERVICES DE MAINTIEN EN CONDITIONS OPÉRATIONNELLES</a:t>
            </a:r>
          </a:p>
        </p:txBody>
      </p:sp>
      <p:pic>
        <p:nvPicPr>
          <p:cNvPr id="22" name="Image 21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CD01D238-A94C-4262-FCCF-23B974F790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70824" y="208235"/>
            <a:ext cx="975983" cy="243996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F3BAA7BB-D2E5-D033-5E8D-330B126B3552}"/>
              </a:ext>
            </a:extLst>
          </p:cNvPr>
          <p:cNvSpPr/>
          <p:nvPr/>
        </p:nvSpPr>
        <p:spPr>
          <a:xfrm>
            <a:off x="1415899" y="3669139"/>
            <a:ext cx="1608645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srgbClr val="FFFFFF"/>
                </a:solidFill>
                <a:latin typeface="Arial Nova" panose="020B0504020202020204" pitchFamily="34" charset="0"/>
              </a:rPr>
              <a:t>Maitrise des coûts</a:t>
            </a:r>
          </a:p>
        </p:txBody>
      </p:sp>
      <p:sp>
        <p:nvSpPr>
          <p:cNvPr id="25" name="ZoneTexte 59">
            <a:extLst>
              <a:ext uri="{FF2B5EF4-FFF2-40B4-BE49-F238E27FC236}">
                <a16:creationId xmlns:a16="http://schemas.microsoft.com/office/drawing/2014/main" id="{E8A23022-7732-BEC4-6D2E-436D3AC4896B}"/>
              </a:ext>
            </a:extLst>
          </p:cNvPr>
          <p:cNvSpPr txBox="1"/>
          <p:nvPr/>
        </p:nvSpPr>
        <p:spPr>
          <a:xfrm>
            <a:off x="1358692" y="3984101"/>
            <a:ext cx="2203104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Prestation incluant une prise en charge de la main d’œuvre et des déplacements.</a:t>
            </a:r>
          </a:p>
        </p:txBody>
      </p:sp>
      <p:sp>
        <p:nvSpPr>
          <p:cNvPr id="31" name="ZoneTexte 60">
            <a:extLst>
              <a:ext uri="{FF2B5EF4-FFF2-40B4-BE49-F238E27FC236}">
                <a16:creationId xmlns:a16="http://schemas.microsoft.com/office/drawing/2014/main" id="{C0C28FD8-C2C9-BD69-A196-2757F9725EBA}"/>
              </a:ext>
            </a:extLst>
          </p:cNvPr>
          <p:cNvSpPr txBox="1"/>
          <p:nvPr/>
        </p:nvSpPr>
        <p:spPr>
          <a:xfrm>
            <a:off x="4325080" y="3972330"/>
            <a:ext cx="2093232" cy="76277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Des équipes dédiées à votre entreprise prêtes à vous répondre dans les meilleurs délais pour vos télégestions</a:t>
            </a:r>
          </a:p>
        </p:txBody>
      </p:sp>
      <p:sp>
        <p:nvSpPr>
          <p:cNvPr id="32" name="ZoneTexte 65">
            <a:extLst>
              <a:ext uri="{FF2B5EF4-FFF2-40B4-BE49-F238E27FC236}">
                <a16:creationId xmlns:a16="http://schemas.microsoft.com/office/drawing/2014/main" id="{B264E8CE-5EBF-A318-2BA2-6A647634F2A5}"/>
              </a:ext>
            </a:extLst>
          </p:cNvPr>
          <p:cNvSpPr txBox="1"/>
          <p:nvPr/>
        </p:nvSpPr>
        <p:spPr>
          <a:xfrm>
            <a:off x="4325081" y="5612240"/>
            <a:ext cx="1865827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Vous avez une demande ?</a:t>
            </a:r>
          </a:p>
          <a:p>
            <a:pPr defTabSz="414772">
              <a:defRPr/>
            </a:pPr>
            <a:r>
              <a:rPr lang="fr-FR" sz="1089" dirty="0" err="1">
                <a:solidFill>
                  <a:srgbClr val="434341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Koesio</a:t>
            </a: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 est votre seul interlocuteur</a:t>
            </a:r>
          </a:p>
        </p:txBody>
      </p:sp>
      <p:sp>
        <p:nvSpPr>
          <p:cNvPr id="40" name="ZoneTexte 68">
            <a:extLst>
              <a:ext uri="{FF2B5EF4-FFF2-40B4-BE49-F238E27FC236}">
                <a16:creationId xmlns:a16="http://schemas.microsoft.com/office/drawing/2014/main" id="{7951DBC5-EB38-4124-F9BD-B0A0196FF3E2}"/>
              </a:ext>
            </a:extLst>
          </p:cNvPr>
          <p:cNvSpPr txBox="1"/>
          <p:nvPr/>
        </p:nvSpPr>
        <p:spPr>
          <a:xfrm>
            <a:off x="1358693" y="5618873"/>
            <a:ext cx="1951639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Une gestion de tous vos incidents pour vous apporter une meilleure disponibilité</a:t>
            </a:r>
          </a:p>
        </p:txBody>
      </p:sp>
      <p:sp>
        <p:nvSpPr>
          <p:cNvPr id="41" name="Espace réservé du contenu 2">
            <a:extLst>
              <a:ext uri="{FF2B5EF4-FFF2-40B4-BE49-F238E27FC236}">
                <a16:creationId xmlns:a16="http://schemas.microsoft.com/office/drawing/2014/main" id="{AA4593D0-D1E8-E0B9-FAF1-B973D558E2B4}"/>
              </a:ext>
            </a:extLst>
          </p:cNvPr>
          <p:cNvSpPr txBox="1">
            <a:spLocks/>
          </p:cNvSpPr>
          <p:nvPr/>
        </p:nvSpPr>
        <p:spPr>
          <a:xfrm>
            <a:off x="674485" y="3145633"/>
            <a:ext cx="2683471" cy="187092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14772">
              <a:defRPr/>
            </a:pPr>
            <a:r>
              <a:rPr lang="fr-FR" sz="1270" u="sng" dirty="0">
                <a:solidFill>
                  <a:srgbClr val="E84957"/>
                </a:solidFill>
                <a:latin typeface="Arial Nova" panose="020B0504020202020204" pitchFamily="34" charset="0"/>
              </a:rPr>
              <a:t>Ce qui est inclus dans votre offre :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ED13BF8-5673-D124-6008-FAE4C3C9E609}"/>
              </a:ext>
            </a:extLst>
          </p:cNvPr>
          <p:cNvSpPr/>
          <p:nvPr/>
        </p:nvSpPr>
        <p:spPr>
          <a:xfrm>
            <a:off x="4399255" y="3664442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srgbClr val="FFFFFF"/>
                </a:solidFill>
                <a:latin typeface="Arial Nova" panose="020B0504020202020204" pitchFamily="34" charset="0"/>
              </a:rPr>
              <a:t>Réactivité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8711CCC-2382-A43D-E204-CE6A171B06EF}"/>
              </a:ext>
            </a:extLst>
          </p:cNvPr>
          <p:cNvSpPr/>
          <p:nvPr/>
        </p:nvSpPr>
        <p:spPr>
          <a:xfrm>
            <a:off x="1415899" y="5287444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srgbClr val="FFFFFF"/>
                </a:solidFill>
                <a:latin typeface="Arial Nova" panose="020B0504020202020204" pitchFamily="34" charset="0"/>
              </a:rPr>
              <a:t>Satisfaction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A07BB14-D266-F08E-CA13-C4C8D3198B13}"/>
              </a:ext>
            </a:extLst>
          </p:cNvPr>
          <p:cNvSpPr/>
          <p:nvPr/>
        </p:nvSpPr>
        <p:spPr>
          <a:xfrm>
            <a:off x="4399255" y="5282747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srgbClr val="FFFFFF"/>
                </a:solidFill>
                <a:latin typeface="Arial Nova" panose="020B0504020202020204" pitchFamily="34" charset="0"/>
              </a:rPr>
              <a:t>Simplicité</a:t>
            </a:r>
          </a:p>
        </p:txBody>
      </p:sp>
      <p:pic>
        <p:nvPicPr>
          <p:cNvPr id="48" name="Image 47">
            <a:extLst>
              <a:ext uri="{FF2B5EF4-FFF2-40B4-BE49-F238E27FC236}">
                <a16:creationId xmlns:a16="http://schemas.microsoft.com/office/drawing/2014/main" id="{31663BB9-6E29-E7FF-7EC3-EB716047061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7332" y="5304720"/>
            <a:ext cx="494368" cy="494368"/>
          </a:xfrm>
          <a:prstGeom prst="rect">
            <a:avLst/>
          </a:prstGeom>
        </p:spPr>
      </p:pic>
      <p:pic>
        <p:nvPicPr>
          <p:cNvPr id="49" name="Image 48">
            <a:extLst>
              <a:ext uri="{FF2B5EF4-FFF2-40B4-BE49-F238E27FC236}">
                <a16:creationId xmlns:a16="http://schemas.microsoft.com/office/drawing/2014/main" id="{3F87007B-D466-EA4A-73FA-56FC5932E27B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1488" y="3647510"/>
            <a:ext cx="494367" cy="494367"/>
          </a:xfrm>
          <a:prstGeom prst="rect">
            <a:avLst/>
          </a:prstGeom>
        </p:spPr>
      </p:pic>
      <p:pic>
        <p:nvPicPr>
          <p:cNvPr id="50" name="Image 49">
            <a:extLst>
              <a:ext uri="{FF2B5EF4-FFF2-40B4-BE49-F238E27FC236}">
                <a16:creationId xmlns:a16="http://schemas.microsoft.com/office/drawing/2014/main" id="{0FD18B0E-0807-A947-91FA-ED556A01D70D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32761" y="3652722"/>
            <a:ext cx="494367" cy="494367"/>
          </a:xfrm>
          <a:prstGeom prst="rect">
            <a:avLst/>
          </a:prstGeom>
        </p:spPr>
      </p:pic>
      <p:pic>
        <p:nvPicPr>
          <p:cNvPr id="51" name="Image 50">
            <a:extLst>
              <a:ext uri="{FF2B5EF4-FFF2-40B4-BE49-F238E27FC236}">
                <a16:creationId xmlns:a16="http://schemas.microsoft.com/office/drawing/2014/main" id="{77FE6E5C-8D7D-DAE8-AF55-6996B7F06489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75143" y="5280956"/>
            <a:ext cx="494367" cy="494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05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806D6-60C8-FB31-1267-F3787CAA6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ED0E1FC-1DEC-E430-8380-7D9182652D32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4772">
              <a:defRPr/>
            </a:pPr>
            <a:endParaRPr lang="fr-F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39DD619-275F-48B0-7D9D-098080DE38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63" r="6072" b="6495"/>
          <a:stretch/>
        </p:blipFill>
        <p:spPr>
          <a:xfrm>
            <a:off x="8950338" y="6001442"/>
            <a:ext cx="707670" cy="70767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7FF1C4C-70C0-A57E-E7AD-7F2480D3373A}"/>
              </a:ext>
            </a:extLst>
          </p:cNvPr>
          <p:cNvSpPr/>
          <p:nvPr/>
        </p:nvSpPr>
        <p:spPr>
          <a:xfrm>
            <a:off x="103292" y="274396"/>
            <a:ext cx="501009" cy="172166"/>
          </a:xfrm>
          <a:prstGeom prst="rect">
            <a:avLst/>
          </a:prstGeom>
          <a:solidFill>
            <a:srgbClr val="E94B5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>
              <a:defRPr/>
            </a:pPr>
            <a:endParaRPr lang="fr-FR" sz="1633" kern="0" dirty="0">
              <a:solidFill>
                <a:srgbClr val="F7A823"/>
              </a:solidFill>
              <a:latin typeface="Calibri" panose="020F0502020204030204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B86B4E3-CB46-4FBF-B09F-769C14CFD768}"/>
              </a:ext>
            </a:extLst>
          </p:cNvPr>
          <p:cNvSpPr txBox="1"/>
          <p:nvPr/>
        </p:nvSpPr>
        <p:spPr>
          <a:xfrm>
            <a:off x="7397885" y="37983"/>
            <a:ext cx="2404826" cy="2319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414772">
              <a:defRPr/>
            </a:pPr>
            <a:r>
              <a:rPr lang="fr-FR" sz="907" dirty="0">
                <a:solidFill>
                  <a:srgbClr val="434341"/>
                </a:solidFill>
                <a:latin typeface="Arial Nova" panose="020B0504020202020204" pitchFamily="34" charset="0"/>
              </a:rPr>
              <a:t>| Notre solution technique – Téléphonie fixe</a:t>
            </a:r>
          </a:p>
        </p:txBody>
      </p:sp>
      <p:sp>
        <p:nvSpPr>
          <p:cNvPr id="18" name="ZoneTexte 61">
            <a:extLst>
              <a:ext uri="{FF2B5EF4-FFF2-40B4-BE49-F238E27FC236}">
                <a16:creationId xmlns:a16="http://schemas.microsoft.com/office/drawing/2014/main" id="{A6DA6E18-087D-7889-920C-C0FE2B13B989}"/>
              </a:ext>
            </a:extLst>
          </p:cNvPr>
          <p:cNvSpPr txBox="1"/>
          <p:nvPr/>
        </p:nvSpPr>
        <p:spPr>
          <a:xfrm>
            <a:off x="674485" y="1076188"/>
            <a:ext cx="8393884" cy="315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buClr>
                <a:srgbClr val="F7A823"/>
              </a:buClr>
              <a:defRPr/>
            </a:pPr>
            <a:r>
              <a:rPr lang="fr-FR" sz="1452" b="1" dirty="0">
                <a:solidFill>
                  <a:srgbClr val="6E398E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Service Maintenance Hotline </a:t>
            </a:r>
            <a:r>
              <a:rPr lang="fr-FR" sz="1452" b="1" dirty="0">
                <a:solidFill>
                  <a:srgbClr val="6E398E"/>
                </a:solidFill>
                <a:highlight>
                  <a:srgbClr val="FFFF00"/>
                </a:highlight>
                <a:latin typeface="Arial Nova" panose="020B0504020202020204" pitchFamily="34" charset="0"/>
                <a:cs typeface="Arial" panose="020B0604020202020204" pitchFamily="34" charset="0"/>
              </a:rPr>
              <a:t>(Achat)</a:t>
            </a:r>
          </a:p>
        </p:txBody>
      </p:sp>
      <p:sp>
        <p:nvSpPr>
          <p:cNvPr id="19" name="Espace réservé du contenu 2">
            <a:extLst>
              <a:ext uri="{FF2B5EF4-FFF2-40B4-BE49-F238E27FC236}">
                <a16:creationId xmlns:a16="http://schemas.microsoft.com/office/drawing/2014/main" id="{DBBF2017-E843-A392-AFCF-CAFBD2F6BB35}"/>
              </a:ext>
            </a:extLst>
          </p:cNvPr>
          <p:cNvSpPr>
            <a:spLocks noGrp="1"/>
          </p:cNvSpPr>
          <p:nvPr/>
        </p:nvSpPr>
        <p:spPr>
          <a:xfrm>
            <a:off x="674485" y="1436752"/>
            <a:ext cx="5743827" cy="1559558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600" b="1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b="0" i="1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829544">
              <a:spcBef>
                <a:spcPts val="907"/>
              </a:spcBef>
              <a:buClr>
                <a:srgbClr val="F7A823"/>
              </a:buClr>
              <a:buNone/>
              <a:defRPr/>
            </a:pP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</a:rPr>
              <a:t>Bénéficiez d’un service client.</a:t>
            </a:r>
            <a:r>
              <a:rPr lang="fr-FR" sz="1089" b="0" dirty="0">
                <a:solidFill>
                  <a:srgbClr val="434341"/>
                </a:solidFill>
                <a:latin typeface="Arial Nova" panose="020B0504020202020204" pitchFamily="34" charset="0"/>
              </a:rPr>
              <a:t> Koesio vous offre une couverture minimale qui permet d’avoir un accès à notre service client. </a:t>
            </a:r>
          </a:p>
          <a:p>
            <a:pPr marL="0" indent="0" defTabSz="829544">
              <a:spcBef>
                <a:spcPts val="907"/>
              </a:spcBef>
              <a:buClr>
                <a:srgbClr val="F7A823"/>
              </a:buClr>
              <a:buNone/>
              <a:defRPr/>
            </a:pPr>
            <a:br>
              <a:rPr lang="fr-FR" sz="1089" b="0" dirty="0">
                <a:solidFill>
                  <a:srgbClr val="434341"/>
                </a:solidFill>
                <a:latin typeface="Arial Nova" panose="020B0504020202020204" pitchFamily="34" charset="0"/>
              </a:rPr>
            </a:br>
            <a:r>
              <a:rPr lang="fr-FR" sz="1089" b="0" dirty="0">
                <a:solidFill>
                  <a:srgbClr val="434341"/>
                </a:solidFill>
                <a:latin typeface="Arial Nova" panose="020B0504020202020204" pitchFamily="34" charset="0"/>
              </a:rPr>
              <a:t>Ce service </a:t>
            </a: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</a:rPr>
              <a:t>est inclus dans votre offre </a:t>
            </a:r>
            <a:r>
              <a:rPr lang="fr-FR" sz="1089" b="0" dirty="0">
                <a:solidFill>
                  <a:srgbClr val="434341"/>
                </a:solidFill>
                <a:latin typeface="Arial Nova" panose="020B0504020202020204" pitchFamily="34" charset="0"/>
              </a:rPr>
              <a:t>et n’est pas optionnel, et vous fait bénéficier d’un service client de proximité.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B9AC216F-1759-AE7A-FF21-E1863B5E76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2099" y="2125804"/>
            <a:ext cx="3445531" cy="5166805"/>
          </a:xfrm>
          <a:prstGeom prst="rect">
            <a:avLst/>
          </a:prstGeom>
        </p:spPr>
      </p:pic>
      <p:sp>
        <p:nvSpPr>
          <p:cNvPr id="21" name="Espace réservé du texte 26">
            <a:extLst>
              <a:ext uri="{FF2B5EF4-FFF2-40B4-BE49-F238E27FC236}">
                <a16:creationId xmlns:a16="http://schemas.microsoft.com/office/drawing/2014/main" id="{1E90F995-DFD4-CBFD-69C4-02E2758017F9}"/>
              </a:ext>
            </a:extLst>
          </p:cNvPr>
          <p:cNvSpPr txBox="1">
            <a:spLocks/>
          </p:cNvSpPr>
          <p:nvPr/>
        </p:nvSpPr>
        <p:spPr>
          <a:xfrm>
            <a:off x="674484" y="169908"/>
            <a:ext cx="7854254" cy="723254"/>
          </a:xfrm>
          <a:prstGeom prst="rect">
            <a:avLst/>
          </a:prstGeom>
        </p:spPr>
        <p:txBody>
          <a:bodyPr vert="horz" lIns="82953" tIns="41476" rIns="82953" bIns="41476" rtlCol="0">
            <a:norm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905" dirty="0">
                <a:solidFill>
                  <a:srgbClr val="434341"/>
                </a:solidFill>
                <a:latin typeface="Century Gothic" panose="020B0502020202020204" pitchFamily="34" charset="0"/>
              </a:rPr>
              <a:t>La solution</a:t>
            </a:r>
          </a:p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633" b="0" dirty="0">
                <a:solidFill>
                  <a:srgbClr val="434341"/>
                </a:solidFill>
                <a:latin typeface="Century Gothic" panose="020B0502020202020204" pitchFamily="34" charset="0"/>
              </a:rPr>
              <a:t>NOS SERVICES DE MAINTIEN EN CONDITIONS OPÉRATIONNELLES</a:t>
            </a:r>
          </a:p>
        </p:txBody>
      </p:sp>
      <p:pic>
        <p:nvPicPr>
          <p:cNvPr id="22" name="Image 21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16AD0129-6095-2D16-C266-85F831BC8E7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70824" y="208235"/>
            <a:ext cx="975983" cy="243996"/>
          </a:xfrm>
          <a:prstGeom prst="rect">
            <a:avLst/>
          </a:prstGeom>
        </p:spPr>
      </p:pic>
      <p:sp>
        <p:nvSpPr>
          <p:cNvPr id="31" name="ZoneTexte 60">
            <a:extLst>
              <a:ext uri="{FF2B5EF4-FFF2-40B4-BE49-F238E27FC236}">
                <a16:creationId xmlns:a16="http://schemas.microsoft.com/office/drawing/2014/main" id="{BDCDD899-7B0B-34DB-5010-62F9E828EA77}"/>
              </a:ext>
            </a:extLst>
          </p:cNvPr>
          <p:cNvSpPr txBox="1"/>
          <p:nvPr/>
        </p:nvSpPr>
        <p:spPr>
          <a:xfrm>
            <a:off x="1373794" y="3812751"/>
            <a:ext cx="2093232" cy="76277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Des équipes dédiées à votre entreprise prêtes à vous répondre au téléphone dans les meilleurs délais.</a:t>
            </a:r>
          </a:p>
        </p:txBody>
      </p:sp>
      <p:sp>
        <p:nvSpPr>
          <p:cNvPr id="32" name="ZoneTexte 65">
            <a:extLst>
              <a:ext uri="{FF2B5EF4-FFF2-40B4-BE49-F238E27FC236}">
                <a16:creationId xmlns:a16="http://schemas.microsoft.com/office/drawing/2014/main" id="{338BDAC0-5E35-95AA-E1D8-FAE47A05EB28}"/>
              </a:ext>
            </a:extLst>
          </p:cNvPr>
          <p:cNvSpPr txBox="1"/>
          <p:nvPr/>
        </p:nvSpPr>
        <p:spPr>
          <a:xfrm>
            <a:off x="1383728" y="5133444"/>
            <a:ext cx="1865827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Vous avez une demande ?</a:t>
            </a:r>
          </a:p>
          <a:p>
            <a:pPr defTabSz="414772">
              <a:defRPr/>
            </a:pPr>
            <a:r>
              <a:rPr lang="fr-FR" sz="1089" dirty="0" err="1">
                <a:solidFill>
                  <a:srgbClr val="434341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Koesio</a:t>
            </a:r>
            <a:r>
              <a:rPr lang="fr-FR" sz="1089" dirty="0">
                <a:solidFill>
                  <a:srgbClr val="434341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 est votre seul interlocuteur</a:t>
            </a:r>
          </a:p>
        </p:txBody>
      </p:sp>
      <p:sp>
        <p:nvSpPr>
          <p:cNvPr id="41" name="Espace réservé du contenu 2">
            <a:extLst>
              <a:ext uri="{FF2B5EF4-FFF2-40B4-BE49-F238E27FC236}">
                <a16:creationId xmlns:a16="http://schemas.microsoft.com/office/drawing/2014/main" id="{875B7D91-6F0F-9346-0457-224972B2F900}"/>
              </a:ext>
            </a:extLst>
          </p:cNvPr>
          <p:cNvSpPr txBox="1">
            <a:spLocks/>
          </p:cNvSpPr>
          <p:nvPr/>
        </p:nvSpPr>
        <p:spPr>
          <a:xfrm>
            <a:off x="668603" y="2862651"/>
            <a:ext cx="2683471" cy="187092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14772">
              <a:defRPr/>
            </a:pPr>
            <a:r>
              <a:rPr lang="fr-FR" sz="1270" u="sng" dirty="0">
                <a:solidFill>
                  <a:srgbClr val="E84957"/>
                </a:solidFill>
                <a:latin typeface="Arial Nova" panose="020B0504020202020204" pitchFamily="34" charset="0"/>
              </a:rPr>
              <a:t>Ce qui est inclus dans votre offre :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51103D1-CF0A-3015-1BF4-CB49E70EFC89}"/>
              </a:ext>
            </a:extLst>
          </p:cNvPr>
          <p:cNvSpPr/>
          <p:nvPr/>
        </p:nvSpPr>
        <p:spPr>
          <a:xfrm>
            <a:off x="1447969" y="3504863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srgbClr val="FFFFFF"/>
                </a:solidFill>
                <a:latin typeface="Arial Nova" panose="020B0504020202020204" pitchFamily="34" charset="0"/>
              </a:rPr>
              <a:t>Réactivité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C9533F8-1E5D-9B0C-1AD1-56BB162B449C}"/>
              </a:ext>
            </a:extLst>
          </p:cNvPr>
          <p:cNvSpPr/>
          <p:nvPr/>
        </p:nvSpPr>
        <p:spPr>
          <a:xfrm>
            <a:off x="1457902" y="4803951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srgbClr val="FFFFFF"/>
                </a:solidFill>
                <a:latin typeface="Arial Nova" panose="020B0504020202020204" pitchFamily="34" charset="0"/>
              </a:rPr>
              <a:t>Simplicité</a:t>
            </a:r>
          </a:p>
        </p:txBody>
      </p:sp>
      <p:pic>
        <p:nvPicPr>
          <p:cNvPr id="50" name="Image 49">
            <a:extLst>
              <a:ext uri="{FF2B5EF4-FFF2-40B4-BE49-F238E27FC236}">
                <a16:creationId xmlns:a16="http://schemas.microsoft.com/office/drawing/2014/main" id="{F8DD1191-D966-03A1-74C5-397184ED5DA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1476" y="3493143"/>
            <a:ext cx="494367" cy="494367"/>
          </a:xfrm>
          <a:prstGeom prst="rect">
            <a:avLst/>
          </a:prstGeom>
        </p:spPr>
      </p:pic>
      <p:pic>
        <p:nvPicPr>
          <p:cNvPr id="51" name="Image 50">
            <a:extLst>
              <a:ext uri="{FF2B5EF4-FFF2-40B4-BE49-F238E27FC236}">
                <a16:creationId xmlns:a16="http://schemas.microsoft.com/office/drawing/2014/main" id="{CCB56419-2D4F-F933-B2BB-A5365B48EAB9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3790" y="4802160"/>
            <a:ext cx="494367" cy="494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258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384C7F8-BD38-6BA5-53F8-F38947F15A34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4772">
              <a:defRPr/>
            </a:pPr>
            <a:endParaRPr lang="fr-F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CA5A156-13B0-0AE1-FA63-6342E1FFAC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63" r="6072" b="6495"/>
          <a:stretch/>
        </p:blipFill>
        <p:spPr>
          <a:xfrm>
            <a:off x="8950338" y="6001442"/>
            <a:ext cx="707670" cy="70767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E921333-BA1C-FC90-685C-1210FB8ABB59}"/>
              </a:ext>
            </a:extLst>
          </p:cNvPr>
          <p:cNvSpPr/>
          <p:nvPr/>
        </p:nvSpPr>
        <p:spPr>
          <a:xfrm>
            <a:off x="103292" y="274396"/>
            <a:ext cx="501009" cy="172166"/>
          </a:xfrm>
          <a:prstGeom prst="rect">
            <a:avLst/>
          </a:prstGeom>
          <a:solidFill>
            <a:srgbClr val="E94B5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>
              <a:defRPr/>
            </a:pPr>
            <a:endParaRPr lang="fr-FR" sz="1633" kern="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ZoneTexte 61">
            <a:extLst>
              <a:ext uri="{FF2B5EF4-FFF2-40B4-BE49-F238E27FC236}">
                <a16:creationId xmlns:a16="http://schemas.microsoft.com/office/drawing/2014/main" id="{80BC83B7-0D53-AF5D-66B8-D0D5FBC5234B}"/>
              </a:ext>
            </a:extLst>
          </p:cNvPr>
          <p:cNvSpPr txBox="1"/>
          <p:nvPr/>
        </p:nvSpPr>
        <p:spPr>
          <a:xfrm>
            <a:off x="674485" y="1076188"/>
            <a:ext cx="8393884" cy="315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buClr>
                <a:srgbClr val="ED7D31"/>
              </a:buClr>
              <a:defRPr/>
            </a:pPr>
            <a:r>
              <a:rPr lang="fr-FR" sz="1452" b="1" dirty="0">
                <a:solidFill>
                  <a:srgbClr val="6E398E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Service Tranquillité </a:t>
            </a:r>
            <a:r>
              <a:rPr lang="fr-FR" sz="1452" b="1" dirty="0">
                <a:solidFill>
                  <a:srgbClr val="6E398E"/>
                </a:solidFill>
                <a:highlight>
                  <a:srgbClr val="FFFF00"/>
                </a:highlight>
                <a:latin typeface="Arial Nova" panose="020B0504020202020204" pitchFamily="34" charset="0"/>
                <a:cs typeface="Arial" panose="020B0604020202020204" pitchFamily="34" charset="0"/>
              </a:rPr>
              <a:t>(location)</a:t>
            </a:r>
          </a:p>
        </p:txBody>
      </p:sp>
      <p:sp>
        <p:nvSpPr>
          <p:cNvPr id="16" name="Espace réservé du contenu 2">
            <a:extLst>
              <a:ext uri="{FF2B5EF4-FFF2-40B4-BE49-F238E27FC236}">
                <a16:creationId xmlns:a16="http://schemas.microsoft.com/office/drawing/2014/main" id="{EEFDECD3-1E68-9116-4208-121FF5E0B4D5}"/>
              </a:ext>
            </a:extLst>
          </p:cNvPr>
          <p:cNvSpPr>
            <a:spLocks noGrp="1"/>
          </p:cNvSpPr>
          <p:nvPr/>
        </p:nvSpPr>
        <p:spPr>
          <a:xfrm>
            <a:off x="674485" y="1436752"/>
            <a:ext cx="5225962" cy="618715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600" b="1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b="0" i="1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829544">
              <a:spcBef>
                <a:spcPts val="907"/>
              </a:spcBef>
              <a:buClr>
                <a:srgbClr val="ED7D31"/>
              </a:buClr>
              <a:buNone/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</a:rPr>
              <a:t>Ayez l’esprit tranquille</a:t>
            </a: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, </a:t>
            </a:r>
            <a:r>
              <a:rPr lang="fr-FR" sz="1089" b="0" dirty="0" err="1">
                <a:solidFill>
                  <a:prstClr val="black"/>
                </a:solidFill>
                <a:latin typeface="Arial Nova" panose="020B0504020202020204" pitchFamily="34" charset="0"/>
              </a:rPr>
              <a:t>Koesio</a:t>
            </a: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 vous offre un service exclusif, de qualité, clé en main. Ce service vous garantit de vous référer à un seul interlocuteur en matière de téléphonie et de trouver une réponse rapide à vos problématiques grâce à des équipes dédiées à votre structure. </a:t>
            </a:r>
          </a:p>
          <a:p>
            <a:pPr marL="0" indent="0" defTabSz="829544">
              <a:spcBef>
                <a:spcPts val="907"/>
              </a:spcBef>
              <a:buClr>
                <a:srgbClr val="ED7D31"/>
              </a:buClr>
              <a:buNone/>
              <a:defRPr/>
            </a:pPr>
            <a:b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</a:b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Ce service </a:t>
            </a: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</a:rPr>
              <a:t>est inclus dans votre offre</a:t>
            </a: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 et n’est pas optionnel, soyez tranquille, </a:t>
            </a:r>
            <a:r>
              <a:rPr lang="fr-FR" sz="1089" b="0" dirty="0" err="1">
                <a:solidFill>
                  <a:prstClr val="black"/>
                </a:solidFill>
                <a:latin typeface="Arial Nova" panose="020B0504020202020204" pitchFamily="34" charset="0"/>
              </a:rPr>
              <a:t>Koesio</a:t>
            </a: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 se charge de votre système.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93891D9D-851E-123E-7A43-BB8E0BCBBE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2099" y="2125804"/>
            <a:ext cx="3445531" cy="5166805"/>
          </a:xfrm>
          <a:prstGeom prst="rect">
            <a:avLst/>
          </a:prstGeom>
        </p:spPr>
      </p:pic>
      <p:sp>
        <p:nvSpPr>
          <p:cNvPr id="19" name="Espace réservé du texte 26">
            <a:extLst>
              <a:ext uri="{FF2B5EF4-FFF2-40B4-BE49-F238E27FC236}">
                <a16:creationId xmlns:a16="http://schemas.microsoft.com/office/drawing/2014/main" id="{A060108F-A3C3-C873-3BBD-45176532E2FA}"/>
              </a:ext>
            </a:extLst>
          </p:cNvPr>
          <p:cNvSpPr txBox="1">
            <a:spLocks/>
          </p:cNvSpPr>
          <p:nvPr/>
        </p:nvSpPr>
        <p:spPr>
          <a:xfrm>
            <a:off x="674484" y="169908"/>
            <a:ext cx="7854254" cy="723254"/>
          </a:xfrm>
          <a:prstGeom prst="rect">
            <a:avLst/>
          </a:prstGeom>
        </p:spPr>
        <p:txBody>
          <a:bodyPr vert="horz" lIns="82953" tIns="41476" rIns="82953" bIns="41476" rtlCol="0">
            <a:norm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905" dirty="0">
                <a:solidFill>
                  <a:prstClr val="black"/>
                </a:solidFill>
                <a:latin typeface="Century Gothic" panose="020B0502020202020204" pitchFamily="34" charset="0"/>
              </a:rPr>
              <a:t>La solution</a:t>
            </a:r>
          </a:p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633" b="0" dirty="0">
                <a:solidFill>
                  <a:prstClr val="black"/>
                </a:solidFill>
                <a:latin typeface="Century Gothic" panose="020B0502020202020204" pitchFamily="34" charset="0"/>
              </a:rPr>
              <a:t>NOS SERVICES DE MAINTIEN EN CONDITIONS OPÉRATIONNELLES</a:t>
            </a:r>
          </a:p>
        </p:txBody>
      </p:sp>
      <p:pic>
        <p:nvPicPr>
          <p:cNvPr id="20" name="Image 19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3B47BA0A-2E8B-D1E9-1EC8-1159A9409E7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70824" y="208235"/>
            <a:ext cx="975983" cy="243996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9CE038BC-DD13-4B9D-2541-B0F431302079}"/>
              </a:ext>
            </a:extLst>
          </p:cNvPr>
          <p:cNvSpPr/>
          <p:nvPr/>
        </p:nvSpPr>
        <p:spPr>
          <a:xfrm>
            <a:off x="1415899" y="3669139"/>
            <a:ext cx="1608645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Aucun surcoût</a:t>
            </a:r>
          </a:p>
        </p:txBody>
      </p:sp>
      <p:sp>
        <p:nvSpPr>
          <p:cNvPr id="22" name="ZoneTexte 59">
            <a:extLst>
              <a:ext uri="{FF2B5EF4-FFF2-40B4-BE49-F238E27FC236}">
                <a16:creationId xmlns:a16="http://schemas.microsoft.com/office/drawing/2014/main" id="{13F6CC72-7AE1-4687-38AD-A3795FB41018}"/>
              </a:ext>
            </a:extLst>
          </p:cNvPr>
          <p:cNvSpPr txBox="1"/>
          <p:nvPr/>
        </p:nvSpPr>
        <p:spPr>
          <a:xfrm>
            <a:off x="1358692" y="3984101"/>
            <a:ext cx="2203104" cy="93038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Prestation « tout inclus » pour une prise en charge totale de vos équipements, main d’œuvre et déplacement (inclus : casse, foudre, surtension électrique)</a:t>
            </a:r>
          </a:p>
        </p:txBody>
      </p:sp>
      <p:sp>
        <p:nvSpPr>
          <p:cNvPr id="23" name="ZoneTexte 60">
            <a:extLst>
              <a:ext uri="{FF2B5EF4-FFF2-40B4-BE49-F238E27FC236}">
                <a16:creationId xmlns:a16="http://schemas.microsoft.com/office/drawing/2014/main" id="{339459C4-E872-56EE-60B6-531467FACF87}"/>
              </a:ext>
            </a:extLst>
          </p:cNvPr>
          <p:cNvSpPr txBox="1"/>
          <p:nvPr/>
        </p:nvSpPr>
        <p:spPr>
          <a:xfrm>
            <a:off x="4325080" y="3972330"/>
            <a:ext cx="2093232" cy="76277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Des équipes dédiées à votre entreprise prêtes à vous répondre dans les meilleurs délais pour vos télégestions</a:t>
            </a:r>
          </a:p>
        </p:txBody>
      </p:sp>
      <p:sp>
        <p:nvSpPr>
          <p:cNvPr id="31" name="ZoneTexte 65">
            <a:extLst>
              <a:ext uri="{FF2B5EF4-FFF2-40B4-BE49-F238E27FC236}">
                <a16:creationId xmlns:a16="http://schemas.microsoft.com/office/drawing/2014/main" id="{B1C95922-A0C2-97B2-74FF-97DBF1BAC79C}"/>
              </a:ext>
            </a:extLst>
          </p:cNvPr>
          <p:cNvSpPr txBox="1"/>
          <p:nvPr/>
        </p:nvSpPr>
        <p:spPr>
          <a:xfrm>
            <a:off x="4325081" y="5612240"/>
            <a:ext cx="1865827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Vous avez une demande ?</a:t>
            </a:r>
          </a:p>
          <a:p>
            <a:pPr defTabSz="414772">
              <a:defRPr/>
            </a:pPr>
            <a:r>
              <a:rPr lang="fr-FR" sz="1089" dirty="0" err="1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Koesio</a:t>
            </a: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 est votre seul interlocuteur</a:t>
            </a:r>
          </a:p>
        </p:txBody>
      </p:sp>
      <p:sp>
        <p:nvSpPr>
          <p:cNvPr id="32" name="ZoneTexte 68">
            <a:extLst>
              <a:ext uri="{FF2B5EF4-FFF2-40B4-BE49-F238E27FC236}">
                <a16:creationId xmlns:a16="http://schemas.microsoft.com/office/drawing/2014/main" id="{F366C202-8239-06DB-B6C0-264C6E9B9E70}"/>
              </a:ext>
            </a:extLst>
          </p:cNvPr>
          <p:cNvSpPr txBox="1"/>
          <p:nvPr/>
        </p:nvSpPr>
        <p:spPr>
          <a:xfrm>
            <a:off x="1358693" y="5618873"/>
            <a:ext cx="1951639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Une gestion de tous vos incidents pour vous apporter une meilleure disponibilité</a:t>
            </a:r>
          </a:p>
        </p:txBody>
      </p:sp>
      <p:sp>
        <p:nvSpPr>
          <p:cNvPr id="40" name="Espace réservé du contenu 2">
            <a:extLst>
              <a:ext uri="{FF2B5EF4-FFF2-40B4-BE49-F238E27FC236}">
                <a16:creationId xmlns:a16="http://schemas.microsoft.com/office/drawing/2014/main" id="{EDE7C4F5-803B-A3DD-B144-375EEB499C0E}"/>
              </a:ext>
            </a:extLst>
          </p:cNvPr>
          <p:cNvSpPr txBox="1">
            <a:spLocks/>
          </p:cNvSpPr>
          <p:nvPr/>
        </p:nvSpPr>
        <p:spPr>
          <a:xfrm>
            <a:off x="674485" y="3145633"/>
            <a:ext cx="2683471" cy="187092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14772">
              <a:defRPr/>
            </a:pPr>
            <a:r>
              <a:rPr lang="fr-FR" sz="1270" u="sng" dirty="0">
                <a:solidFill>
                  <a:srgbClr val="E84957"/>
                </a:solidFill>
                <a:latin typeface="Arial Nova" panose="020B0504020202020204" pitchFamily="34" charset="0"/>
              </a:rPr>
              <a:t>Ce qui est inclus dans votre offre :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405FC70-5CA0-D6F7-6254-7D67682DA206}"/>
              </a:ext>
            </a:extLst>
          </p:cNvPr>
          <p:cNvSpPr/>
          <p:nvPr/>
        </p:nvSpPr>
        <p:spPr>
          <a:xfrm>
            <a:off x="4399255" y="3664442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Réactivité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CD91F76-0594-AFC0-FE5D-FC3B432490C8}"/>
              </a:ext>
            </a:extLst>
          </p:cNvPr>
          <p:cNvSpPr/>
          <p:nvPr/>
        </p:nvSpPr>
        <p:spPr>
          <a:xfrm>
            <a:off x="1415899" y="5287444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Satisfaction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EE5E57E-4A08-421A-D9B3-83C10957025B}"/>
              </a:ext>
            </a:extLst>
          </p:cNvPr>
          <p:cNvSpPr/>
          <p:nvPr/>
        </p:nvSpPr>
        <p:spPr>
          <a:xfrm>
            <a:off x="4399255" y="5282747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Simplicité</a:t>
            </a:r>
          </a:p>
        </p:txBody>
      </p:sp>
      <p:pic>
        <p:nvPicPr>
          <p:cNvPr id="47" name="Image 46">
            <a:extLst>
              <a:ext uri="{FF2B5EF4-FFF2-40B4-BE49-F238E27FC236}">
                <a16:creationId xmlns:a16="http://schemas.microsoft.com/office/drawing/2014/main" id="{B7E9AC59-BD34-8FC0-1DEC-4B4EA6BD58B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7332" y="5304720"/>
            <a:ext cx="494368" cy="494368"/>
          </a:xfrm>
          <a:prstGeom prst="rect">
            <a:avLst/>
          </a:prstGeom>
        </p:spPr>
      </p:pic>
      <p:pic>
        <p:nvPicPr>
          <p:cNvPr id="48" name="Image 47">
            <a:extLst>
              <a:ext uri="{FF2B5EF4-FFF2-40B4-BE49-F238E27FC236}">
                <a16:creationId xmlns:a16="http://schemas.microsoft.com/office/drawing/2014/main" id="{DD7BFC7A-A347-8327-2443-1B25E11F6563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1488" y="3647510"/>
            <a:ext cx="494367" cy="494367"/>
          </a:xfrm>
          <a:prstGeom prst="rect">
            <a:avLst/>
          </a:prstGeom>
        </p:spPr>
      </p:pic>
      <p:pic>
        <p:nvPicPr>
          <p:cNvPr id="49" name="Image 48">
            <a:extLst>
              <a:ext uri="{FF2B5EF4-FFF2-40B4-BE49-F238E27FC236}">
                <a16:creationId xmlns:a16="http://schemas.microsoft.com/office/drawing/2014/main" id="{2F5398BF-E623-7C51-19B8-F88B024069C8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32761" y="3652722"/>
            <a:ext cx="494367" cy="494367"/>
          </a:xfrm>
          <a:prstGeom prst="rect">
            <a:avLst/>
          </a:prstGeom>
        </p:spPr>
      </p:pic>
      <p:pic>
        <p:nvPicPr>
          <p:cNvPr id="50" name="Image 49">
            <a:extLst>
              <a:ext uri="{FF2B5EF4-FFF2-40B4-BE49-F238E27FC236}">
                <a16:creationId xmlns:a16="http://schemas.microsoft.com/office/drawing/2014/main" id="{F41EF7D4-9D0B-896B-B2F6-936676AC20A6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75143" y="5280956"/>
            <a:ext cx="494367" cy="494367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958BF228-6056-BFFB-E3F5-CDF14B9DCA8B}"/>
              </a:ext>
            </a:extLst>
          </p:cNvPr>
          <p:cNvSpPr txBox="1"/>
          <p:nvPr/>
        </p:nvSpPr>
        <p:spPr>
          <a:xfrm>
            <a:off x="7908000" y="37206"/>
            <a:ext cx="1832553" cy="2319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414772">
              <a:defRPr/>
            </a:pPr>
            <a:r>
              <a:rPr lang="fr-FR" sz="907" dirty="0">
                <a:solidFill>
                  <a:prstClr val="black"/>
                </a:solidFill>
                <a:latin typeface="Arial Nova" panose="020B0504020202020204" pitchFamily="34" charset="0"/>
              </a:rPr>
              <a:t>| Notre solution technique - WIFI</a:t>
            </a:r>
          </a:p>
        </p:txBody>
      </p:sp>
    </p:spTree>
    <p:extLst>
      <p:ext uri="{BB962C8B-B14F-4D97-AF65-F5344CB8AC3E}">
        <p14:creationId xmlns:p14="http://schemas.microsoft.com/office/powerpoint/2010/main" val="1829443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E0EFF8E-E322-4A4A-9D25-AE88475C372D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4772">
              <a:defRPr/>
            </a:pPr>
            <a:endParaRPr lang="fr-F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B7D49B6-7DB7-4397-ED82-77D10D959C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63" r="6072" b="6495"/>
          <a:stretch/>
        </p:blipFill>
        <p:spPr>
          <a:xfrm>
            <a:off x="8950338" y="6001442"/>
            <a:ext cx="707670" cy="70767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0C9B0C6-060E-2DA0-77D5-85DCB4235B3E}"/>
              </a:ext>
            </a:extLst>
          </p:cNvPr>
          <p:cNvSpPr/>
          <p:nvPr/>
        </p:nvSpPr>
        <p:spPr>
          <a:xfrm>
            <a:off x="103292" y="274396"/>
            <a:ext cx="501009" cy="172166"/>
          </a:xfrm>
          <a:prstGeom prst="rect">
            <a:avLst/>
          </a:prstGeom>
          <a:solidFill>
            <a:srgbClr val="E94B5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>
              <a:defRPr/>
            </a:pPr>
            <a:endParaRPr lang="fr-FR" sz="1633" kern="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" name="ZoneTexte 61">
            <a:extLst>
              <a:ext uri="{FF2B5EF4-FFF2-40B4-BE49-F238E27FC236}">
                <a16:creationId xmlns:a16="http://schemas.microsoft.com/office/drawing/2014/main" id="{6CAB56D1-5FA7-A0A2-A725-D8CDA3E7EB6B}"/>
              </a:ext>
            </a:extLst>
          </p:cNvPr>
          <p:cNvSpPr txBox="1"/>
          <p:nvPr/>
        </p:nvSpPr>
        <p:spPr>
          <a:xfrm>
            <a:off x="674485" y="1076188"/>
            <a:ext cx="8393884" cy="315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buClr>
                <a:srgbClr val="ED7D31"/>
              </a:buClr>
              <a:defRPr/>
            </a:pPr>
            <a:r>
              <a:rPr lang="fr-FR" sz="1452" b="1" dirty="0">
                <a:solidFill>
                  <a:srgbClr val="6E398E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Service Maintenance Premium </a:t>
            </a:r>
            <a:r>
              <a:rPr lang="fr-FR" sz="1452" b="1" dirty="0">
                <a:solidFill>
                  <a:srgbClr val="6E398E"/>
                </a:solidFill>
                <a:highlight>
                  <a:srgbClr val="FFFF00"/>
                </a:highlight>
                <a:latin typeface="Arial Nova" panose="020B0504020202020204" pitchFamily="34" charset="0"/>
                <a:cs typeface="Arial" panose="020B0604020202020204" pitchFamily="34" charset="0"/>
              </a:rPr>
              <a:t>(Achat)</a:t>
            </a:r>
          </a:p>
        </p:txBody>
      </p:sp>
      <p:sp>
        <p:nvSpPr>
          <p:cNvPr id="18" name="Espace réservé du contenu 2">
            <a:extLst>
              <a:ext uri="{FF2B5EF4-FFF2-40B4-BE49-F238E27FC236}">
                <a16:creationId xmlns:a16="http://schemas.microsoft.com/office/drawing/2014/main" id="{7C802A2B-72DF-0F0B-91E0-135098EC2A42}"/>
              </a:ext>
            </a:extLst>
          </p:cNvPr>
          <p:cNvSpPr>
            <a:spLocks noGrp="1"/>
          </p:cNvSpPr>
          <p:nvPr/>
        </p:nvSpPr>
        <p:spPr>
          <a:xfrm>
            <a:off x="674485" y="1436752"/>
            <a:ext cx="5225962" cy="1559558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600" b="1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b="0" i="1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829544">
              <a:spcBef>
                <a:spcPts val="907"/>
              </a:spcBef>
              <a:buClr>
                <a:srgbClr val="ED7D31"/>
              </a:buClr>
              <a:buNone/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</a:rPr>
              <a:t>Ayez l’esprit tranquille</a:t>
            </a: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, Koesio vous offre un service exclusif, de qualité, clé en main. Ce service vous garantit de vous référer à un seul interlocuteur en matière de téléphonie et de trouver une réponse rapide à vos problématiques grâce à des équipes dédiées à votre structure. </a:t>
            </a:r>
          </a:p>
          <a:p>
            <a:pPr marL="0" indent="0" defTabSz="829544">
              <a:spcBef>
                <a:spcPts val="907"/>
              </a:spcBef>
              <a:buClr>
                <a:srgbClr val="ED7D31"/>
              </a:buClr>
              <a:buNone/>
              <a:defRPr/>
            </a:pPr>
            <a:b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</a:b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Ce service </a:t>
            </a: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</a:rPr>
              <a:t>est inclus dans votre offre </a:t>
            </a: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et n’est pas optionnel, soyez tranquille, Koesio se charge de votre système.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8F7F5E1E-66D6-D5B7-6D26-052B03E5D5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2099" y="2125804"/>
            <a:ext cx="3445531" cy="5166805"/>
          </a:xfrm>
          <a:prstGeom prst="rect">
            <a:avLst/>
          </a:prstGeom>
        </p:spPr>
      </p:pic>
      <p:sp>
        <p:nvSpPr>
          <p:cNvPr id="20" name="Espace réservé du texte 26">
            <a:extLst>
              <a:ext uri="{FF2B5EF4-FFF2-40B4-BE49-F238E27FC236}">
                <a16:creationId xmlns:a16="http://schemas.microsoft.com/office/drawing/2014/main" id="{CB9B2C63-91D1-E39A-9AAB-BD04553B4FAA}"/>
              </a:ext>
            </a:extLst>
          </p:cNvPr>
          <p:cNvSpPr txBox="1">
            <a:spLocks/>
          </p:cNvSpPr>
          <p:nvPr/>
        </p:nvSpPr>
        <p:spPr>
          <a:xfrm>
            <a:off x="674484" y="169908"/>
            <a:ext cx="7854254" cy="723254"/>
          </a:xfrm>
          <a:prstGeom prst="rect">
            <a:avLst/>
          </a:prstGeom>
        </p:spPr>
        <p:txBody>
          <a:bodyPr vert="horz" lIns="82953" tIns="41476" rIns="82953" bIns="41476" rtlCol="0">
            <a:norm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905" dirty="0">
                <a:solidFill>
                  <a:prstClr val="black"/>
                </a:solidFill>
                <a:latin typeface="Century Gothic" panose="020B0502020202020204" pitchFamily="34" charset="0"/>
              </a:rPr>
              <a:t>La solution</a:t>
            </a:r>
          </a:p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633" b="0" dirty="0">
                <a:solidFill>
                  <a:prstClr val="black"/>
                </a:solidFill>
                <a:latin typeface="Century Gothic" panose="020B0502020202020204" pitchFamily="34" charset="0"/>
              </a:rPr>
              <a:t>NOS SERVICES DE MAINTIEN EN CONDITIONS OPÉRATIONNELLES</a:t>
            </a:r>
          </a:p>
        </p:txBody>
      </p:sp>
      <p:pic>
        <p:nvPicPr>
          <p:cNvPr id="21" name="Image 20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64005D5E-5597-6B52-C3AF-5864C86AE11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70824" y="208235"/>
            <a:ext cx="975983" cy="24399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13377AFC-ECEF-9593-1B21-2C7C9F624AF5}"/>
              </a:ext>
            </a:extLst>
          </p:cNvPr>
          <p:cNvSpPr/>
          <p:nvPr/>
        </p:nvSpPr>
        <p:spPr>
          <a:xfrm>
            <a:off x="1415899" y="3669139"/>
            <a:ext cx="1608645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Maitrise des coûts</a:t>
            </a:r>
          </a:p>
        </p:txBody>
      </p:sp>
      <p:sp>
        <p:nvSpPr>
          <p:cNvPr id="23" name="ZoneTexte 59">
            <a:extLst>
              <a:ext uri="{FF2B5EF4-FFF2-40B4-BE49-F238E27FC236}">
                <a16:creationId xmlns:a16="http://schemas.microsoft.com/office/drawing/2014/main" id="{9911A280-91C5-DBC9-C589-303B7C1ADD7D}"/>
              </a:ext>
            </a:extLst>
          </p:cNvPr>
          <p:cNvSpPr txBox="1"/>
          <p:nvPr/>
        </p:nvSpPr>
        <p:spPr>
          <a:xfrm>
            <a:off x="1358692" y="3984101"/>
            <a:ext cx="2203104" cy="109799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Prestation incluant une prise en charge de vos équipements, main d’œuvre et déplacement inclus (hors : postes sans fil, casques, écrans, casse, foudre, surtension électrique)</a:t>
            </a:r>
          </a:p>
        </p:txBody>
      </p:sp>
      <p:sp>
        <p:nvSpPr>
          <p:cNvPr id="25" name="ZoneTexte 60">
            <a:extLst>
              <a:ext uri="{FF2B5EF4-FFF2-40B4-BE49-F238E27FC236}">
                <a16:creationId xmlns:a16="http://schemas.microsoft.com/office/drawing/2014/main" id="{990E4559-0AE1-BB55-D82B-D1B1DA41B368}"/>
              </a:ext>
            </a:extLst>
          </p:cNvPr>
          <p:cNvSpPr txBox="1"/>
          <p:nvPr/>
        </p:nvSpPr>
        <p:spPr>
          <a:xfrm>
            <a:off x="4325080" y="3972330"/>
            <a:ext cx="2093232" cy="76277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Des équipes dédiées à votre entreprise prêtes à vous répondre dans les meilleurs délais pour vos télégestions</a:t>
            </a:r>
          </a:p>
        </p:txBody>
      </p:sp>
      <p:sp>
        <p:nvSpPr>
          <p:cNvPr id="31" name="ZoneTexte 65">
            <a:extLst>
              <a:ext uri="{FF2B5EF4-FFF2-40B4-BE49-F238E27FC236}">
                <a16:creationId xmlns:a16="http://schemas.microsoft.com/office/drawing/2014/main" id="{CF8102E4-90B6-16F1-8DC3-FFE4F1A6E8FB}"/>
              </a:ext>
            </a:extLst>
          </p:cNvPr>
          <p:cNvSpPr txBox="1"/>
          <p:nvPr/>
        </p:nvSpPr>
        <p:spPr>
          <a:xfrm>
            <a:off x="4325081" y="5612240"/>
            <a:ext cx="1865827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Vous avez une demande ?</a:t>
            </a:r>
          </a:p>
          <a:p>
            <a:pPr defTabSz="414772">
              <a:defRPr/>
            </a:pPr>
            <a:r>
              <a:rPr lang="fr-FR" sz="1089" dirty="0" err="1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Koesio</a:t>
            </a: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 est votre seul interlocuteur</a:t>
            </a:r>
          </a:p>
        </p:txBody>
      </p:sp>
      <p:sp>
        <p:nvSpPr>
          <p:cNvPr id="32" name="ZoneTexte 68">
            <a:extLst>
              <a:ext uri="{FF2B5EF4-FFF2-40B4-BE49-F238E27FC236}">
                <a16:creationId xmlns:a16="http://schemas.microsoft.com/office/drawing/2014/main" id="{8ACD4FA8-3A7C-DE90-9522-7A4E9A08E319}"/>
              </a:ext>
            </a:extLst>
          </p:cNvPr>
          <p:cNvSpPr txBox="1"/>
          <p:nvPr/>
        </p:nvSpPr>
        <p:spPr>
          <a:xfrm>
            <a:off x="1358693" y="5618873"/>
            <a:ext cx="1951639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Une gestion de tous vos incidents pour vous apporter une meilleure disponibilité</a:t>
            </a:r>
          </a:p>
        </p:txBody>
      </p:sp>
      <p:sp>
        <p:nvSpPr>
          <p:cNvPr id="40" name="Espace réservé du contenu 2">
            <a:extLst>
              <a:ext uri="{FF2B5EF4-FFF2-40B4-BE49-F238E27FC236}">
                <a16:creationId xmlns:a16="http://schemas.microsoft.com/office/drawing/2014/main" id="{824C1BB6-7AE8-B5C9-C5BD-DC5F2A90E562}"/>
              </a:ext>
            </a:extLst>
          </p:cNvPr>
          <p:cNvSpPr txBox="1">
            <a:spLocks/>
          </p:cNvSpPr>
          <p:nvPr/>
        </p:nvSpPr>
        <p:spPr>
          <a:xfrm>
            <a:off x="674485" y="3145633"/>
            <a:ext cx="2683471" cy="187092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14772">
              <a:defRPr/>
            </a:pPr>
            <a:r>
              <a:rPr lang="fr-FR" sz="1270" u="sng" dirty="0">
                <a:solidFill>
                  <a:srgbClr val="E84957"/>
                </a:solidFill>
                <a:latin typeface="Arial Nova" panose="020B0504020202020204" pitchFamily="34" charset="0"/>
              </a:rPr>
              <a:t>Ce qui est inclus dans votre offre :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2163F98-4FD9-59F8-27F5-90EE1364B144}"/>
              </a:ext>
            </a:extLst>
          </p:cNvPr>
          <p:cNvSpPr/>
          <p:nvPr/>
        </p:nvSpPr>
        <p:spPr>
          <a:xfrm>
            <a:off x="4399255" y="3664442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Réactivité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F133F7E-54EE-DBD7-C60D-738F04C3F9BB}"/>
              </a:ext>
            </a:extLst>
          </p:cNvPr>
          <p:cNvSpPr/>
          <p:nvPr/>
        </p:nvSpPr>
        <p:spPr>
          <a:xfrm>
            <a:off x="1415899" y="5287444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Satisfaction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0ACA58B-A76B-CB52-775B-CBE8ABECE3F4}"/>
              </a:ext>
            </a:extLst>
          </p:cNvPr>
          <p:cNvSpPr/>
          <p:nvPr/>
        </p:nvSpPr>
        <p:spPr>
          <a:xfrm>
            <a:off x="4399255" y="5282747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Simplicité</a:t>
            </a:r>
          </a:p>
        </p:txBody>
      </p:sp>
      <p:pic>
        <p:nvPicPr>
          <p:cNvPr id="47" name="Image 46">
            <a:extLst>
              <a:ext uri="{FF2B5EF4-FFF2-40B4-BE49-F238E27FC236}">
                <a16:creationId xmlns:a16="http://schemas.microsoft.com/office/drawing/2014/main" id="{CDB3DA1A-60A5-855F-7351-A5F4973D066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7332" y="5304720"/>
            <a:ext cx="494368" cy="494368"/>
          </a:xfrm>
          <a:prstGeom prst="rect">
            <a:avLst/>
          </a:prstGeom>
        </p:spPr>
      </p:pic>
      <p:pic>
        <p:nvPicPr>
          <p:cNvPr id="48" name="Image 47">
            <a:extLst>
              <a:ext uri="{FF2B5EF4-FFF2-40B4-BE49-F238E27FC236}">
                <a16:creationId xmlns:a16="http://schemas.microsoft.com/office/drawing/2014/main" id="{8FBD8DB5-1795-37D2-1FE2-D224A0945D8F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1488" y="3647510"/>
            <a:ext cx="494367" cy="494367"/>
          </a:xfrm>
          <a:prstGeom prst="rect">
            <a:avLst/>
          </a:prstGeom>
        </p:spPr>
      </p:pic>
      <p:pic>
        <p:nvPicPr>
          <p:cNvPr id="49" name="Image 48">
            <a:extLst>
              <a:ext uri="{FF2B5EF4-FFF2-40B4-BE49-F238E27FC236}">
                <a16:creationId xmlns:a16="http://schemas.microsoft.com/office/drawing/2014/main" id="{6348B9A8-DD06-A697-10EC-59371C78C145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32761" y="3652722"/>
            <a:ext cx="494367" cy="494367"/>
          </a:xfrm>
          <a:prstGeom prst="rect">
            <a:avLst/>
          </a:prstGeom>
        </p:spPr>
      </p:pic>
      <p:pic>
        <p:nvPicPr>
          <p:cNvPr id="50" name="Image 49">
            <a:extLst>
              <a:ext uri="{FF2B5EF4-FFF2-40B4-BE49-F238E27FC236}">
                <a16:creationId xmlns:a16="http://schemas.microsoft.com/office/drawing/2014/main" id="{F5C89F00-DD9C-12BC-A82A-5ACD9A0BC4F8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75143" y="5280956"/>
            <a:ext cx="494367" cy="494367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945A3D58-7FC8-0DA7-2D47-900EEC9DD405}"/>
              </a:ext>
            </a:extLst>
          </p:cNvPr>
          <p:cNvSpPr txBox="1"/>
          <p:nvPr/>
        </p:nvSpPr>
        <p:spPr>
          <a:xfrm>
            <a:off x="7908000" y="37206"/>
            <a:ext cx="1832553" cy="2319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414772">
              <a:defRPr/>
            </a:pPr>
            <a:r>
              <a:rPr lang="fr-FR" sz="907" dirty="0">
                <a:solidFill>
                  <a:prstClr val="black"/>
                </a:solidFill>
                <a:latin typeface="Arial Nova" panose="020B0504020202020204" pitchFamily="34" charset="0"/>
              </a:rPr>
              <a:t>| Notre solution technique - WIFI</a:t>
            </a:r>
          </a:p>
        </p:txBody>
      </p:sp>
    </p:spTree>
    <p:extLst>
      <p:ext uri="{BB962C8B-B14F-4D97-AF65-F5344CB8AC3E}">
        <p14:creationId xmlns:p14="http://schemas.microsoft.com/office/powerpoint/2010/main" val="3282341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F17C677-4897-F661-F503-07F8A8ED7D02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4772">
              <a:defRPr/>
            </a:pPr>
            <a:endParaRPr lang="fr-F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351C9CF-BDEC-94AE-2D2C-2E5BA981FF3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63" r="6072" b="6495"/>
          <a:stretch/>
        </p:blipFill>
        <p:spPr>
          <a:xfrm>
            <a:off x="8950338" y="6001442"/>
            <a:ext cx="707670" cy="70767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61330AF-C0CA-9411-5BC5-CCB667F2F348}"/>
              </a:ext>
            </a:extLst>
          </p:cNvPr>
          <p:cNvSpPr/>
          <p:nvPr/>
        </p:nvSpPr>
        <p:spPr>
          <a:xfrm>
            <a:off x="103292" y="274396"/>
            <a:ext cx="501009" cy="172166"/>
          </a:xfrm>
          <a:prstGeom prst="rect">
            <a:avLst/>
          </a:prstGeom>
          <a:solidFill>
            <a:srgbClr val="E94B5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>
              <a:defRPr/>
            </a:pPr>
            <a:endParaRPr lang="fr-FR" sz="1633" kern="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" name="ZoneTexte 61">
            <a:extLst>
              <a:ext uri="{FF2B5EF4-FFF2-40B4-BE49-F238E27FC236}">
                <a16:creationId xmlns:a16="http://schemas.microsoft.com/office/drawing/2014/main" id="{CC72E5A7-2F62-17DB-D89A-D07DBFCF3988}"/>
              </a:ext>
            </a:extLst>
          </p:cNvPr>
          <p:cNvSpPr txBox="1"/>
          <p:nvPr/>
        </p:nvSpPr>
        <p:spPr>
          <a:xfrm>
            <a:off x="674485" y="1076188"/>
            <a:ext cx="8393884" cy="315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buClr>
                <a:srgbClr val="ED7D31"/>
              </a:buClr>
              <a:defRPr/>
            </a:pPr>
            <a:r>
              <a:rPr lang="fr-FR" sz="1452" b="1" dirty="0">
                <a:solidFill>
                  <a:srgbClr val="6E398E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Service Maintenance Privilège </a:t>
            </a:r>
            <a:r>
              <a:rPr lang="fr-FR" sz="1452" b="1" dirty="0">
                <a:solidFill>
                  <a:srgbClr val="6E398E"/>
                </a:solidFill>
                <a:highlight>
                  <a:srgbClr val="FFFF00"/>
                </a:highlight>
                <a:latin typeface="Arial Nova" panose="020B0504020202020204" pitchFamily="34" charset="0"/>
                <a:cs typeface="Arial" panose="020B0604020202020204" pitchFamily="34" charset="0"/>
              </a:rPr>
              <a:t>(Achat)</a:t>
            </a:r>
          </a:p>
        </p:txBody>
      </p:sp>
      <p:sp>
        <p:nvSpPr>
          <p:cNvPr id="18" name="Espace réservé du contenu 2">
            <a:extLst>
              <a:ext uri="{FF2B5EF4-FFF2-40B4-BE49-F238E27FC236}">
                <a16:creationId xmlns:a16="http://schemas.microsoft.com/office/drawing/2014/main" id="{4BA93E19-0F6B-536E-CBA6-8A332ED2D938}"/>
              </a:ext>
            </a:extLst>
          </p:cNvPr>
          <p:cNvSpPr>
            <a:spLocks noGrp="1"/>
          </p:cNvSpPr>
          <p:nvPr/>
        </p:nvSpPr>
        <p:spPr>
          <a:xfrm>
            <a:off x="674485" y="1436752"/>
            <a:ext cx="5225962" cy="1559558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600" b="1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b="0" i="1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829544">
              <a:spcBef>
                <a:spcPts val="907"/>
              </a:spcBef>
              <a:buClr>
                <a:srgbClr val="ED7D31"/>
              </a:buClr>
              <a:buNone/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</a:rPr>
              <a:t>Ayez l’esprit serein, </a:t>
            </a: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Koesio vous offre un service exclusif, de qualité, clé en main. Ce service vous garantit de vous référer à un seul interlocuteur en matière de téléphonie et de trouver une réponse rapide à vos problématiques grâce à des équipes dédiées à votre structure. </a:t>
            </a:r>
          </a:p>
          <a:p>
            <a:pPr marL="0" indent="0" defTabSz="829544">
              <a:spcBef>
                <a:spcPts val="907"/>
              </a:spcBef>
              <a:buClr>
                <a:srgbClr val="ED7D31"/>
              </a:buClr>
              <a:buNone/>
              <a:defRPr/>
            </a:pP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Ce service </a:t>
            </a: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</a:rPr>
              <a:t>est</a:t>
            </a: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 </a:t>
            </a: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</a:rPr>
              <a:t>inclus dans votre offre </a:t>
            </a: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et n’est pas optionnel, soyez serein, Koesio se charge de votre système.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AD7A3CDA-AF5D-AD67-64D6-C59E0DB6EE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2099" y="2125804"/>
            <a:ext cx="3445531" cy="5166805"/>
          </a:xfrm>
          <a:prstGeom prst="rect">
            <a:avLst/>
          </a:prstGeom>
        </p:spPr>
      </p:pic>
      <p:sp>
        <p:nvSpPr>
          <p:cNvPr id="20" name="Espace réservé du texte 26">
            <a:extLst>
              <a:ext uri="{FF2B5EF4-FFF2-40B4-BE49-F238E27FC236}">
                <a16:creationId xmlns:a16="http://schemas.microsoft.com/office/drawing/2014/main" id="{B651B2A1-A353-F45A-13AB-E9A6A6886D61}"/>
              </a:ext>
            </a:extLst>
          </p:cNvPr>
          <p:cNvSpPr txBox="1">
            <a:spLocks/>
          </p:cNvSpPr>
          <p:nvPr/>
        </p:nvSpPr>
        <p:spPr>
          <a:xfrm>
            <a:off x="674484" y="169908"/>
            <a:ext cx="7854254" cy="723254"/>
          </a:xfrm>
          <a:prstGeom prst="rect">
            <a:avLst/>
          </a:prstGeom>
        </p:spPr>
        <p:txBody>
          <a:bodyPr vert="horz" lIns="82953" tIns="41476" rIns="82953" bIns="41476" rtlCol="0">
            <a:norm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905" dirty="0">
                <a:solidFill>
                  <a:prstClr val="black"/>
                </a:solidFill>
                <a:latin typeface="Century Gothic" panose="020B0502020202020204" pitchFamily="34" charset="0"/>
              </a:rPr>
              <a:t>La solution</a:t>
            </a:r>
          </a:p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633" b="0" dirty="0">
                <a:solidFill>
                  <a:prstClr val="black"/>
                </a:solidFill>
                <a:latin typeface="Century Gothic" panose="020B0502020202020204" pitchFamily="34" charset="0"/>
              </a:rPr>
              <a:t>NOS SERVICES DE MAINTIEN EN CONDITIONS OPÉRATIONNELLES</a:t>
            </a:r>
          </a:p>
        </p:txBody>
      </p:sp>
      <p:pic>
        <p:nvPicPr>
          <p:cNvPr id="21" name="Image 20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6661BE0D-2C10-BAD6-74CE-118BAB00BA2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70824" y="208235"/>
            <a:ext cx="975983" cy="24399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188CCD6C-9CF4-D10F-48C7-97E0D42F219E}"/>
              </a:ext>
            </a:extLst>
          </p:cNvPr>
          <p:cNvSpPr/>
          <p:nvPr/>
        </p:nvSpPr>
        <p:spPr>
          <a:xfrm>
            <a:off x="1415899" y="3669139"/>
            <a:ext cx="1608645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Maitrise des coûts</a:t>
            </a:r>
          </a:p>
        </p:txBody>
      </p:sp>
      <p:sp>
        <p:nvSpPr>
          <p:cNvPr id="23" name="ZoneTexte 59">
            <a:extLst>
              <a:ext uri="{FF2B5EF4-FFF2-40B4-BE49-F238E27FC236}">
                <a16:creationId xmlns:a16="http://schemas.microsoft.com/office/drawing/2014/main" id="{66E07AC2-F80E-1307-E3F1-0E5D202A6F55}"/>
              </a:ext>
            </a:extLst>
          </p:cNvPr>
          <p:cNvSpPr txBox="1"/>
          <p:nvPr/>
        </p:nvSpPr>
        <p:spPr>
          <a:xfrm>
            <a:off x="1358692" y="3984102"/>
            <a:ext cx="2203104" cy="126560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Prestation incluant une prise en charge de votre serveur de communication et  du poste de votre standard, main d’œuvre et déplacement inclus (hors : casse, foudre, surtension électrique)</a:t>
            </a:r>
          </a:p>
        </p:txBody>
      </p:sp>
      <p:sp>
        <p:nvSpPr>
          <p:cNvPr id="25" name="ZoneTexte 60">
            <a:extLst>
              <a:ext uri="{FF2B5EF4-FFF2-40B4-BE49-F238E27FC236}">
                <a16:creationId xmlns:a16="http://schemas.microsoft.com/office/drawing/2014/main" id="{F0A41952-054D-F461-73CF-FB66FF5895E0}"/>
              </a:ext>
            </a:extLst>
          </p:cNvPr>
          <p:cNvSpPr txBox="1"/>
          <p:nvPr/>
        </p:nvSpPr>
        <p:spPr>
          <a:xfrm>
            <a:off x="4325080" y="3972330"/>
            <a:ext cx="2093232" cy="76277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Des équipes dédiées à votre entreprise prêtes à vous répondre dans les meilleurs délais pour vos télégestions</a:t>
            </a:r>
          </a:p>
        </p:txBody>
      </p:sp>
      <p:sp>
        <p:nvSpPr>
          <p:cNvPr id="31" name="ZoneTexte 65">
            <a:extLst>
              <a:ext uri="{FF2B5EF4-FFF2-40B4-BE49-F238E27FC236}">
                <a16:creationId xmlns:a16="http://schemas.microsoft.com/office/drawing/2014/main" id="{18438C4A-FE6F-36F8-DB6D-E1090426F6D9}"/>
              </a:ext>
            </a:extLst>
          </p:cNvPr>
          <p:cNvSpPr txBox="1"/>
          <p:nvPr/>
        </p:nvSpPr>
        <p:spPr>
          <a:xfrm>
            <a:off x="4325081" y="5612240"/>
            <a:ext cx="1865827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Vous avez une demande ?</a:t>
            </a:r>
          </a:p>
          <a:p>
            <a:pPr defTabSz="414772">
              <a:defRPr/>
            </a:pPr>
            <a:r>
              <a:rPr lang="fr-FR" sz="1089" dirty="0" err="1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Koesio</a:t>
            </a: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 est votre seul interlocuteur</a:t>
            </a:r>
          </a:p>
        </p:txBody>
      </p:sp>
      <p:sp>
        <p:nvSpPr>
          <p:cNvPr id="32" name="ZoneTexte 68">
            <a:extLst>
              <a:ext uri="{FF2B5EF4-FFF2-40B4-BE49-F238E27FC236}">
                <a16:creationId xmlns:a16="http://schemas.microsoft.com/office/drawing/2014/main" id="{624CC9B9-069C-FDCA-AF31-38CFC8ECF295}"/>
              </a:ext>
            </a:extLst>
          </p:cNvPr>
          <p:cNvSpPr txBox="1"/>
          <p:nvPr/>
        </p:nvSpPr>
        <p:spPr>
          <a:xfrm>
            <a:off x="1358693" y="5618873"/>
            <a:ext cx="1951639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Une gestion de tous vos incidents pour vous apporter une meilleure disponibilité</a:t>
            </a:r>
          </a:p>
        </p:txBody>
      </p:sp>
      <p:sp>
        <p:nvSpPr>
          <p:cNvPr id="40" name="Espace réservé du contenu 2">
            <a:extLst>
              <a:ext uri="{FF2B5EF4-FFF2-40B4-BE49-F238E27FC236}">
                <a16:creationId xmlns:a16="http://schemas.microsoft.com/office/drawing/2014/main" id="{A0455AA2-8537-D68B-A8AE-02B4B01F2410}"/>
              </a:ext>
            </a:extLst>
          </p:cNvPr>
          <p:cNvSpPr txBox="1">
            <a:spLocks/>
          </p:cNvSpPr>
          <p:nvPr/>
        </p:nvSpPr>
        <p:spPr>
          <a:xfrm>
            <a:off x="674485" y="3145633"/>
            <a:ext cx="2683471" cy="187092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14772">
              <a:defRPr/>
            </a:pPr>
            <a:r>
              <a:rPr lang="fr-FR" sz="1270" u="sng" dirty="0">
                <a:solidFill>
                  <a:srgbClr val="E84957"/>
                </a:solidFill>
                <a:latin typeface="Arial Nova" panose="020B0504020202020204" pitchFamily="34" charset="0"/>
              </a:rPr>
              <a:t>Ce qui est inclus dans votre offre :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CB28811-9C62-DE8D-2F16-54C658877CED}"/>
              </a:ext>
            </a:extLst>
          </p:cNvPr>
          <p:cNvSpPr/>
          <p:nvPr/>
        </p:nvSpPr>
        <p:spPr>
          <a:xfrm>
            <a:off x="4399255" y="3664442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Réactivité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78B4176-2DE7-8D5F-C3E0-9449D440956A}"/>
              </a:ext>
            </a:extLst>
          </p:cNvPr>
          <p:cNvSpPr/>
          <p:nvPr/>
        </p:nvSpPr>
        <p:spPr>
          <a:xfrm>
            <a:off x="1415899" y="5287444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Satisfaction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6D65B9C-991B-B99A-BEF6-FCB0BA993548}"/>
              </a:ext>
            </a:extLst>
          </p:cNvPr>
          <p:cNvSpPr/>
          <p:nvPr/>
        </p:nvSpPr>
        <p:spPr>
          <a:xfrm>
            <a:off x="4399255" y="5282747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Simplicité</a:t>
            </a:r>
          </a:p>
        </p:txBody>
      </p:sp>
      <p:pic>
        <p:nvPicPr>
          <p:cNvPr id="47" name="Image 46">
            <a:extLst>
              <a:ext uri="{FF2B5EF4-FFF2-40B4-BE49-F238E27FC236}">
                <a16:creationId xmlns:a16="http://schemas.microsoft.com/office/drawing/2014/main" id="{060C1E6F-9F37-5A1F-6BC2-9CDA05C641C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7332" y="5304720"/>
            <a:ext cx="494368" cy="494368"/>
          </a:xfrm>
          <a:prstGeom prst="rect">
            <a:avLst/>
          </a:prstGeom>
        </p:spPr>
      </p:pic>
      <p:pic>
        <p:nvPicPr>
          <p:cNvPr id="48" name="Image 47">
            <a:extLst>
              <a:ext uri="{FF2B5EF4-FFF2-40B4-BE49-F238E27FC236}">
                <a16:creationId xmlns:a16="http://schemas.microsoft.com/office/drawing/2014/main" id="{D318BFC2-1F6B-AD32-181D-B2D572AFD9D8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1488" y="3647510"/>
            <a:ext cx="494367" cy="494367"/>
          </a:xfrm>
          <a:prstGeom prst="rect">
            <a:avLst/>
          </a:prstGeom>
        </p:spPr>
      </p:pic>
      <p:pic>
        <p:nvPicPr>
          <p:cNvPr id="49" name="Image 48">
            <a:extLst>
              <a:ext uri="{FF2B5EF4-FFF2-40B4-BE49-F238E27FC236}">
                <a16:creationId xmlns:a16="http://schemas.microsoft.com/office/drawing/2014/main" id="{8C356D3A-FB96-B8C3-E1C0-36E6D6D46AEE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32761" y="3652722"/>
            <a:ext cx="494367" cy="494367"/>
          </a:xfrm>
          <a:prstGeom prst="rect">
            <a:avLst/>
          </a:prstGeom>
        </p:spPr>
      </p:pic>
      <p:pic>
        <p:nvPicPr>
          <p:cNvPr id="50" name="Image 49">
            <a:extLst>
              <a:ext uri="{FF2B5EF4-FFF2-40B4-BE49-F238E27FC236}">
                <a16:creationId xmlns:a16="http://schemas.microsoft.com/office/drawing/2014/main" id="{97285767-6E3C-6D2F-F1CB-E8C22C6BE4B8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75143" y="5280956"/>
            <a:ext cx="494367" cy="494367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C909EB7E-95E3-D988-F987-3BE36A3B78B1}"/>
              </a:ext>
            </a:extLst>
          </p:cNvPr>
          <p:cNvSpPr txBox="1"/>
          <p:nvPr/>
        </p:nvSpPr>
        <p:spPr>
          <a:xfrm>
            <a:off x="7908000" y="37206"/>
            <a:ext cx="1832553" cy="2319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414772">
              <a:defRPr/>
            </a:pPr>
            <a:r>
              <a:rPr lang="fr-FR" sz="907" dirty="0">
                <a:solidFill>
                  <a:prstClr val="black"/>
                </a:solidFill>
                <a:latin typeface="Arial Nova" panose="020B0504020202020204" pitchFamily="34" charset="0"/>
              </a:rPr>
              <a:t>| Notre solution technique - WIFI</a:t>
            </a:r>
          </a:p>
        </p:txBody>
      </p:sp>
    </p:spTree>
    <p:extLst>
      <p:ext uri="{BB962C8B-B14F-4D97-AF65-F5344CB8AC3E}">
        <p14:creationId xmlns:p14="http://schemas.microsoft.com/office/powerpoint/2010/main" val="3696682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3D32696-0A68-AEA4-3E2F-5AEE178D18AD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4772">
              <a:defRPr/>
            </a:pPr>
            <a:endParaRPr lang="fr-F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958E678-64DC-92B3-2455-501F67E359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63" r="6072" b="6495"/>
          <a:stretch/>
        </p:blipFill>
        <p:spPr>
          <a:xfrm>
            <a:off x="8950338" y="6001442"/>
            <a:ext cx="707670" cy="70767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51F1DC3-E846-2096-4658-24D4F33AE03C}"/>
              </a:ext>
            </a:extLst>
          </p:cNvPr>
          <p:cNvSpPr/>
          <p:nvPr/>
        </p:nvSpPr>
        <p:spPr>
          <a:xfrm>
            <a:off x="103292" y="274396"/>
            <a:ext cx="501009" cy="172166"/>
          </a:xfrm>
          <a:prstGeom prst="rect">
            <a:avLst/>
          </a:prstGeom>
          <a:solidFill>
            <a:srgbClr val="E94B5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>
              <a:defRPr/>
            </a:pPr>
            <a:endParaRPr lang="fr-FR" sz="1633" kern="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C45E1F-68DB-6D8E-EBB9-AB8333DAAB37}"/>
              </a:ext>
            </a:extLst>
          </p:cNvPr>
          <p:cNvSpPr/>
          <p:nvPr/>
        </p:nvSpPr>
        <p:spPr>
          <a:xfrm>
            <a:off x="1415899" y="3669139"/>
            <a:ext cx="1608645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Maitrise des coûts</a:t>
            </a:r>
          </a:p>
        </p:txBody>
      </p:sp>
      <p:sp>
        <p:nvSpPr>
          <p:cNvPr id="18" name="ZoneTexte 59">
            <a:extLst>
              <a:ext uri="{FF2B5EF4-FFF2-40B4-BE49-F238E27FC236}">
                <a16:creationId xmlns:a16="http://schemas.microsoft.com/office/drawing/2014/main" id="{044B1AA7-1FD1-5AB7-EEB2-3C007CF0F92C}"/>
              </a:ext>
            </a:extLst>
          </p:cNvPr>
          <p:cNvSpPr txBox="1"/>
          <p:nvPr/>
        </p:nvSpPr>
        <p:spPr>
          <a:xfrm>
            <a:off x="1358692" y="3984101"/>
            <a:ext cx="2203104" cy="93038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Prestation incluant uniquement  la main d’œuvre et déplacement concernant vos équipements</a:t>
            </a:r>
          </a:p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(hors : pièces, casse, foudre, surtension électrique)</a:t>
            </a:r>
          </a:p>
        </p:txBody>
      </p:sp>
      <p:sp>
        <p:nvSpPr>
          <p:cNvPr id="19" name="ZoneTexte 60">
            <a:extLst>
              <a:ext uri="{FF2B5EF4-FFF2-40B4-BE49-F238E27FC236}">
                <a16:creationId xmlns:a16="http://schemas.microsoft.com/office/drawing/2014/main" id="{D60956E8-4627-42D1-FE99-21BBF6C366BB}"/>
              </a:ext>
            </a:extLst>
          </p:cNvPr>
          <p:cNvSpPr txBox="1"/>
          <p:nvPr/>
        </p:nvSpPr>
        <p:spPr>
          <a:xfrm>
            <a:off x="4325080" y="3972330"/>
            <a:ext cx="2093232" cy="76277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Des équipes dédiées à votre entreprise prêtes à vous répondre dans les meilleurs délais pour vos télégestions</a:t>
            </a:r>
          </a:p>
        </p:txBody>
      </p:sp>
      <p:sp>
        <p:nvSpPr>
          <p:cNvPr id="20" name="ZoneTexte 61">
            <a:extLst>
              <a:ext uri="{FF2B5EF4-FFF2-40B4-BE49-F238E27FC236}">
                <a16:creationId xmlns:a16="http://schemas.microsoft.com/office/drawing/2014/main" id="{2BF7149C-8A0A-D27A-A12D-E2CC2F03F171}"/>
              </a:ext>
            </a:extLst>
          </p:cNvPr>
          <p:cNvSpPr txBox="1"/>
          <p:nvPr/>
        </p:nvSpPr>
        <p:spPr>
          <a:xfrm>
            <a:off x="674485" y="1076188"/>
            <a:ext cx="8393884" cy="315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buClr>
                <a:srgbClr val="ED7D31"/>
              </a:buClr>
              <a:defRPr/>
            </a:pPr>
            <a:r>
              <a:rPr lang="fr-FR" sz="1452" b="1" dirty="0">
                <a:solidFill>
                  <a:srgbClr val="6E398E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Service Maintenance Base </a:t>
            </a:r>
            <a:r>
              <a:rPr lang="fr-FR" sz="1452" b="1" dirty="0">
                <a:solidFill>
                  <a:srgbClr val="6E398E"/>
                </a:solidFill>
                <a:highlight>
                  <a:srgbClr val="FFFF00"/>
                </a:highlight>
                <a:latin typeface="Arial Nova" panose="020B0504020202020204" pitchFamily="34" charset="0"/>
                <a:cs typeface="Arial" panose="020B0604020202020204" pitchFamily="34" charset="0"/>
              </a:rPr>
              <a:t>(Achat)</a:t>
            </a:r>
          </a:p>
        </p:txBody>
      </p:sp>
      <p:sp>
        <p:nvSpPr>
          <p:cNvPr id="21" name="Espace réservé du contenu 2">
            <a:extLst>
              <a:ext uri="{FF2B5EF4-FFF2-40B4-BE49-F238E27FC236}">
                <a16:creationId xmlns:a16="http://schemas.microsoft.com/office/drawing/2014/main" id="{5BC3592B-574C-EC58-5B6E-91D8E9F7FD1F}"/>
              </a:ext>
            </a:extLst>
          </p:cNvPr>
          <p:cNvSpPr>
            <a:spLocks noGrp="1"/>
          </p:cNvSpPr>
          <p:nvPr/>
        </p:nvSpPr>
        <p:spPr>
          <a:xfrm>
            <a:off x="674485" y="1436752"/>
            <a:ext cx="5225962" cy="1559558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600" b="1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b="0" i="1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829544">
              <a:spcBef>
                <a:spcPts val="907"/>
              </a:spcBef>
              <a:buClr>
                <a:srgbClr val="ED7D31"/>
              </a:buClr>
              <a:buNone/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</a:rPr>
              <a:t>Ayez l’esprit serein, </a:t>
            </a: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Koesio vous offre un service exclusif, de qualité, clé en main. Ce service vous garantit de vous référer à un seul interlocuteur en matière de téléphonie et de trouver une réponse rapide à vos problématiques grâce à des équipes dédiées à votre structure. </a:t>
            </a:r>
          </a:p>
          <a:p>
            <a:pPr marL="0" indent="0" defTabSz="829544">
              <a:spcBef>
                <a:spcPts val="907"/>
              </a:spcBef>
              <a:buClr>
                <a:srgbClr val="ED7D31"/>
              </a:buClr>
              <a:buNone/>
              <a:defRPr/>
            </a:pP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Ce service </a:t>
            </a: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</a:rPr>
              <a:t>est inclus dans votre offre </a:t>
            </a:r>
            <a:r>
              <a:rPr lang="fr-FR" sz="1089" b="0" dirty="0">
                <a:solidFill>
                  <a:prstClr val="black"/>
                </a:solidFill>
                <a:latin typeface="Arial Nova" panose="020B0504020202020204" pitchFamily="34" charset="0"/>
              </a:rPr>
              <a:t>et n’est pas optionnel, soyez serein, Koesio se charge de votre système.</a:t>
            </a:r>
          </a:p>
        </p:txBody>
      </p:sp>
      <p:sp>
        <p:nvSpPr>
          <p:cNvPr id="22" name="ZoneTexte 65">
            <a:extLst>
              <a:ext uri="{FF2B5EF4-FFF2-40B4-BE49-F238E27FC236}">
                <a16:creationId xmlns:a16="http://schemas.microsoft.com/office/drawing/2014/main" id="{9D500CC1-EC8A-795F-F8A4-233C023CB1C2}"/>
              </a:ext>
            </a:extLst>
          </p:cNvPr>
          <p:cNvSpPr txBox="1"/>
          <p:nvPr/>
        </p:nvSpPr>
        <p:spPr>
          <a:xfrm>
            <a:off x="4325081" y="5612240"/>
            <a:ext cx="1865827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Vous avez une demande ?</a:t>
            </a:r>
          </a:p>
          <a:p>
            <a:pPr defTabSz="414772">
              <a:defRPr/>
            </a:pPr>
            <a:r>
              <a:rPr lang="fr-FR" sz="1089" dirty="0" err="1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Koesio</a:t>
            </a: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 est votre seul interlocuteur</a:t>
            </a:r>
          </a:p>
        </p:txBody>
      </p:sp>
      <p:sp>
        <p:nvSpPr>
          <p:cNvPr id="23" name="ZoneTexte 68">
            <a:extLst>
              <a:ext uri="{FF2B5EF4-FFF2-40B4-BE49-F238E27FC236}">
                <a16:creationId xmlns:a16="http://schemas.microsoft.com/office/drawing/2014/main" id="{E7332DA2-6DE5-7486-702F-D3C2DDFA8DCD}"/>
              </a:ext>
            </a:extLst>
          </p:cNvPr>
          <p:cNvSpPr txBox="1"/>
          <p:nvPr/>
        </p:nvSpPr>
        <p:spPr>
          <a:xfrm>
            <a:off x="1358693" y="5618873"/>
            <a:ext cx="1951639" cy="5951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defRPr/>
            </a:pPr>
            <a:r>
              <a:rPr lang="fr-FR" sz="1089" dirty="0">
                <a:solidFill>
                  <a:prstClr val="black"/>
                </a:solidFill>
                <a:latin typeface="Arial Nova" panose="020B0504020202020204" pitchFamily="34" charset="0"/>
                <a:ea typeface="Lato Semibold" panose="020F0502020204030203" pitchFamily="34" charset="0"/>
                <a:cs typeface="Arial" panose="020B0604020202020204" pitchFamily="34" charset="0"/>
              </a:rPr>
              <a:t>Une gestion de tous vos incidents pour vous apporter une meilleure disponibilité</a:t>
            </a:r>
          </a:p>
        </p:txBody>
      </p:sp>
      <p:sp>
        <p:nvSpPr>
          <p:cNvPr id="25" name="Espace réservé du contenu 2">
            <a:extLst>
              <a:ext uri="{FF2B5EF4-FFF2-40B4-BE49-F238E27FC236}">
                <a16:creationId xmlns:a16="http://schemas.microsoft.com/office/drawing/2014/main" id="{A3992385-4171-433B-200D-4B4C915B15D0}"/>
              </a:ext>
            </a:extLst>
          </p:cNvPr>
          <p:cNvSpPr txBox="1">
            <a:spLocks/>
          </p:cNvSpPr>
          <p:nvPr/>
        </p:nvSpPr>
        <p:spPr>
          <a:xfrm>
            <a:off x="674485" y="3145633"/>
            <a:ext cx="2683471" cy="187092"/>
          </a:xfrm>
          <a:prstGeom prst="rect">
            <a:avLst/>
          </a:prstGeom>
        </p:spPr>
        <p:txBody>
          <a:bodyPr vert="horz" lIns="82953" tIns="41476" rIns="82953" bIns="41476" rtlCol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14772">
              <a:defRPr/>
            </a:pPr>
            <a:r>
              <a:rPr lang="fr-FR" sz="1270" u="sng" dirty="0">
                <a:solidFill>
                  <a:srgbClr val="E84957"/>
                </a:solidFill>
                <a:latin typeface="Arial Nova" panose="020B0504020202020204" pitchFamily="34" charset="0"/>
              </a:rPr>
              <a:t>Ce qui est inclus dans votre offre :</a:t>
            </a:r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AC23A736-3887-89F9-2AF8-185ED1DED2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2099" y="2125804"/>
            <a:ext cx="3445531" cy="5166805"/>
          </a:xfrm>
          <a:prstGeom prst="rect">
            <a:avLst/>
          </a:prstGeom>
        </p:spPr>
      </p:pic>
      <p:sp>
        <p:nvSpPr>
          <p:cNvPr id="32" name="Espace réservé du texte 26">
            <a:extLst>
              <a:ext uri="{FF2B5EF4-FFF2-40B4-BE49-F238E27FC236}">
                <a16:creationId xmlns:a16="http://schemas.microsoft.com/office/drawing/2014/main" id="{37B5614A-BD7D-C1B6-05D5-20CD467DB235}"/>
              </a:ext>
            </a:extLst>
          </p:cNvPr>
          <p:cNvSpPr txBox="1">
            <a:spLocks/>
          </p:cNvSpPr>
          <p:nvPr/>
        </p:nvSpPr>
        <p:spPr>
          <a:xfrm>
            <a:off x="674484" y="169908"/>
            <a:ext cx="7854254" cy="723254"/>
          </a:xfrm>
          <a:prstGeom prst="rect">
            <a:avLst/>
          </a:prstGeom>
        </p:spPr>
        <p:txBody>
          <a:bodyPr vert="horz" lIns="82953" tIns="41476" rIns="82953" bIns="41476" rtlCol="0">
            <a:norm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905" dirty="0">
                <a:solidFill>
                  <a:prstClr val="black"/>
                </a:solidFill>
                <a:latin typeface="Century Gothic" panose="020B0502020202020204" pitchFamily="34" charset="0"/>
              </a:rPr>
              <a:t>La solution</a:t>
            </a:r>
          </a:p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633" b="0" dirty="0">
                <a:solidFill>
                  <a:prstClr val="black"/>
                </a:solidFill>
                <a:latin typeface="Century Gothic" panose="020B0502020202020204" pitchFamily="34" charset="0"/>
              </a:rPr>
              <a:t>NOS SERVICES DE MAINTIEN EN CONDITIONS OPÉRATIONNELLES</a:t>
            </a:r>
          </a:p>
        </p:txBody>
      </p:sp>
      <p:pic>
        <p:nvPicPr>
          <p:cNvPr id="40" name="Image 39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57594EA1-B0DA-0170-75CB-C1ABDAB6499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70824" y="208235"/>
            <a:ext cx="975983" cy="243996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2FFC1881-651B-AF70-76E1-1AB963D0BC24}"/>
              </a:ext>
            </a:extLst>
          </p:cNvPr>
          <p:cNvSpPr/>
          <p:nvPr/>
        </p:nvSpPr>
        <p:spPr>
          <a:xfrm>
            <a:off x="4399255" y="3664442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Réactivité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3B32082-52DC-521D-8C75-D9C991FF4940}"/>
              </a:ext>
            </a:extLst>
          </p:cNvPr>
          <p:cNvSpPr/>
          <p:nvPr/>
        </p:nvSpPr>
        <p:spPr>
          <a:xfrm>
            <a:off x="1415899" y="5287444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Satisfaction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A4A5432-E26D-744F-1E2F-06B86A415739}"/>
              </a:ext>
            </a:extLst>
          </p:cNvPr>
          <p:cNvSpPr/>
          <p:nvPr/>
        </p:nvSpPr>
        <p:spPr>
          <a:xfrm>
            <a:off x="4399255" y="5282747"/>
            <a:ext cx="1324806" cy="245393"/>
          </a:xfrm>
          <a:prstGeom prst="rect">
            <a:avLst/>
          </a:prstGeom>
          <a:solidFill>
            <a:srgbClr val="6E39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14772">
              <a:defRPr/>
            </a:pPr>
            <a:r>
              <a:rPr lang="fr-FR" sz="1270" dirty="0">
                <a:solidFill>
                  <a:prstClr val="white"/>
                </a:solidFill>
                <a:latin typeface="Arial Nova" panose="020B0504020202020204" pitchFamily="34" charset="0"/>
              </a:rPr>
              <a:t>Simplicité</a:t>
            </a:r>
          </a:p>
        </p:txBody>
      </p:sp>
      <p:pic>
        <p:nvPicPr>
          <p:cNvPr id="47" name="Image 46">
            <a:extLst>
              <a:ext uri="{FF2B5EF4-FFF2-40B4-BE49-F238E27FC236}">
                <a16:creationId xmlns:a16="http://schemas.microsoft.com/office/drawing/2014/main" id="{BEF6D422-B57F-F2D6-C0C8-6D9311226714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7332" y="5304720"/>
            <a:ext cx="494368" cy="494368"/>
          </a:xfrm>
          <a:prstGeom prst="rect">
            <a:avLst/>
          </a:prstGeom>
        </p:spPr>
      </p:pic>
      <p:pic>
        <p:nvPicPr>
          <p:cNvPr id="48" name="Image 47">
            <a:extLst>
              <a:ext uri="{FF2B5EF4-FFF2-40B4-BE49-F238E27FC236}">
                <a16:creationId xmlns:a16="http://schemas.microsoft.com/office/drawing/2014/main" id="{3579446B-0E80-F228-4A04-C5DB762873A6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1488" y="3647510"/>
            <a:ext cx="494367" cy="494367"/>
          </a:xfrm>
          <a:prstGeom prst="rect">
            <a:avLst/>
          </a:prstGeom>
        </p:spPr>
      </p:pic>
      <p:pic>
        <p:nvPicPr>
          <p:cNvPr id="49" name="Image 48">
            <a:extLst>
              <a:ext uri="{FF2B5EF4-FFF2-40B4-BE49-F238E27FC236}">
                <a16:creationId xmlns:a16="http://schemas.microsoft.com/office/drawing/2014/main" id="{95D4C8B9-42CE-3B84-6DDE-5AE95B31D046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32761" y="3652722"/>
            <a:ext cx="494367" cy="494367"/>
          </a:xfrm>
          <a:prstGeom prst="rect">
            <a:avLst/>
          </a:prstGeom>
        </p:spPr>
      </p:pic>
      <p:pic>
        <p:nvPicPr>
          <p:cNvPr id="50" name="Image 49">
            <a:extLst>
              <a:ext uri="{FF2B5EF4-FFF2-40B4-BE49-F238E27FC236}">
                <a16:creationId xmlns:a16="http://schemas.microsoft.com/office/drawing/2014/main" id="{EDD269FD-AA4E-ED84-EBB7-9A7FD53BDE46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75143" y="5280956"/>
            <a:ext cx="494367" cy="494367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FBEAD982-1F53-40C5-EFCA-C62A5C4B030A}"/>
              </a:ext>
            </a:extLst>
          </p:cNvPr>
          <p:cNvSpPr txBox="1"/>
          <p:nvPr/>
        </p:nvSpPr>
        <p:spPr>
          <a:xfrm>
            <a:off x="7908000" y="37206"/>
            <a:ext cx="1832553" cy="2319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414772">
              <a:defRPr/>
            </a:pPr>
            <a:r>
              <a:rPr lang="fr-FR" sz="907" dirty="0">
                <a:solidFill>
                  <a:prstClr val="black"/>
                </a:solidFill>
                <a:latin typeface="Arial Nova" panose="020B0504020202020204" pitchFamily="34" charset="0"/>
              </a:rPr>
              <a:t>| Notre solution technique - WIFI</a:t>
            </a:r>
          </a:p>
        </p:txBody>
      </p:sp>
    </p:spTree>
    <p:extLst>
      <p:ext uri="{BB962C8B-B14F-4D97-AF65-F5344CB8AC3E}">
        <p14:creationId xmlns:p14="http://schemas.microsoft.com/office/powerpoint/2010/main" val="18216964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4C73A-951D-07E4-F708-96C567D7E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F97E76D-86BE-924B-5A68-1FB400BFEFE3}"/>
              </a:ext>
            </a:extLst>
          </p:cNvPr>
          <p:cNvSpPr/>
          <p:nvPr/>
        </p:nvSpPr>
        <p:spPr>
          <a:xfrm>
            <a:off x="103500" y="1"/>
            <a:ext cx="184625" cy="6858000"/>
          </a:xfrm>
          <a:prstGeom prst="rect">
            <a:avLst/>
          </a:prstGeom>
          <a:solidFill>
            <a:srgbClr val="FFD6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4772">
              <a:defRPr/>
            </a:pPr>
            <a:endParaRPr lang="fr-FR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8819A0C-7039-D301-F9AC-6F8C191DB10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63" r="6072" b="6495"/>
          <a:stretch/>
        </p:blipFill>
        <p:spPr>
          <a:xfrm>
            <a:off x="8950338" y="6001442"/>
            <a:ext cx="707670" cy="70767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BA1F2B7-4BE9-37AC-B8C3-F9ED6472244A}"/>
              </a:ext>
            </a:extLst>
          </p:cNvPr>
          <p:cNvSpPr/>
          <p:nvPr/>
        </p:nvSpPr>
        <p:spPr>
          <a:xfrm>
            <a:off x="103292" y="274396"/>
            <a:ext cx="501009" cy="172166"/>
          </a:xfrm>
          <a:prstGeom prst="rect">
            <a:avLst/>
          </a:prstGeom>
          <a:solidFill>
            <a:srgbClr val="E94B5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2953" tIns="41476" rIns="82953" bIns="414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29544">
              <a:defRPr/>
            </a:pPr>
            <a:endParaRPr lang="fr-FR" sz="1633" kern="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BA67EE2-C7FD-39B3-5F34-3393405813F2}"/>
              </a:ext>
            </a:extLst>
          </p:cNvPr>
          <p:cNvSpPr txBox="1"/>
          <p:nvPr/>
        </p:nvSpPr>
        <p:spPr>
          <a:xfrm>
            <a:off x="664738" y="1551168"/>
            <a:ext cx="5922773" cy="87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14772">
              <a:defRPr/>
            </a:pPr>
            <a:r>
              <a:rPr lang="fr-FR" sz="1270" dirty="0">
                <a:solidFill>
                  <a:prstClr val="black"/>
                </a:solidFill>
                <a:latin typeface="Arial Nova" panose="020B0504020202020204" pitchFamily="34" charset="0"/>
              </a:rPr>
              <a:t>Le matériel installé est garanti pièces, main d’œuvre et déplacement sur toute la durée du contrat sans franchise, ni formalités, ni vétusté. Avec </a:t>
            </a:r>
            <a:r>
              <a:rPr lang="fr-FR" sz="1270" dirty="0" err="1">
                <a:solidFill>
                  <a:prstClr val="black"/>
                </a:solidFill>
                <a:latin typeface="Arial Nova" panose="020B0504020202020204" pitchFamily="34" charset="0"/>
              </a:rPr>
              <a:t>Koesio</a:t>
            </a:r>
            <a:r>
              <a:rPr lang="fr-FR" sz="1270" dirty="0">
                <a:solidFill>
                  <a:prstClr val="black"/>
                </a:solidFill>
                <a:latin typeface="Arial Nova" panose="020B0504020202020204" pitchFamily="34" charset="0"/>
              </a:rPr>
              <a:t> vous êtes assurés de bénéficier des interventions techniques suivantes gratuitement et dans les délais suivants :</a:t>
            </a:r>
            <a:endParaRPr lang="fr-FR" sz="1114" dirty="0">
              <a:solidFill>
                <a:prstClr val="black"/>
              </a:solidFill>
              <a:latin typeface="Arial Nova" panose="020B0504020202020204" pitchFamily="34" charset="0"/>
            </a:endParaRPr>
          </a:p>
        </p:txBody>
      </p:sp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FACA3D3A-6A40-2FF3-7E0A-0AD7235C9880}"/>
              </a:ext>
            </a:extLst>
          </p:cNvPr>
          <p:cNvGraphicFramePr>
            <a:graphicFrameLocks noGrp="1"/>
          </p:cNvGraphicFramePr>
          <p:nvPr/>
        </p:nvGraphicFramePr>
        <p:xfrm>
          <a:off x="1679477" y="2861999"/>
          <a:ext cx="6195263" cy="2653429"/>
        </p:xfrm>
        <a:graphic>
          <a:graphicData uri="http://schemas.openxmlformats.org/drawingml/2006/table">
            <a:tbl>
              <a:tblPr firstRow="1" firstCol="1" bandRow="1">
                <a:effectLst>
                  <a:outerShdw blurRad="152400" algn="ctr" rotWithShape="0">
                    <a:prstClr val="black">
                      <a:alpha val="15000"/>
                    </a:prstClr>
                  </a:outerShdw>
                </a:effectLst>
              </a:tblPr>
              <a:tblGrid>
                <a:gridCol w="586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0511">
                  <a:extLst>
                    <a:ext uri="{9D8B030D-6E8A-4147-A177-3AD203B41FA5}">
                      <a16:colId xmlns:a16="http://schemas.microsoft.com/office/drawing/2014/main" val="2768563407"/>
                    </a:ext>
                  </a:extLst>
                </a:gridCol>
                <a:gridCol w="1594104">
                  <a:extLst>
                    <a:ext uri="{9D8B030D-6E8A-4147-A177-3AD203B41FA5}">
                      <a16:colId xmlns:a16="http://schemas.microsoft.com/office/drawing/2014/main" val="746220966"/>
                    </a:ext>
                  </a:extLst>
                </a:gridCol>
                <a:gridCol w="1594104">
                  <a:extLst>
                    <a:ext uri="{9D8B030D-6E8A-4147-A177-3AD203B41FA5}">
                      <a16:colId xmlns:a16="http://schemas.microsoft.com/office/drawing/2014/main" val="1463734406"/>
                    </a:ext>
                  </a:extLst>
                </a:gridCol>
              </a:tblGrid>
              <a:tr h="67844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1" kern="1200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SLA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1" kern="1200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Criticité</a:t>
                      </a:r>
                    </a:p>
                  </a:txBody>
                  <a:tcPr marL="26065" marR="25332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C0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1" kern="1200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Description de l’anomalie</a:t>
                      </a:r>
                    </a:p>
                  </a:txBody>
                  <a:tcPr marL="25332" marR="2533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C0F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1" kern="1200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Délai maximum d’intervention / anomalie </a:t>
                      </a:r>
                      <a:r>
                        <a:rPr lang="fr-FR" sz="1000" b="0" i="1" kern="1200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(heures ouvrées)</a:t>
                      </a:r>
                    </a:p>
                  </a:txBody>
                  <a:tcPr marL="25332" marR="2533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C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b="1" i="1" kern="1200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Garantie de Temps de Rétablissement (GTR)</a:t>
                      </a:r>
                    </a:p>
                  </a:txBody>
                  <a:tcPr marL="25332" marR="25332" marT="0" marB="0" anchor="ctr">
                    <a:lnL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C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4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Niveau 1</a:t>
                      </a:r>
                    </a:p>
                  </a:txBody>
                  <a:tcPr marL="26065" marR="25332" marT="0" marB="0" vert="vert27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46AAB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000" b="0" i="1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ova" panose="020B0504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marL="25332" marR="25332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ova" panose="020B0504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marL="25332" marR="25332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ova" panose="020B0504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marL="25332" marR="25332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48981"/>
                  </a:ext>
                </a:extLst>
              </a:tr>
              <a:tr h="7240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Niveau 2</a:t>
                      </a:r>
                    </a:p>
                  </a:txBody>
                  <a:tcPr marL="26065" marR="25332" marT="0" marB="0" vert="vert27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46AAB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000" b="0" i="1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ova" panose="020B0504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marL="25332" marR="25332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ova" panose="020B0504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marL="25332" marR="25332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ova" panose="020B0504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marL="25332" marR="25332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055581"/>
                  </a:ext>
                </a:extLst>
              </a:tr>
              <a:tr h="6254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Niveau 3</a:t>
                      </a:r>
                    </a:p>
                  </a:txBody>
                  <a:tcPr marL="26065" marR="25332" marT="0" marB="0" vert="vert27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46AA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000" b="0" i="1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ova" panose="020B0504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marL="25332" marR="25332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ova" panose="020B0504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marL="25332" marR="25332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0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ova" panose="020B0504020202020204" pitchFamily="34" charset="0"/>
                        <a:ea typeface="Lato Semibold" panose="020F0502020204030203" pitchFamily="34" charset="0"/>
                        <a:cs typeface="Arial" panose="020B0604020202020204" pitchFamily="34" charset="0"/>
                      </a:endParaRPr>
                    </a:p>
                  </a:txBody>
                  <a:tcPr marL="25332" marR="25332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ZoneTexte 61">
            <a:extLst>
              <a:ext uri="{FF2B5EF4-FFF2-40B4-BE49-F238E27FC236}">
                <a16:creationId xmlns:a16="http://schemas.microsoft.com/office/drawing/2014/main" id="{D8425DA6-2B89-A039-9A52-613120856D41}"/>
              </a:ext>
            </a:extLst>
          </p:cNvPr>
          <p:cNvSpPr txBox="1"/>
          <p:nvPr/>
        </p:nvSpPr>
        <p:spPr>
          <a:xfrm>
            <a:off x="674485" y="1169937"/>
            <a:ext cx="8393884" cy="315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4772">
              <a:buClr>
                <a:srgbClr val="ED7D31"/>
              </a:buClr>
              <a:defRPr/>
            </a:pPr>
            <a:r>
              <a:rPr lang="fr-FR" sz="1452" b="1" dirty="0">
                <a:solidFill>
                  <a:srgbClr val="6E398E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Services et délais d’intervention</a:t>
            </a:r>
          </a:p>
        </p:txBody>
      </p:sp>
      <p:sp>
        <p:nvSpPr>
          <p:cNvPr id="15" name="Espace réservé du texte 26">
            <a:extLst>
              <a:ext uri="{FF2B5EF4-FFF2-40B4-BE49-F238E27FC236}">
                <a16:creationId xmlns:a16="http://schemas.microsoft.com/office/drawing/2014/main" id="{EF393205-D70A-FD4C-C2DC-A14F9144B38E}"/>
              </a:ext>
            </a:extLst>
          </p:cNvPr>
          <p:cNvSpPr txBox="1">
            <a:spLocks/>
          </p:cNvSpPr>
          <p:nvPr/>
        </p:nvSpPr>
        <p:spPr>
          <a:xfrm>
            <a:off x="674484" y="169908"/>
            <a:ext cx="7854254" cy="723254"/>
          </a:xfrm>
          <a:prstGeom prst="rect">
            <a:avLst/>
          </a:prstGeom>
        </p:spPr>
        <p:txBody>
          <a:bodyPr vert="horz" lIns="82953" tIns="41476" rIns="82953" bIns="41476" rtlCol="0">
            <a:norm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905" dirty="0">
                <a:solidFill>
                  <a:prstClr val="black"/>
                </a:solidFill>
                <a:latin typeface="Century Gothic" panose="020B0502020202020204" pitchFamily="34" charset="0"/>
              </a:rPr>
              <a:t>La solution</a:t>
            </a:r>
          </a:p>
          <a:p>
            <a:pPr defTabSz="914406">
              <a:lnSpc>
                <a:spcPct val="100000"/>
              </a:lnSpc>
              <a:spcBef>
                <a:spcPts val="0"/>
              </a:spcBef>
              <a:defRPr/>
            </a:pPr>
            <a:r>
              <a:rPr lang="fr-FR" sz="1633" b="0" dirty="0">
                <a:solidFill>
                  <a:prstClr val="black"/>
                </a:solidFill>
                <a:latin typeface="Century Gothic" panose="020B0502020202020204" pitchFamily="34" charset="0"/>
              </a:rPr>
              <a:t>Nos garanties de services (SLA)</a:t>
            </a:r>
          </a:p>
        </p:txBody>
      </p:sp>
      <p:pic>
        <p:nvPicPr>
          <p:cNvPr id="16" name="Image 15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BF797334-FC74-E4FB-3504-BA3E04BB51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70824" y="208235"/>
            <a:ext cx="975983" cy="243996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6F183137-14D9-7554-A18A-AEEEF93C619A}"/>
              </a:ext>
            </a:extLst>
          </p:cNvPr>
          <p:cNvSpPr txBox="1"/>
          <p:nvPr/>
        </p:nvSpPr>
        <p:spPr>
          <a:xfrm>
            <a:off x="7597314" y="3828927"/>
            <a:ext cx="1587390" cy="5949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14772">
              <a:defRPr/>
            </a:pPr>
            <a:r>
              <a:rPr lang="fr-FR" sz="1633" dirty="0">
                <a:solidFill>
                  <a:prstClr val="black"/>
                </a:solidFill>
                <a:highlight>
                  <a:srgbClr val="FFFF00"/>
                </a:highlight>
                <a:latin typeface="Calibri" panose="020F0502020204030204"/>
              </a:rPr>
              <a:t>A COMPLETER</a:t>
            </a:r>
          </a:p>
          <a:p>
            <a:pPr defTabSz="414772">
              <a:defRPr/>
            </a:pPr>
            <a:r>
              <a:rPr lang="fr-FR" sz="1633" dirty="0">
                <a:solidFill>
                  <a:prstClr val="black"/>
                </a:solidFill>
                <a:highlight>
                  <a:srgbClr val="FFFF00"/>
                </a:highlight>
                <a:latin typeface="Calibri" panose="020F0502020204030204"/>
              </a:rPr>
              <a:t>EN REGION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AB5A51D-A648-7C13-D630-9E3B28433975}"/>
              </a:ext>
            </a:extLst>
          </p:cNvPr>
          <p:cNvSpPr txBox="1"/>
          <p:nvPr/>
        </p:nvSpPr>
        <p:spPr>
          <a:xfrm>
            <a:off x="7908000" y="37206"/>
            <a:ext cx="1832553" cy="2319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414772">
              <a:defRPr/>
            </a:pPr>
            <a:r>
              <a:rPr lang="fr-FR" sz="907" dirty="0">
                <a:solidFill>
                  <a:prstClr val="black"/>
                </a:solidFill>
                <a:latin typeface="Arial Nova" panose="020B0504020202020204" pitchFamily="34" charset="0"/>
              </a:rPr>
              <a:t>| Notre solution technique - WIFI</a:t>
            </a:r>
          </a:p>
        </p:txBody>
      </p:sp>
    </p:spTree>
    <p:extLst>
      <p:ext uri="{BB962C8B-B14F-4D97-AF65-F5344CB8AC3E}">
        <p14:creationId xmlns:p14="http://schemas.microsoft.com/office/powerpoint/2010/main" val="14879880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PRINTFACINGPAGESLAYOUT" val="PAGE DE GARDE 1"/>
  <p:tag name="UPSLIDETOCALGOID" val="Standard"/>
  <p:tag name="UPSLIDEPRINTFACINGPAGESDESIGN" val="CONTENU"/>
  <p:tag name="TEMPLATESHORTNAMETAG" val="Finance"/>
  <p:tag name="TEMPLATEFULLNAMETAG" val="Finance"/>
  <p:tag name="UPSLIDE" val="KOE02942_Finance_02-09-2024"/>
  <p:tag name="UPSLIDEVERSION" val="6.8.47.2"/>
  <p:tag name="FOOTERSCRIPT" val="&lt;%Titre%&gt;  |  &lt;%Date%&gt;"/>
  <p:tag name="UPSLIDETOCOPTIONS" val="&lt;?xml version=&quot;1.0&quot; encoding=&quot;utf-16&quot;?&gt;&#10;&lt;TocContentOptions xmlns:xsd=&quot;http://www.w3.org/2001/XMLSchema&quot; xmlns:xsi=&quot;http://www.w3.org/2001/XMLSchema-instance&quot;&gt;&#10;  &lt;TocSlidesOptions&gt;&#10;    &lt;ContainsSubSectionTitles&gt;true&lt;/ContainsSubSectionTitles&gt;&#10;    &lt;ContainsSlideTitles&gt;false&lt;/ContainsSlideTitles&gt;&#10;    &lt;ContainsParentLessSlidesTitles&gt;false&lt;/ContainsParentLessSlidesTitles&gt;&#10;    &lt;ContainsPrentLessSubsections&gt;true&lt;/ContainsPrentLessSubsections&gt;&#10;    &lt;ContainsAppendix&gt;true&lt;/ContainsAppendix&gt;&#10;    &lt;ContainsUnNumberedSections&gt;true&lt;/ContainsUnNumberedSections&gt;&#10;    &lt;SlideTitle&gt;Table des matières&lt;/SlideTitle&gt;&#10;  &lt;/TocSlidesOptions&gt;&#10;  &lt;SectionSlideOptions&gt;&#10;    &lt;ContainsOwnSubSection&gt;false&lt;/ContainsOwnSubSection&gt;&#10;    &lt;ContainsOwnSlide&gt;true&lt;/ContainsOwnSlide&gt;&#10;    &lt;ContainsOtherSections&gt;false&lt;/ContainsOtherSections&gt;&#10;    &lt;ContainsOthersSubsection&gt;false&lt;/ContainsOthersSubsection&gt;&#10;    &lt;containsAppendix&gt;true&lt;/containsAppendix&gt;&#10;    &lt;containsUnnumberedSections&gt;true&lt;/containsUnnumberedSections&gt;&#10;    &lt;SlideTitle /&gt;&#10;  &lt;/SectionSlideOptions&gt;&#10;  &lt;SubSectionSlideOptions&gt;&#10;    &lt;ContainsOtherSubsections&gt;false&lt;/ContainsOtherSubsections&gt;&#10;    &lt;ContainsOwnSlides&gt;true&lt;/ContainsOwnSlides&gt;&#10;    &lt;ContainsParentSection&gt;true&lt;/ContainsParentSection&gt;&#10;    &lt;ContainsOtherSections&gt;false&lt;/ContainsOtherSections&gt;&#10;    &lt;containsAppendix&gt;true&lt;/containsAppendix&gt;&#10;    &lt;containsUnnumberedSections&gt;false&lt;/containsUnnumberedSections&gt;&#10;    &lt;SlideTitle /&gt;&#10;  &lt;/SubSectionSlideOptions&gt;&#10;  &lt;UsedSlideLayouts&gt;&#10;    &lt;TocSlidesLayout&gt;&#10;      &lt;DesignName&gt;CONTENU&lt;/DesignName&gt;&#10;      &lt;LayoutName&gt;TABLE DES MATIERES&lt;/LayoutName&gt;&#10;    &lt;/TocSlidesLayout&gt;&#10;    &lt;SectionLayout&gt;&#10;      &lt;DesignName&gt;CONTENU&lt;/DesignName&gt;&#10;      &lt;LayoutName&gt;SECTION&lt;/LayoutName&gt;&#10;    &lt;/SectionLayout&gt;&#10;    &lt;SubsectionLayout&gt;&#10;      &lt;DesignName&gt;CONTENU&lt;/DesignName&gt;&#10;      &lt;LayoutName&gt;SECTION&lt;/LayoutName&gt;&#10;    &lt;/SubsectionLayout&gt;&#10;    &lt;AppendixLayout&gt;&#10;      &lt;DesignName /&gt;&#10;      &lt;LayoutName /&gt;&#10;    &lt;/AppendixLayout&gt;&#10;    &lt;TitleSliLayout&gt;&#10;      &lt;DesignName&gt;CONTENU&lt;/DesignName&gt;&#10;      &lt;LayoutName&gt;PAGE DE GARDE&lt;/LayoutName&gt;&#10;    &lt;/TitleSliLayout&gt;&#10;  &lt;/UsedSlideLayouts&gt;&#10;  &lt;ActiveReminders&gt;&#10;    &lt;ReminderScriptList&gt;&#10;      &lt;ReminderScript&gt;&#10;        &lt;Key xsi:type=&quot;xsd:string&quot;&gt;Reminder09/02/2024 17:01:54350154534&lt;/Key&gt;&#10;        &lt;Value xsi:type=&quot;xsd:string&quot;&gt;&amp;lt;%SectionNum%&amp;gt;. &amp;lt;%SectionName%&amp;gt; | &amp;lt;%SubSectionNum%&amp;gt; &amp;lt;%DotIfSubSecNum%&amp;gt;  &amp;lt;%SubSectionName%&amp;gt;&lt;/Value&gt;&#10;      &lt;/ReminderScript&gt;&#10;    &lt;/ReminderScriptList&gt;&#10;    &lt;MigrationVersion&gt;6.8.47.2&lt;/MigrationVersion&gt;&#10;  &lt;/ActiveReminders&gt;&#10;  &lt;HardRefreshRequired&gt;true&lt;/HardRefreshRequired&gt;&#10;  &lt;CustomAlgoOptions&gt;&#10;    &lt;CustomBaseAlgoOptions&gt;&#10;      &lt;UseSlideTitleAsSubSectionMarker&gt;false&lt;/UseSlideTitleAsSubSectionMarker&gt;&#10;      &lt;SlideTitleAsSectionMarker&gt;&#10;        &lt;UseTitleAsReminder&gt;false&lt;/UseTitleAsReminder&gt;&#10;      &lt;/SlideTitleAsSectionMarker&gt;&#10;      &lt;ShowSectionNums&gt;true&lt;/ShowSectionNums&gt;&#10;      &lt;ShowSlideIndex&gt;true&lt;/ShowSlideIndex&gt;&#10;      &lt;myColorOfNonCurrentItems&gt;&#10;        &lt;UseFixedColor&gt;false&lt;/UseFixedColor&gt;&#10;        &lt;R&gt;0&lt;/R&gt;&#10;        &lt;G&gt;0&lt;/G&gt;&#10;        &lt;B&gt;0&lt;/B&gt;&#10;      &lt;/myColorOfNonCurrentItems&gt;&#10;      &lt;currentItemFormat&gt;&#10;        &lt;UseBanner&gt;false&lt;/UseBanner&gt;&#10;        &lt;BannerFillR&gt;0&lt;/BannerFillR&gt;&#10;        &lt;BannerFillG&gt;0&lt;/BannerFillG&gt;&#10;        &lt;BannerFillB&gt;0&lt;/BannerFillB&gt;&#10;        &lt;ForceBold&gt;false&lt;/ForceBold&gt;&#10;        &lt;ApplyToSubSections&gt;false&lt;/ApplyToSubSections&gt;&#10;        &lt;ApplyToSectionsOnSubSectionDividers&gt;false&lt;/ApplyToSectionsOnSubSectionDividers&gt;&#10;        &lt;UseSubSecSpecificBanner&gt;false&lt;/UseSubSecSpecificBanner&gt;&#10;        &lt;SubSecBannerFillR&gt;0&lt;/SubSecBannerFillR&gt;&#10;        &lt;SubSecBannerFillG&gt;0&lt;/SubSecBannerFillG&gt;&#10;        &lt;SubSecBannerFillB&gt;0&lt;/SubSecBannerFillB&gt;&#10;      &lt;/currentItemFormat&gt;&#10;      &lt;nonCurrentItemAttenuation&gt;&#10;        &lt;Shading&gt;1&lt;/Shading&gt;&#10;      &lt;/nonCurrentItemAttenuation&gt;&#10;      &lt;ForceDisplayTOCOnTwocolumns&gt;false&lt;/ForceDisplayTOCOnTwocolumns&gt;&#10;      &lt;DisplayTOCOnTwocolumns&gt;true&lt;/DisplayTOCOnTwocolumns&gt;&#10;      &lt;Scripts&gt;&#10;        &lt;BeforeSubSecTitle /&gt;&#10;        &lt;BeforeSlideIndex&gt;p.&lt;/BeforeSlideIndex&gt;&#10;        &lt;AfterSecNum&gt;.&lt;/AfterSecNum&gt;&#10;        &lt;BeforeSecNum /&gt;&#10;        &lt;ZeroBeforeSecNum&gt;false&lt;/ZeroBeforeSecNum&gt;&#10;        &lt;AfterSubSecNum&gt;.&lt;/AfterSubSecNum&gt;&#10;        &lt;BeforeSubSecNum /&gt;&#10;      &lt;/Scripts&gt;&#10;      &lt;Lines&gt;&#10;        &lt;UseLineBelowSections&gt;false&lt;/UseLineBelowSections&gt;&#10;        &lt;LineBelowSection&gt;&#10;          &lt;XOffset&gt;0&lt;/XOffset&gt;&#10;          &lt;YOffset&gt;0&lt;/YOffset&gt;&#10;          &lt;Weight&gt;0&lt;/Weight&gt;&#10;          &lt;R&gt;0&lt;/R&gt;&#10;          &lt;G&gt;0&lt;/G&gt;&#10;          &lt;B&gt;0&lt;/B&gt;&#10;          &lt;LineStyle&gt;1&lt;/LineStyle&gt;&#10;        &lt;/LineBelowSection&gt;&#10;      &lt;/Lines&gt;&#10;      &lt;ManVerticalSpacing&gt;&#10;        &lt;UseManualSpacing&gt;true&lt;/UseManualSpacing&gt;&#10;        &lt;ManualSpacing&gt;&#10;          &lt;SpaceBeforeSections&gt;5&lt;/SpaceBeforeSections&gt;&#10;          &lt;SpaceBeforeSubSections&gt;4&lt;/SpaceBeforeSubSections&gt;&#10;          &lt;SpaceBeforeSlides&gt;0&lt;/SpaceBeforeSlides&gt;&#10;        &lt;/ManualSpacing&gt;&#10;        &lt;ManualSpacingSections&gt;&#10;          &lt;SpaceBeforeSections&gt;0&lt;/SpaceBeforeSections&gt;&#10;          &lt;SpaceBeforeSubSections&gt;2&lt;/SpaceBeforeSubSections&gt;&#10;          &lt;SpaceBeforeSlides&gt;1&lt;/SpaceBeforeSlides&gt;&#10;        &lt;/ManualSpacingSections&gt;&#10;        &lt;ManualSpacingSubSections&gt;&#10;          &lt;SpaceBeforeSections&gt;0&lt;/SpaceBeforeSections&gt;&#10;          &lt;SpaceBeforeSubSections&gt;0&lt;/SpaceBeforeSubSections&gt;&#10;          &lt;SpaceBeforeSlides&gt;2&lt;/SpaceBeforeSlides&gt;&#10;        &lt;/ManualSpacingSubSections&gt;&#10;        &lt;UseSpecificSpacingForSecDivider&gt;true&lt;/UseSpecificSpacingForSecDivider&gt;&#10;        &lt;UseSpecificSpacingForSubSecDivider&gt;true&lt;/UseSpecificSpacingForSubSecDivider&gt;&#10;      &lt;/ManVerticalSpacing&gt;&#10;    &lt;/CustomBaseAlgoOptions&gt;&#10;  &lt;/CustomAlgoOptions&gt;&#10;  &lt;UserPresentationOptions&gt;&#10;    &lt;SubSectionsHaveSlide xsi:nil=&quot;true&quot; /&gt;&#10;    &lt;SectionDividersContainOwnSubSections xsi:nil=&quot;true&quot; /&gt;&#10;    &lt;SectionDividersContainOwnSlideTitles&gt;false&lt;/SectionDividersContainOwnSlideTitles&gt;&#10;    &lt;SubSectionDividersContainOwnSlideTitles xsi:nil=&quot;true&quot; /&gt;&#10;    &lt;TOCSlidesContainSubsectionTitles xsi:nil=&quot;true&quot; /&gt;&#10;    &lt;TOCSlidesContainSlideTitles xsi:nil=&quot;true&quot; /&gt;&#10;    &lt;DisplayRemindersOnSlides&gt;true&lt;/DisplayRemindersOnSlides&gt;&#10;    &lt;SectionsHaveSlide&gt;true&lt;/SectionsHaveSlide&gt;&#10;    &lt;DoNotCountHiddenSlidesInPagination&gt;false&lt;/DoNotCountHiddenSlidesInPagination&gt;&#10;  &lt;/UserPresentationOptions&gt;&#10;  &lt;XmlSubSectionsHaveSlide&gt;true&lt;/XmlSubSectionsHaveSlide&gt;&#10;  &lt;AllowDuplicateTitleSlides&gt;true&lt;/AllowDuplicateTitleSlides&gt;&#10;  &lt;ShowEmptySlideTitles&gt;false&lt;/ShowEmptySlideTitles&gt;&#10;  &lt;NumberingOption&gt;&#10;    &lt;NumType&gt;FullArabic&lt;/NumType&gt;&#10;  &lt;/NumberingOption&gt;&#10;  &lt;NumberingOptionForAppendix&gt;&#10;    &lt;NumType&gt;FullArabic&lt;/NumType&gt;&#10;  &lt;/NumberingOptionForAppendix&gt;&#10;&lt;/TocContentOptions&gt;"/>
</p:tagLst>
</file>

<file path=ppt/theme/theme1.xml><?xml version="1.0" encoding="utf-8"?>
<a:theme xmlns:a="http://schemas.openxmlformats.org/drawingml/2006/main" name="PAGE VIERGE">
  <a:themeElements>
    <a:clrScheme name="Koesio">
      <a:dk1>
        <a:srgbClr val="434341"/>
      </a:dk1>
      <a:lt1>
        <a:srgbClr val="FFFFFF"/>
      </a:lt1>
      <a:dk2>
        <a:srgbClr val="6E398E"/>
      </a:dk2>
      <a:lt2>
        <a:srgbClr val="E94B57"/>
      </a:lt2>
      <a:accent1>
        <a:srgbClr val="6FCBF3"/>
      </a:accent1>
      <a:accent2>
        <a:srgbClr val="F7A823"/>
      </a:accent2>
      <a:accent3>
        <a:srgbClr val="FFD618"/>
      </a:accent3>
      <a:accent4>
        <a:srgbClr val="95C11F"/>
      </a:accent4>
      <a:accent5>
        <a:srgbClr val="F7BFD9"/>
      </a:accent5>
      <a:accent6>
        <a:srgbClr val="946AAB"/>
      </a:accent6>
      <a:hlink>
        <a:srgbClr val="6E398E"/>
      </a:hlink>
      <a:folHlink>
        <a:srgbClr val="946AAB"/>
      </a:folHlink>
    </a:clrScheme>
    <a:fontScheme name="Koesio">
      <a:majorFont>
        <a:latin typeface="Century Gothic"/>
        <a:ea typeface=""/>
        <a:cs typeface=""/>
      </a:majorFont>
      <a:minorFont>
        <a:latin typeface="Arial Nova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 w="12700" cap="flat" cmpd="sng" algn="ctr">
          <a:noFill/>
          <a:prstDash val="solid"/>
          <a:miter lim="800000"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FFFFFF"/>
            </a:solidFill>
            <a:effectLst/>
            <a:uLnTx/>
            <a:uFillTx/>
            <a:ea typeface="+mn-ea"/>
            <a:cs typeface="+mn-cs"/>
          </a:defRPr>
        </a:defPPr>
      </a:lstStyle>
    </a:spDef>
    <a:lnDef>
      <a:spPr>
        <a:ln w="19050">
          <a:solidFill>
            <a:schemeClr val="tx2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rtlCol="0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UpSlideTemplate" id="{39FC29B6-D606-4BC9-9B8E-2B47243BCF26}" vid="{BC59CD51-AC56-4933-BD83-259F19D31E0B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PAGE VIERGE">
  <a:themeElements>
    <a:clrScheme name="Koesio">
      <a:dk1>
        <a:srgbClr val="434341"/>
      </a:dk1>
      <a:lt1>
        <a:srgbClr val="FFFFFF"/>
      </a:lt1>
      <a:dk2>
        <a:srgbClr val="6E398E"/>
      </a:dk2>
      <a:lt2>
        <a:srgbClr val="E94B57"/>
      </a:lt2>
      <a:accent1>
        <a:srgbClr val="6FCBF3"/>
      </a:accent1>
      <a:accent2>
        <a:srgbClr val="F7A823"/>
      </a:accent2>
      <a:accent3>
        <a:srgbClr val="FFD618"/>
      </a:accent3>
      <a:accent4>
        <a:srgbClr val="95C11F"/>
      </a:accent4>
      <a:accent5>
        <a:srgbClr val="F7BFD9"/>
      </a:accent5>
      <a:accent6>
        <a:srgbClr val="946AAB"/>
      </a:accent6>
      <a:hlink>
        <a:srgbClr val="6E398E"/>
      </a:hlink>
      <a:folHlink>
        <a:srgbClr val="946AAB"/>
      </a:folHlink>
    </a:clrScheme>
    <a:fontScheme name="Koesio">
      <a:majorFont>
        <a:latin typeface="Century Gothic"/>
        <a:ea typeface=""/>
        <a:cs typeface=""/>
      </a:majorFont>
      <a:minorFont>
        <a:latin typeface="Arial Nova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 w="12700" cap="flat" cmpd="sng" algn="ctr">
          <a:noFill/>
          <a:prstDash val="solid"/>
          <a:miter lim="800000"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FFFFFF"/>
            </a:solidFill>
            <a:effectLst/>
            <a:uLnTx/>
            <a:uFillTx/>
            <a:ea typeface="+mn-ea"/>
            <a:cs typeface="+mn-cs"/>
          </a:defRPr>
        </a:defPPr>
      </a:lstStyle>
    </a:spDef>
    <a:lnDef>
      <a:spPr>
        <a:ln w="19050">
          <a:solidFill>
            <a:schemeClr val="tx2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rtlCol="0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UpSlideTemplate" id="{39FC29B6-D606-4BC9-9B8E-2B47243BCF26}" vid="{BC59CD51-AC56-4933-BD83-259F19D31E0B}"/>
    </a:ext>
  </a:extLst>
</a:theme>
</file>

<file path=ppt/theme/theme5.xml><?xml version="1.0" encoding="utf-8"?>
<a:theme xmlns:a="http://schemas.openxmlformats.org/drawingml/2006/main" name="PAGE VIERGE">
  <a:themeElements>
    <a:clrScheme name="Koesio">
      <a:dk1>
        <a:srgbClr val="434341"/>
      </a:dk1>
      <a:lt1>
        <a:srgbClr val="FFFFFF"/>
      </a:lt1>
      <a:dk2>
        <a:srgbClr val="6E398E"/>
      </a:dk2>
      <a:lt2>
        <a:srgbClr val="E94B57"/>
      </a:lt2>
      <a:accent1>
        <a:srgbClr val="6FCBF3"/>
      </a:accent1>
      <a:accent2>
        <a:srgbClr val="F7A823"/>
      </a:accent2>
      <a:accent3>
        <a:srgbClr val="FFD618"/>
      </a:accent3>
      <a:accent4>
        <a:srgbClr val="95C11F"/>
      </a:accent4>
      <a:accent5>
        <a:srgbClr val="F7BFD9"/>
      </a:accent5>
      <a:accent6>
        <a:srgbClr val="946AAB"/>
      </a:accent6>
      <a:hlink>
        <a:srgbClr val="6E398E"/>
      </a:hlink>
      <a:folHlink>
        <a:srgbClr val="946AAB"/>
      </a:folHlink>
    </a:clrScheme>
    <a:fontScheme name="Koesio">
      <a:majorFont>
        <a:latin typeface="Century Gothic"/>
        <a:ea typeface=""/>
        <a:cs typeface=""/>
      </a:majorFont>
      <a:minorFont>
        <a:latin typeface="Arial Nova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 w="12700" cap="flat" cmpd="sng" algn="ctr">
          <a:noFill/>
          <a:prstDash val="solid"/>
          <a:miter lim="800000"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FFFFFF"/>
            </a:solidFill>
            <a:effectLst/>
            <a:uLnTx/>
            <a:uFillTx/>
            <a:ea typeface="+mn-ea"/>
            <a:cs typeface="+mn-cs"/>
          </a:defRPr>
        </a:defPPr>
      </a:lstStyle>
    </a:spDef>
    <a:lnDef>
      <a:spPr>
        <a:ln w="19050">
          <a:solidFill>
            <a:schemeClr val="tx2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rtlCol="0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UpSlideTemplate" id="{39FC29B6-D606-4BC9-9B8E-2B47243BCF26}" vid="{BC59CD51-AC56-4933-BD83-259F19D31E0B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57e4748-b4be-4712-b5f7-3821262dd9ef">
      <Terms xmlns="http://schemas.microsoft.com/office/infopath/2007/PartnerControls"/>
    </lcf76f155ced4ddcb4097134ff3c332f>
    <TaxCatchAll xmlns="834a401e-6025-4840-ab01-94c3ee29c08d" xsi:nil="true"/>
    <SharedWithUsers xmlns="834a401e-6025-4840-ab01-94c3ee29c08d">
      <UserInfo>
        <DisplayName/>
        <AccountId xsi:nil="true"/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D414B5A0CDB1A4F92F60DB93384A30A" ma:contentTypeVersion="16" ma:contentTypeDescription="Crée un document." ma:contentTypeScope="" ma:versionID="609214881e4f3f8740e3c070a8d720ea">
  <xsd:schema xmlns:xsd="http://www.w3.org/2001/XMLSchema" xmlns:xs="http://www.w3.org/2001/XMLSchema" xmlns:p="http://schemas.microsoft.com/office/2006/metadata/properties" xmlns:ns2="c57e4748-b4be-4712-b5f7-3821262dd9ef" xmlns:ns3="834a401e-6025-4840-ab01-94c3ee29c08d" targetNamespace="http://schemas.microsoft.com/office/2006/metadata/properties" ma:root="true" ma:fieldsID="2507b1b3effccabb5a92121b78c895e5" ns2:_="" ns3:_="">
    <xsd:import namespace="c57e4748-b4be-4712-b5f7-3821262dd9ef"/>
    <xsd:import namespace="834a401e-6025-4840-ab01-94c3ee29c0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7e4748-b4be-4712-b5f7-3821262dd9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Balises d’images" ma:readOnly="false" ma:fieldId="{5cf76f15-5ced-4ddc-b409-7134ff3c332f}" ma:taxonomyMulti="true" ma:sspId="c7f24229-f875-4422-9699-0c85aaf9fea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4a401e-6025-4840-ab01-94c3ee29c08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01054e7a-b831-4ce0-ae97-3db8823617b9}" ma:internalName="TaxCatchAll" ma:showField="CatchAllData" ma:web="834a401e-6025-4840-ab01-94c3ee29c08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A889CF-47FE-431B-A87A-A1640F9B5A5F}">
  <ds:schemaRefs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terms/"/>
    <ds:schemaRef ds:uri="http://purl.org/dc/elements/1.1/"/>
    <ds:schemaRef ds:uri="http://www.w3.org/XML/1998/namespace"/>
    <ds:schemaRef ds:uri="http://schemas.openxmlformats.org/package/2006/metadata/core-properties"/>
    <ds:schemaRef ds:uri="216e2b9e-0941-4f39-ad78-54f7f7dc5e95"/>
    <ds:schemaRef ds:uri="b056d838-330f-47e6-8fb0-765c3d4b8b26"/>
    <ds:schemaRef ds:uri="http://schemas.microsoft.com/office/2006/metadata/properties"/>
    <ds:schemaRef ds:uri="c57e4748-b4be-4712-b5f7-3821262dd9ef"/>
    <ds:schemaRef ds:uri="834a401e-6025-4840-ab01-94c3ee29c08d"/>
  </ds:schemaRefs>
</ds:datastoreItem>
</file>

<file path=customXml/itemProps2.xml><?xml version="1.0" encoding="utf-8"?>
<ds:datastoreItem xmlns:ds="http://schemas.openxmlformats.org/officeDocument/2006/customXml" ds:itemID="{4AC27131-CD93-41DC-B29F-8F0D82F7005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D994B2-4E79-425B-B29F-9D88D84E43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57e4748-b4be-4712-b5f7-3821262dd9ef"/>
    <ds:schemaRef ds:uri="834a401e-6025-4840-ab01-94c3ee29c0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UpSlideTemplate</Template>
  <TotalTime>964</TotalTime>
  <Words>739</Words>
  <Application>Microsoft Office PowerPoint</Application>
  <PresentationFormat>Format A4 (210 x 297 mm)</PresentationFormat>
  <Paragraphs>116</Paragraphs>
  <Slides>15</Slides>
  <Notes>4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8" baseType="lpstr">
      <vt:lpstr>PAGE VIERGE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emma</dc:creator>
  <cp:lastModifiedBy>Bruno GRANJON</cp:lastModifiedBy>
  <cp:revision>8</cp:revision>
  <dcterms:created xsi:type="dcterms:W3CDTF">2025-03-14T08:10:21Z</dcterms:created>
  <dcterms:modified xsi:type="dcterms:W3CDTF">2026-03-02T18:07:58Z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0x010100DD414B5A0CDB1A4F92F60DB93384A30A</vt:lpwstr>
  </property>
  <property fmtid="{D5CDD505-2E9C-101B-9397-08002B2CF9AE}" pid="3" name="MediaServiceImageTags">
    <vt:lpwstr/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TriggerFlowInfo">
    <vt:lpwstr/>
  </property>
</Properties>
</file>