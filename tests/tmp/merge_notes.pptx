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  <p:sldMasterId id="2147483804" r:id="rId2"/>
    <p:sldMasterId id="214748380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notesMasterIdLst>
    <p:notesMasterId r:id="rId24"/>
  </p:notesMasterId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1CB17-5677-411F-958D-9F000751BAB6}" v="4" dt="2024-02-01T13:32:13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63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" Type="http://schemas.openxmlformats.org/officeDocument/2006/relationships/slideMaster" Target="slideMasters/slideMaster3.xml"/><Relationship Id="rId2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20" Type="http://schemas.openxmlformats.org/officeDocument/2006/relationships/viewProps" Target="viewProps.xml"/><Relationship Id="rId21" Type="http://schemas.openxmlformats.org/officeDocument/2006/relationships/presProps" Target="presProps.xml"/><Relationship Id="rId22" Type="http://schemas.microsoft.com/office/2015/10/relationships/revisionInfo" Target="revisionInfo.xml"/><Relationship Id="rId23" Type="http://schemas.openxmlformats.org/officeDocument/2006/relationships/tableStyles" Target="tableStyles.xml"/><Relationship Id="rId24" Type="http://schemas.openxmlformats.org/officeDocument/2006/relationships/notesMaster" Target="notesMasters/notesMaster1.xml"/><Relationship Id="rId25" Type="http://schemas.openxmlformats.org/officeDocument/2006/relationships/theme" Target="theme/theme4.xml"/><Relationship Id="rId26" Type="http://schemas.openxmlformats.org/officeDocument/2006/relationships/theme" Target="theme/theme5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61777-E13C-B9E1-9FAB-DFC5B930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E3EFE9-0627-6486-9CAF-07CD1EE3F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F1B7E3-783F-18FA-1CB9-86EBAA907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38B325-F125-A180-18E9-6F2D7CD30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2FD6F-AB77-4C7E-891F-50C789B4267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31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0167-5DE1-D897-2BDF-94188115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BA0C01-C4E6-2B1A-DA4B-2B23304A4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002AF7-9560-032B-2FD3-D1DE465CE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F7C45-5AB4-3604-C4AC-252597703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5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08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73A0-2CB7-6518-CAB0-A9B780FA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8C12F7-8A44-FD88-8338-7A5631371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9CF0ED-64EC-254D-DDF4-3267056B9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862583-B1AA-4835-8271-D8335033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976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63A1-5194-EEC3-194A-C980B4DB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380F45-B7F2-02E2-2C06-2CC1FA4F3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F8B69D-5D0D-6912-9902-437B32C38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Intro : si on travaille ensemble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480268-0B1A-F648-2C86-2E75E152B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2FD6F-AB77-4C7E-891F-50C789B4267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144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>
              <a:defRPr/>
            </a:pPr>
            <a:fld id="{882C61F9-2E5D-42E9-B769-29E4B8B172B4}" type="slidenum">
              <a:rPr lang="fr-FR">
                <a:solidFill>
                  <a:prstClr val="black"/>
                </a:solidFill>
                <a:latin typeface="Aptos" panose="02110004020202020204"/>
              </a:rPr>
              <a:pPr defTabSz="990752">
                <a:defRPr/>
              </a:pPr>
              <a:t>10</a:t>
            </a:fld>
            <a:endParaRPr lang="fr-FR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24837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819495"/>
      </p:ext>
    </p:extLst>
  </p:cSld>
  <p:clrMapOvr>
    <a:masterClrMapping/>
  </p:clrMapOvr>
</p:note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31">
            <a:extLst>
              <a:ext uri="{FF2B5EF4-FFF2-40B4-BE49-F238E27FC236}">
                <a16:creationId xmlns:a16="http://schemas.microsoft.com/office/drawing/2014/main" id="{3A1B223F-E50B-15EB-307C-62D224B362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049" y="2165876"/>
            <a:ext cx="5440050" cy="31100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020A-659F-513F-DFCD-CFEB4BC2F0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635952" y="6478296"/>
            <a:ext cx="1048159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t>11/11/2025</a:t>
            </a:fld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6C5D8-21EB-AE75-2087-7BE39CC77F98}"/>
              </a:ext>
            </a:extLst>
          </p:cNvPr>
          <p:cNvSpPr/>
          <p:nvPr userDrawn="1"/>
        </p:nvSpPr>
        <p:spPr>
          <a:xfrm>
            <a:off x="5289284" y="5688771"/>
            <a:ext cx="1189648" cy="1169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42457C-18A2-FEC5-EF99-E49879735811}"/>
              </a:ext>
            </a:extLst>
          </p:cNvPr>
          <p:cNvSpPr/>
          <p:nvPr userDrawn="1"/>
        </p:nvSpPr>
        <p:spPr>
          <a:xfrm>
            <a:off x="9842810" y="1169068"/>
            <a:ext cx="2360115" cy="11690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7B491-5642-B295-35E5-78733944325E}"/>
              </a:ext>
            </a:extLst>
          </p:cNvPr>
          <p:cNvSpPr/>
          <p:nvPr userDrawn="1"/>
        </p:nvSpPr>
        <p:spPr>
          <a:xfrm>
            <a:off x="6476320" y="1169068"/>
            <a:ext cx="1195349" cy="1169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47A0D-27C3-7AAA-69BD-C35EB6E41AF3}"/>
              </a:ext>
            </a:extLst>
          </p:cNvPr>
          <p:cNvSpPr/>
          <p:nvPr userDrawn="1"/>
        </p:nvSpPr>
        <p:spPr>
          <a:xfrm>
            <a:off x="8647462" y="0"/>
            <a:ext cx="1195348" cy="114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2BA35-32B5-D466-26C8-7851DD313726}"/>
              </a:ext>
            </a:extLst>
          </p:cNvPr>
          <p:cNvSpPr/>
          <p:nvPr userDrawn="1"/>
        </p:nvSpPr>
        <p:spPr>
          <a:xfrm>
            <a:off x="226128" y="5667865"/>
            <a:ext cx="1195348" cy="1189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F5559-7956-477A-E890-5EE35D808F74}"/>
              </a:ext>
            </a:extLst>
          </p:cNvPr>
          <p:cNvSpPr/>
          <p:nvPr userDrawn="1"/>
        </p:nvSpPr>
        <p:spPr>
          <a:xfrm>
            <a:off x="6478933" y="5688771"/>
            <a:ext cx="1195348" cy="11689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E2D08-BD90-ADC1-8B9A-1EC81D8DE2C9}"/>
              </a:ext>
            </a:extLst>
          </p:cNvPr>
          <p:cNvSpPr/>
          <p:nvPr userDrawn="1"/>
        </p:nvSpPr>
        <p:spPr>
          <a:xfrm>
            <a:off x="5280971" y="1"/>
            <a:ext cx="1195349" cy="1169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FF35F65-B35C-A7C9-CC94-C48002CFD4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71669" y="2338135"/>
            <a:ext cx="4520331" cy="4520332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409837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69B97DB-C140-B9EB-B800-A620B5328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9946"/>
            <a:ext cx="1719261" cy="1733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E2D0B89-47C9-A5FB-B99B-D982963F3D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271C56-F65D-0B92-67AF-26956F6F6B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5203ED4-3909-8C5C-EF73-C613952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5FAE46-E0BE-4AF3-32E7-AD08946665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5C4A08-71AF-3215-BB90-AD0F8DE6F51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sp>
        <p:nvSpPr>
          <p:cNvPr id="16" name="Espace réservé du texte 31">
            <a:extLst>
              <a:ext uri="{FF2B5EF4-FFF2-40B4-BE49-F238E27FC236}">
                <a16:creationId xmlns:a16="http://schemas.microsoft.com/office/drawing/2014/main" id="{2C6638B5-14C8-B1E7-8A44-A18951B0C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1806" y="1859338"/>
            <a:ext cx="6455563" cy="292935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242288D-44D8-723E-798C-B09619AED8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6" y="3424460"/>
            <a:ext cx="1719261" cy="1719261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D8B3FFB-ED4C-0C67-070A-6B560458D44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778338" y="6454193"/>
            <a:ext cx="1231451" cy="255732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E59C4DD-DD58-DB57-1F14-9B0EAAB4CCE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20048" y="5162771"/>
            <a:ext cx="1719262" cy="17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7" y="1700207"/>
            <a:ext cx="10239982" cy="51577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6602" y="2291703"/>
            <a:ext cx="6847245" cy="3035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28D623E-EF34-3B34-20FA-80F003A016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1633"/>
            <a:ext cx="1719261" cy="17337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EC03A8-ECFA-2A3D-3F23-53F4D04EE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0CFFC5-943D-40FD-BDF8-3DCE642B5D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872D38-540D-C24B-50C0-EB49639E9B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2C6927-9634-E75D-C929-A481B8F2D2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AC825FD-7A9A-CD13-4E72-73F48DA9BB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FE9A6D5-8CFA-C4E3-3F37-29A21D3A2C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753476" y="3418251"/>
            <a:ext cx="1719261" cy="1719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EC96915-BBD7-81A6-D4D8-87DB7177BD1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46602" y="6225872"/>
            <a:ext cx="1231451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73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6" y="1978430"/>
            <a:ext cx="11959245" cy="487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055" y="3386081"/>
            <a:ext cx="8395854" cy="20642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DC0CFA-4938-150C-953D-F281F6659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5146" y="0"/>
            <a:ext cx="1978430" cy="19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5" y="1"/>
            <a:ext cx="3986558" cy="421862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2888559"/>
            <a:ext cx="11959674" cy="4002778"/>
            <a:chOff x="1" y="2811450"/>
            <a:chExt cx="12192003" cy="408053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1"/>
              <a:ext cx="1354667" cy="138865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2"/>
              <a:ext cx="1354667" cy="1388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5418665" y="4167353"/>
              <a:ext cx="1354667" cy="13546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88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Espace réservé du texte 31">
            <a:extLst>
              <a:ext uri="{FF2B5EF4-FFF2-40B4-BE49-F238E27FC236}">
                <a16:creationId xmlns:a16="http://schemas.microsoft.com/office/drawing/2014/main" id="{360DC06F-875A-FD01-41CE-4B341614C5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75175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3571" y="1356536"/>
            <a:ext cx="3991716" cy="4171304"/>
          </a:xfrm>
          <a:prstGeom prst="rect">
            <a:avLst/>
          </a:prstGeom>
          <a:solidFill>
            <a:srgbClr val="2F52A0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E2514C-3FD2-8A81-9C20-5475A2E8508E}"/>
              </a:ext>
            </a:extLst>
          </p:cNvPr>
          <p:cNvGrpSpPr/>
          <p:nvPr userDrawn="1"/>
        </p:nvGrpSpPr>
        <p:grpSpPr>
          <a:xfrm>
            <a:off x="229236" y="0"/>
            <a:ext cx="11963130" cy="6858000"/>
            <a:chOff x="240628" y="6740"/>
            <a:chExt cx="11951372" cy="68512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4062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5519609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10836255" y="2871444"/>
              <a:ext cx="1355745" cy="132885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10836255" y="6740"/>
              <a:ext cx="1355120" cy="1355203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31">
            <a:extLst>
              <a:ext uri="{FF2B5EF4-FFF2-40B4-BE49-F238E27FC236}">
                <a16:creationId xmlns:a16="http://schemas.microsoft.com/office/drawing/2014/main" id="{B36E0FF2-A6E9-7461-F4C6-B4995C056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00553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9614" y="2644544"/>
            <a:ext cx="4021883" cy="4213456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8B30237-9AC1-13A9-363D-34322691C2EF}"/>
              </a:ext>
            </a:extLst>
          </p:cNvPr>
          <p:cNvGrpSpPr/>
          <p:nvPr userDrawn="1"/>
        </p:nvGrpSpPr>
        <p:grpSpPr>
          <a:xfrm>
            <a:off x="232331" y="-13157"/>
            <a:ext cx="11959670" cy="6883857"/>
            <a:chOff x="232323" y="-25862"/>
            <a:chExt cx="11959677" cy="68838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32323" y="4200296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8205441" y="1302991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9534294" y="1302991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9541494" y="2631842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0C659-FC80-A7A1-D887-ED8A62170BF6}"/>
                </a:ext>
              </a:extLst>
            </p:cNvPr>
            <p:cNvSpPr/>
            <p:nvPr userDrawn="1"/>
          </p:nvSpPr>
          <p:spPr>
            <a:xfrm>
              <a:off x="10863147" y="-25862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Espace réservé du texte 31">
            <a:extLst>
              <a:ext uri="{FF2B5EF4-FFF2-40B4-BE49-F238E27FC236}">
                <a16:creationId xmlns:a16="http://schemas.microsoft.com/office/drawing/2014/main" id="{0E4AA9CC-C630-D5B8-17D0-3C08EE59F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911376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66204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3" y="1558492"/>
            <a:ext cx="3986559" cy="3970653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1558493"/>
            <a:ext cx="11971526" cy="5299510"/>
            <a:chOff x="1" y="1455546"/>
            <a:chExt cx="12204085" cy="54024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2"/>
              <a:ext cx="1354667" cy="13546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3"/>
              <a:ext cx="1354667" cy="1354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10837336" y="1455546"/>
              <a:ext cx="1366750" cy="13546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546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37FD0DD6-75D8-1644-47CD-850CE1904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56458"/>
            <a:ext cx="5351651" cy="306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11026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54FE68A6-3DE7-D728-8F79-6B4F74222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pour une image  4">
            <a:extLst>
              <a:ext uri="{FF2B5EF4-FFF2-40B4-BE49-F238E27FC236}">
                <a16:creationId xmlns:a16="http://schemas.microsoft.com/office/drawing/2014/main" id="{337BA1CC-076B-4EB5-8068-E12E69F88C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C2EBA-02F9-7D2C-AA2D-A8D87CFFC3AA}"/>
              </a:ext>
            </a:extLst>
          </p:cNvPr>
          <p:cNvSpPr/>
          <p:nvPr userDrawn="1"/>
        </p:nvSpPr>
        <p:spPr>
          <a:xfrm>
            <a:off x="1561184" y="5529145"/>
            <a:ext cx="1328853" cy="13288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9AA16-CFD4-5160-A428-908E7728F52C}"/>
              </a:ext>
            </a:extLst>
          </p:cNvPr>
          <p:cNvSpPr/>
          <p:nvPr userDrawn="1"/>
        </p:nvSpPr>
        <p:spPr>
          <a:xfrm>
            <a:off x="232331" y="5529146"/>
            <a:ext cx="1328853" cy="1328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017C4-772A-99B4-DC68-B22CE6038F7B}"/>
              </a:ext>
            </a:extLst>
          </p:cNvPr>
          <p:cNvSpPr/>
          <p:nvPr userDrawn="1"/>
        </p:nvSpPr>
        <p:spPr>
          <a:xfrm>
            <a:off x="2890036" y="4200293"/>
            <a:ext cx="1328853" cy="1328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974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27800121-4EDF-8DF9-A915-FF6153635A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568D0-7348-42A1-4257-C53C9BC89E1F}"/>
              </a:ext>
            </a:extLst>
          </p:cNvPr>
          <p:cNvSpPr/>
          <p:nvPr userDrawn="1"/>
        </p:nvSpPr>
        <p:spPr>
          <a:xfrm>
            <a:off x="1551087" y="5527841"/>
            <a:ext cx="1330160" cy="1330159"/>
          </a:xfrm>
          <a:prstGeom prst="rect">
            <a:avLst/>
          </a:prstGeom>
          <a:solidFill>
            <a:srgbClr val="2F5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37291-99D2-A063-A2A4-FE330D662E36}"/>
              </a:ext>
            </a:extLst>
          </p:cNvPr>
          <p:cNvSpPr/>
          <p:nvPr userDrawn="1"/>
        </p:nvSpPr>
        <p:spPr>
          <a:xfrm>
            <a:off x="229236" y="4197681"/>
            <a:ext cx="1330160" cy="13301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E6AD6-E9D3-F7FD-6493-5A29A25D2FA0}"/>
              </a:ext>
            </a:extLst>
          </p:cNvPr>
          <p:cNvSpPr/>
          <p:nvPr userDrawn="1"/>
        </p:nvSpPr>
        <p:spPr>
          <a:xfrm>
            <a:off x="2867169" y="4197681"/>
            <a:ext cx="1330160" cy="13301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8336ABEA-F061-23A5-6696-147D4693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1754322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/Relationships>
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DA570-BA2D-AE1E-A728-2A975BDF56A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D5BBFA-785D-299E-D33E-ACC37E4A9C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04"/>
            <a:ext cx="3826364" cy="19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2653195-FE6A-6B0C-3A7C-37F001DEC34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21398" y="5921159"/>
            <a:ext cx="2070342" cy="9339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65DB0D-C136-3820-FE40-0E1CDA4C084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4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6.svg"/><Relationship Id="rId18" Type="http://schemas.openxmlformats.org/officeDocument/2006/relationships/image" Target="../media/image27.png"/><Relationship Id="rId3" Type="http://schemas.openxmlformats.org/officeDocument/2006/relationships/image" Target="../media/image28.jpeg"/><Relationship Id="rId21" Type="http://schemas.openxmlformats.org/officeDocument/2006/relationships/image" Target="../media/image29.svg"/><Relationship Id="rId7" Type="http://schemas.openxmlformats.org/officeDocument/2006/relationships/image" Target="../media/image30.svg"/><Relationship Id="rId12" Type="http://schemas.openxmlformats.org/officeDocument/2006/relationships/image" Target="../media/image31.png"/><Relationship Id="rId17" Type="http://schemas.openxmlformats.org/officeDocument/2006/relationships/image" Target="../media/image3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5.png"/><Relationship Id="rId11" Type="http://schemas.openxmlformats.org/officeDocument/2006/relationships/image" Target="../media/image36.svg"/><Relationship Id="rId24" Type="http://schemas.openxmlformats.org/officeDocument/2006/relationships/image" Target="../media/image21.png"/><Relationship Id="rId5" Type="http://schemas.openxmlformats.org/officeDocument/2006/relationships/image" Target="../media/image24.png"/><Relationship Id="rId15" Type="http://schemas.openxmlformats.org/officeDocument/2006/relationships/image" Target="../media/image37.svg"/><Relationship Id="rId23" Type="http://schemas.openxmlformats.org/officeDocument/2006/relationships/image" Target="../media/image38.svg"/><Relationship Id="rId10" Type="http://schemas.openxmlformats.org/officeDocument/2006/relationships/image" Target="../media/image39.png"/><Relationship Id="rId19" Type="http://schemas.openxmlformats.org/officeDocument/2006/relationships/image" Target="../media/image40.svg"/><Relationship Id="rId4" Type="http://schemas.openxmlformats.org/officeDocument/2006/relationships/image" Target="../media/image41.png"/><Relationship Id="rId9" Type="http://schemas.openxmlformats.org/officeDocument/2006/relationships/image" Target="../media/image42.svg"/><Relationship Id="rId14" Type="http://schemas.openxmlformats.org/officeDocument/2006/relationships/image" Target="../media/image43.png"/><Relationship Id="rId22" Type="http://schemas.openxmlformats.org/officeDocument/2006/relationships/image" Target="../media/image44.png"/></Relationships>
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5" Type="http://schemas.openxmlformats.org/officeDocument/2006/relationships/image" Target="../media/image48.png"/><Relationship Id="rId4" Type="http://schemas.openxmlformats.org/officeDocument/2006/relationships/image" Target="../media/image49.jpeg"/></Relationships>
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52.png"/></Relationships>
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svg"/><Relationship Id="rId11" Type="http://schemas.openxmlformats.org/officeDocument/2006/relationships/image" Target="../media/image21.png"/><Relationship Id="rId5" Type="http://schemas.openxmlformats.org/officeDocument/2006/relationships/image" Target="../media/image57.png"/><Relationship Id="rId10" Type="http://schemas.openxmlformats.org/officeDocument/2006/relationships/image" Target="../media/image58.svg"/><Relationship Id="rId4" Type="http://schemas.openxmlformats.org/officeDocument/2006/relationships/image" Target="../media/image24.png"/><Relationship Id="rId9" Type="http://schemas.openxmlformats.org/officeDocument/2006/relationships/image" Target="../media/image59.png"/></Relationships>
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0.png"/><Relationship Id="rId5" Type="http://schemas.openxmlformats.org/officeDocument/2006/relationships/image" Target="../media/image50.svg"/><Relationship Id="rId4" Type="http://schemas.openxmlformats.org/officeDocument/2006/relationships/image" Target="../media/image51.png"/></Relationships>
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1.svg"/><Relationship Id="rId5" Type="http://schemas.openxmlformats.org/officeDocument/2006/relationships/image" Target="../media/image62.png"/><Relationship Id="rId4" Type="http://schemas.openxmlformats.org/officeDocument/2006/relationships/image" Target="../media/image63.png"/></Relationships>
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0.svg"/><Relationship Id="rId5" Type="http://schemas.openxmlformats.org/officeDocument/2006/relationships/image" Target="../media/image51.png"/><Relationship Id="rId4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6.svg"/><Relationship Id="rId3" Type="http://schemas.openxmlformats.org/officeDocument/2006/relationships/image" Target="../media/image67.jpeg"/><Relationship Id="rId7" Type="http://schemas.openxmlformats.org/officeDocument/2006/relationships/image" Target="../media/image68.svg"/><Relationship Id="rId12" Type="http://schemas.openxmlformats.org/officeDocument/2006/relationships/image" Target="../media/image69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0.png"/><Relationship Id="rId11" Type="http://schemas.openxmlformats.org/officeDocument/2006/relationships/image" Target="../media/image71.svg"/><Relationship Id="rId5" Type="http://schemas.openxmlformats.org/officeDocument/2006/relationships/image" Target="../media/image72.svg"/><Relationship Id="rId15" Type="http://schemas.openxmlformats.org/officeDocument/2006/relationships/image" Target="../media/image73.svg"/><Relationship Id="rId10" Type="http://schemas.openxmlformats.org/officeDocument/2006/relationships/image" Target="../media/image74.png"/><Relationship Id="rId4" Type="http://schemas.openxmlformats.org/officeDocument/2006/relationships/image" Target="../media/image75.png"/><Relationship Id="rId9" Type="http://schemas.openxmlformats.org/officeDocument/2006/relationships/image" Target="../media/image76.svg"/><Relationship Id="rId14" Type="http://schemas.openxmlformats.org/officeDocument/2006/relationships/image" Target="../media/image7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356F30-D97F-A58B-7F74-511DCA2CA1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DE9782-4D0B-4C6D-B3CD-3DD9000CE490}" type="datetime1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434341"/>
                </a:solidFill>
                <a:effectLst/>
                <a:uLnTx/>
                <a:uFillTx/>
                <a:latin typeface="Arial Nova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11/11/2025</a:t>
            </a:fld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434341"/>
              </a:solidFill>
              <a:effectLst/>
              <a:uLnTx/>
              <a:uFillTx/>
              <a:latin typeface="Arial Nov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DFC8859-3B05-A11D-B734-4617705C2FEA}"/>
              </a:ext>
            </a:extLst>
          </p:cNvPr>
          <p:cNvSpPr/>
          <p:nvPr/>
        </p:nvSpPr>
        <p:spPr>
          <a:xfrm flipV="1">
            <a:off x="494019" y="3381315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7D0D62-A160-1591-D1FB-D0280BA5C4EB}"/>
              </a:ext>
            </a:extLst>
          </p:cNvPr>
          <p:cNvSpPr/>
          <p:nvPr/>
        </p:nvSpPr>
        <p:spPr>
          <a:xfrm flipV="1">
            <a:off x="523822" y="4271911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9F27B93-6A9A-2EA6-64F7-112CDAC13383}"/>
              </a:ext>
            </a:extLst>
          </p:cNvPr>
          <p:cNvSpPr/>
          <p:nvPr/>
        </p:nvSpPr>
        <p:spPr>
          <a:xfrm flipV="1">
            <a:off x="525365" y="2411808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6EB466-EC21-9DCB-3630-F043B7DE29FF}"/>
              </a:ext>
            </a:extLst>
          </p:cNvPr>
          <p:cNvSpPr txBox="1"/>
          <p:nvPr/>
        </p:nvSpPr>
        <p:spPr>
          <a:xfrm>
            <a:off x="2322701" y="1712437"/>
            <a:ext cx="601219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F74DBF-162D-2BCA-9971-F4955DE35774}"/>
              </a:ext>
            </a:extLst>
          </p:cNvPr>
          <p:cNvSpPr txBox="1"/>
          <p:nvPr/>
        </p:nvSpPr>
        <p:spPr>
          <a:xfrm>
            <a:off x="1372591" y="4181142"/>
            <a:ext cx="2838809" cy="461665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FD3A8F4-6F99-8B98-9BF8-475F31BB3DDC}"/>
              </a:ext>
            </a:extLst>
          </p:cNvPr>
          <p:cNvSpPr txBox="1"/>
          <p:nvPr/>
        </p:nvSpPr>
        <p:spPr>
          <a:xfrm>
            <a:off x="1372590" y="3868274"/>
            <a:ext cx="253439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D5AAB89-A1A6-B33F-F4ED-5DCDF1CF2F4F}"/>
              </a:ext>
            </a:extLst>
          </p:cNvPr>
          <p:cNvGrpSpPr/>
          <p:nvPr/>
        </p:nvGrpSpPr>
        <p:grpSpPr>
          <a:xfrm>
            <a:off x="1372590" y="2485813"/>
            <a:ext cx="6012191" cy="1145099"/>
            <a:chOff x="5995757" y="4036134"/>
            <a:chExt cx="6902811" cy="152680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B9B6DBE-3FE9-4FA4-6DB3-7D663F17A275}"/>
                </a:ext>
              </a:extLst>
            </p:cNvPr>
            <p:cNvSpPr txBox="1"/>
            <p:nvPr/>
          </p:nvSpPr>
          <p:spPr>
            <a:xfrm>
              <a:off x="5995757" y="4036134"/>
              <a:ext cx="6902811" cy="492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56D04D4-1E34-15CA-862C-7602A7A8A52E}"/>
                </a:ext>
              </a:extLst>
            </p:cNvPr>
            <p:cNvSpPr txBox="1"/>
            <p:nvPr/>
          </p:nvSpPr>
          <p:spPr>
            <a:xfrm>
              <a:off x="5995758" y="4454937"/>
              <a:ext cx="4603909" cy="1107998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4EF55A-891A-0779-7ED1-5B01FBA0066C}"/>
              </a:ext>
            </a:extLst>
          </p:cNvPr>
          <p:cNvSpPr txBox="1"/>
          <p:nvPr/>
        </p:nvSpPr>
        <p:spPr>
          <a:xfrm>
            <a:off x="3861939" y="5618833"/>
            <a:ext cx="293371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8C2B64-DA6C-730E-E852-53E6567B9D7A}"/>
              </a:ext>
            </a:extLst>
          </p:cNvPr>
          <p:cNvSpPr txBox="1"/>
          <p:nvPr/>
        </p:nvSpPr>
        <p:spPr>
          <a:xfrm>
            <a:off x="3857979" y="5318752"/>
            <a:ext cx="31143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</p:spTree>
    <p:extLst>
      <p:ext uri="{BB962C8B-B14F-4D97-AF65-F5344CB8AC3E}">
        <p14:creationId xmlns:p14="http://schemas.microsoft.com/office/powerpoint/2010/main" val="37498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116AC627-3BBA-1ADC-130F-6802410B99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440321-3FF7-5FEB-E1ED-5940F62FD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91212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4826-40B7-447C-76B5-F8957F87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B76777E-5183-F2DA-2A3B-BDD5F8C8654D}"/>
              </a:ext>
            </a:extLst>
          </p:cNvPr>
          <p:cNvSpPr/>
          <p:nvPr/>
        </p:nvSpPr>
        <p:spPr>
          <a:xfrm>
            <a:off x="5775683" y="2769466"/>
            <a:ext cx="3270471" cy="3270471"/>
          </a:xfrm>
          <a:prstGeom prst="rect">
            <a:avLst/>
          </a:prstGeom>
          <a:solidFill>
            <a:srgbClr val="FAC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E2D60-6BA3-2BB9-412D-978739BA8E9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1" name="Espace réservé du texte 1">
            <a:extLst>
              <a:ext uri="{FF2B5EF4-FFF2-40B4-BE49-F238E27FC236}">
                <a16:creationId xmlns:a16="http://schemas.microsoft.com/office/drawing/2014/main" id="{DDA8900C-1757-DFC3-1243-9B0B814C9287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Notre solution technique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D6CFF6-9722-A2E1-5887-E742A357121E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Espace réservé du texte 1">
            <a:extLst>
              <a:ext uri="{FF2B5EF4-FFF2-40B4-BE49-F238E27FC236}">
                <a16:creationId xmlns:a16="http://schemas.microsoft.com/office/drawing/2014/main" id="{D9AAA8A3-6FB7-D70E-9F7D-417DFF7813EF}"/>
              </a:ext>
            </a:extLst>
          </p:cNvPr>
          <p:cNvSpPr txBox="1">
            <a:spLocks/>
          </p:cNvSpPr>
          <p:nvPr/>
        </p:nvSpPr>
        <p:spPr>
          <a:xfrm>
            <a:off x="1510747" y="1604766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dirty="0">
                <a:solidFill>
                  <a:srgbClr val="1EA538"/>
                </a:solidFill>
                <a:latin typeface="Century Gothic"/>
              </a:rPr>
              <a:t>Les postes managés</a:t>
            </a:r>
            <a:endParaRPr lang="fr-FR" sz="3600" dirty="0">
              <a:solidFill>
                <a:srgbClr val="1EA538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50E911D-20A3-EB8F-41C5-5883D65263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4" name="Image 3" descr="Une image contenant habits, personne, Pantalons, Visage humain&#10;&#10;Le contenu généré par l’IA peut être incorrect.">
            <a:extLst>
              <a:ext uri="{FF2B5EF4-FFF2-40B4-BE49-F238E27FC236}">
                <a16:creationId xmlns:a16="http://schemas.microsoft.com/office/drawing/2014/main" id="{E0479BB8-1EB4-E678-E316-49634620F3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5108" y="291213"/>
            <a:ext cx="4846631" cy="726846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F50F1814-06C6-C95F-544E-054054C94D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6154" y="1122748"/>
            <a:ext cx="1648836" cy="164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9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3060-5106-C8C3-04DA-6D952E1E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ZoneTexte 2463">
            <a:extLst>
              <a:ext uri="{FF2B5EF4-FFF2-40B4-BE49-F238E27FC236}">
                <a16:creationId xmlns:a16="http://schemas.microsoft.com/office/drawing/2014/main" id="{20A0AA4B-CA94-898E-AC89-F5C8BE3F5A0A}"/>
              </a:ext>
            </a:extLst>
          </p:cNvPr>
          <p:cNvSpPr txBox="1"/>
          <p:nvPr/>
        </p:nvSpPr>
        <p:spPr>
          <a:xfrm>
            <a:off x="7252472" y="1509115"/>
            <a:ext cx="2153258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Supervision </a:t>
            </a:r>
          </a:p>
        </p:txBody>
      </p:sp>
      <p:sp>
        <p:nvSpPr>
          <p:cNvPr id="2471" name="ZoneTexte 2470">
            <a:extLst>
              <a:ext uri="{FF2B5EF4-FFF2-40B4-BE49-F238E27FC236}">
                <a16:creationId xmlns:a16="http://schemas.microsoft.com/office/drawing/2014/main" id="{EA376519-59F2-A0BB-8D6A-974BE4354B25}"/>
              </a:ext>
            </a:extLst>
          </p:cNvPr>
          <p:cNvSpPr txBox="1"/>
          <p:nvPr/>
        </p:nvSpPr>
        <p:spPr>
          <a:xfrm>
            <a:off x="7277604" y="4699236"/>
            <a:ext cx="2157291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defTabSz="801929">
              <a:defRPr/>
            </a:pPr>
            <a:r>
              <a:rPr lang="fr-FR" sz="14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d’investissement</a:t>
            </a:r>
          </a:p>
        </p:txBody>
      </p:sp>
      <p:sp>
        <p:nvSpPr>
          <p:cNvPr id="2477" name="ZoneTexte 2476">
            <a:extLst>
              <a:ext uri="{FF2B5EF4-FFF2-40B4-BE49-F238E27FC236}">
                <a16:creationId xmlns:a16="http://schemas.microsoft.com/office/drawing/2014/main" id="{70F4DB03-CB44-A117-DEB8-A59B57776D02}"/>
              </a:ext>
            </a:extLst>
          </p:cNvPr>
          <p:cNvSpPr txBox="1"/>
          <p:nvPr/>
        </p:nvSpPr>
        <p:spPr>
          <a:xfrm>
            <a:off x="7267968" y="3187892"/>
            <a:ext cx="2176562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defTabSz="801929">
              <a:defRPr/>
            </a:pPr>
            <a:r>
              <a:rPr lang="fr-FR" sz="14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Sécurité &amp; productivité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3326CA5-494C-4640-C990-E777DEA7542D}"/>
              </a:ext>
            </a:extLst>
          </p:cNvPr>
          <p:cNvSpPr txBox="1"/>
          <p:nvPr/>
        </p:nvSpPr>
        <p:spPr>
          <a:xfrm>
            <a:off x="1189658" y="5760432"/>
            <a:ext cx="50899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 Nova" panose="020B0504020202020204" pitchFamily="34" charset="0"/>
              </a:rPr>
              <a:t>Le Poste de Travail Managé assure </a:t>
            </a:r>
            <a:r>
              <a:rPr lang="fr-FR" sz="1400" b="1" dirty="0">
                <a:latin typeface="Arial Nova" panose="020B0504020202020204" pitchFamily="34" charset="0"/>
              </a:rPr>
              <a:t>une gestion optimisée </a:t>
            </a:r>
            <a:r>
              <a:rPr lang="fr-FR" sz="1400" dirty="0">
                <a:latin typeface="Arial Nova" panose="020B0504020202020204" pitchFamily="34" charset="0"/>
              </a:rPr>
              <a:t>des ordinateurs de votre entreprise</a:t>
            </a:r>
            <a:r>
              <a:rPr lang="fr-FR" sz="1400" b="1" dirty="0">
                <a:latin typeface="Arial Nova" panose="020B0504020202020204" pitchFamily="34" charset="0"/>
              </a:rPr>
              <a:t>. Avec une supervision proactive, des mises à jour automatiques et une sécurité renforcée, </a:t>
            </a:r>
            <a:r>
              <a:rPr lang="fr-FR" sz="1400" dirty="0">
                <a:latin typeface="Arial Nova" panose="020B0504020202020204" pitchFamily="34" charset="0"/>
              </a:rPr>
              <a:t>vos équipes peuvent se concentrer sur leur travail sans interruption.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62195-EB04-2A70-1708-F9EE12B681EB}"/>
              </a:ext>
            </a:extLst>
          </p:cNvPr>
          <p:cNvSpPr/>
          <p:nvPr/>
        </p:nvSpPr>
        <p:spPr>
          <a:xfrm>
            <a:off x="230" y="772765"/>
            <a:ext cx="203515" cy="6014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F7296-141F-CEE0-5E11-6919BF0DB84B}"/>
              </a:ext>
            </a:extLst>
          </p:cNvPr>
          <p:cNvSpPr/>
          <p:nvPr/>
        </p:nvSpPr>
        <p:spPr>
          <a:xfrm>
            <a:off x="7004865" y="2086028"/>
            <a:ext cx="2702768" cy="439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Une supervision en 24/7 pour anticiper et résoudre les problèmes avant qu’ils ne surviennent.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7DFE6D-4476-4E82-EF81-09F69A6B57F4}"/>
              </a:ext>
            </a:extLst>
          </p:cNvPr>
          <p:cNvSpPr/>
          <p:nvPr/>
        </p:nvSpPr>
        <p:spPr>
          <a:xfrm>
            <a:off x="7267968" y="3703197"/>
            <a:ext cx="2176562" cy="439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Patch management et mise à jour automatique pour une protection et des performance maximales.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6043A-61E9-5F4C-EE8A-9B15A85B36E1}"/>
              </a:ext>
            </a:extLst>
          </p:cNvPr>
          <p:cNvSpPr/>
          <p:nvPr/>
        </p:nvSpPr>
        <p:spPr>
          <a:xfrm>
            <a:off x="7267968" y="5214541"/>
            <a:ext cx="2176562" cy="5627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Des experts </a:t>
            </a:r>
            <a:r>
              <a:rPr lang="fr-FR" sz="1200" dirty="0" err="1">
                <a:solidFill>
                  <a:schemeClr val="tx1"/>
                </a:solidFill>
                <a:latin typeface="Arial Nova" panose="020B0504020202020204" pitchFamily="34" charset="0"/>
              </a:rPr>
              <a:t>Koesio</a:t>
            </a: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 gèrent la mise en place et la maintenance, en vous évitant tout équipement.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C71E3-9366-1961-A3F3-B307C8260B4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59FCBD-48C6-8739-42E9-99197BAB08F3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21F3D-9B5D-0D03-9694-80701BE454C0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Espace réservé du texte 26">
            <a:extLst>
              <a:ext uri="{FF2B5EF4-FFF2-40B4-BE49-F238E27FC236}">
                <a16:creationId xmlns:a16="http://schemas.microsoft.com/office/drawing/2014/main" id="{155A61F6-3113-2064-378C-6C8CC906DB1F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638332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INTÉGREZ ET PROTÉGEZ VOS POSTES DE TRAVAIL</a:t>
            </a:r>
          </a:p>
        </p:txBody>
      </p:sp>
      <p:pic>
        <p:nvPicPr>
          <p:cNvPr id="13" name="Image 12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492955BD-D0A0-009C-4453-184437AC8D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8" name="Image 7" descr="Une image contenant cercle, capture d’écran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0D4920B3-FB1D-22CC-CFE9-B644878CE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122" y="1037667"/>
            <a:ext cx="4761905" cy="476190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53DEBF0-FA15-4D18-4D5D-E86A456F9F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3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5633-45B7-553D-5E94-512E0E7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7618A2BE-0ED6-664F-5046-B7E92FED7874}"/>
              </a:ext>
            </a:extLst>
          </p:cNvPr>
          <p:cNvSpPr/>
          <p:nvPr/>
        </p:nvSpPr>
        <p:spPr>
          <a:xfrm>
            <a:off x="1696318" y="3779837"/>
            <a:ext cx="5591320" cy="3058413"/>
          </a:xfrm>
          <a:prstGeom prst="rect">
            <a:avLst/>
          </a:prstGeom>
          <a:noFill/>
          <a:ln w="28575">
            <a:solidFill>
              <a:srgbClr val="29A6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F9CB4E7-EB7B-F44B-3468-5B3EC4150379}"/>
              </a:ext>
            </a:extLst>
          </p:cNvPr>
          <p:cNvSpPr txBox="1">
            <a:spLocks/>
          </p:cNvSpPr>
          <p:nvPr/>
        </p:nvSpPr>
        <p:spPr>
          <a:xfrm>
            <a:off x="852098" y="1208948"/>
            <a:ext cx="9088840" cy="610286"/>
          </a:xfrm>
          <a:prstGeom prst="rect">
            <a:avLst/>
          </a:prstGeom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Le Poste de Travail Managé est intégré à l’infrastructure IT existante de votre entreprise. Il communique avec une console centralisée, permettant un suivi en temps réel et une intervention à distance en cas d’incident.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4860E54-6B2C-B5F7-B492-E6372BDCEA3D}"/>
              </a:ext>
            </a:extLst>
          </p:cNvPr>
          <p:cNvCxnSpPr>
            <a:cxnSpLocks/>
          </p:cNvCxnSpPr>
          <p:nvPr/>
        </p:nvCxnSpPr>
        <p:spPr>
          <a:xfrm>
            <a:off x="830064" y="1255262"/>
            <a:ext cx="0" cy="563972"/>
          </a:xfrm>
          <a:prstGeom prst="line">
            <a:avLst/>
          </a:prstGeom>
          <a:noFill/>
          <a:ln w="25400" cap="flat" cmpd="sng" algn="ctr">
            <a:solidFill>
              <a:srgbClr val="7030A0"/>
            </a:solidFill>
            <a:prstDash val="solid"/>
            <a:miter lim="800000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08C559-7238-DEAF-0BB7-0B46BADBBAA7}"/>
              </a:ext>
            </a:extLst>
          </p:cNvPr>
          <p:cNvSpPr/>
          <p:nvPr/>
        </p:nvSpPr>
        <p:spPr>
          <a:xfrm>
            <a:off x="545725" y="3027081"/>
            <a:ext cx="1394761" cy="247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LIEN INTERNET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4CB4D5-244C-F431-CB79-78DFDDD8C157}"/>
              </a:ext>
            </a:extLst>
          </p:cNvPr>
          <p:cNvSpPr/>
          <p:nvPr/>
        </p:nvSpPr>
        <p:spPr>
          <a:xfrm>
            <a:off x="2998860" y="3039691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ROUTEUR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0513BE3-8EC2-6CE9-CB9B-15B79620F1DF}"/>
              </a:ext>
            </a:extLst>
          </p:cNvPr>
          <p:cNvSpPr txBox="1"/>
          <p:nvPr/>
        </p:nvSpPr>
        <p:spPr>
          <a:xfrm>
            <a:off x="1511116" y="2251159"/>
            <a:ext cx="2593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Acheminé au travers d’un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331B1E9-DD4B-E7E3-F89A-F4713E54C72F}"/>
              </a:ext>
            </a:extLst>
          </p:cNvPr>
          <p:cNvSpPr txBox="1"/>
          <p:nvPr/>
        </p:nvSpPr>
        <p:spPr>
          <a:xfrm>
            <a:off x="4298711" y="2119311"/>
            <a:ext cx="171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Associé pour la sécurisation du réseau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3E6214-BA82-2C62-A96A-F3F9DF94DD53}"/>
              </a:ext>
            </a:extLst>
          </p:cNvPr>
          <p:cNvSpPr/>
          <p:nvPr/>
        </p:nvSpPr>
        <p:spPr>
          <a:xfrm>
            <a:off x="5809404" y="3044664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PAREFEU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E747322-B45D-9442-7409-3557B3655F67}"/>
              </a:ext>
            </a:extLst>
          </p:cNvPr>
          <p:cNvSpPr txBox="1"/>
          <p:nvPr/>
        </p:nvSpPr>
        <p:spPr>
          <a:xfrm>
            <a:off x="6828388" y="2049882"/>
            <a:ext cx="1284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Diffusion dans l’entreprise</a:t>
            </a:r>
          </a:p>
        </p:txBody>
      </p:sp>
      <p:pic>
        <p:nvPicPr>
          <p:cNvPr id="6154" name="Picture 10" descr="WiFi Logo : histoire, signification de l'emblème">
            <a:extLst>
              <a:ext uri="{FF2B5EF4-FFF2-40B4-BE49-F238E27FC236}">
                <a16:creationId xmlns:a16="http://schemas.microsoft.com/office/drawing/2014/main" id="{C0BCC713-892F-3260-22F5-54C124378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2463" y="2239502"/>
            <a:ext cx="1122500" cy="63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84AC1310-6789-AC3D-F4EA-228272DDABF8}"/>
              </a:ext>
            </a:extLst>
          </p:cNvPr>
          <p:cNvCxnSpPr>
            <a:cxnSpLocks/>
          </p:cNvCxnSpPr>
          <p:nvPr/>
        </p:nvCxnSpPr>
        <p:spPr>
          <a:xfrm>
            <a:off x="8496165" y="3588035"/>
            <a:ext cx="0" cy="348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9A56675F-2D82-A402-AA52-523CD000E1D3}"/>
              </a:ext>
            </a:extLst>
          </p:cNvPr>
          <p:cNvSpPr txBox="1"/>
          <p:nvPr/>
        </p:nvSpPr>
        <p:spPr>
          <a:xfrm>
            <a:off x="8583310" y="3430219"/>
            <a:ext cx="2037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Transmet le signal et potentiellement l’électricité</a:t>
            </a:r>
          </a:p>
        </p:txBody>
      </p: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4022E014-71ED-B7B2-CAF1-C56E18F523DA}"/>
              </a:ext>
            </a:extLst>
          </p:cNvPr>
          <p:cNvCxnSpPr>
            <a:cxnSpLocks/>
          </p:cNvCxnSpPr>
          <p:nvPr/>
        </p:nvCxnSpPr>
        <p:spPr>
          <a:xfrm flipH="1">
            <a:off x="7542063" y="4024548"/>
            <a:ext cx="2017864" cy="100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58" name="Picture 14" descr="PICTO Câble Ethernet | BULAC">
            <a:extLst>
              <a:ext uri="{FF2B5EF4-FFF2-40B4-BE49-F238E27FC236}">
                <a16:creationId xmlns:a16="http://schemas.microsoft.com/office/drawing/2014/main" id="{802DC0E2-6CC1-8461-8BCF-E40310463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285839" y="4031604"/>
            <a:ext cx="253225" cy="39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204C9905-2E86-EA1D-2193-E18E9E888E84}"/>
              </a:ext>
            </a:extLst>
          </p:cNvPr>
          <p:cNvCxnSpPr>
            <a:cxnSpLocks/>
          </p:cNvCxnSpPr>
          <p:nvPr/>
        </p:nvCxnSpPr>
        <p:spPr>
          <a:xfrm flipH="1">
            <a:off x="7380888" y="4496563"/>
            <a:ext cx="743776" cy="40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F1F404B2-8DEE-C2C0-698C-048B2561A6BA}"/>
              </a:ext>
            </a:extLst>
          </p:cNvPr>
          <p:cNvSpPr/>
          <p:nvPr/>
        </p:nvSpPr>
        <p:spPr>
          <a:xfrm>
            <a:off x="7922567" y="3059280"/>
            <a:ext cx="1140726" cy="2036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SWITCH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ADFA145-87E4-9271-3194-A8AEB1FC8F04}"/>
              </a:ext>
            </a:extLst>
          </p:cNvPr>
          <p:cNvSpPr txBox="1"/>
          <p:nvPr/>
        </p:nvSpPr>
        <p:spPr>
          <a:xfrm>
            <a:off x="8983824" y="2587677"/>
            <a:ext cx="876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ET/OU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A19B81C-7A3A-78A7-7317-A2500BD580A0}"/>
              </a:ext>
            </a:extLst>
          </p:cNvPr>
          <p:cNvSpPr/>
          <p:nvPr/>
        </p:nvSpPr>
        <p:spPr>
          <a:xfrm>
            <a:off x="9565430" y="3034570"/>
            <a:ext cx="908726" cy="22699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WIFI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215E418-1562-2EE5-0A4A-219D237D60EB}"/>
              </a:ext>
            </a:extLst>
          </p:cNvPr>
          <p:cNvSpPr/>
          <p:nvPr/>
        </p:nvSpPr>
        <p:spPr>
          <a:xfrm>
            <a:off x="7872865" y="4616967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CABLAGE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F2AC3BB-A0B2-DF62-5D15-13CD039BB44D}"/>
              </a:ext>
            </a:extLst>
          </p:cNvPr>
          <p:cNvSpPr/>
          <p:nvPr/>
        </p:nvSpPr>
        <p:spPr>
          <a:xfrm>
            <a:off x="5539962" y="4518454"/>
            <a:ext cx="1394761" cy="40238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Outil collaboratif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716EE31-4D36-CDCD-F49F-F0ABC2438C90}"/>
              </a:ext>
            </a:extLst>
          </p:cNvPr>
          <p:cNvSpPr/>
          <p:nvPr/>
        </p:nvSpPr>
        <p:spPr>
          <a:xfrm>
            <a:off x="5452048" y="6123813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96D6375-0A6A-8922-B9B2-6AE77353AE90}"/>
              </a:ext>
            </a:extLst>
          </p:cNvPr>
          <p:cNvSpPr/>
          <p:nvPr/>
        </p:nvSpPr>
        <p:spPr>
          <a:xfrm>
            <a:off x="3578812" y="5395417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ORDINATEUR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4C47C23-79E3-AA8D-C1D4-404C6C6F5966}"/>
              </a:ext>
            </a:extLst>
          </p:cNvPr>
          <p:cNvSpPr/>
          <p:nvPr/>
        </p:nvSpPr>
        <p:spPr>
          <a:xfrm>
            <a:off x="1890135" y="4496976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MFA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FABA763-C82C-8011-4A9E-929DA8BCB433}"/>
              </a:ext>
            </a:extLst>
          </p:cNvPr>
          <p:cNvSpPr/>
          <p:nvPr/>
        </p:nvSpPr>
        <p:spPr>
          <a:xfrm>
            <a:off x="1932289" y="6123814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Antivirus/EDR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388BD-FC02-C872-BBA3-8A3BFBA9AD5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78E9D-979F-E522-6D8C-2297702B5FFA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Espace réservé du texte 26">
            <a:extLst>
              <a:ext uri="{FF2B5EF4-FFF2-40B4-BE49-F238E27FC236}">
                <a16:creationId xmlns:a16="http://schemas.microsoft.com/office/drawing/2014/main" id="{D42C3371-F2BB-2939-3723-97D80FAA9CE3}"/>
              </a:ext>
            </a:extLst>
          </p:cNvPr>
          <p:cNvSpPr txBox="1">
            <a:spLocks/>
          </p:cNvSpPr>
          <p:nvPr/>
        </p:nvSpPr>
        <p:spPr>
          <a:xfrm>
            <a:off x="629635" y="187291"/>
            <a:ext cx="6912427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COMPRENDRE LE POSTE DE TRAVAIL DANS SON ACTION</a:t>
            </a:r>
          </a:p>
        </p:txBody>
      </p:sp>
      <p:pic>
        <p:nvPicPr>
          <p:cNvPr id="11" name="Image 1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DE8F14B-882E-CF22-E6DA-138353CCFB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FBB8FA5D-555E-8F73-8ECD-2D28C042D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086" y="2269841"/>
            <a:ext cx="548585" cy="548585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1D9BC029-585A-B341-BC2D-583F0CBE2F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9429" y="2377798"/>
            <a:ext cx="638150" cy="440628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C26936F4-57A4-9F9C-241D-2662AA25D7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9276" y="2241281"/>
            <a:ext cx="643014" cy="58751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3382F8D9-CAA4-25B8-BC87-8206BBB05F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69980" y="2374537"/>
            <a:ext cx="797839" cy="510617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89A1E3D-4F74-402B-274C-78E2C0BF2E6C}"/>
              </a:ext>
            </a:extLst>
          </p:cNvPr>
          <p:cNvCxnSpPr>
            <a:cxnSpLocks/>
          </p:cNvCxnSpPr>
          <p:nvPr/>
        </p:nvCxnSpPr>
        <p:spPr>
          <a:xfrm>
            <a:off x="2060922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6BAA0D3-9328-4C64-DC24-3D8C0BC960E4}"/>
              </a:ext>
            </a:extLst>
          </p:cNvPr>
          <p:cNvCxnSpPr>
            <a:cxnSpLocks/>
          </p:cNvCxnSpPr>
          <p:nvPr/>
        </p:nvCxnSpPr>
        <p:spPr>
          <a:xfrm>
            <a:off x="4801368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CC12F3C-39E0-ABF7-69AC-D281011C74C7}"/>
              </a:ext>
            </a:extLst>
          </p:cNvPr>
          <p:cNvCxnSpPr>
            <a:cxnSpLocks/>
          </p:cNvCxnSpPr>
          <p:nvPr/>
        </p:nvCxnSpPr>
        <p:spPr>
          <a:xfrm>
            <a:off x="7123946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que 25">
            <a:extLst>
              <a:ext uri="{FF2B5EF4-FFF2-40B4-BE49-F238E27FC236}">
                <a16:creationId xmlns:a16="http://schemas.microsoft.com/office/drawing/2014/main" id="{98C4044A-D75A-CD36-CFF5-7C005A98A1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99531" y="4839640"/>
            <a:ext cx="581832" cy="402389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E982736B-E6B6-7069-05A1-0DBB99029B68}"/>
              </a:ext>
            </a:extLst>
          </p:cNvPr>
          <p:cNvCxnSpPr>
            <a:cxnSpLocks/>
          </p:cNvCxnSpPr>
          <p:nvPr/>
        </p:nvCxnSpPr>
        <p:spPr>
          <a:xfrm flipH="1" flipV="1">
            <a:off x="3291092" y="4827621"/>
            <a:ext cx="348307" cy="3451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94E3EDF-50F6-0C9C-8A81-AA586E4CC4DB}"/>
              </a:ext>
            </a:extLst>
          </p:cNvPr>
          <p:cNvCxnSpPr>
            <a:cxnSpLocks/>
          </p:cNvCxnSpPr>
          <p:nvPr/>
        </p:nvCxnSpPr>
        <p:spPr>
          <a:xfrm flipH="1">
            <a:off x="3345366" y="5751375"/>
            <a:ext cx="350874" cy="3338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55BC13D-3BE2-CE6E-8F7A-DC81044A6CEF}"/>
              </a:ext>
            </a:extLst>
          </p:cNvPr>
          <p:cNvCxnSpPr>
            <a:cxnSpLocks/>
          </p:cNvCxnSpPr>
          <p:nvPr/>
        </p:nvCxnSpPr>
        <p:spPr>
          <a:xfrm flipV="1">
            <a:off x="5001901" y="4827621"/>
            <a:ext cx="376944" cy="4008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A0FFF62-B5E3-76A3-6BFD-AC628A8C23E2}"/>
              </a:ext>
            </a:extLst>
          </p:cNvPr>
          <p:cNvCxnSpPr>
            <a:cxnSpLocks/>
          </p:cNvCxnSpPr>
          <p:nvPr/>
        </p:nvCxnSpPr>
        <p:spPr>
          <a:xfrm>
            <a:off x="5001901" y="5751374"/>
            <a:ext cx="376944" cy="3338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Graphique 44" descr="Verrou avec un remplissage uni">
            <a:extLst>
              <a:ext uri="{FF2B5EF4-FFF2-40B4-BE49-F238E27FC236}">
                <a16:creationId xmlns:a16="http://schemas.microsoft.com/office/drawing/2014/main" id="{E3C58B61-8347-EFFF-8BE0-9D82B9426E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31711" y="5437985"/>
            <a:ext cx="626778" cy="626778"/>
          </a:xfrm>
          <a:prstGeom prst="rect">
            <a:avLst/>
          </a:prstGeom>
        </p:spPr>
      </p:pic>
      <p:pic>
        <p:nvPicPr>
          <p:cNvPr id="50" name="Graphique 49" descr="Informatique hébergé avec un remplissage uni">
            <a:extLst>
              <a:ext uri="{FF2B5EF4-FFF2-40B4-BE49-F238E27FC236}">
                <a16:creationId xmlns:a16="http://schemas.microsoft.com/office/drawing/2014/main" id="{6CE8D605-008D-8B89-C88B-B54218479D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09404" y="5356933"/>
            <a:ext cx="675952" cy="675952"/>
          </a:xfrm>
          <a:prstGeom prst="rect">
            <a:avLst/>
          </a:prstGeom>
        </p:spPr>
      </p:pic>
      <p:pic>
        <p:nvPicPr>
          <p:cNvPr id="52" name="Graphique 51" descr="Smartphone avec un remplissage uni">
            <a:extLst>
              <a:ext uri="{FF2B5EF4-FFF2-40B4-BE49-F238E27FC236}">
                <a16:creationId xmlns:a16="http://schemas.microsoft.com/office/drawing/2014/main" id="{DFB2C70F-20C3-E48C-A77D-26104571D16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71576" y="3863873"/>
            <a:ext cx="549068" cy="549068"/>
          </a:xfrm>
          <a:prstGeom prst="rect">
            <a:avLst/>
          </a:prstGeom>
        </p:spPr>
      </p:pic>
      <p:pic>
        <p:nvPicPr>
          <p:cNvPr id="54" name="Graphique 53" descr="Brainstorming de groupe avec un remplissage uni">
            <a:extLst>
              <a:ext uri="{FF2B5EF4-FFF2-40B4-BE49-F238E27FC236}">
                <a16:creationId xmlns:a16="http://schemas.microsoft.com/office/drawing/2014/main" id="{1F2C610C-DE8D-0364-238E-4E351C660F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09404" y="3816815"/>
            <a:ext cx="675952" cy="675952"/>
          </a:xfrm>
          <a:prstGeom prst="rect">
            <a:avLst/>
          </a:prstGeom>
        </p:spPr>
      </p:pic>
      <p:sp>
        <p:nvSpPr>
          <p:cNvPr id="55" name="ZoneTexte 54">
            <a:extLst>
              <a:ext uri="{FF2B5EF4-FFF2-40B4-BE49-F238E27FC236}">
                <a16:creationId xmlns:a16="http://schemas.microsoft.com/office/drawing/2014/main" id="{CB143FD2-7F3E-719F-5F45-EAD6C9BA111E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C698909C-B1AE-9CAF-0B39-2D8F43737731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59FE-A1F6-8136-B0FA-E59AA17B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4" name="Image 2433" descr="Une image contenant texte, capture d’écran, graphisme, Graphique&#10;&#10;Description générée automatiquement">
            <a:extLst>
              <a:ext uri="{FF2B5EF4-FFF2-40B4-BE49-F238E27FC236}">
                <a16:creationId xmlns:a16="http://schemas.microsoft.com/office/drawing/2014/main" id="{63ADC003-3605-B1C3-3F40-B85BE9DA56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3871" y="1598405"/>
            <a:ext cx="2599509" cy="2090585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C20596DF-6B8F-A4F0-65BA-7392F698513E}"/>
              </a:ext>
            </a:extLst>
          </p:cNvPr>
          <p:cNvSpPr/>
          <p:nvPr/>
        </p:nvSpPr>
        <p:spPr>
          <a:xfrm>
            <a:off x="3047051" y="1146546"/>
            <a:ext cx="3972222" cy="3001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endParaRPr lang="fr-FR" sz="1432" dirty="0">
              <a:solidFill>
                <a:srgbClr val="FFFFFF"/>
              </a:solidFill>
              <a:highlight>
                <a:srgbClr val="2F53A0"/>
              </a:highlight>
              <a:latin typeface="Arial Nova" panose="020B0504020202020204" pitchFamily="34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D69C5FD-A6BA-AA35-FFDA-F3E1A3F7EF6F}"/>
              </a:ext>
            </a:extLst>
          </p:cNvPr>
          <p:cNvSpPr txBox="1"/>
          <p:nvPr/>
        </p:nvSpPr>
        <p:spPr>
          <a:xfrm>
            <a:off x="629636" y="4308715"/>
            <a:ext cx="2899552" cy="273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Les postes sont souvent obsolètes et les mises à jour ne sont pas appliquées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Avec le service managé, les mises à jour sont automatisées et les postes restent performants.</a:t>
            </a:r>
          </a:p>
          <a:p>
            <a:endParaRPr lang="fr-FR" sz="1228" b="1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L</a:t>
            </a:r>
            <a:r>
              <a:rPr lang="fr-FR" sz="1228" dirty="0">
                <a:latin typeface="Arial Nova" panose="020B0504020202020204" pitchFamily="34" charset="0"/>
              </a:rPr>
              <a:t>es pannes entraînent des interruptions de travail prolongées.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monitoring en temps réel permet d’anticiper les problèmes et d’intervenir rapidement.</a:t>
            </a:r>
          </a:p>
          <a:p>
            <a:endParaRPr lang="fr-FR" sz="1228" b="1" dirty="0">
              <a:solidFill>
                <a:schemeClr val="bg2"/>
              </a:solidFill>
              <a:latin typeface="Arial Nova" panose="020B0504020202020204" pitchFamily="34" charset="0"/>
            </a:endParaRP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E531263D-B59E-C6C1-F635-90021D4EC5D9}"/>
              </a:ext>
            </a:extLst>
          </p:cNvPr>
          <p:cNvSpPr txBox="1"/>
          <p:nvPr/>
        </p:nvSpPr>
        <p:spPr>
          <a:xfrm>
            <a:off x="3839393" y="4317048"/>
            <a:ext cx="2937107" cy="25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Les postes ralentissent à cause de fichiers inutiles et d’un manque d’optimisation.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nettoyage et l’optimisation régulière garantissent des performances stables.</a:t>
            </a:r>
          </a:p>
          <a:p>
            <a:endParaRPr lang="fr-FR" sz="1228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</a:t>
            </a:r>
            <a:r>
              <a:rPr lang="fr-FR" sz="1228" dirty="0">
                <a:latin typeface="Arial Nova" panose="020B0504020202020204" pitchFamily="34" charset="0"/>
              </a:rPr>
              <a:t>Un poste perdu ou volé expose des données sensibles.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chiffrement et la gestion à distance permettent de sécuriser et effacer les données si nécessaire.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228" b="1" dirty="0">
              <a:solidFill>
                <a:schemeClr val="bg2"/>
              </a:solidFill>
              <a:latin typeface="Arial Nova" panose="020B0504020202020204" pitchFamily="34" charset="0"/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51677825-B1A0-0DFA-2DAF-4BEEDB870FA4}"/>
              </a:ext>
            </a:extLst>
          </p:cNvPr>
          <p:cNvSpPr txBox="1"/>
          <p:nvPr/>
        </p:nvSpPr>
        <p:spPr>
          <a:xfrm>
            <a:off x="3078538" y="1130489"/>
            <a:ext cx="3918701" cy="33534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sz="1579" dirty="0">
                <a:solidFill>
                  <a:schemeClr val="bg1"/>
                </a:solidFill>
                <a:latin typeface="Arial Nova" panose="020B0504020202020204" pitchFamily="34" charset="0"/>
              </a:rPr>
              <a:t>Des cas pratiques qui vous arrivent déjà ! 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C683FEE0-4AAB-CC8A-742E-C46E8F88CEA6}"/>
              </a:ext>
            </a:extLst>
          </p:cNvPr>
          <p:cNvSpPr txBox="1"/>
          <p:nvPr/>
        </p:nvSpPr>
        <p:spPr>
          <a:xfrm>
            <a:off x="629636" y="3688990"/>
            <a:ext cx="2937107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Gestion et Maintenance du Parc Informatique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17B30EA-65CE-A405-5124-AD3E49E4F56E}"/>
              </a:ext>
            </a:extLst>
          </p:cNvPr>
          <p:cNvSpPr txBox="1"/>
          <p:nvPr/>
        </p:nvSpPr>
        <p:spPr>
          <a:xfrm>
            <a:off x="3813871" y="3688990"/>
            <a:ext cx="3184022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Sécurité et Protection des Données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0827E455-6148-9445-0890-11A680383694}"/>
              </a:ext>
            </a:extLst>
          </p:cNvPr>
          <p:cNvSpPr txBox="1"/>
          <p:nvPr/>
        </p:nvSpPr>
        <p:spPr>
          <a:xfrm>
            <a:off x="7302169" y="3688990"/>
            <a:ext cx="2599509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Expérience et Obsolescence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6158F0-DAF5-9939-25C1-BFC03453D2EB}"/>
              </a:ext>
            </a:extLst>
          </p:cNvPr>
          <p:cNvSpPr txBox="1"/>
          <p:nvPr/>
        </p:nvSpPr>
        <p:spPr>
          <a:xfrm>
            <a:off x="7302169" y="4319679"/>
            <a:ext cx="3225378" cy="21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 matériel vieillissant ralentit la productivité des équipes.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Un suivi de l’obsolescence planifie le renouvellement des postes pour assurer des performances optimales.</a:t>
            </a:r>
          </a:p>
          <a:p>
            <a:endParaRPr lang="fr-FR" sz="1228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</a:t>
            </a:r>
            <a:r>
              <a:rPr lang="fr-FR" sz="1228" dirty="0">
                <a:latin typeface="Arial Nova" panose="020B0504020202020204" pitchFamily="34" charset="0"/>
              </a:rPr>
              <a:t>Les équipements ne sont pas uniformisés, ce qui complique la gestion 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parc est standardisé et géré à distance, garantissant une expérience homogène.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88CB21-455C-C5C8-A20B-44E1EE7D8486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93CB6-068A-5D33-A988-28983D60649F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Espace réservé du texte 26">
            <a:extLst>
              <a:ext uri="{FF2B5EF4-FFF2-40B4-BE49-F238E27FC236}">
                <a16:creationId xmlns:a16="http://schemas.microsoft.com/office/drawing/2014/main" id="{91B805F3-EBB7-4355-1B9E-AF5E9DA6591C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LES ENJEUX DE LA SOLUTION</a:t>
            </a:r>
          </a:p>
        </p:txBody>
      </p:sp>
      <p:pic>
        <p:nvPicPr>
          <p:cNvPr id="9" name="Image 8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EECD77F5-85D4-7048-0E7F-00F2FF6AE5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46DE64D-6F5F-9AD7-4C6E-56BEFD275BB4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78B4118-6765-9662-C98B-E08C8745DE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2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76D9-6998-969D-D349-532FF06A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rme libre : forme 6">
            <a:extLst>
              <a:ext uri="{FF2B5EF4-FFF2-40B4-BE49-F238E27FC236}">
                <a16:creationId xmlns:a16="http://schemas.microsoft.com/office/drawing/2014/main" id="{F7084073-0C2A-DF1B-F394-4119B5D11D29}"/>
              </a:ext>
            </a:extLst>
          </p:cNvPr>
          <p:cNvSpPr/>
          <p:nvPr/>
        </p:nvSpPr>
        <p:spPr>
          <a:xfrm rot="13331543" flipH="1">
            <a:off x="5107258" y="4033940"/>
            <a:ext cx="2032721" cy="872424"/>
          </a:xfrm>
          <a:custGeom>
            <a:avLst/>
            <a:gdLst>
              <a:gd name="connsiteX0" fmla="*/ 0 w 2032721"/>
              <a:gd name="connsiteY0" fmla="*/ 769574 h 872424"/>
              <a:gd name="connsiteX1" fmla="*/ 1279212 w 2032721"/>
              <a:gd name="connsiteY1" fmla="*/ 810443 h 872424"/>
              <a:gd name="connsiteX2" fmla="*/ 2032721 w 2032721"/>
              <a:gd name="connsiteY2" fmla="*/ 0 h 87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721" h="872424" fill="none" extrusionOk="0">
                <a:moveTo>
                  <a:pt x="0" y="769574"/>
                </a:moveTo>
                <a:cubicBezTo>
                  <a:pt x="352994" y="795017"/>
                  <a:pt x="832830" y="1029654"/>
                  <a:pt x="1279212" y="810443"/>
                </a:cubicBezTo>
                <a:cubicBezTo>
                  <a:pt x="1633149" y="708949"/>
                  <a:pt x="1904599" y="265290"/>
                  <a:pt x="2032721" y="0"/>
                </a:cubicBezTo>
              </a:path>
              <a:path w="2032721" h="872424" stroke="0" extrusionOk="0">
                <a:moveTo>
                  <a:pt x="0" y="769574"/>
                </a:moveTo>
                <a:cubicBezTo>
                  <a:pt x="311246" y="756060"/>
                  <a:pt x="805648" y="978256"/>
                  <a:pt x="1279212" y="810443"/>
                </a:cubicBezTo>
                <a:cubicBezTo>
                  <a:pt x="1679628" y="720353"/>
                  <a:pt x="1835691" y="245361"/>
                  <a:pt x="2032721" y="0"/>
                </a:cubicBezTo>
              </a:path>
            </a:pathLst>
          </a:custGeom>
          <a:ln w="22225">
            <a:solidFill>
              <a:srgbClr val="7030A0"/>
            </a:solidFill>
            <a:prstDash val="sysDot"/>
            <a:headEnd type="stealth" w="med" len="lg"/>
            <a:tailEnd type="stealth" w="med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47887"/>
                      <a:gd name="connsiteY0" fmla="*/ 284551 h 333221"/>
                      <a:gd name="connsiteX1" fmla="*/ 785308 w 1247887"/>
                      <a:gd name="connsiteY1" fmla="*/ 303090 h 333221"/>
                      <a:gd name="connsiteX2" fmla="*/ 1247887 w 1247887"/>
                      <a:gd name="connsiteY2" fmla="*/ 0 h 333221"/>
                      <a:gd name="connsiteX0" fmla="*/ 0 w 1247887"/>
                      <a:gd name="connsiteY0" fmla="*/ 349097 h 395752"/>
                      <a:gd name="connsiteX1" fmla="*/ 785308 w 1247887"/>
                      <a:gd name="connsiteY1" fmla="*/ 367636 h 395752"/>
                      <a:gd name="connsiteX2" fmla="*/ 1247887 w 1247887"/>
                      <a:gd name="connsiteY2" fmla="*/ 0 h 3957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47887" h="395752" extrusionOk="0">
                        <a:moveTo>
                          <a:pt x="0" y="349097"/>
                        </a:moveTo>
                        <a:cubicBezTo>
                          <a:pt x="221791" y="356967"/>
                          <a:pt x="518614" y="437097"/>
                          <a:pt x="785308" y="367636"/>
                        </a:cubicBezTo>
                        <a:cubicBezTo>
                          <a:pt x="1005543" y="322790"/>
                          <a:pt x="1142586" y="110934"/>
                          <a:pt x="1247887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00964">
              <a:defRPr/>
            </a:pPr>
            <a:endParaRPr lang="fr-FR" sz="1350">
              <a:solidFill>
                <a:srgbClr val="434341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5679A-DFD0-42B3-C572-EE98B0B4CAD8}"/>
              </a:ext>
            </a:extLst>
          </p:cNvPr>
          <p:cNvSpPr/>
          <p:nvPr/>
        </p:nvSpPr>
        <p:spPr>
          <a:xfrm>
            <a:off x="5903089" y="4311419"/>
            <a:ext cx="1266515" cy="295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 descr="Une image contenant habits, meubles, personne, chaussures&#10;&#10;Description générée automatiquement">
            <a:extLst>
              <a:ext uri="{FF2B5EF4-FFF2-40B4-BE49-F238E27FC236}">
                <a16:creationId xmlns:a16="http://schemas.microsoft.com/office/drawing/2014/main" id="{1986C149-E3B4-6257-72B5-E422003EF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2712" y="5128558"/>
            <a:ext cx="2795353" cy="1863568"/>
          </a:xfrm>
          <a:prstGeom prst="rect">
            <a:avLst/>
          </a:prstGeom>
        </p:spPr>
      </p:pic>
      <p:sp>
        <p:nvSpPr>
          <p:cNvPr id="107" name="ZoneTexte 106">
            <a:extLst>
              <a:ext uri="{FF2B5EF4-FFF2-40B4-BE49-F238E27FC236}">
                <a16:creationId xmlns:a16="http://schemas.microsoft.com/office/drawing/2014/main" id="{EA921CA6-13BB-9FB3-5686-0AB4F989D706}"/>
              </a:ext>
            </a:extLst>
          </p:cNvPr>
          <p:cNvSpPr txBox="1"/>
          <p:nvPr/>
        </p:nvSpPr>
        <p:spPr>
          <a:xfrm>
            <a:off x="7148115" y="3654312"/>
            <a:ext cx="27295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tx2"/>
                </a:solidFill>
                <a:latin typeface="Arial Nova" panose="020B0504020202020204" pitchFamily="34" charset="0"/>
              </a:rPr>
              <a:t>Avec notre service managé, nous assurons le déploiement, la maintenance proactive, le suivi des garanties et le renouvellement des équipements pour garantir un parc toujours opérationnel et optimisé</a:t>
            </a:r>
          </a:p>
        </p:txBody>
      </p:sp>
      <p:pic>
        <p:nvPicPr>
          <p:cNvPr id="2438" name="Image 2437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086AD07-6B9E-493F-4E67-84D6EDF511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7919" y="4298803"/>
            <a:ext cx="1231685" cy="30792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8FBBB54-1900-6140-9E27-229D75E8398A}"/>
              </a:ext>
            </a:extLst>
          </p:cNvPr>
          <p:cNvSpPr txBox="1"/>
          <p:nvPr/>
        </p:nvSpPr>
        <p:spPr>
          <a:xfrm>
            <a:off x="4919693" y="6802306"/>
            <a:ext cx="1086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en entreprise</a:t>
            </a:r>
          </a:p>
        </p:txBody>
      </p:sp>
      <p:pic>
        <p:nvPicPr>
          <p:cNvPr id="11" name="Image 10" descr="Une image contenant Dessin d’enfant, clipart, dessin, dessin humoristique&#10;&#10;Description générée automatiquement">
            <a:extLst>
              <a:ext uri="{FF2B5EF4-FFF2-40B4-BE49-F238E27FC236}">
                <a16:creationId xmlns:a16="http://schemas.microsoft.com/office/drawing/2014/main" id="{F2D562A8-7FD9-2D71-4901-720A58FCD0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2505413" y="5307836"/>
            <a:ext cx="1155335" cy="1425404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7886AD8A-C795-4BB5-F3B4-7B7F23C10E8E}"/>
              </a:ext>
            </a:extLst>
          </p:cNvPr>
          <p:cNvSpPr txBox="1"/>
          <p:nvPr/>
        </p:nvSpPr>
        <p:spPr>
          <a:xfrm>
            <a:off x="2667825" y="6802306"/>
            <a:ext cx="1044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en télétravail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56B3598-3D9E-5955-B1ED-B2E1D367F1A5}"/>
              </a:ext>
            </a:extLst>
          </p:cNvPr>
          <p:cNvSpPr txBox="1"/>
          <p:nvPr/>
        </p:nvSpPr>
        <p:spPr>
          <a:xfrm>
            <a:off x="508452" y="6155975"/>
            <a:ext cx="172093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1200">
                <a:latin typeface="Arial Nova"/>
              </a:rPr>
              <a:t>bénéficie de postes performants et opérationnels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8106FB-553B-3B05-36C0-87575002FAA5}"/>
              </a:ext>
            </a:extLst>
          </p:cNvPr>
          <p:cNvSpPr txBox="1"/>
          <p:nvPr/>
        </p:nvSpPr>
        <p:spPr>
          <a:xfrm>
            <a:off x="506692" y="5824843"/>
            <a:ext cx="1960946" cy="3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Votre entreprise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ECE73-4F35-5BB8-F83E-4B81A89B3D27}"/>
              </a:ext>
            </a:extLst>
          </p:cNvPr>
          <p:cNvSpPr/>
          <p:nvPr/>
        </p:nvSpPr>
        <p:spPr>
          <a:xfrm>
            <a:off x="580282" y="2073515"/>
            <a:ext cx="20838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75">
              <a:defRPr/>
            </a:pPr>
            <a:r>
              <a:rPr lang="fr-FR" sz="1200" dirty="0">
                <a:latin typeface="Arial Nova" panose="020B0504020202020204" pitchFamily="34" charset="0"/>
                <a:cs typeface="Trebuchet MS" panose="020B0502040204020203" pitchFamily="34" charset="0"/>
              </a:rPr>
              <a:t>Dell propose des postes de travail robustes et sécurisés, adaptés aux environnements professionnels exigeants. </a:t>
            </a:r>
          </a:p>
        </p:txBody>
      </p:sp>
      <p:pic>
        <p:nvPicPr>
          <p:cNvPr id="2" name="Picture 4" descr="Analyse réseau pour les réseaux &amp; complexes de grande taille | FortiAnalyzer">
            <a:extLst>
              <a:ext uri="{FF2B5EF4-FFF2-40B4-BE49-F238E27FC236}">
                <a16:creationId xmlns:a16="http://schemas.microsoft.com/office/drawing/2014/main" id="{D9EDDB58-198C-B355-59FB-716A3D085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44048" y="2231867"/>
            <a:ext cx="2171481" cy="140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295DD0-5577-07A1-8095-0D590298D35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72921-B193-0AC0-4B54-3C6742C5C170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3AB42B84-3F19-3822-4933-B1DB54F354E0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 SCHÉMA DE LA SOLUTION</a:t>
            </a:r>
          </a:p>
        </p:txBody>
      </p:sp>
      <p:pic>
        <p:nvPicPr>
          <p:cNvPr id="18" name="Image 17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C4D330F-6BE1-93DA-DF4F-FBE39F05D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3B45C77-FF74-10DA-600A-C595702E6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598" y="1315677"/>
            <a:ext cx="750071" cy="75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5EE68E-E038-005B-A615-C38BDC7538CC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561433D-2E5E-1616-C845-28AFD045078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4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712B-8398-ED11-EFC4-EF62B62E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40BADCD1-418E-9941-104D-5AC969843488}"/>
              </a:ext>
            </a:extLst>
          </p:cNvPr>
          <p:cNvSpPr txBox="1"/>
          <p:nvPr/>
        </p:nvSpPr>
        <p:spPr>
          <a:xfrm>
            <a:off x="754053" y="2016328"/>
            <a:ext cx="183641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Vous n’avez pas besoin de vous équiper, on gère tout 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5DA76A-B9E6-C8E9-CB03-7A16DF13BEE3}"/>
              </a:ext>
            </a:extLst>
          </p:cNvPr>
          <p:cNvSpPr/>
          <p:nvPr/>
        </p:nvSpPr>
        <p:spPr>
          <a:xfrm>
            <a:off x="628110" y="1876630"/>
            <a:ext cx="2149648" cy="162379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90D658AC-307E-A23C-5746-C6128F302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8841" y="1510102"/>
            <a:ext cx="449342" cy="448608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60A1BE83-8B41-630F-F30B-7C8267DD043E}"/>
              </a:ext>
            </a:extLst>
          </p:cNvPr>
          <p:cNvGrpSpPr/>
          <p:nvPr/>
        </p:nvGrpSpPr>
        <p:grpSpPr>
          <a:xfrm>
            <a:off x="7937880" y="795958"/>
            <a:ext cx="2207656" cy="5211303"/>
            <a:chOff x="4640762" y="1392187"/>
            <a:chExt cx="1800000" cy="43642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662335-457D-0C51-60DC-DF0ABE23F3E8}"/>
                </a:ext>
              </a:extLst>
            </p:cNvPr>
            <p:cNvSpPr/>
            <p:nvPr/>
          </p:nvSpPr>
          <p:spPr>
            <a:xfrm>
              <a:off x="4640762" y="1968402"/>
              <a:ext cx="1800000" cy="3788042"/>
            </a:xfrm>
            <a:prstGeom prst="rect">
              <a:avLst/>
            </a:prstGeom>
            <a:solidFill>
              <a:srgbClr val="946AAB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6515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998" kern="0">
                <a:solidFill>
                  <a:prstClr val="white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896AB58-B9B5-DE3D-AC98-38FE266D1FEC}"/>
                </a:ext>
              </a:extLst>
            </p:cNvPr>
            <p:cNvSpPr txBox="1"/>
            <p:nvPr/>
          </p:nvSpPr>
          <p:spPr>
            <a:xfrm>
              <a:off x="4649083" y="1392187"/>
              <a:ext cx="1791679" cy="226966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65156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228" b="1" kern="0" dirty="0">
                  <a:solidFill>
                    <a:prstClr val="white"/>
                  </a:solidFill>
                  <a:latin typeface="Arial Nova" panose="020B0504020202020204" pitchFamily="34" charset="0"/>
                </a:rPr>
                <a:t>Fonctionnalités incluses</a:t>
              </a:r>
            </a:p>
          </p:txBody>
        </p:sp>
      </p:grp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0312E9DB-2A3E-B8C5-FB40-A0B3350A0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838897"/>
              </p:ext>
            </p:extLst>
          </p:nvPr>
        </p:nvGraphicFramePr>
        <p:xfrm>
          <a:off x="3912243" y="1184215"/>
          <a:ext cx="6209963" cy="4655862"/>
        </p:xfrm>
        <a:graphic>
          <a:graphicData uri="http://schemas.openxmlformats.org/drawingml/2006/table">
            <a:tbl>
              <a:tblPr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6874">
                  <a:extLst>
                    <a:ext uri="{9D8B030D-6E8A-4147-A177-3AD203B41FA5}">
                      <a16:colId xmlns:a16="http://schemas.microsoft.com/office/drawing/2014/main" val="4103786711"/>
                    </a:ext>
                  </a:extLst>
                </a:gridCol>
                <a:gridCol w="2063089">
                  <a:extLst>
                    <a:ext uri="{9D8B030D-6E8A-4147-A177-3AD203B41FA5}">
                      <a16:colId xmlns:a16="http://schemas.microsoft.com/office/drawing/2014/main" val="3349293550"/>
                    </a:ext>
                  </a:extLst>
                </a:gridCol>
              </a:tblGrid>
              <a:tr h="3440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Supervision 24/7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17878"/>
                  </a:ext>
                </a:extLst>
              </a:tr>
              <a:tr h="360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Patch management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982968"/>
                  </a:ext>
                </a:extLst>
              </a:tr>
              <a:tr h="360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Intervention à distance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85795"/>
                  </a:ext>
                </a:extLst>
              </a:tr>
              <a:tr h="3880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r>
                        <a:rPr lang="fr-FR" sz="1100" dirty="0"/>
                        <a:t>Monitoring des performances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751370"/>
                  </a:ext>
                </a:extLst>
              </a:tr>
              <a:tr h="3442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Inventaire automatisé du matériel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680224"/>
                  </a:ext>
                </a:extLst>
              </a:tr>
              <a:tr h="3198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Reporting</a:t>
                      </a: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82436"/>
                  </a:ext>
                </a:extLst>
              </a:tr>
              <a:tr h="357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Suivi du cycle de vie de votre parc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161756"/>
                  </a:ext>
                </a:extLst>
              </a:tr>
              <a:tr h="352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Surveillance de l’état des postes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20341"/>
                  </a:ext>
                </a:extLst>
              </a:tr>
              <a:tr h="357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Gère et applique les mises à jour Windows, </a:t>
                      </a:r>
                    </a:p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Mac ou Linux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4008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Alerte et traitement en cas de problème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78173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Pré-diagnostique sans déranger l’utilisateur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0687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Liste des applications installés 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867048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Chiffrement des données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Option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220159"/>
                  </a:ext>
                </a:extLst>
              </a:tr>
            </a:tbl>
          </a:graphicData>
        </a:graphic>
      </p:graphicFrame>
      <p:grpSp>
        <p:nvGrpSpPr>
          <p:cNvPr id="23" name="Groupe 22">
            <a:extLst>
              <a:ext uri="{FF2B5EF4-FFF2-40B4-BE49-F238E27FC236}">
                <a16:creationId xmlns:a16="http://schemas.microsoft.com/office/drawing/2014/main" id="{37C80078-4877-0889-924C-D25C7C2F071A}"/>
              </a:ext>
            </a:extLst>
          </p:cNvPr>
          <p:cNvGrpSpPr/>
          <p:nvPr/>
        </p:nvGrpSpPr>
        <p:grpSpPr>
          <a:xfrm>
            <a:off x="4697" y="2943396"/>
            <a:ext cx="3552537" cy="4694788"/>
            <a:chOff x="8353488" y="1473975"/>
            <a:chExt cx="2926079" cy="3888996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F7255D61-BC9F-898C-4610-119C044D17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77"/>
            <a:stretch/>
          </p:blipFill>
          <p:spPr>
            <a:xfrm>
              <a:off x="8353488" y="1473975"/>
              <a:ext cx="2926079" cy="3888996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4E9FF8-F175-134A-FA6B-ECAEE71F70CE}"/>
                </a:ext>
              </a:extLst>
            </p:cNvPr>
            <p:cNvSpPr/>
            <p:nvPr/>
          </p:nvSpPr>
          <p:spPr>
            <a:xfrm>
              <a:off x="8387305" y="1624911"/>
              <a:ext cx="421309" cy="7459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579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3B3FCE0-12AE-5E92-B464-6A275CEBDED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74C61-C0C4-1E13-F478-6B09E18015D4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202212AC-4ADE-ADB6-BAF5-7321FCA4F174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LES FONCTIONNALITÉS DE LA SOLUTION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A003F99-5403-8A74-60CE-48B51C13AC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34E90A1-1C72-7B83-7701-1CE06B532349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15662C6-6163-C3B8-1B18-B3C78504AF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1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BFAC-B9F3-E67C-1C83-A38CD033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habits, personne, Visage humain, Accessoire de mode&#10;&#10;Le contenu généré par l’IA peut être incorrect.">
            <a:extLst>
              <a:ext uri="{FF2B5EF4-FFF2-40B4-BE49-F238E27FC236}">
                <a16:creationId xmlns:a16="http://schemas.microsoft.com/office/drawing/2014/main" id="{B9886BF6-CDD1-B6AC-E199-7DF5BDB7BF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9224" y="2546251"/>
            <a:ext cx="3342965" cy="5013424"/>
          </a:xfrm>
          <a:prstGeom prst="rect">
            <a:avLst/>
          </a:prstGeom>
        </p:spPr>
      </p:pic>
      <p:sp>
        <p:nvSpPr>
          <p:cNvPr id="2453" name="ZoneTexte 2452">
            <a:extLst>
              <a:ext uri="{FF2B5EF4-FFF2-40B4-BE49-F238E27FC236}">
                <a16:creationId xmlns:a16="http://schemas.microsoft.com/office/drawing/2014/main" id="{85726714-6D47-92D5-C149-0A9C0B79E148}"/>
              </a:ext>
            </a:extLst>
          </p:cNvPr>
          <p:cNvSpPr txBox="1"/>
          <p:nvPr/>
        </p:nvSpPr>
        <p:spPr>
          <a:xfrm>
            <a:off x="656419" y="1054642"/>
            <a:ext cx="61409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00964">
              <a:defRPr/>
            </a:pPr>
            <a:r>
              <a:rPr lang="fr-FR" sz="1400">
                <a:solidFill>
                  <a:srgbClr val="434341"/>
                </a:solidFill>
                <a:latin typeface="Arial Nova" panose="020B0504020202020204" pitchFamily="34" charset="0"/>
              </a:rPr>
              <a:t>Dans le cadre de la transformation numérique, il est essentiel de bien </a:t>
            </a:r>
            <a:r>
              <a:rPr lang="fr-FR" sz="1400" b="1">
                <a:solidFill>
                  <a:srgbClr val="434341"/>
                </a:solidFill>
                <a:latin typeface="Arial Nova" panose="020B0504020202020204" pitchFamily="34" charset="0"/>
              </a:rPr>
              <a:t>adapter les postes de travail aux différents profils d’utilisation des collaborateurs</a:t>
            </a:r>
            <a:r>
              <a:rPr lang="fr-FR" sz="1400">
                <a:solidFill>
                  <a:srgbClr val="434341"/>
                </a:solidFill>
                <a:latin typeface="Arial Nova" panose="020B0504020202020204" pitchFamily="34" charset="0"/>
              </a:rPr>
              <a:t>. On distingue trois types de postes de travail, chacun ayant des exigences spécifiques en termes de performance et de mobilité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08BD3-2B3A-5550-9DF3-2A7931AF516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B6DE7-66D2-9830-A3F5-8FDA3C9C3A42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Espace réservé du texte 26">
            <a:extLst>
              <a:ext uri="{FF2B5EF4-FFF2-40B4-BE49-F238E27FC236}">
                <a16:creationId xmlns:a16="http://schemas.microsoft.com/office/drawing/2014/main" id="{A3186BD5-CAAA-7265-73EB-1B1720209876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>
                <a:latin typeface="Century Gothic" panose="020B0502020202020204" pitchFamily="34" charset="0"/>
              </a:rPr>
              <a:t>DEVOIR DE CONSEIL</a:t>
            </a:r>
          </a:p>
        </p:txBody>
      </p:sp>
      <p:pic>
        <p:nvPicPr>
          <p:cNvPr id="9" name="Image 8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0C9B65E3-A169-5299-BB2F-17A4B6ED6B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DE0D81A-F126-48C9-6693-03079A1A688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CE3989-E703-0B89-3E28-B097351C8EDC}"/>
              </a:ext>
            </a:extLst>
          </p:cNvPr>
          <p:cNvSpPr txBox="1"/>
          <p:nvPr/>
        </p:nvSpPr>
        <p:spPr>
          <a:xfrm>
            <a:off x="185408" y="3503064"/>
            <a:ext cx="2514548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 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« fixe »</a:t>
            </a:r>
            <a:br>
              <a:rPr lang="fr-FR" sz="1400" dirty="0"/>
            </a:br>
            <a:r>
              <a:rPr lang="fr-FR" sz="1400" dirty="0"/>
              <a:t>Destiné au traitement de texte, navigation internet et logiciels SAAS légers. Il sera adapté pour des personnes sédentaires et à l’utilisation de logiciels bureautique et métier utilisant peu de ressources.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661CDD9-8650-7C77-E2C3-FE1D9986538D}"/>
              </a:ext>
            </a:extLst>
          </p:cNvPr>
          <p:cNvSpPr txBox="1"/>
          <p:nvPr/>
        </p:nvSpPr>
        <p:spPr>
          <a:xfrm>
            <a:off x="5567213" y="3485388"/>
            <a:ext cx="25145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 « Métier »</a:t>
            </a:r>
            <a:br>
              <a:rPr lang="fr-FR" sz="1400" dirty="0"/>
            </a:br>
            <a:r>
              <a:rPr lang="fr-FR" sz="1400" dirty="0"/>
              <a:t>Pour les utilisateurs de logiciels gourmands en ressources (graphisme, modélisation), nécessitant un PC avec carte graphique dédiée, plus de RAM et de stockage. Il sera adapté à l’utilisation de logiciels métiers spécifiques comme </a:t>
            </a:r>
            <a:r>
              <a:rPr lang="fr-FR" sz="1400" dirty="0" err="1"/>
              <a:t>Autocad</a:t>
            </a:r>
            <a:r>
              <a:rPr lang="fr-FR" sz="1400" dirty="0"/>
              <a:t>, </a:t>
            </a:r>
            <a:r>
              <a:rPr lang="fr-FR" sz="1400" dirty="0" err="1"/>
              <a:t>Archicad</a:t>
            </a:r>
            <a:r>
              <a:rPr lang="fr-FR" sz="1400" dirty="0"/>
              <a:t>, Catia, </a:t>
            </a:r>
            <a:r>
              <a:rPr lang="fr-FR" sz="1400" dirty="0" err="1"/>
              <a:t>Solidworks</a:t>
            </a:r>
            <a:r>
              <a:rPr lang="fr-FR" sz="1400" dirty="0"/>
              <a:t> et autres.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CCB872-2A26-794B-1ADA-4834AC350ABB}"/>
              </a:ext>
            </a:extLst>
          </p:cNvPr>
          <p:cNvSpPr txBox="1"/>
          <p:nvPr/>
        </p:nvSpPr>
        <p:spPr>
          <a:xfrm>
            <a:off x="2885364" y="3485388"/>
            <a:ext cx="25145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 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« Nomade »</a:t>
            </a:r>
            <a:br>
              <a:rPr lang="fr-FR" sz="1400" dirty="0"/>
            </a:br>
            <a:r>
              <a:rPr lang="fr-FR" sz="1400" dirty="0"/>
              <a:t>Adapté aux télétravailleurs ou collaborateurs en déplacement. Il nécessite régulièrement un écran de bureau et une station d’accueil pour un confort d’utilisation au quotidien.</a:t>
            </a:r>
          </a:p>
        </p:txBody>
      </p:sp>
      <p:pic>
        <p:nvPicPr>
          <p:cNvPr id="18" name="Graphique 17" descr="Programmeur avec un remplissage uni">
            <a:extLst>
              <a:ext uri="{FF2B5EF4-FFF2-40B4-BE49-F238E27FC236}">
                <a16:creationId xmlns:a16="http://schemas.microsoft.com/office/drawing/2014/main" id="{B23A2D55-457D-0074-A71E-262117FB8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968" y="2414714"/>
            <a:ext cx="914400" cy="914400"/>
          </a:xfrm>
          <a:prstGeom prst="rect">
            <a:avLst/>
          </a:prstGeom>
        </p:spPr>
      </p:pic>
      <p:pic>
        <p:nvPicPr>
          <p:cNvPr id="20" name="Graphique 19" descr="Écran avec un remplissage uni">
            <a:extLst>
              <a:ext uri="{FF2B5EF4-FFF2-40B4-BE49-F238E27FC236}">
                <a16:creationId xmlns:a16="http://schemas.microsoft.com/office/drawing/2014/main" id="{08AB1E5B-08C2-9D2A-55E5-A40F7C95D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9183" y="2546251"/>
            <a:ext cx="914400" cy="914400"/>
          </a:xfrm>
          <a:prstGeom prst="rect">
            <a:avLst/>
          </a:prstGeom>
        </p:spPr>
      </p:pic>
      <p:pic>
        <p:nvPicPr>
          <p:cNvPr id="22" name="Graphique 21" descr="Ordinateur portable avec un remplissage uni">
            <a:extLst>
              <a:ext uri="{FF2B5EF4-FFF2-40B4-BE49-F238E27FC236}">
                <a16:creationId xmlns:a16="http://schemas.microsoft.com/office/drawing/2014/main" id="{6A33AFC9-A6E9-C61B-73B9-6FAA16270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4516" y="2609625"/>
            <a:ext cx="914400" cy="9144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8F671717-15D5-01AC-3AC7-843671085956}"/>
              </a:ext>
            </a:extLst>
          </p:cNvPr>
          <p:cNvSpPr txBox="1"/>
          <p:nvPr/>
        </p:nvSpPr>
        <p:spPr>
          <a:xfrm>
            <a:off x="487499" y="6359346"/>
            <a:ext cx="753003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fr-FR" sz="1400"/>
          </a:p>
          <a:p>
            <a:pPr>
              <a:buNone/>
            </a:pPr>
            <a:r>
              <a:rPr lang="fr-FR" sz="1600" b="1">
                <a:solidFill>
                  <a:srgbClr val="7030A0"/>
                </a:solidFill>
              </a:rPr>
              <a:t>Ne pas oublier les périphériques</a:t>
            </a:r>
          </a:p>
          <a:p>
            <a:r>
              <a:rPr lang="fr-FR" sz="1400"/>
              <a:t>Assurez-vous que le poste de travail puisse être relié avec les périphériques à connecter (écrans, imprimantes, etc.) pour éviter toute incompatibilité.</a:t>
            </a:r>
          </a:p>
          <a:p>
            <a:endParaRPr lang="fr-FR" sz="140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4672752-039A-8920-2B22-4D434DFFB22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2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2BFA-0044-229D-E800-6128BD8E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9C7E733-0C87-7190-FC90-F9796B86492F}"/>
              </a:ext>
            </a:extLst>
          </p:cNvPr>
          <p:cNvSpPr txBox="1">
            <a:spLocks/>
          </p:cNvSpPr>
          <p:nvPr/>
        </p:nvSpPr>
        <p:spPr>
          <a:xfrm>
            <a:off x="845662" y="1133700"/>
            <a:ext cx="4566480" cy="610286"/>
          </a:xfrm>
          <a:prstGeom prst="rect">
            <a:avLst/>
          </a:prstGeom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Suite à nos échanges et en fonction des différents éléments que vous nous avez communiqués, voici la configuration que nous avons établie pour répondre à vos attentes :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7E04A26-4DA1-C40E-AA87-47BE9E4D7A05}"/>
              </a:ext>
            </a:extLst>
          </p:cNvPr>
          <p:cNvCxnSpPr>
            <a:cxnSpLocks/>
          </p:cNvCxnSpPr>
          <p:nvPr/>
        </p:nvCxnSpPr>
        <p:spPr>
          <a:xfrm>
            <a:off x="741049" y="1161865"/>
            <a:ext cx="0" cy="832729"/>
          </a:xfrm>
          <a:prstGeom prst="line">
            <a:avLst/>
          </a:prstGeom>
          <a:noFill/>
          <a:ln w="25400" cap="flat" cmpd="sng" algn="ctr">
            <a:solidFill>
              <a:srgbClr val="7030A0"/>
            </a:solidFill>
            <a:prstDash val="solid"/>
            <a:miter lim="800000"/>
          </a:ln>
          <a:effectLst/>
        </p:spPr>
      </p:cxnSp>
      <p:graphicFrame>
        <p:nvGraphicFramePr>
          <p:cNvPr id="8" name="tableau_recap_telecom">
            <a:extLst>
              <a:ext uri="{FF2B5EF4-FFF2-40B4-BE49-F238E27FC236}">
                <a16:creationId xmlns:a16="http://schemas.microsoft.com/office/drawing/2014/main" id="{E2473A74-96CF-E8B0-EA39-940EDB37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3707"/>
              </p:ext>
            </p:extLst>
          </p:nvPr>
        </p:nvGraphicFramePr>
        <p:xfrm>
          <a:off x="845662" y="2972818"/>
          <a:ext cx="2547533" cy="3961985"/>
        </p:xfrm>
        <a:graphic>
          <a:graphicData uri="http://schemas.openxmlformats.org/drawingml/2006/table">
            <a:tbl>
              <a:tblPr firstRow="1" bandRow="1"/>
              <a:tblGrid>
                <a:gridCol w="2547533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fixe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455829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73909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71084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184388"/>
                  </a:ext>
                </a:extLst>
              </a:tr>
            </a:tbl>
          </a:graphicData>
        </a:graphic>
      </p:graphicFrame>
      <p:graphicFrame>
        <p:nvGraphicFramePr>
          <p:cNvPr id="10" name="tableau_recap_telecom">
            <a:extLst>
              <a:ext uri="{FF2B5EF4-FFF2-40B4-BE49-F238E27FC236}">
                <a16:creationId xmlns:a16="http://schemas.microsoft.com/office/drawing/2014/main" id="{5DAA92B9-E5AA-899D-A044-C39ED44C3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23715"/>
              </p:ext>
            </p:extLst>
          </p:nvPr>
        </p:nvGraphicFramePr>
        <p:xfrm>
          <a:off x="7465562" y="2995720"/>
          <a:ext cx="2288102" cy="2484109"/>
        </p:xfrm>
        <a:graphic>
          <a:graphicData uri="http://schemas.openxmlformats.org/drawingml/2006/table">
            <a:tbl>
              <a:tblPr firstRow="1" bandRow="1"/>
              <a:tblGrid>
                <a:gridCol w="2288102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métier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</a:tbl>
          </a:graphicData>
        </a:graphic>
      </p:graphicFrame>
      <p:graphicFrame>
        <p:nvGraphicFramePr>
          <p:cNvPr id="3" name="tableau_recap_telecom">
            <a:extLst>
              <a:ext uri="{FF2B5EF4-FFF2-40B4-BE49-F238E27FC236}">
                <a16:creationId xmlns:a16="http://schemas.microsoft.com/office/drawing/2014/main" id="{3A4115D0-C6CA-B6DD-F11A-407F1228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18174"/>
              </p:ext>
            </p:extLst>
          </p:nvPr>
        </p:nvGraphicFramePr>
        <p:xfrm>
          <a:off x="4152790" y="2995721"/>
          <a:ext cx="2547533" cy="2484109"/>
        </p:xfrm>
        <a:graphic>
          <a:graphicData uri="http://schemas.openxmlformats.org/drawingml/2006/table">
            <a:tbl>
              <a:tblPr firstRow="1" bandRow="1"/>
              <a:tblGrid>
                <a:gridCol w="2547533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portable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6221065-7D4A-6D35-CEE7-C9AA4C3C1A4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D3AD7-09A5-7D13-582B-BB2A918B6B9B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A78423FA-70AD-4069-F57E-51CF95591BE1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CONFIGURATION DE VOTRE SERVICE</a:t>
            </a:r>
          </a:p>
        </p:txBody>
      </p:sp>
      <p:pic>
        <p:nvPicPr>
          <p:cNvPr id="14" name="Image 1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43F7010-B06F-606E-EF49-A8AC300AE1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D398F0D-9F8A-DA32-6818-8B1E8CEFC63D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CF3EDE1-C45B-64BF-9245-16718BA5C1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4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F5B6-EB5F-3145-B6B0-E6D4A946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2" name="Connecteur droit 2181">
            <a:extLst>
              <a:ext uri="{FF2B5EF4-FFF2-40B4-BE49-F238E27FC236}">
                <a16:creationId xmlns:a16="http://schemas.microsoft.com/office/drawing/2014/main" id="{75E74595-D781-58BD-4EB7-79ABA48EA536}"/>
              </a:ext>
            </a:extLst>
          </p:cNvPr>
          <p:cNvCxnSpPr>
            <a:cxnSpLocks/>
          </p:cNvCxnSpPr>
          <p:nvPr/>
        </p:nvCxnSpPr>
        <p:spPr>
          <a:xfrm>
            <a:off x="1058469" y="4713592"/>
            <a:ext cx="6620044" cy="12647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7" name="ZoneTexte 2136">
            <a:extLst>
              <a:ext uri="{FF2B5EF4-FFF2-40B4-BE49-F238E27FC236}">
                <a16:creationId xmlns:a16="http://schemas.microsoft.com/office/drawing/2014/main" id="{007A9A1C-CF62-6D40-20CE-1E379E90E8AE}"/>
              </a:ext>
            </a:extLst>
          </p:cNvPr>
          <p:cNvSpPr txBox="1"/>
          <p:nvPr/>
        </p:nvSpPr>
        <p:spPr>
          <a:xfrm>
            <a:off x="821953" y="3127436"/>
            <a:ext cx="20041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Confirmation de la prise en charge par email et communication de vos contacts dédiés</a:t>
            </a:r>
          </a:p>
        </p:txBody>
      </p:sp>
      <p:sp>
        <p:nvSpPr>
          <p:cNvPr id="2141" name="ZoneTexte 2140">
            <a:extLst>
              <a:ext uri="{FF2B5EF4-FFF2-40B4-BE49-F238E27FC236}">
                <a16:creationId xmlns:a16="http://schemas.microsoft.com/office/drawing/2014/main" id="{B92EA356-A16D-EA43-6DC1-4FAF6037A21C}"/>
              </a:ext>
            </a:extLst>
          </p:cNvPr>
          <p:cNvSpPr txBox="1"/>
          <p:nvPr/>
        </p:nvSpPr>
        <p:spPr>
          <a:xfrm>
            <a:off x="4250581" y="3082089"/>
            <a:ext cx="1730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 Analyse des besoins et du parc informatique.et planification de la mise en œuvre de votre solution.</a:t>
            </a:r>
          </a:p>
        </p:txBody>
      </p:sp>
      <p:cxnSp>
        <p:nvCxnSpPr>
          <p:cNvPr id="2151" name="Connecteur droit 2150">
            <a:extLst>
              <a:ext uri="{FF2B5EF4-FFF2-40B4-BE49-F238E27FC236}">
                <a16:creationId xmlns:a16="http://schemas.microsoft.com/office/drawing/2014/main" id="{4C3A485F-E924-78E5-C9C1-13557E0736A9}"/>
              </a:ext>
            </a:extLst>
          </p:cNvPr>
          <p:cNvCxnSpPr>
            <a:cxnSpLocks/>
          </p:cNvCxnSpPr>
          <p:nvPr/>
        </p:nvCxnSpPr>
        <p:spPr>
          <a:xfrm flipV="1">
            <a:off x="1058469" y="2344444"/>
            <a:ext cx="6620044" cy="11878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6" name="ZoneTexte 2195">
            <a:extLst>
              <a:ext uri="{FF2B5EF4-FFF2-40B4-BE49-F238E27FC236}">
                <a16:creationId xmlns:a16="http://schemas.microsoft.com/office/drawing/2014/main" id="{52EBAF0E-7159-3868-BBCC-1D9AD09D121C}"/>
              </a:ext>
            </a:extLst>
          </p:cNvPr>
          <p:cNvSpPr txBox="1"/>
          <p:nvPr/>
        </p:nvSpPr>
        <p:spPr>
          <a:xfrm>
            <a:off x="2355893" y="5553550"/>
            <a:ext cx="1765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Votre ordinateur est prêt à l’emploi !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72A7656-4EF6-2A2D-5D04-75EDD7DC75B1}"/>
              </a:ext>
            </a:extLst>
          </p:cNvPr>
          <p:cNvCxnSpPr>
            <a:cxnSpLocks/>
          </p:cNvCxnSpPr>
          <p:nvPr/>
        </p:nvCxnSpPr>
        <p:spPr>
          <a:xfrm flipV="1">
            <a:off x="7678513" y="2356015"/>
            <a:ext cx="0" cy="2367773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6046EA20-C61B-CEEA-9699-DDAE52DD4CE0}"/>
              </a:ext>
            </a:extLst>
          </p:cNvPr>
          <p:cNvSpPr txBox="1"/>
          <p:nvPr/>
        </p:nvSpPr>
        <p:spPr>
          <a:xfrm>
            <a:off x="4696805" y="5539732"/>
            <a:ext cx="2677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Nous installons votre solution de en fonction de la configuration recommandée par </a:t>
            </a:r>
            <a:r>
              <a:rPr lang="fr-FR" sz="1200" dirty="0" err="1">
                <a:latin typeface="Arial Nova" panose="020B0504020202020204" pitchFamily="34" charset="0"/>
              </a:rPr>
              <a:t>Koesio</a:t>
            </a:r>
            <a:r>
              <a:rPr lang="fr-FR" sz="1200" dirty="0">
                <a:latin typeface="Arial Nova" panose="020B0504020202020204" pitchFamily="34" charset="0"/>
              </a:rPr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D1A0BC-672D-D00F-B688-F3FF8657137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30" name="Espace réservé du texte 26">
            <a:extLst>
              <a:ext uri="{FF2B5EF4-FFF2-40B4-BE49-F238E27FC236}">
                <a16:creationId xmlns:a16="http://schemas.microsoft.com/office/drawing/2014/main" id="{2BF54515-E03C-8D8E-A99A-833E8A2AD6B6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INSTALLATION &amp; DÉPLOIEMENT</a:t>
            </a:r>
          </a:p>
        </p:txBody>
      </p:sp>
      <p:pic>
        <p:nvPicPr>
          <p:cNvPr id="31" name="Image 3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4E7C7BD-5E7F-F635-D42E-A2FA9FF226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71BAE0C-0FF0-4F83-2CBF-FEC92E44FE15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4FB3DB3-B6C2-60DE-5D09-B5DD4130EA06}"/>
              </a:ext>
            </a:extLst>
          </p:cNvPr>
          <p:cNvSpPr txBox="1"/>
          <p:nvPr/>
        </p:nvSpPr>
        <p:spPr>
          <a:xfrm>
            <a:off x="7373855" y="994320"/>
            <a:ext cx="25393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1 SEUL INTERLOCUTEUR, KOESIO S’OCCUPE DE TOUT 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B681A8-7AC7-DD6B-6E92-BB3B89ED3B4B}"/>
              </a:ext>
            </a:extLst>
          </p:cNvPr>
          <p:cNvSpPr/>
          <p:nvPr/>
        </p:nvSpPr>
        <p:spPr>
          <a:xfrm>
            <a:off x="7282149" y="886416"/>
            <a:ext cx="2722812" cy="9743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5" name="Graphique 34">
            <a:extLst>
              <a:ext uri="{FF2B5EF4-FFF2-40B4-BE49-F238E27FC236}">
                <a16:creationId xmlns:a16="http://schemas.microsoft.com/office/drawing/2014/main" id="{7C4A9F7A-43F8-C856-2F35-8802335EC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6044" y="519887"/>
            <a:ext cx="449342" cy="44860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214F948-6C70-C805-E84A-3373BF2FDEA1}"/>
              </a:ext>
            </a:extLst>
          </p:cNvPr>
          <p:cNvSpPr/>
          <p:nvPr/>
        </p:nvSpPr>
        <p:spPr>
          <a:xfrm>
            <a:off x="1562115" y="2141852"/>
            <a:ext cx="416302" cy="416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7CB42D-BF12-DAF2-3A2D-0DDDA1E4D693}"/>
              </a:ext>
            </a:extLst>
          </p:cNvPr>
          <p:cNvSpPr/>
          <p:nvPr/>
        </p:nvSpPr>
        <p:spPr>
          <a:xfrm>
            <a:off x="4866226" y="2119955"/>
            <a:ext cx="416302" cy="416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587CE5-0E3D-8C70-EBAE-1BDC536C0205}"/>
              </a:ext>
            </a:extLst>
          </p:cNvPr>
          <p:cNvSpPr/>
          <p:nvPr/>
        </p:nvSpPr>
        <p:spPr>
          <a:xfrm>
            <a:off x="5836108" y="4406606"/>
            <a:ext cx="416302" cy="416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E471C1-CE7B-5156-F446-3291F70A493E}"/>
              </a:ext>
            </a:extLst>
          </p:cNvPr>
          <p:cNvSpPr/>
          <p:nvPr/>
        </p:nvSpPr>
        <p:spPr>
          <a:xfrm>
            <a:off x="2924627" y="4439727"/>
            <a:ext cx="416302" cy="4163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25BDFB-AA3C-7946-B254-5E1C41C34A0B}"/>
              </a:ext>
            </a:extLst>
          </p:cNvPr>
          <p:cNvSpPr/>
          <p:nvPr/>
        </p:nvSpPr>
        <p:spPr>
          <a:xfrm>
            <a:off x="1215392" y="2766121"/>
            <a:ext cx="1140501" cy="268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Commande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AF0969-4025-F058-DFB1-760DBA7E6914}"/>
              </a:ext>
            </a:extLst>
          </p:cNvPr>
          <p:cNvSpPr/>
          <p:nvPr/>
        </p:nvSpPr>
        <p:spPr>
          <a:xfrm>
            <a:off x="4545330" y="2766120"/>
            <a:ext cx="1140501" cy="2683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Planification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B82CB6-2F19-95AA-FD80-436B4FCA5377}"/>
              </a:ext>
            </a:extLst>
          </p:cNvPr>
          <p:cNvSpPr/>
          <p:nvPr/>
        </p:nvSpPr>
        <p:spPr>
          <a:xfrm>
            <a:off x="4916138" y="4958437"/>
            <a:ext cx="2314851" cy="5021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Installation et paramétrage de la configuration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08BA00-C47E-3979-8677-4D6A8B0DA6E0}"/>
              </a:ext>
            </a:extLst>
          </p:cNvPr>
          <p:cNvSpPr/>
          <p:nvPr/>
        </p:nvSpPr>
        <p:spPr>
          <a:xfrm>
            <a:off x="2249925" y="4954923"/>
            <a:ext cx="1765706" cy="502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Votre poste est sous contrôle</a:t>
            </a:r>
          </a:p>
        </p:txBody>
      </p:sp>
      <p:pic>
        <p:nvPicPr>
          <p:cNvPr id="5" name="Image 4" descr="Une image contenant habits, personne, Pantalons, Coude&#10;&#10;Le contenu généré par l’IA peut être incorrect.">
            <a:extLst>
              <a:ext uri="{FF2B5EF4-FFF2-40B4-BE49-F238E27FC236}">
                <a16:creationId xmlns:a16="http://schemas.microsoft.com/office/drawing/2014/main" id="{49BCBD64-74B2-D727-E36D-5A8DDE7290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61037" y="2019942"/>
            <a:ext cx="3966563" cy="594863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1A1F1CE-63CA-00DD-E6F9-CF294F8AA431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C887657-5D26-30A7-E38D-B1FAD205A0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580DF-F85B-559E-B513-614452A7329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2C754AFC-81FF-1450-EC4E-00F0C9B98E5A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NOTRE SERVICE CLIENTS</a:t>
            </a:r>
          </a:p>
        </p:txBody>
      </p:sp>
      <p:pic>
        <p:nvPicPr>
          <p:cNvPr id="14" name="Image 1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93666A70-2F21-1A38-C256-983159B877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E5445C-6C88-A936-00E5-27BC1412B16F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DFC26-992E-7B0A-E49B-296D70DF659E}"/>
              </a:ext>
            </a:extLst>
          </p:cNvPr>
          <p:cNvSpPr/>
          <p:nvPr/>
        </p:nvSpPr>
        <p:spPr>
          <a:xfrm rot="21441033">
            <a:off x="812123" y="1203727"/>
            <a:ext cx="2327319" cy="400943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1929">
              <a:defRPr/>
            </a:pPr>
            <a:r>
              <a:rPr lang="fr-FR" sz="2105" b="1" dirty="0">
                <a:solidFill>
                  <a:schemeClr val="bg1"/>
                </a:solidFill>
                <a:latin typeface="Arial Nova"/>
              </a:rPr>
              <a:t>100% MAISON !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FAF7AE0-0695-5430-43F7-2FB24FC4B3E2}"/>
              </a:ext>
            </a:extLst>
          </p:cNvPr>
          <p:cNvSpPr txBox="1"/>
          <p:nvPr/>
        </p:nvSpPr>
        <p:spPr>
          <a:xfrm>
            <a:off x="663535" y="2726389"/>
            <a:ext cx="356059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1929">
              <a:defRPr/>
            </a:pPr>
            <a:r>
              <a:rPr lang="fr-FR" sz="1400" dirty="0" err="1">
                <a:solidFill>
                  <a:srgbClr val="434341"/>
                </a:solidFill>
                <a:latin typeface="Arial Nova" panose="020B0504020202020204" pitchFamily="34" charset="0"/>
              </a:rPr>
              <a:t>Koesio</a:t>
            </a: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 prend vos défis à cœur au quotidien. </a:t>
            </a: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C’est pourquoi, nous avons fait le choix d’</a:t>
            </a:r>
            <a:r>
              <a:rPr lang="fr-FR" sz="1400" b="1" dirty="0">
                <a:solidFill>
                  <a:srgbClr val="434341"/>
                </a:solidFill>
                <a:latin typeface="Arial Nova" panose="020B0504020202020204" pitchFamily="34" charset="0"/>
              </a:rPr>
              <a:t>internaliser notre service client</a:t>
            </a: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 pour vous garantir une plus grande proximité et réactivité.</a:t>
            </a: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Administratifs, commerciaux, logisticiens, préparateurs, techniciens, ils mettent leur savoir-faire à votre service au quotidien.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229206B-2A88-E02D-703D-6170E052A87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32067">
            <a:off x="3219904" y="1233416"/>
            <a:ext cx="399265" cy="2720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7A33B74-A714-EDC8-DF4E-3854E4880055}"/>
              </a:ext>
            </a:extLst>
          </p:cNvPr>
          <p:cNvSpPr/>
          <p:nvPr/>
        </p:nvSpPr>
        <p:spPr>
          <a:xfrm>
            <a:off x="5567778" y="492251"/>
            <a:ext cx="4689231" cy="10185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COMMERCIAL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Réponse au prospect, rédaction d’une proposition commerciale, vie du contrat client, renouvellement contrat, up-</a:t>
            </a:r>
            <a:r>
              <a:rPr lang="fr-FR" sz="1400" dirty="0" err="1">
                <a:latin typeface="Arial Nova" panose="020B0504020202020204" pitchFamily="34" charset="0"/>
              </a:rPr>
              <a:t>selling</a:t>
            </a:r>
            <a:r>
              <a:rPr lang="fr-FR" sz="1400" dirty="0">
                <a:latin typeface="Arial Nova" panose="020B0504020202020204" pitchFamily="34" charset="0"/>
              </a:rPr>
              <a:t>, cross-</a:t>
            </a:r>
            <a:r>
              <a:rPr lang="fr-FR" sz="1400" dirty="0" err="1">
                <a:latin typeface="Arial Nova" panose="020B0504020202020204" pitchFamily="34" charset="0"/>
              </a:rPr>
              <a:t>selling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C64BD-1DEE-DBF6-E1A3-9E713ED63DBC}"/>
              </a:ext>
            </a:extLst>
          </p:cNvPr>
          <p:cNvSpPr/>
          <p:nvPr/>
        </p:nvSpPr>
        <p:spPr>
          <a:xfrm>
            <a:off x="5567778" y="1711451"/>
            <a:ext cx="4689231" cy="10185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ADV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Commande fournisseurs, programmation des livraisons, montage des contrats et facturation, vie du contrat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1C041E-DC90-D843-8DED-62DA9E1A395C}"/>
              </a:ext>
            </a:extLst>
          </p:cNvPr>
          <p:cNvSpPr/>
          <p:nvPr/>
        </p:nvSpPr>
        <p:spPr>
          <a:xfrm>
            <a:off x="5567778" y="2930651"/>
            <a:ext cx="4689231" cy="10185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LOGISTIQUE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Préparation des matériels, livraison, installation chez nos clients, gestion des pièces détachées &amp; envoi consommables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33B958-4174-B1E3-B6F2-F57DF3E28359}"/>
              </a:ext>
            </a:extLst>
          </p:cNvPr>
          <p:cNvSpPr/>
          <p:nvPr/>
        </p:nvSpPr>
        <p:spPr>
          <a:xfrm>
            <a:off x="5567778" y="4149851"/>
            <a:ext cx="4689231" cy="10185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TECHNIQUE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Déploiement des matériels &amp; formation des utilisateurs, support téléphonique, visites préventives ou curatives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17B16B-61CB-03C7-B711-4D6349526752}"/>
              </a:ext>
            </a:extLst>
          </p:cNvPr>
          <p:cNvSpPr/>
          <p:nvPr/>
        </p:nvSpPr>
        <p:spPr>
          <a:xfrm>
            <a:off x="5567777" y="5369051"/>
            <a:ext cx="4689231" cy="1018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CLIENT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Suivi des installations, résiliation, réclamation, satisfaction clients</a:t>
            </a:r>
            <a:endParaRPr lang="fr-FR" dirty="0">
              <a:latin typeface="Arial Nova" panose="020B0504020202020204" pitchFamily="34" charset="0"/>
            </a:endParaRPr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24BA41DD-99FB-5E90-C857-30F6F9941A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6" y="1427391"/>
            <a:ext cx="419782" cy="389314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A445022B-84D0-71A9-B36F-8EF9531E16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5004720" y="2712865"/>
            <a:ext cx="419782" cy="389314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CDABFB76-3E45-79C0-E212-F5A39BE769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5" y="4014199"/>
            <a:ext cx="419782" cy="389314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46492920-6399-779A-ECB9-666315A569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6" y="5382102"/>
            <a:ext cx="419782" cy="38931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3523DB-E7CD-C536-C8F0-FAC8E79FF2B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826C1C-9723-9BE5-E9DC-FA321D67EC0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2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59">
            <a:extLst>
              <a:ext uri="{FF2B5EF4-FFF2-40B4-BE49-F238E27FC236}">
                <a16:creationId xmlns:a16="http://schemas.microsoft.com/office/drawing/2014/main" id="{B60F26DD-0FB2-EE0D-9CE7-32CABECB2DDC}"/>
              </a:ext>
            </a:extLst>
          </p:cNvPr>
          <p:cNvSpPr txBox="1"/>
          <p:nvPr/>
        </p:nvSpPr>
        <p:spPr>
          <a:xfrm>
            <a:off x="604403" y="1160585"/>
            <a:ext cx="5906566" cy="57836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FR" sz="1579" b="1" dirty="0">
                <a:solidFill>
                  <a:prstClr val="white"/>
                </a:solidFill>
                <a:latin typeface="Arial Nova" panose="020B0504020202020204" pitchFamily="34" charset="0"/>
              </a:rPr>
              <a:t>NOUS MAINTENONS EN CONDITIONS OPÉRATIONNELLES VOTRE SOLUTION DE POSTE DE TRAVAIL MANAGE</a:t>
            </a:r>
          </a:p>
        </p:txBody>
      </p:sp>
      <p:pic>
        <p:nvPicPr>
          <p:cNvPr id="80" name="Image 79">
            <a:extLst>
              <a:ext uri="{FF2B5EF4-FFF2-40B4-BE49-F238E27FC236}">
                <a16:creationId xmlns:a16="http://schemas.microsoft.com/office/drawing/2014/main" id="{6CC1C16B-0804-F590-9A62-DC00629C26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9775" y="1405927"/>
            <a:ext cx="4440046" cy="6658149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6986DE46-AB84-A4CD-4E25-B3536FBD7361}"/>
              </a:ext>
            </a:extLst>
          </p:cNvPr>
          <p:cNvSpPr txBox="1"/>
          <p:nvPr/>
        </p:nvSpPr>
        <p:spPr>
          <a:xfrm>
            <a:off x="552271" y="1828302"/>
            <a:ext cx="61350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Réduction des interruptions et des incidents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Moins de pannes grâce à une surveillance proactive et une gestion préventive.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Visibilité totale sur l’ensemble du parc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Une gestion centralisée pour un suivi complet de tous les postes de travail.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Mises à jour et maintenance centralisées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Nos équipes veillent à la mise à jour régulière de la solution que tous les postes soient toujours à jour et performants sans effort supplémentaire.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Supervision du système (disponibilité)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Nous nous assurons de la disponibilité de vos postes avec une surveillance constante dans nos outils.</a:t>
            </a: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Supervision des performances (qualité)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Nous supervisons les éléments clés des postes pour vérifier la bonne performance de vos postes.</a:t>
            </a:r>
          </a:p>
          <a:p>
            <a:pPr marL="171450" indent="-171450">
              <a:buClr>
                <a:srgbClr val="EE5653"/>
              </a:buClr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Coût prévisible et réduction des dépenses IT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Planifiez vos dépenses IT avec un coût mensuel fixe et une gestion optimisée des ressources.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Assistance technique en temps réel :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Bénéficiez d’une assistance instantanée pour résoudre rapidement tous les problèmes techniques.</a:t>
            </a:r>
            <a:endParaRPr lang="fr-FR" sz="1400" dirty="0">
              <a:latin typeface="Arial Nova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6B100-4374-F66A-A176-26AD96874369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Espace réservé du texte 26">
            <a:extLst>
              <a:ext uri="{FF2B5EF4-FFF2-40B4-BE49-F238E27FC236}">
                <a16:creationId xmlns:a16="http://schemas.microsoft.com/office/drawing/2014/main" id="{84C5C201-2530-64CD-83C4-E88CC510AD9B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NOS SERVICES ASSOCIÉS</a:t>
            </a:r>
          </a:p>
        </p:txBody>
      </p:sp>
      <p:pic>
        <p:nvPicPr>
          <p:cNvPr id="10" name="Image 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8412A5AA-5E9A-A485-490F-C5571B3EE7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CEFAF9-0394-F35C-8A0A-7E6056703B49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CBD0AA-FA43-1891-BD55-DE128C657272}"/>
              </a:ext>
            </a:extLst>
          </p:cNvPr>
          <p:cNvSpPr txBox="1"/>
          <p:nvPr/>
        </p:nvSpPr>
        <p:spPr>
          <a:xfrm>
            <a:off x="7373855" y="994320"/>
            <a:ext cx="25393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HOTLINE ILLIMITEE 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A VOTRE DISPOSITION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BF2A4-E5ED-70C3-9208-F4F6A26C97AA}"/>
              </a:ext>
            </a:extLst>
          </p:cNvPr>
          <p:cNvSpPr/>
          <p:nvPr/>
        </p:nvSpPr>
        <p:spPr>
          <a:xfrm>
            <a:off x="7282149" y="886416"/>
            <a:ext cx="2722812" cy="9743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BB3F29AF-3BF0-D269-3AA7-7062B4E60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044" y="519887"/>
            <a:ext cx="449342" cy="44860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8FF20F-0BC1-23BA-B575-41F49E3443E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E5547F-5FC4-38F0-B9AE-90B72F8AC3A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7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33C4-C03E-18DE-2EBF-D3120954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ordinateur, Visage humain, habits, ordinateur portable&#10;&#10;Le contenu généré par l’IA peut être incorrect.">
            <a:extLst>
              <a:ext uri="{FF2B5EF4-FFF2-40B4-BE49-F238E27FC236}">
                <a16:creationId xmlns:a16="http://schemas.microsoft.com/office/drawing/2014/main" id="{82AB2FE1-E6B4-0C6B-4C9B-67DCA9034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07060" y="2985494"/>
            <a:ext cx="2538523" cy="21370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D2E44C-D669-7F59-4869-28351FD8034D}"/>
              </a:ext>
            </a:extLst>
          </p:cNvPr>
          <p:cNvSpPr/>
          <p:nvPr/>
        </p:nvSpPr>
        <p:spPr>
          <a:xfrm>
            <a:off x="8113153" y="445972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064F35-A697-8A41-31C0-C96FEFBCBAC0}"/>
              </a:ext>
            </a:extLst>
          </p:cNvPr>
          <p:cNvSpPr/>
          <p:nvPr/>
        </p:nvSpPr>
        <p:spPr>
          <a:xfrm>
            <a:off x="7594591" y="1972143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4B05FB-0574-7F43-7DD9-2DABF218CF0F}"/>
              </a:ext>
            </a:extLst>
          </p:cNvPr>
          <p:cNvSpPr/>
          <p:nvPr/>
        </p:nvSpPr>
        <p:spPr>
          <a:xfrm>
            <a:off x="5053238" y="116454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250F48F-A9BF-403B-798E-6EA5245D6AA4}"/>
              </a:ext>
            </a:extLst>
          </p:cNvPr>
          <p:cNvSpPr txBox="1"/>
          <p:nvPr/>
        </p:nvSpPr>
        <p:spPr>
          <a:xfrm>
            <a:off x="7019353" y="3100169"/>
            <a:ext cx="1773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Réduction des interruptions et des pannes.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2CAA59E-3EC0-3D62-596C-408BE376834B}"/>
              </a:ext>
            </a:extLst>
          </p:cNvPr>
          <p:cNvSpPr txBox="1"/>
          <p:nvPr/>
        </p:nvSpPr>
        <p:spPr>
          <a:xfrm>
            <a:off x="4483611" y="2204486"/>
            <a:ext cx="185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Des postes toujours a jours pour éviter les failles de sécurité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67FF81-2E87-F71C-C74D-BDE6AFB5B94E}"/>
              </a:ext>
            </a:extLst>
          </p:cNvPr>
          <p:cNvSpPr/>
          <p:nvPr/>
        </p:nvSpPr>
        <p:spPr>
          <a:xfrm>
            <a:off x="2273946" y="4521454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553BFC-E26A-73B4-716C-501E9F0A7CA0}"/>
              </a:ext>
            </a:extLst>
          </p:cNvPr>
          <p:cNvSpPr/>
          <p:nvPr/>
        </p:nvSpPr>
        <p:spPr>
          <a:xfrm>
            <a:off x="5185945" y="5573578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F9B6545-7346-6AF4-4E5A-E72496B47BB6}"/>
              </a:ext>
            </a:extLst>
          </p:cNvPr>
          <p:cNvSpPr txBox="1"/>
          <p:nvPr/>
        </p:nvSpPr>
        <p:spPr>
          <a:xfrm>
            <a:off x="4283171" y="6673271"/>
            <a:ext cx="2455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Une offre forfaitaire sans surprise.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DE96C45-97B5-9011-CF4A-B99915A17B6F}"/>
              </a:ext>
            </a:extLst>
          </p:cNvPr>
          <p:cNvSpPr txBox="1"/>
          <p:nvPr/>
        </p:nvSpPr>
        <p:spPr>
          <a:xfrm>
            <a:off x="1480001" y="5661772"/>
            <a:ext cx="224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Une supervision et un contrôle total du parc informatique.</a:t>
            </a:r>
            <a:endParaRPr lang="fr-FR" sz="1200" baseline="30000" dirty="0"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E144DBA-45EB-AFD6-2B00-8FEFEBEC824F}"/>
              </a:ext>
            </a:extLst>
          </p:cNvPr>
          <p:cNvSpPr/>
          <p:nvPr/>
        </p:nvSpPr>
        <p:spPr>
          <a:xfrm>
            <a:off x="2376089" y="190478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8CAF60B-EB9B-A0D9-C63B-3589EF44D26C}"/>
              </a:ext>
            </a:extLst>
          </p:cNvPr>
          <p:cNvSpPr txBox="1"/>
          <p:nvPr/>
        </p:nvSpPr>
        <p:spPr>
          <a:xfrm>
            <a:off x="1400225" y="3008132"/>
            <a:ext cx="2403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Nous mettons en place les standards de sécurité et étudions les éléments spécifiques de votre entreprise pour compléter le paramétrage.</a:t>
            </a:r>
            <a:endParaRPr lang="fr-FR" sz="1200" baseline="30000" dirty="0"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EBB2925E-2D27-4A5B-E5AA-ED4B112EE3AD}"/>
              </a:ext>
            </a:extLst>
          </p:cNvPr>
          <p:cNvSpPr txBox="1"/>
          <p:nvPr/>
        </p:nvSpPr>
        <p:spPr>
          <a:xfrm>
            <a:off x="7132295" y="5567161"/>
            <a:ext cx="260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Protection et performance garanties.</a:t>
            </a:r>
          </a:p>
        </p:txBody>
      </p:sp>
      <p:pic>
        <p:nvPicPr>
          <p:cNvPr id="55" name="Graphique 54" descr="Engrenage avec un remplissage uni">
            <a:extLst>
              <a:ext uri="{FF2B5EF4-FFF2-40B4-BE49-F238E27FC236}">
                <a16:creationId xmlns:a16="http://schemas.microsoft.com/office/drawing/2014/main" id="{872EC452-0D5C-27F9-F78E-EE40B1AEE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6169" y="1950859"/>
            <a:ext cx="474647" cy="474647"/>
          </a:xfrm>
          <a:prstGeom prst="rect">
            <a:avLst/>
          </a:prstGeom>
        </p:spPr>
      </p:pic>
      <p:pic>
        <p:nvPicPr>
          <p:cNvPr id="59" name="Graphique 58" descr="Sablier plein avec un remplissage uni">
            <a:extLst>
              <a:ext uri="{FF2B5EF4-FFF2-40B4-BE49-F238E27FC236}">
                <a16:creationId xmlns:a16="http://schemas.microsoft.com/office/drawing/2014/main" id="{9DBE9FAA-D9BB-3125-73EA-A250666144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2757" y="4499556"/>
            <a:ext cx="487133" cy="487133"/>
          </a:xfrm>
          <a:prstGeom prst="rect">
            <a:avLst/>
          </a:prstGeom>
        </p:spPr>
      </p:pic>
      <p:pic>
        <p:nvPicPr>
          <p:cNvPr id="27" name="Graphique 26" descr="Bouclier coche avec un remplissage uni">
            <a:extLst>
              <a:ext uri="{FF2B5EF4-FFF2-40B4-BE49-F238E27FC236}">
                <a16:creationId xmlns:a16="http://schemas.microsoft.com/office/drawing/2014/main" id="{1376E51E-039B-4EDF-51F7-946BEB48EE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1832" y="1199703"/>
            <a:ext cx="452252" cy="452252"/>
          </a:xfrm>
          <a:prstGeom prst="rect">
            <a:avLst/>
          </a:prstGeom>
        </p:spPr>
      </p:pic>
      <p:pic>
        <p:nvPicPr>
          <p:cNvPr id="50" name="Graphique 49" descr="Internet avec un remplissage uni">
            <a:extLst>
              <a:ext uri="{FF2B5EF4-FFF2-40B4-BE49-F238E27FC236}">
                <a16:creationId xmlns:a16="http://schemas.microsoft.com/office/drawing/2014/main" id="{C23483F4-6F85-CEDB-4027-C3A4719591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8077" y="2023698"/>
            <a:ext cx="485830" cy="485830"/>
          </a:xfrm>
          <a:prstGeom prst="rect">
            <a:avLst/>
          </a:prstGeom>
        </p:spPr>
      </p:pic>
      <p:pic>
        <p:nvPicPr>
          <p:cNvPr id="60" name="Graphique 59" descr="Diable avec un remplissage uni">
            <a:extLst>
              <a:ext uri="{FF2B5EF4-FFF2-40B4-BE49-F238E27FC236}">
                <a16:creationId xmlns:a16="http://schemas.microsoft.com/office/drawing/2014/main" id="{4C71C00F-19A6-98BE-5F50-16AD36D3E9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89422" y="4543587"/>
            <a:ext cx="497339" cy="497339"/>
          </a:xfrm>
          <a:prstGeom prst="rect">
            <a:avLst/>
          </a:prstGeom>
        </p:spPr>
      </p:pic>
      <p:pic>
        <p:nvPicPr>
          <p:cNvPr id="64" name="Graphique 63" descr="Covid-19 avec un remplissage uni">
            <a:extLst>
              <a:ext uri="{FF2B5EF4-FFF2-40B4-BE49-F238E27FC236}">
                <a16:creationId xmlns:a16="http://schemas.microsoft.com/office/drawing/2014/main" id="{352315A9-151A-F827-46FE-623B2812F3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2139" y="5618617"/>
            <a:ext cx="491359" cy="4913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415B455-77BB-BFB8-CDAC-3FBB128EF65C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EBBB04B3-310F-175A-B718-463D1F796515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>
                <a:latin typeface="Century Gothic"/>
              </a:rPr>
              <a:t>RÉCAPITULATIF DES ATOUTS DES POSTES </a:t>
            </a:r>
            <a:r>
              <a:rPr lang="fr-FR" sz="1800" b="0" err="1">
                <a:latin typeface="Century Gothic"/>
              </a:rPr>
              <a:t>MANAGÉS</a:t>
            </a:r>
            <a:endParaRPr lang="fr-FR" sz="1800" b="0">
              <a:latin typeface="Century Gothic" panose="020B0502020202020204" pitchFamily="34" charset="0"/>
            </a:endParaRPr>
          </a:p>
        </p:txBody>
      </p:sp>
      <p:pic>
        <p:nvPicPr>
          <p:cNvPr id="34" name="Image 3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9539FD24-A16E-3A5D-6969-9C4EF13A108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ECAFA18-A5F7-CA63-27FE-A55C352DB4CB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7ED515-8EC8-65FF-6308-858FAF591014}"/>
              </a:ext>
            </a:extLst>
          </p:cNvPr>
          <p:cNvSpPr/>
          <p:nvPr/>
        </p:nvSpPr>
        <p:spPr>
          <a:xfrm>
            <a:off x="4343471" y="1941018"/>
            <a:ext cx="2065702" cy="254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Sécurité renforcée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1EE7EE-E25B-0538-24E9-C38882A0D0A4}"/>
              </a:ext>
            </a:extLst>
          </p:cNvPr>
          <p:cNvSpPr/>
          <p:nvPr/>
        </p:nvSpPr>
        <p:spPr>
          <a:xfrm>
            <a:off x="6808333" y="2797658"/>
            <a:ext cx="2207656" cy="2457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 Maintenance Proactive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3A375-550E-2275-8A75-9BAED4528D88}"/>
              </a:ext>
            </a:extLst>
          </p:cNvPr>
          <p:cNvSpPr/>
          <p:nvPr/>
        </p:nvSpPr>
        <p:spPr>
          <a:xfrm>
            <a:off x="7019221" y="5192292"/>
            <a:ext cx="2755979" cy="2840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Mises à Jour Automatisées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A23C57-3BB2-CBCB-18C4-676765B1998D}"/>
              </a:ext>
            </a:extLst>
          </p:cNvPr>
          <p:cNvSpPr/>
          <p:nvPr/>
        </p:nvSpPr>
        <p:spPr>
          <a:xfrm>
            <a:off x="4473131" y="6325278"/>
            <a:ext cx="2065702" cy="254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 Coût Maîtrisé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246573-49B6-6F75-537C-B4EBED859310}"/>
              </a:ext>
            </a:extLst>
          </p:cNvPr>
          <p:cNvSpPr/>
          <p:nvPr/>
        </p:nvSpPr>
        <p:spPr>
          <a:xfrm>
            <a:off x="1332769" y="5238335"/>
            <a:ext cx="2538523" cy="2900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Gestion Centralisée</a:t>
            </a:r>
            <a:endParaRPr lang="fr-FR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AF5073-EEA4-77C1-5743-EAFBEA8C0D5B}"/>
              </a:ext>
            </a:extLst>
          </p:cNvPr>
          <p:cNvSpPr/>
          <p:nvPr/>
        </p:nvSpPr>
        <p:spPr>
          <a:xfrm>
            <a:off x="1315253" y="2651687"/>
            <a:ext cx="2588768" cy="293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Configuration personnalisée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A553095-D55E-0CCA-25BB-9D65EFA4DDD9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27597D-3CBB-D930-0914-019B7AB6D1A4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67421"/>
      </p:ext>
    </p:extLst>
  </p:cSld>
  <p:clrMapOvr>
    <a:masterClrMapping/>
  </p:clrMapOvr>
</p:sld>
</file>

<file path=ppt/theme/theme2.xml><?xml version="1.0" encoding="utf-8"?>
<a:theme xmlns:a="http://schemas.openxmlformats.org/drawingml/2006/main" name="PAGES DE GARD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3.xml><?xml version="1.0" encoding="utf-8"?>
<a:theme xmlns:a="http://schemas.openxmlformats.org/drawingml/2006/main" name="GRANDS TITRES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Grand écran</PresentationFormat>
  <Paragraphs>13</Paragraphs>
  <Slides>14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FIN</vt:lpstr>
      <vt:lpstr>PAGES DE GARDE</vt:lpstr>
      <vt:lpstr>GRANDS TITRES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Carla Rousseau</dc:creator>
  <cp:lastModifiedBy>Jeremy TREDANT</cp:lastModifiedBy>
  <cp:revision>4</cp:revision>
  <dcterms:created xsi:type="dcterms:W3CDTF">2024-02-01T13:27:01Z</dcterms:created>
  <dcterms:modified xsi:type="dcterms:W3CDTF">2025-11-11T22:53:52Z</dcterms:modified>
</cp:coreProperties>
</file>