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slideLayouts/slideLayout13.xml" ContentType="application/vnd.openxmlformats-officedocument.presentationml.slideLayout+xml"/>
  <Override PartName="/ppt/slideMasters/slideMaster4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4.xml" ContentType="application/vnd.openxmlformats-officedocument.theme+xml"/>
  <Override PartName="/ppt/slides/slide4.xml" ContentType="application/vnd.openxmlformats-officedocument.presentationml.slide+xml"/>
  <Override PartName="/ppt/slideLayouts/slideLayout26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Layouts/slideLayout27.xml" ContentType="application/vnd.openxmlformats-officedocument.presentationml.slideLayout+xml"/>
  <Override PartName="/ppt/slides/slide6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29.xml" ContentType="application/vnd.openxmlformats-officedocument.presentationml.slideLayout+xml"/>
  <Override PartName="/ppt/slides/slide8.xml" ContentType="application/vnd.openxmlformats-officedocument.presentationml.slide+xml"/>
  <Override PartName="/ppt/slideLayouts/slideLayout30.xml" ContentType="application/vnd.openxmlformats-officedocument.presentationml.slideLayout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slideLayouts/slideLayout31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32.xml" ContentType="application/vnd.openxmlformats-officedocument.presentationml.slideLayout+xml"/>
  <Override PartName="/ppt/slides/slide1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33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6.xml" ContentType="application/vnd.openxmlformats-officedocument.presentationml.notesSlide+xml"/>
  <Override PartName="/ppt/slideLayouts/slideLayout34.xml" ContentType="application/vnd.openxmlformats-officedocument.presentationml.slideLayout+xml"/>
  <Override PartName="/ppt/slides/slide13.xml" ContentType="application/vnd.openxmlformats-officedocument.presentationml.slide+xml"/>
  <Override PartName="/ppt/notesSlides/notesSlide7.xml" ContentType="application/vnd.openxmlformats-officedocument.presentationml.notesSlide+xml"/>
  <Override PartName="/ppt/slideLayouts/slideLayout35.xml" ContentType="application/vnd.openxmlformats-officedocument.presentationml.slideLayout+xml"/>
  <Override PartName="/ppt/slideMasters/slideMaster5.xml" ContentType="application/vnd.openxmlformats-officedocument.presentationml.slideMaster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s/slide14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37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9" r:id="rId3"/>
    <p:sldMasterId id="2147483860" r:id="rId2"/>
    <p:sldMasterId id="2147483861" r:id="rId1"/>
    <p:sldMasterId id="2147483862" r:id="rId4"/>
    <p:sldMasterId id="2147483863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AF1CB17-5677-411F-958D-9F000751BAB6}" v="4" dt="2024-02-01T13:32:13.4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63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7" Type="http://schemas.openxmlformats.org/officeDocument/2006/relationships/slide" Target="slides/slide2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1" Type="http://schemas.openxmlformats.org/officeDocument/2006/relationships/slideMaster" Target="slideMasters/slideMaster3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20" Type="http://schemas.openxmlformats.org/officeDocument/2006/relationships/theme" Target="theme/theme1.xml"/><Relationship Id="rId21" Type="http://schemas.openxmlformats.org/officeDocument/2006/relationships/viewProps" Target="viewProps.xml"/><Relationship Id="rId22" Type="http://schemas.openxmlformats.org/officeDocument/2006/relationships/presProps" Target="presProps.xml"/><Relationship Id="rId23" Type="http://schemas.microsoft.com/office/2015/10/relationships/revisionInfo" Target="revisionInfo.xml"/><Relationship Id="rId24" Type="http://schemas.openxmlformats.org/officeDocument/2006/relationships/tableStyles" Target="tableStyles.xml"/><Relationship Id="rId25" Type="http://schemas.openxmlformats.org/officeDocument/2006/relationships/image" Target="media/image20.png"/><Relationship Id="rId26" Type="http://schemas.openxmlformats.org/officeDocument/2006/relationships/notesSlide" Target="notesSlides/notesSlide1.xml"/><Relationship Id="rId27" Type="http://schemas.openxmlformats.org/officeDocument/2006/relationships/slideLayout" Target="slideLayouts/slideLayout13.xml"/><Relationship Id="rId28" Type="http://schemas.openxmlformats.org/officeDocument/2006/relationships/slideLayout" Target="slideLayouts/slideLayout14.xml"/><Relationship Id="rId29" Type="http://schemas.openxmlformats.org/officeDocument/2006/relationships/slideLayout" Target="slideLayouts/slideLayout15.xml"/><Relationship Id="rId30" Type="http://schemas.openxmlformats.org/officeDocument/2006/relationships/slideLayout" Target="slideLayouts/slideLayout16.xml"/><Relationship Id="rId31" Type="http://schemas.openxmlformats.org/officeDocument/2006/relationships/slideLayout" Target="slideLayouts/slideLayout17.xml"/><Relationship Id="rId32" Type="http://schemas.openxmlformats.org/officeDocument/2006/relationships/slideLayout" Target="slideLayouts/slideLayout18.xml"/><Relationship Id="rId33" Type="http://schemas.openxmlformats.org/officeDocument/2006/relationships/slideLayout" Target="slideLayouts/slideLayout19.xml"/><Relationship Id="rId34" Type="http://schemas.openxmlformats.org/officeDocument/2006/relationships/slideLayout" Target="slideLayouts/slideLayout20.xml"/><Relationship Id="rId35" Type="http://schemas.openxmlformats.org/officeDocument/2006/relationships/slideLayout" Target="slideLayouts/slideLayout21.xml"/><Relationship Id="rId36" Type="http://schemas.openxmlformats.org/officeDocument/2006/relationships/slideLayout" Target="slideLayouts/slideLayout22.xml"/><Relationship Id="rId37" Type="http://schemas.openxmlformats.org/officeDocument/2006/relationships/slideLayout" Target="slideLayouts/slideLayout23.xml"/><Relationship Id="rId38" Type="http://schemas.openxmlformats.org/officeDocument/2006/relationships/slideLayout" Target="slideLayouts/slideLayout24.xml"/><Relationship Id="rId39" Type="http://schemas.openxmlformats.org/officeDocument/2006/relationships/slideLayout" Target="slideLayouts/slideLayout25.xml"/><Relationship Id="rId40" Type="http://schemas.openxmlformats.org/officeDocument/2006/relationships/theme" Target="theme/theme4.xml"/><Relationship Id="rId41" Type="http://schemas.openxmlformats.org/officeDocument/2006/relationships/image" Target="media/image21.png"/><Relationship Id="rId42" Type="http://schemas.openxmlformats.org/officeDocument/2006/relationships/image" Target="media/image22.png"/><Relationship Id="rId43" Type="http://schemas.openxmlformats.org/officeDocument/2006/relationships/image" Target="media/image23.png"/><Relationship Id="rId44" Type="http://schemas.openxmlformats.org/officeDocument/2006/relationships/image" Target="media/image24.png"/><Relationship Id="rId45" Type="http://schemas.openxmlformats.org/officeDocument/2006/relationships/slideLayout" Target="slideLayouts/slideLayout26.xml"/><Relationship Id="rId46" Type="http://schemas.openxmlformats.org/officeDocument/2006/relationships/image" Target="media/image25.png"/><Relationship Id="rId47" Type="http://schemas.openxmlformats.org/officeDocument/2006/relationships/image" Target="media/image26.svg"/><Relationship Id="rId48" Type="http://schemas.openxmlformats.org/officeDocument/2006/relationships/image" Target="media/image27.png"/><Relationship Id="rId49" Type="http://schemas.openxmlformats.org/officeDocument/2006/relationships/image" Target="media/image28.jpeg"/><Relationship Id="rId50" Type="http://schemas.openxmlformats.org/officeDocument/2006/relationships/image" Target="media/image29.svg"/><Relationship Id="rId51" Type="http://schemas.openxmlformats.org/officeDocument/2006/relationships/image" Target="media/image30.svg"/><Relationship Id="rId52" Type="http://schemas.openxmlformats.org/officeDocument/2006/relationships/image" Target="media/image31.png"/><Relationship Id="rId53" Type="http://schemas.openxmlformats.org/officeDocument/2006/relationships/image" Target="media/image32.svg"/><Relationship Id="rId54" Type="http://schemas.openxmlformats.org/officeDocument/2006/relationships/notesSlide" Target="notesSlides/notesSlide2.xml"/><Relationship Id="rId55" Type="http://schemas.openxmlformats.org/officeDocument/2006/relationships/image" Target="media/image33.png"/><Relationship Id="rId56" Type="http://schemas.openxmlformats.org/officeDocument/2006/relationships/image" Target="media/image34.png"/><Relationship Id="rId57" Type="http://schemas.openxmlformats.org/officeDocument/2006/relationships/slideLayout" Target="slideLayouts/slideLayout27.xml"/><Relationship Id="rId58" Type="http://schemas.openxmlformats.org/officeDocument/2006/relationships/image" Target="media/image35.png"/><Relationship Id="rId59" Type="http://schemas.openxmlformats.org/officeDocument/2006/relationships/image" Target="media/image36.svg"/><Relationship Id="rId60" Type="http://schemas.openxmlformats.org/officeDocument/2006/relationships/image" Target="media/image37.svg"/><Relationship Id="rId61" Type="http://schemas.openxmlformats.org/officeDocument/2006/relationships/image" Target="media/image38.svg"/><Relationship Id="rId62" Type="http://schemas.openxmlformats.org/officeDocument/2006/relationships/image" Target="media/image39.png"/><Relationship Id="rId63" Type="http://schemas.openxmlformats.org/officeDocument/2006/relationships/image" Target="media/image40.svg"/><Relationship Id="rId64" Type="http://schemas.openxmlformats.org/officeDocument/2006/relationships/image" Target="media/image41.png"/><Relationship Id="rId65" Type="http://schemas.openxmlformats.org/officeDocument/2006/relationships/image" Target="media/image42.svg"/><Relationship Id="rId66" Type="http://schemas.openxmlformats.org/officeDocument/2006/relationships/image" Target="media/image43.png"/><Relationship Id="rId67" Type="http://schemas.openxmlformats.org/officeDocument/2006/relationships/image" Target="media/image44.png"/><Relationship Id="rId68" Type="http://schemas.openxmlformats.org/officeDocument/2006/relationships/image" Target="media/image45.png"/><Relationship Id="rId69" Type="http://schemas.openxmlformats.org/officeDocument/2006/relationships/notesSlide" Target="notesSlides/notesSlide3.xml"/><Relationship Id="rId70" Type="http://schemas.openxmlformats.org/officeDocument/2006/relationships/slideLayout" Target="slideLayouts/slideLayout28.xml"/><Relationship Id="rId71" Type="http://schemas.openxmlformats.org/officeDocument/2006/relationships/image" Target="media/image46.jpeg"/><Relationship Id="rId72" Type="http://schemas.openxmlformats.org/officeDocument/2006/relationships/slideLayout" Target="slideLayouts/slideLayout29.xml"/><Relationship Id="rId73" Type="http://schemas.openxmlformats.org/officeDocument/2006/relationships/image" Target="media/image47.png"/><Relationship Id="rId74" Type="http://schemas.openxmlformats.org/officeDocument/2006/relationships/image" Target="media/image48.png"/><Relationship Id="rId75" Type="http://schemas.openxmlformats.org/officeDocument/2006/relationships/image" Target="media/image49.jpeg"/><Relationship Id="rId76" Type="http://schemas.openxmlformats.org/officeDocument/2006/relationships/image" Target="media/image50.svg"/><Relationship Id="rId77" Type="http://schemas.openxmlformats.org/officeDocument/2006/relationships/image" Target="media/image51.png"/><Relationship Id="rId78" Type="http://schemas.openxmlformats.org/officeDocument/2006/relationships/slideLayout" Target="slideLayouts/slideLayout30.xml"/><Relationship Id="rId79" Type="http://schemas.openxmlformats.org/officeDocument/2006/relationships/image" Target="media/image52.png"/><Relationship Id="rId80" Type="http://schemas.openxmlformats.org/officeDocument/2006/relationships/image" Target="media/image53.svg"/><Relationship Id="rId81" Type="http://schemas.openxmlformats.org/officeDocument/2006/relationships/image" Target="media/image54.png"/><Relationship Id="rId82" Type="http://schemas.openxmlformats.org/officeDocument/2006/relationships/image" Target="media/image55.png"/><Relationship Id="rId83" Type="http://schemas.openxmlformats.org/officeDocument/2006/relationships/notesSlide" Target="notesSlides/notesSlide4.xml"/><Relationship Id="rId84" Type="http://schemas.openxmlformats.org/officeDocument/2006/relationships/slideLayout" Target="slideLayouts/slideLayout31.xml"/><Relationship Id="rId85" Type="http://schemas.openxmlformats.org/officeDocument/2006/relationships/image" Target="media/image56.svg"/><Relationship Id="rId86" Type="http://schemas.openxmlformats.org/officeDocument/2006/relationships/image" Target="media/image57.png"/><Relationship Id="rId87" Type="http://schemas.openxmlformats.org/officeDocument/2006/relationships/image" Target="media/image58.svg"/><Relationship Id="rId88" Type="http://schemas.openxmlformats.org/officeDocument/2006/relationships/image" Target="media/image59.png"/><Relationship Id="rId89" Type="http://schemas.openxmlformats.org/officeDocument/2006/relationships/slideLayout" Target="slideLayouts/slideLayout32.xml"/><Relationship Id="rId90" Type="http://schemas.openxmlformats.org/officeDocument/2006/relationships/notesSlide" Target="notesSlides/notesSlide5.xml"/><Relationship Id="rId91" Type="http://schemas.openxmlformats.org/officeDocument/2006/relationships/slideLayout" Target="slideLayouts/slideLayout33.xml"/><Relationship Id="rId92" Type="http://schemas.openxmlformats.org/officeDocument/2006/relationships/image" Target="media/image60.png"/><Relationship Id="rId93" Type="http://schemas.openxmlformats.org/officeDocument/2006/relationships/notesSlide" Target="notesSlides/notesSlide6.xml"/><Relationship Id="rId94" Type="http://schemas.openxmlformats.org/officeDocument/2006/relationships/slideLayout" Target="slideLayouts/slideLayout34.xml"/><Relationship Id="rId95" Type="http://schemas.openxmlformats.org/officeDocument/2006/relationships/image" Target="media/image61.svg"/><Relationship Id="rId96" Type="http://schemas.openxmlformats.org/officeDocument/2006/relationships/image" Target="media/image62.png"/><Relationship Id="rId97" Type="http://schemas.openxmlformats.org/officeDocument/2006/relationships/image" Target="media/image63.png"/><Relationship Id="rId98" Type="http://schemas.openxmlformats.org/officeDocument/2006/relationships/image" Target="media/image64.png"/><Relationship Id="rId99" Type="http://schemas.openxmlformats.org/officeDocument/2006/relationships/notesSlide" Target="notesSlides/notesSlide7.xml"/><Relationship Id="rId100" Type="http://schemas.openxmlformats.org/officeDocument/2006/relationships/slideLayout" Target="slideLayouts/slideLayout35.xml"/><Relationship Id="rId101" Type="http://schemas.openxmlformats.org/officeDocument/2006/relationships/slideLayout" Target="slideLayouts/slideLayout36.xml"/><Relationship Id="rId102" Type="http://schemas.openxmlformats.org/officeDocument/2006/relationships/theme" Target="theme/theme5.xml"/><Relationship Id="rId103" Type="http://schemas.openxmlformats.org/officeDocument/2006/relationships/image" Target="media/image65.png"/><Relationship Id="rId104" Type="http://schemas.openxmlformats.org/officeDocument/2006/relationships/image" Target="media/image66.svg"/><Relationship Id="rId105" Type="http://schemas.openxmlformats.org/officeDocument/2006/relationships/image" Target="media/image67.jpeg"/><Relationship Id="rId106" Type="http://schemas.openxmlformats.org/officeDocument/2006/relationships/image" Target="media/image68.svg"/><Relationship Id="rId107" Type="http://schemas.openxmlformats.org/officeDocument/2006/relationships/image" Target="media/image69.png"/><Relationship Id="rId108" Type="http://schemas.openxmlformats.org/officeDocument/2006/relationships/notesSlide" Target="notesSlides/notesSlide8.xml"/><Relationship Id="rId109" Type="http://schemas.openxmlformats.org/officeDocument/2006/relationships/slideLayout" Target="slideLayouts/slideLayout37.xml"/><Relationship Id="rId110" Type="http://schemas.openxmlformats.org/officeDocument/2006/relationships/image" Target="media/image70.png"/><Relationship Id="rId111" Type="http://schemas.openxmlformats.org/officeDocument/2006/relationships/image" Target="media/image71.svg"/><Relationship Id="rId112" Type="http://schemas.openxmlformats.org/officeDocument/2006/relationships/image" Target="media/image72.svg"/><Relationship Id="rId113" Type="http://schemas.openxmlformats.org/officeDocument/2006/relationships/image" Target="media/image73.svg"/><Relationship Id="rId114" Type="http://schemas.openxmlformats.org/officeDocument/2006/relationships/image" Target="media/image74.png"/><Relationship Id="rId115" Type="http://schemas.openxmlformats.org/officeDocument/2006/relationships/image" Target="media/image75.png"/><Relationship Id="rId116" Type="http://schemas.openxmlformats.org/officeDocument/2006/relationships/image" Target="media/image76.svg"/><Relationship Id="rId117" Type="http://schemas.openxmlformats.org/officeDocument/2006/relationships/image" Target="media/image77.png"/></Relationships>

</file>

<file path=ppt/notesSlides/_rels/notesSlide1.xml.rels><?xml version="1.0" encoding="UTF-8" standalone="yes"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
</file>

<file path=ppt/notesSlides/_rels/notesSlide3.xml.rels><?xml version="1.0" encoding="UTF-8" standalone="yes"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
</file>

<file path=ppt/notesSlides/_rels/notesSlide4.xml.rels><?xml version="1.0" encoding="UTF-8" standalone="yes"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
</file>

<file path=ppt/notesSlides/_rels/notesSlide5.xml.rels><?xml version="1.0" encoding="UTF-8" standalone="yes"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
</file>

<file path=ppt/notesSlides/_rels/notesSlide6.xml.rels><?xml version="1.0" encoding="UTF-8" standalone="yes"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
</file>

<file path=ppt/notesSlides/_rels/notesSlide7.xml.rels><?xml version="1.0" encoding="UTF-8" standalone="yes"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
</file>

<file path=ppt/notesSlides/_rels/notesSlide8.xml.rels><?xml version="1.0" encoding="UTF-8" standalone="yes"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61777-E13C-B9E1-9FAB-DFC5B930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3E3EFE9-0627-6486-9CAF-07CD1EE3F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8F1B7E3-783F-18FA-1CB9-86EBAA907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F38B325-F125-A180-18E9-6F2D7CD30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1316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0167-5DE1-D897-2BDF-941881152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BA0C01-C4E6-2B1A-DA4B-2B23304A4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5002AF7-9560-032B-2FD3-D1DE465CE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E1F7C45-5AB4-3604-C4AC-2525977038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517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0838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673A0-2CB7-6518-CAB0-A9B780FA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8C12F7-8A44-FD88-8338-7A5631371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49CF0ED-64EC-254D-DDF4-3267056B9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9862583-B1AA-4835-8271-D83350330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9761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663A1-5194-EEC3-194A-C980B4D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1380F45-B7F2-02E2-2C06-2CC1FA4F3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F8B69D-5D0D-6912-9902-437B32C38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Intro : si on travaille ensemble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480268-0B1A-F648-2C86-2E75E152B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512FD6F-AB77-4C7E-891F-50C789B4267C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91448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90752">
              <a:defRPr/>
            </a:pPr>
            <a:fld id="{882C61F9-2E5D-42E9-B769-29E4B8B172B4}" type="slidenum">
              <a:rPr lang="fr-FR">
                <a:solidFill>
                  <a:prstClr val="black"/>
                </a:solidFill>
                <a:latin typeface="Aptos" panose="02110004020202020204"/>
              </a:rPr>
              <a:pPr defTabSz="990752">
                <a:defRPr/>
              </a:pPr>
              <a:t>10</a:t>
            </a:fld>
            <a:endParaRPr lang="fr-FR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483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246188" y="1143000"/>
            <a:ext cx="4365625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97388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EF67D-F771-43F2-9BC9-8E012AD24F8E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81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koesioconnexion" TargetMode="External"/><Relationship Id="rId3" Type="http://schemas.openxmlformats.org/officeDocument/2006/relationships/image" Target="../media/image3.sv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koesio_officiel/?hl=en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hyperlink" Target="https://www.linkedin.com/company/koesio/mycompany/" TargetMode="External"/><Relationship Id="rId4" Type="http://schemas.openxmlformats.org/officeDocument/2006/relationships/hyperlink" Target="https://www.youtube.com/c/Koesio" TargetMode="External"/><Relationship Id="rId9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Relationship Id="rId9" Type="http://schemas.openxmlformats.org/officeDocument/2006/relationships/image" Target="../media/image16.jpg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2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
</file>

<file path=ppt/slideLayouts/_rels/slideLayout3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_rels/slideLayout3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_rels/slideLayout3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5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I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741D01F-080E-9DEC-23A8-A2C6275375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37358" y="3025902"/>
            <a:ext cx="2117284" cy="80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00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BCA8D4-C9EB-4DFC-BF1E-63A2416E48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F14C13DD-A000-4B02-8C0A-B1C18765CB49}"/>
              </a:ext>
            </a:extLst>
          </p:cNvPr>
          <p:cNvGrpSpPr/>
          <p:nvPr userDrawn="1"/>
        </p:nvGrpSpPr>
        <p:grpSpPr>
          <a:xfrm>
            <a:off x="4759657" y="5320989"/>
            <a:ext cx="3086101" cy="584774"/>
            <a:chOff x="4470124" y="3041102"/>
            <a:chExt cx="4088281" cy="774673"/>
          </a:xfrm>
        </p:grpSpPr>
        <p:pic>
          <p:nvPicPr>
            <p:cNvPr id="4" name="Graphique 3">
              <a:extLst>
                <a:ext uri="{FF2B5EF4-FFF2-40B4-BE49-F238E27FC236}">
                  <a16:creationId xmlns:a16="http://schemas.microsoft.com/office/drawing/2014/main" id="{583E0B67-0EE5-4E29-B167-4286F990C1A1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27172"/>
            <a:stretch/>
          </p:blipFill>
          <p:spPr>
            <a:xfrm>
              <a:off x="4470124" y="3041102"/>
              <a:ext cx="2349394" cy="649750"/>
            </a:xfrm>
            <a:prstGeom prst="rect">
              <a:avLst/>
            </a:prstGeom>
          </p:spPr>
        </p:pic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03A28ADC-FFE9-4EB0-9E9A-D5B7F9628DEE}"/>
                </a:ext>
              </a:extLst>
            </p:cNvPr>
            <p:cNvSpPr txBox="1"/>
            <p:nvPr userDrawn="1"/>
          </p:nvSpPr>
          <p:spPr>
            <a:xfrm>
              <a:off x="6757260" y="3041102"/>
              <a:ext cx="1801145" cy="7746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fr-FR" sz="3200" dirty="0">
                  <a:solidFill>
                    <a:schemeClr val="bg1"/>
                  </a:solidFill>
                  <a:latin typeface="+mj-lt"/>
                </a:rPr>
                <a:t>.com</a:t>
              </a:r>
            </a:p>
          </p:txBody>
        </p:sp>
      </p:grpSp>
      <p:pic>
        <p:nvPicPr>
          <p:cNvPr id="10" name="Image 9">
            <a:hlinkClick r:id="rId4"/>
            <a:extLst>
              <a:ext uri="{FF2B5EF4-FFF2-40B4-BE49-F238E27FC236}">
                <a16:creationId xmlns:a16="http://schemas.microsoft.com/office/drawing/2014/main" id="{E6D8F237-B05B-498E-9020-0A7842CDF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153344" y="6019035"/>
            <a:ext cx="289529" cy="289529"/>
          </a:xfrm>
          <a:prstGeom prst="rect">
            <a:avLst/>
          </a:prstGeom>
        </p:spPr>
      </p:pic>
      <p:pic>
        <p:nvPicPr>
          <p:cNvPr id="11" name="Image 10">
            <a:hlinkClick r:id="rId6"/>
            <a:extLst>
              <a:ext uri="{FF2B5EF4-FFF2-40B4-BE49-F238E27FC236}">
                <a16:creationId xmlns:a16="http://schemas.microsoft.com/office/drawing/2014/main" id="{7FB84005-061C-4BF7-B153-61B7AF51F02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77390" y="6019035"/>
            <a:ext cx="289529" cy="289529"/>
          </a:xfrm>
          <a:prstGeom prst="rect">
            <a:avLst/>
          </a:prstGeom>
        </p:spPr>
      </p:pic>
      <p:pic>
        <p:nvPicPr>
          <p:cNvPr id="13" name="Image 12">
            <a:hlinkClick r:id="rId8"/>
            <a:extLst>
              <a:ext uri="{FF2B5EF4-FFF2-40B4-BE49-F238E27FC236}">
                <a16:creationId xmlns:a16="http://schemas.microsoft.com/office/drawing/2014/main" id="{BAA3743E-4D3D-4D7D-9CD5-892B381DE3E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6302708" y="6019035"/>
            <a:ext cx="289529" cy="289529"/>
          </a:xfrm>
          <a:prstGeom prst="rect">
            <a:avLst/>
          </a:prstGeom>
        </p:spPr>
      </p:pic>
      <p:pic>
        <p:nvPicPr>
          <p:cNvPr id="15" name="Image 14">
            <a:hlinkClick r:id="rId10"/>
            <a:extLst>
              <a:ext uri="{FF2B5EF4-FFF2-40B4-BE49-F238E27FC236}">
                <a16:creationId xmlns:a16="http://schemas.microsoft.com/office/drawing/2014/main" id="{B35FDEA9-07A2-40F5-ABAB-8B4AAF7681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728026" y="6019035"/>
            <a:ext cx="289529" cy="28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50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31">
            <a:extLst>
              <a:ext uri="{FF2B5EF4-FFF2-40B4-BE49-F238E27FC236}">
                <a16:creationId xmlns:a16="http://schemas.microsoft.com/office/drawing/2014/main" id="{3A1B223F-E50B-15EB-307C-62D224B3626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46049" y="2165876"/>
            <a:ext cx="5440050" cy="311004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4020A-659F-513F-DFCD-CFEB4BC2F0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635952" y="6478296"/>
            <a:ext cx="1048159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t>11/11/2025</a:t>
            </a:fld>
            <a:endParaRPr lang="fr-F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26C5D8-21EB-AE75-2087-7BE39CC77F98}"/>
              </a:ext>
            </a:extLst>
          </p:cNvPr>
          <p:cNvSpPr/>
          <p:nvPr userDrawn="1"/>
        </p:nvSpPr>
        <p:spPr>
          <a:xfrm>
            <a:off x="5289284" y="5688771"/>
            <a:ext cx="1189648" cy="11690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42457C-18A2-FEC5-EF99-E49879735811}"/>
              </a:ext>
            </a:extLst>
          </p:cNvPr>
          <p:cNvSpPr/>
          <p:nvPr userDrawn="1"/>
        </p:nvSpPr>
        <p:spPr>
          <a:xfrm>
            <a:off x="9842810" y="1169068"/>
            <a:ext cx="2360115" cy="116906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67B491-5642-B295-35E5-78733944325E}"/>
              </a:ext>
            </a:extLst>
          </p:cNvPr>
          <p:cNvSpPr/>
          <p:nvPr userDrawn="1"/>
        </p:nvSpPr>
        <p:spPr>
          <a:xfrm>
            <a:off x="6476320" y="1169068"/>
            <a:ext cx="1195349" cy="11690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BE47A0D-27C3-7AAA-69BD-C35EB6E41AF3}"/>
              </a:ext>
            </a:extLst>
          </p:cNvPr>
          <p:cNvSpPr/>
          <p:nvPr userDrawn="1"/>
        </p:nvSpPr>
        <p:spPr>
          <a:xfrm>
            <a:off x="8647462" y="0"/>
            <a:ext cx="1195348" cy="114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B2BA35-32B5-D466-26C8-7851DD313726}"/>
              </a:ext>
            </a:extLst>
          </p:cNvPr>
          <p:cNvSpPr/>
          <p:nvPr userDrawn="1"/>
        </p:nvSpPr>
        <p:spPr>
          <a:xfrm>
            <a:off x="226128" y="5667865"/>
            <a:ext cx="1195348" cy="11898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F5559-7956-477A-E890-5EE35D808F74}"/>
              </a:ext>
            </a:extLst>
          </p:cNvPr>
          <p:cNvSpPr/>
          <p:nvPr userDrawn="1"/>
        </p:nvSpPr>
        <p:spPr>
          <a:xfrm>
            <a:off x="6478933" y="5688771"/>
            <a:ext cx="1195348" cy="11689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E2D08-BD90-ADC1-8B9A-1EC81D8DE2C9}"/>
              </a:ext>
            </a:extLst>
          </p:cNvPr>
          <p:cNvSpPr/>
          <p:nvPr userDrawn="1"/>
        </p:nvSpPr>
        <p:spPr>
          <a:xfrm>
            <a:off x="5280971" y="1"/>
            <a:ext cx="1195349" cy="116906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0FF35F65-B35C-A7C9-CC94-C48002CFD42A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671669" y="2338135"/>
            <a:ext cx="4520331" cy="4520332"/>
          </a:xfrm>
          <a:prstGeom prst="rect">
            <a:avLst/>
          </a:prstGeo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4098373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69B97DB-C140-B9EB-B800-A620B5328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9946"/>
            <a:ext cx="1719261" cy="1733775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E2D0B89-47C9-A5FB-B99B-D982963F3D4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6271C56-F65D-0B92-67AF-26956F6F6B0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5203ED4-3909-8C5C-EF73-C613952D443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5FAE46-E0BE-4AF3-32E7-AD089466656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5C4A08-71AF-3215-BB90-AD0F8DE6F51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sp>
        <p:nvSpPr>
          <p:cNvPr id="16" name="Espace réservé du texte 31">
            <a:extLst>
              <a:ext uri="{FF2B5EF4-FFF2-40B4-BE49-F238E27FC236}">
                <a16:creationId xmlns:a16="http://schemas.microsoft.com/office/drawing/2014/main" id="{2C6638B5-14C8-B1E7-8A44-A18951B0C5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1806" y="1859338"/>
            <a:ext cx="6455563" cy="292935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D242288D-44D8-723E-798C-B09619AED8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6" y="3424460"/>
            <a:ext cx="1719261" cy="1719261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8D8B3FFB-ED4C-0C67-070A-6B560458D44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778338" y="6454193"/>
            <a:ext cx="1231451" cy="255732"/>
          </a:xfrm>
          <a:prstGeom prst="rect">
            <a:avLst/>
          </a:prstGeom>
        </p:spPr>
        <p:txBody>
          <a:bodyPr/>
          <a:lstStyle>
            <a:lvl1pPr algn="r">
              <a:defRPr sz="1100" b="0" i="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E59C4DD-DD58-DB57-1F14-9B0EAAB4CCE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920048" y="5162771"/>
            <a:ext cx="1719262" cy="1719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111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7" y="1700207"/>
            <a:ext cx="10239982" cy="51577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6602" y="2291703"/>
            <a:ext cx="6847245" cy="303555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28D623E-EF34-3B34-20FA-80F003A0163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3401633"/>
            <a:ext cx="1719261" cy="173377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DEC03A8-ECFA-2A3D-3F23-53F4D04EE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5138739"/>
            <a:ext cx="1719261" cy="171926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70CFFC5-943D-40FD-BDF8-3DCE642B5D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9" y="1700215"/>
            <a:ext cx="1719261" cy="1719261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B872D38-540D-C24B-50C0-EB49639E9B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4217" y="5138735"/>
            <a:ext cx="1719261" cy="171926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72C6927-9634-E75D-C929-A481B8F2D27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53478" y="-19050"/>
            <a:ext cx="1719261" cy="171926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AC825FD-7A9A-CD13-4E72-73F48DA9BB62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2737" y="-19054"/>
            <a:ext cx="1719261" cy="17192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FE9A6D5-8CFA-C4E3-3F37-29A21D3A2CC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753476" y="3418251"/>
            <a:ext cx="1719261" cy="1719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EC96915-BBD7-81A6-D4D8-87DB7177BD10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1046602" y="6225872"/>
            <a:ext cx="1231451" cy="255732"/>
          </a:xfrm>
          <a:prstGeom prst="rect">
            <a:avLst/>
          </a:prstGeom>
        </p:spPr>
        <p:txBody>
          <a:bodyPr/>
          <a:lstStyle>
            <a:lvl1pPr algn="l">
              <a:defRPr sz="11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6DE9782-4D0B-4C6D-B3CD-3DD9000CE490}" type="datetime1">
              <a:rPr lang="fr-FR" smtClean="0"/>
              <a:pPr/>
              <a:t>11/11/2025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1735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DE GAR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6BFB5A4-12A9-F24F-0F9D-7E6ED5D64BB9}"/>
              </a:ext>
            </a:extLst>
          </p:cNvPr>
          <p:cNvSpPr/>
          <p:nvPr userDrawn="1"/>
        </p:nvSpPr>
        <p:spPr>
          <a:xfrm>
            <a:off x="232756" y="1978430"/>
            <a:ext cx="11959245" cy="48795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20B833C3-2E7B-E3DA-B596-12E3E4EAA80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95055" y="3386081"/>
            <a:ext cx="8395854" cy="20642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4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votre présentation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8DC0CFA-4938-150C-953D-F281F66590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35146" y="0"/>
            <a:ext cx="1978430" cy="19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84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CLA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5" y="1"/>
            <a:ext cx="3986558" cy="4218624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2888559"/>
            <a:ext cx="11959674" cy="4002778"/>
            <a:chOff x="1" y="2811450"/>
            <a:chExt cx="12192003" cy="408053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1"/>
              <a:ext cx="1354667" cy="138865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2"/>
              <a:ext cx="1354667" cy="138865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5418665" y="4167353"/>
              <a:ext cx="1354667" cy="1354667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8865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5" name="Espace réservé du texte 31">
            <a:extLst>
              <a:ext uri="{FF2B5EF4-FFF2-40B4-BE49-F238E27FC236}">
                <a16:creationId xmlns:a16="http://schemas.microsoft.com/office/drawing/2014/main" id="{360DC06F-875A-FD01-41CE-4B341614C5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751750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BLEU FONC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43571" y="1356536"/>
            <a:ext cx="3991716" cy="4171304"/>
          </a:xfrm>
          <a:prstGeom prst="rect">
            <a:avLst/>
          </a:prstGeom>
          <a:solidFill>
            <a:srgbClr val="2F52A0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E2514C-3FD2-8A81-9C20-5475A2E8508E}"/>
              </a:ext>
            </a:extLst>
          </p:cNvPr>
          <p:cNvGrpSpPr/>
          <p:nvPr userDrawn="1"/>
        </p:nvGrpSpPr>
        <p:grpSpPr>
          <a:xfrm>
            <a:off x="229236" y="0"/>
            <a:ext cx="11963130" cy="6858000"/>
            <a:chOff x="240628" y="6740"/>
            <a:chExt cx="11951372" cy="68512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4062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5519609" y="4200296"/>
              <a:ext cx="1328853" cy="132885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10836255" y="2871444"/>
              <a:ext cx="1355745" cy="132885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10836255" y="6740"/>
              <a:ext cx="1355120" cy="1355203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" name="Espace réservé du texte 31">
            <a:extLst>
              <a:ext uri="{FF2B5EF4-FFF2-40B4-BE49-F238E27FC236}">
                <a16:creationId xmlns:a16="http://schemas.microsoft.com/office/drawing/2014/main" id="{B36E0FF2-A6E9-7461-F4C6-B4995C0564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351651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200553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19614" y="2644544"/>
            <a:ext cx="4021883" cy="4213456"/>
          </a:xfrm>
          <a:prstGeom prst="rect">
            <a:avLst/>
          </a:prstGeom>
          <a:solidFill>
            <a:schemeClr val="accent2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  <a:p>
            <a:endParaRPr lang="fr-FR" dirty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68B30237-9AC1-13A9-363D-34322691C2EF}"/>
              </a:ext>
            </a:extLst>
          </p:cNvPr>
          <p:cNvGrpSpPr/>
          <p:nvPr userDrawn="1"/>
        </p:nvGrpSpPr>
        <p:grpSpPr>
          <a:xfrm>
            <a:off x="232331" y="-13157"/>
            <a:ext cx="11959670" cy="6883857"/>
            <a:chOff x="232323" y="-25862"/>
            <a:chExt cx="11959677" cy="6883862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1561180" y="5529148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F7FC4FA-198C-2076-5439-B79B94BD0F3F}"/>
                </a:ext>
              </a:extLst>
            </p:cNvPr>
            <p:cNvSpPr/>
            <p:nvPr userDrawn="1"/>
          </p:nvSpPr>
          <p:spPr>
            <a:xfrm>
              <a:off x="232323" y="4200296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AB46F7C-0A45-1E42-E20F-4C13C7F18793}"/>
                </a:ext>
              </a:extLst>
            </p:cNvPr>
            <p:cNvSpPr/>
            <p:nvPr userDrawn="1"/>
          </p:nvSpPr>
          <p:spPr>
            <a:xfrm>
              <a:off x="2875968" y="4200296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81037D8-981D-562A-5283-D96A87168E4F}"/>
                </a:ext>
              </a:extLst>
            </p:cNvPr>
            <p:cNvSpPr/>
            <p:nvPr userDrawn="1"/>
          </p:nvSpPr>
          <p:spPr>
            <a:xfrm>
              <a:off x="4190756" y="4200296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474B7E-8AB8-0F91-52B7-6AD759CEBC72}"/>
                </a:ext>
              </a:extLst>
            </p:cNvPr>
            <p:cNvSpPr/>
            <p:nvPr userDrawn="1"/>
          </p:nvSpPr>
          <p:spPr>
            <a:xfrm>
              <a:off x="8205441" y="1302991"/>
              <a:ext cx="1328853" cy="1328852"/>
            </a:xfrm>
            <a:prstGeom prst="rect">
              <a:avLst/>
            </a:prstGeom>
            <a:solidFill>
              <a:srgbClr val="EE72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C11A698-9D3B-8BB7-7717-A71C41F2A687}"/>
                </a:ext>
              </a:extLst>
            </p:cNvPr>
            <p:cNvSpPr/>
            <p:nvPr userDrawn="1"/>
          </p:nvSpPr>
          <p:spPr>
            <a:xfrm>
              <a:off x="9534294" y="1302991"/>
              <a:ext cx="1328853" cy="13288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0EB04A2-C5AC-CFA0-99D8-F98C26B8E2D7}"/>
                </a:ext>
              </a:extLst>
            </p:cNvPr>
            <p:cNvSpPr/>
            <p:nvPr userDrawn="1"/>
          </p:nvSpPr>
          <p:spPr>
            <a:xfrm>
              <a:off x="9541494" y="2631842"/>
              <a:ext cx="1328853" cy="1328852"/>
            </a:xfrm>
            <a:prstGeom prst="rect">
              <a:avLst/>
            </a:prstGeom>
            <a:solidFill>
              <a:srgbClr val="2F52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C0C659-FC80-A7A1-D887-ED8A62170BF6}"/>
                </a:ext>
              </a:extLst>
            </p:cNvPr>
            <p:cNvSpPr/>
            <p:nvPr userDrawn="1"/>
          </p:nvSpPr>
          <p:spPr>
            <a:xfrm>
              <a:off x="10863147" y="-25862"/>
              <a:ext cx="1328853" cy="13288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2" name="Espace réservé du texte 31">
            <a:extLst>
              <a:ext uri="{FF2B5EF4-FFF2-40B4-BE49-F238E27FC236}">
                <a16:creationId xmlns:a16="http://schemas.microsoft.com/office/drawing/2014/main" id="{0E4AA9CC-C630-D5B8-17D0-3C08EE59F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25507"/>
            <a:ext cx="5911376" cy="30978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66204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EDAC2F0B-27F2-E9C9-444E-1ACF7B58A8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76593" y="1558492"/>
            <a:ext cx="3986559" cy="3970653"/>
          </a:xfrm>
          <a:prstGeom prst="rect">
            <a:avLst/>
          </a:prstGeom>
          <a:solidFill>
            <a:schemeClr val="accent6"/>
          </a:solidFill>
        </p:spPr>
        <p:txBody>
          <a:bodyPr anchor="ctr"/>
          <a:lstStyle>
            <a:lvl1pPr marL="0" indent="0" algn="l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  <p:grpSp>
        <p:nvGrpSpPr>
          <p:cNvPr id="43" name="Groupe 42">
            <a:extLst>
              <a:ext uri="{FF2B5EF4-FFF2-40B4-BE49-F238E27FC236}">
                <a16:creationId xmlns:a16="http://schemas.microsoft.com/office/drawing/2014/main" id="{D4A750AE-380A-B8AE-AA83-24D8D86A11C7}"/>
              </a:ext>
            </a:extLst>
          </p:cNvPr>
          <p:cNvGrpSpPr/>
          <p:nvPr userDrawn="1"/>
        </p:nvGrpSpPr>
        <p:grpSpPr>
          <a:xfrm>
            <a:off x="232331" y="1558493"/>
            <a:ext cx="11971526" cy="5299510"/>
            <a:chOff x="1" y="1455546"/>
            <a:chExt cx="12204085" cy="540245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9C8F1B3-A4FE-C9B9-8ADB-7A9335749B47}"/>
                </a:ext>
              </a:extLst>
            </p:cNvPr>
            <p:cNvSpPr/>
            <p:nvPr userDrawn="1"/>
          </p:nvSpPr>
          <p:spPr>
            <a:xfrm>
              <a:off x="1354668" y="5503332"/>
              <a:ext cx="1354667" cy="135467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DCB6D8E-7027-14F9-F7D4-6F10F532C3EF}"/>
                </a:ext>
              </a:extLst>
            </p:cNvPr>
            <p:cNvSpPr/>
            <p:nvPr userDrawn="1"/>
          </p:nvSpPr>
          <p:spPr>
            <a:xfrm>
              <a:off x="1" y="5503333"/>
              <a:ext cx="1354667" cy="1354671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19E8E44-DD3A-6008-39B1-0A8C0DB59DB4}"/>
                </a:ext>
              </a:extLst>
            </p:cNvPr>
            <p:cNvSpPr/>
            <p:nvPr userDrawn="1"/>
          </p:nvSpPr>
          <p:spPr>
            <a:xfrm>
              <a:off x="2709335" y="4148666"/>
              <a:ext cx="1354667" cy="135466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DB417F1-D26A-1DF2-F8D0-008CBAEC78DC}"/>
                </a:ext>
              </a:extLst>
            </p:cNvPr>
            <p:cNvSpPr/>
            <p:nvPr userDrawn="1"/>
          </p:nvSpPr>
          <p:spPr>
            <a:xfrm>
              <a:off x="10837336" y="1455546"/>
              <a:ext cx="1366750" cy="13546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15359773-F737-8698-CADE-170A26B5BB10}"/>
                </a:ext>
              </a:extLst>
            </p:cNvPr>
            <p:cNvSpPr/>
            <p:nvPr userDrawn="1"/>
          </p:nvSpPr>
          <p:spPr>
            <a:xfrm>
              <a:off x="6773336" y="5503331"/>
              <a:ext cx="1354667" cy="13546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FE072F2-E14F-208E-8FEF-6792DBD9B3F5}"/>
                </a:ext>
              </a:extLst>
            </p:cNvPr>
            <p:cNvSpPr/>
            <p:nvPr userDrawn="1"/>
          </p:nvSpPr>
          <p:spPr>
            <a:xfrm>
              <a:off x="10837337" y="2811450"/>
              <a:ext cx="1354667" cy="1354668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37FD0DD6-75D8-1644-47CD-850CE190426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6748" y="756458"/>
            <a:ext cx="5351651" cy="306693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3110261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54FE68A6-3DE7-D728-8F79-6B4F74222E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space réservé pour une image  4">
            <a:extLst>
              <a:ext uri="{FF2B5EF4-FFF2-40B4-BE49-F238E27FC236}">
                <a16:creationId xmlns:a16="http://schemas.microsoft.com/office/drawing/2014/main" id="{337BA1CC-076B-4EB5-8068-E12E69F88CC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2C2EBA-02F9-7D2C-AA2D-A8D87CFFC3AA}"/>
              </a:ext>
            </a:extLst>
          </p:cNvPr>
          <p:cNvSpPr/>
          <p:nvPr userDrawn="1"/>
        </p:nvSpPr>
        <p:spPr>
          <a:xfrm>
            <a:off x="1561184" y="5529145"/>
            <a:ext cx="1328853" cy="132885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F9AA16-CFD4-5160-A428-908E7728F52C}"/>
              </a:ext>
            </a:extLst>
          </p:cNvPr>
          <p:cNvSpPr/>
          <p:nvPr userDrawn="1"/>
        </p:nvSpPr>
        <p:spPr>
          <a:xfrm>
            <a:off x="232331" y="5529146"/>
            <a:ext cx="1328853" cy="132885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E017C4-772A-99B4-DC68-B22CE6038F7B}"/>
              </a:ext>
            </a:extLst>
          </p:cNvPr>
          <p:cNvSpPr/>
          <p:nvPr userDrawn="1"/>
        </p:nvSpPr>
        <p:spPr>
          <a:xfrm>
            <a:off x="2890036" y="4200293"/>
            <a:ext cx="1328853" cy="13288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99740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NDE PARTIE JA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D14537-824D-83FF-CD75-92E87475BA55}"/>
              </a:ext>
            </a:extLst>
          </p:cNvPr>
          <p:cNvSpPr/>
          <p:nvPr userDrawn="1"/>
        </p:nvSpPr>
        <p:spPr>
          <a:xfrm>
            <a:off x="8329613" y="3009900"/>
            <a:ext cx="3862388" cy="38623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Espace réservé pour une image  4">
            <a:extLst>
              <a:ext uri="{FF2B5EF4-FFF2-40B4-BE49-F238E27FC236}">
                <a16:creationId xmlns:a16="http://schemas.microsoft.com/office/drawing/2014/main" id="{27800121-4EDF-8DF9-A915-FF6153635A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15113" y="1285875"/>
            <a:ext cx="3429000" cy="3448050"/>
          </a:xfrm>
          <a:prstGeom prst="rect">
            <a:avLst/>
          </a:prstGeom>
          <a:noFill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568D0-7348-42A1-4257-C53C9BC89E1F}"/>
              </a:ext>
            </a:extLst>
          </p:cNvPr>
          <p:cNvSpPr/>
          <p:nvPr userDrawn="1"/>
        </p:nvSpPr>
        <p:spPr>
          <a:xfrm>
            <a:off x="1551087" y="5527841"/>
            <a:ext cx="1330160" cy="1330159"/>
          </a:xfrm>
          <a:prstGeom prst="rect">
            <a:avLst/>
          </a:prstGeom>
          <a:solidFill>
            <a:srgbClr val="2F52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A37291-99D2-A063-A2A4-FE330D662E36}"/>
              </a:ext>
            </a:extLst>
          </p:cNvPr>
          <p:cNvSpPr/>
          <p:nvPr userDrawn="1"/>
        </p:nvSpPr>
        <p:spPr>
          <a:xfrm>
            <a:off x="229236" y="4197681"/>
            <a:ext cx="1330160" cy="13301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0E6AD6-E9D3-F7FD-6493-5A29A25D2FA0}"/>
              </a:ext>
            </a:extLst>
          </p:cNvPr>
          <p:cNvSpPr/>
          <p:nvPr userDrawn="1"/>
        </p:nvSpPr>
        <p:spPr>
          <a:xfrm>
            <a:off x="2867169" y="4197681"/>
            <a:ext cx="1330160" cy="13301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space réservé du texte 31">
            <a:extLst>
              <a:ext uri="{FF2B5EF4-FFF2-40B4-BE49-F238E27FC236}">
                <a16:creationId xmlns:a16="http://schemas.microsoft.com/office/drawing/2014/main" id="{8336ABEA-F061-23A5-6696-147D469396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7404" y="723208"/>
            <a:ext cx="4662011" cy="29212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4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le titre de partie</a:t>
            </a:r>
          </a:p>
        </p:txBody>
      </p:sp>
    </p:spTree>
    <p:extLst>
      <p:ext uri="{BB962C8B-B14F-4D97-AF65-F5344CB8AC3E}">
        <p14:creationId xmlns:p14="http://schemas.microsoft.com/office/powerpoint/2010/main" val="1754322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66403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22909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0890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88810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6257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9534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937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498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487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852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09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31">
            <a:extLst>
              <a:ext uri="{FF2B5EF4-FFF2-40B4-BE49-F238E27FC236}">
                <a16:creationId xmlns:a16="http://schemas.microsoft.com/office/drawing/2014/main" id="{2EBFE0B6-89A3-2673-D0DF-D95C3B32421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8" y="753176"/>
            <a:ext cx="4373443" cy="664669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buNone/>
              <a:defRPr sz="2456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Insérez votre titre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9613F-A026-5EF4-46CA-A8C502E935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07599" y="1637930"/>
            <a:ext cx="9528977" cy="482979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954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45">
          <p15:clr>
            <a:srgbClr val="FBAE40"/>
          </p15:clr>
        </p15:guide>
        <p15:guide id="2" pos="6448">
          <p15:clr>
            <a:srgbClr val="FBAE40"/>
          </p15:clr>
        </p15:guide>
        <p15:guide id="3" orient="horz" pos="1031">
          <p15:clr>
            <a:srgbClr val="FBAE40"/>
          </p15:clr>
        </p15:guide>
        <p15:guide id="4" orient="horz" pos="2381">
          <p15:clr>
            <a:srgbClr val="FBAE40"/>
          </p15:clr>
        </p15:guide>
        <p15:guide id="5" orient="horz" pos="408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U VE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31">
            <a:extLst>
              <a:ext uri="{FF2B5EF4-FFF2-40B4-BE49-F238E27FC236}">
                <a16:creationId xmlns:a16="http://schemas.microsoft.com/office/drawing/2014/main" id="{01D4BEEE-C528-26A8-8441-EC58C49F22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7599" y="753176"/>
            <a:ext cx="4261665" cy="66466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4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Insérez votre titre</a:t>
            </a:r>
          </a:p>
        </p:txBody>
      </p:sp>
      <p:sp>
        <p:nvSpPr>
          <p:cNvPr id="2" name="Espace réservé du texte 6">
            <a:extLst>
              <a:ext uri="{FF2B5EF4-FFF2-40B4-BE49-F238E27FC236}">
                <a16:creationId xmlns:a16="http://schemas.microsoft.com/office/drawing/2014/main" id="{C75EC255-9E3E-FDA9-8664-14249714B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7600" y="1679932"/>
            <a:ext cx="4771956" cy="5148477"/>
          </a:xfrm>
          <a:prstGeom prst="rect">
            <a:avLst/>
          </a:prstGeom>
        </p:spPr>
        <p:txBody>
          <a:bodyPr/>
          <a:lstStyle>
            <a:lvl1pPr marL="15036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579">
                <a:latin typeface="+mn-lt"/>
              </a:defRPr>
            </a:lvl1pPr>
            <a:lvl2pPr marL="45108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316">
                <a:latin typeface="+mn-lt"/>
              </a:defRPr>
            </a:lvl2pPr>
            <a:lvl3pPr marL="751808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1184">
                <a:latin typeface="+mn-lt"/>
              </a:defRPr>
            </a:lvl3pPr>
            <a:lvl4pPr marL="1052532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4pPr>
            <a:lvl5pPr marL="1353255" indent="-150362">
              <a:buClr>
                <a:schemeClr val="bg2"/>
              </a:buClr>
              <a:buFont typeface="Arial Nova" panose="020B0504020202020204" pitchFamily="34" charset="0"/>
              <a:buChar char="&gt;"/>
              <a:defRPr sz="921">
                <a:latin typeface="+mn-lt"/>
              </a:defRPr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pour une image  4">
            <a:extLst>
              <a:ext uri="{FF2B5EF4-FFF2-40B4-BE49-F238E27FC236}">
                <a16:creationId xmlns:a16="http://schemas.microsoft.com/office/drawing/2014/main" id="{874A3F1B-998C-6FEB-BC1D-019E6E18139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85079" y="1679932"/>
            <a:ext cx="3566805" cy="43170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marL="0" marR="0" lvl="0" indent="0" algn="l" defTabSz="601447" rtl="0" eaLnBrk="1" fontAlgn="auto" latinLnBrk="0" hangingPunct="1">
              <a:lnSpc>
                <a:spcPct val="90000"/>
              </a:lnSpc>
              <a:spcBef>
                <a:spcPts val="658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dirty="0"/>
              <a:t>Insérez une image si vous le souhaitez</a:t>
            </a:r>
          </a:p>
        </p:txBody>
      </p:sp>
    </p:spTree>
    <p:extLst>
      <p:ext uri="{BB962C8B-B14F-4D97-AF65-F5344CB8AC3E}">
        <p14:creationId xmlns:p14="http://schemas.microsoft.com/office/powerpoint/2010/main" val="2406831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1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4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4.xml"/></Relationships>

</file>

<file path=ppt/slideMasters/_rels/slideMaster5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3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35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442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4DA570-BA2D-AE1E-A728-2A975BDF56A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FD5BBFA-785D-299E-D33E-ACC37E4A9C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204"/>
            <a:ext cx="3826364" cy="1946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173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Une image contenant texte, clipart, graphiques vectoriels&#10;&#10;Description générée automatiquement">
            <a:extLst>
              <a:ext uri="{FF2B5EF4-FFF2-40B4-BE49-F238E27FC236}">
                <a16:creationId xmlns:a16="http://schemas.microsoft.com/office/drawing/2014/main" id="{E2653195-FE6A-6B0C-3A7C-37F001DEC34D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21398" y="5921159"/>
            <a:ext cx="2070342" cy="93399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65DB0D-C136-3820-FE40-0E1CDA4C084E}"/>
              </a:ext>
            </a:extLst>
          </p:cNvPr>
          <p:cNvSpPr/>
          <p:nvPr userDrawn="1"/>
        </p:nvSpPr>
        <p:spPr>
          <a:xfrm>
            <a:off x="260" y="0"/>
            <a:ext cx="232071" cy="6858000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31486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chemeClr val="tx1"/>
          </a:solidFill>
          <a:latin typeface="Arial" panose="020B0604020202020204" pitchFamily="34" charset="0"/>
          <a:ea typeface="Microsoft YaHei UI" panose="020B0400000000000000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DA5F15-6700-4B51-A83F-551C2A960359}" type="datetimeFigureOut">
              <a:rPr lang="fr-FR" smtClean="0"/>
              <a:t>03/09/2025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D181-617C-4D23-AEC1-7CDA4C8E82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0290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  <p:sldLayoutId id="2147483843" r:id="rId13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10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2.png"/></Relationships>

</file>

<file path=ppt/slides/_rels/slide4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1.png"/></Relationships>

</file>

<file path=ppt/slides/_rels/slide5.xml.rels><?xml version="1.0" encoding="UTF-8" standalone="yes"?>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.svg"/><Relationship Id="rId18" Type="http://schemas.openxmlformats.org/officeDocument/2006/relationships/image" Target="../media/image27.png"/><Relationship Id="rId3" Type="http://schemas.openxmlformats.org/officeDocument/2006/relationships/image" Target="../media/image28.jpeg"/><Relationship Id="rId21" Type="http://schemas.openxmlformats.org/officeDocument/2006/relationships/image" Target="../media/image29.svg"/><Relationship Id="rId7" Type="http://schemas.openxmlformats.org/officeDocument/2006/relationships/image" Target="../media/image30.svg"/><Relationship Id="rId12" Type="http://schemas.openxmlformats.org/officeDocument/2006/relationships/image" Target="../media/image31.png"/><Relationship Id="rId17" Type="http://schemas.openxmlformats.org/officeDocument/2006/relationships/image" Target="../media/image32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27.xml"/><Relationship Id="rId6" Type="http://schemas.openxmlformats.org/officeDocument/2006/relationships/image" Target="../media/image35.png"/><Relationship Id="rId11" Type="http://schemas.openxmlformats.org/officeDocument/2006/relationships/image" Target="../media/image36.svg"/><Relationship Id="rId24" Type="http://schemas.openxmlformats.org/officeDocument/2006/relationships/image" Target="../media/image21.png"/><Relationship Id="rId5" Type="http://schemas.openxmlformats.org/officeDocument/2006/relationships/image" Target="../media/image24.png"/><Relationship Id="rId15" Type="http://schemas.openxmlformats.org/officeDocument/2006/relationships/image" Target="../media/image37.svg"/><Relationship Id="rId23" Type="http://schemas.openxmlformats.org/officeDocument/2006/relationships/image" Target="../media/image38.svg"/><Relationship Id="rId10" Type="http://schemas.openxmlformats.org/officeDocument/2006/relationships/image" Target="../media/image39.png"/><Relationship Id="rId19" Type="http://schemas.openxmlformats.org/officeDocument/2006/relationships/image" Target="../media/image40.svg"/><Relationship Id="rId4" Type="http://schemas.openxmlformats.org/officeDocument/2006/relationships/image" Target="../media/image41.png"/><Relationship Id="rId9" Type="http://schemas.openxmlformats.org/officeDocument/2006/relationships/image" Target="../media/image42.svg"/><Relationship Id="rId14" Type="http://schemas.openxmlformats.org/officeDocument/2006/relationships/image" Target="../media/image43.png"/><Relationship Id="rId22" Type="http://schemas.openxmlformats.org/officeDocument/2006/relationships/image" Target="../media/image44.png"/></Relationships>
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1.png"/><Relationship Id="rId4" Type="http://schemas.openxmlformats.org/officeDocument/2006/relationships/image" Target="../media/image24.png"/></Relationships>
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png"/><Relationship Id="rId5" Type="http://schemas.openxmlformats.org/officeDocument/2006/relationships/image" Target="../media/image48.png"/><Relationship Id="rId4" Type="http://schemas.openxmlformats.org/officeDocument/2006/relationships/image" Target="../media/image49.jpeg"/></Relationships>
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1.png"/><Relationship Id="rId5" Type="http://schemas.openxmlformats.org/officeDocument/2006/relationships/image" Target="../media/image24.png"/><Relationship Id="rId4" Type="http://schemas.openxmlformats.org/officeDocument/2006/relationships/image" Target="../media/image52.png"/></Relationships>
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53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56.svg"/><Relationship Id="rId11" Type="http://schemas.openxmlformats.org/officeDocument/2006/relationships/image" Target="../media/image21.png"/><Relationship Id="rId5" Type="http://schemas.openxmlformats.org/officeDocument/2006/relationships/image" Target="../media/image57.png"/><Relationship Id="rId10" Type="http://schemas.openxmlformats.org/officeDocument/2006/relationships/image" Target="../media/image58.svg"/><Relationship Id="rId4" Type="http://schemas.openxmlformats.org/officeDocument/2006/relationships/image" Target="../media/image24.png"/><Relationship Id="rId9" Type="http://schemas.openxmlformats.org/officeDocument/2006/relationships/image" Target="../media/image59.png"/></Relationships>
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2.xml"/></Relationships>
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0.png"/><Relationship Id="rId5" Type="http://schemas.openxmlformats.org/officeDocument/2006/relationships/image" Target="../media/image50.svg"/><Relationship Id="rId4" Type="http://schemas.openxmlformats.org/officeDocument/2006/relationships/image" Target="../media/image51.png"/></Relationships>
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61.svg"/><Relationship Id="rId5" Type="http://schemas.openxmlformats.org/officeDocument/2006/relationships/image" Target="../media/image62.png"/><Relationship Id="rId4" Type="http://schemas.openxmlformats.org/officeDocument/2006/relationships/image" Target="../media/image63.png"/></Relationships>
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64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5.xml"/><Relationship Id="rId6" Type="http://schemas.openxmlformats.org/officeDocument/2006/relationships/image" Target="../media/image50.svg"/><Relationship Id="rId5" Type="http://schemas.openxmlformats.org/officeDocument/2006/relationships/image" Target="../media/image51.png"/><Relationship Id="rId4" Type="http://schemas.openxmlformats.org/officeDocument/2006/relationships/image" Target="../media/image24.png"/></Relationships>

</file>

<file path=ppt/slides/_rels/slide14.xml.rels><?xml version="1.0" encoding="UTF-8" standalone="yes"?>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66.svg"/><Relationship Id="rId3" Type="http://schemas.openxmlformats.org/officeDocument/2006/relationships/image" Target="../media/image67.jpeg"/><Relationship Id="rId7" Type="http://schemas.openxmlformats.org/officeDocument/2006/relationships/image" Target="../media/image68.svg"/><Relationship Id="rId12" Type="http://schemas.openxmlformats.org/officeDocument/2006/relationships/image" Target="../media/image6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70.png"/><Relationship Id="rId11" Type="http://schemas.openxmlformats.org/officeDocument/2006/relationships/image" Target="../media/image71.svg"/><Relationship Id="rId5" Type="http://schemas.openxmlformats.org/officeDocument/2006/relationships/image" Target="../media/image72.svg"/><Relationship Id="rId15" Type="http://schemas.openxmlformats.org/officeDocument/2006/relationships/image" Target="../media/image73.svg"/><Relationship Id="rId10" Type="http://schemas.openxmlformats.org/officeDocument/2006/relationships/image" Target="../media/image74.png"/><Relationship Id="rId4" Type="http://schemas.openxmlformats.org/officeDocument/2006/relationships/image" Target="../media/image75.png"/><Relationship Id="rId9" Type="http://schemas.openxmlformats.org/officeDocument/2006/relationships/image" Target="../media/image76.svg"/><Relationship Id="rId14" Type="http://schemas.openxmlformats.org/officeDocument/2006/relationships/image" Target="../media/image77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A356F30-D97F-A58B-7F74-511DCA2CA1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DE9782-4D0B-4C6D-B3CD-3DD9000CE490}" type="datetime1">
              <a:rPr kumimoji="0" lang="fr-FR" sz="1100" b="0" i="0" u="none" strike="noStrike" kern="1200" cap="none" spc="0" normalizeH="0" baseline="0" noProof="0" smtClean="0">
                <a:ln>
                  <a:noFill/>
                </a:ln>
                <a:solidFill>
                  <a:srgbClr val="434341"/>
                </a:solidFill>
                <a:effectLst/>
                <a:uLnTx/>
                <a:uFillTx/>
                <a:latin typeface="Arial Nova"/>
                <a:ea typeface="+mn-ea"/>
                <a:cs typeface="Arial" panose="020B0604020202020204" pitchFamily="34" charset="0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11/11/2025</a:t>
            </a:fld>
            <a:endParaRPr kumimoji="0" lang="fr-FR" sz="1100" b="0" i="0" u="none" strike="noStrike" kern="1200" cap="none" spc="0" normalizeH="0" baseline="0" noProof="0" dirty="0">
              <a:ln>
                <a:noFill/>
              </a:ln>
              <a:solidFill>
                <a:srgbClr val="434341"/>
              </a:solidFill>
              <a:effectLst/>
              <a:uLnTx/>
              <a:uFillTx/>
              <a:latin typeface="Arial Nova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9DFC8859-3B05-A11D-B734-4617705C2FEA}"/>
              </a:ext>
            </a:extLst>
          </p:cNvPr>
          <p:cNvSpPr/>
          <p:nvPr/>
        </p:nvSpPr>
        <p:spPr>
          <a:xfrm flipV="1">
            <a:off x="494019" y="3381315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27D0D62-A160-1591-D1FB-D0280BA5C4EB}"/>
              </a:ext>
            </a:extLst>
          </p:cNvPr>
          <p:cNvSpPr/>
          <p:nvPr/>
        </p:nvSpPr>
        <p:spPr>
          <a:xfrm flipV="1">
            <a:off x="523822" y="4271911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9F27B93-6A9A-2EA6-64F7-112CDAC13383}"/>
              </a:ext>
            </a:extLst>
          </p:cNvPr>
          <p:cNvSpPr/>
          <p:nvPr/>
        </p:nvSpPr>
        <p:spPr>
          <a:xfrm flipV="1">
            <a:off x="525365" y="2411808"/>
            <a:ext cx="74005" cy="7400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tx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B6EB466-EC21-9DCB-3630-F043B7DE29FF}"/>
              </a:ext>
            </a:extLst>
          </p:cNvPr>
          <p:cNvSpPr txBox="1"/>
          <p:nvPr/>
        </p:nvSpPr>
        <p:spPr>
          <a:xfrm>
            <a:off x="2322701" y="1712437"/>
            <a:ext cx="6012191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simulation.projet.nomProjet</a:t>
            </a:r>
            <a:r>
              <a:rPr lang="fr-FR" sz="2800" b="1" dirty="0"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AF74DBF-162D-2BCA-9971-F4955DE35774}"/>
              </a:ext>
            </a:extLst>
          </p:cNvPr>
          <p:cNvSpPr txBox="1"/>
          <p:nvPr/>
        </p:nvSpPr>
        <p:spPr>
          <a:xfrm>
            <a:off x="1372591" y="4181142"/>
            <a:ext cx="2838809" cy="461665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simulation.projet.contact.prenom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FD3A8F4-6F99-8B98-9BF8-475F31BB3DDC}"/>
              </a:ext>
            </a:extLst>
          </p:cNvPr>
          <p:cNvSpPr txBox="1"/>
          <p:nvPr/>
        </p:nvSpPr>
        <p:spPr>
          <a:xfrm>
            <a:off x="1372590" y="3868274"/>
            <a:ext cx="253439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 l’attention de :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7D5AAB89-A1A6-B33F-F4ED-5DCDF1CF2F4F}"/>
              </a:ext>
            </a:extLst>
          </p:cNvPr>
          <p:cNvGrpSpPr/>
          <p:nvPr/>
        </p:nvGrpSpPr>
        <p:grpSpPr>
          <a:xfrm>
            <a:off x="1372590" y="2485813"/>
            <a:ext cx="6012191" cy="1145099"/>
            <a:chOff x="5995757" y="4036134"/>
            <a:chExt cx="6902811" cy="1526801"/>
          </a:xfrm>
        </p:grpSpPr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6B9B6DBE-3FE9-4FA4-6DB3-7D663F17A275}"/>
                </a:ext>
              </a:extLst>
            </p:cNvPr>
            <p:cNvSpPr txBox="1"/>
            <p:nvPr/>
          </p:nvSpPr>
          <p:spPr>
            <a:xfrm>
              <a:off x="5995757" y="4036134"/>
              <a:ext cx="6902811" cy="49244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simulation.projet.organisation.raisonSociale</a:t>
              </a:r>
              <a:r>
                <a:rPr lang="fr-FR" b="1" dirty="0"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656D04D4-1E34-15CA-862C-7602A7A8A52E}"/>
                </a:ext>
              </a:extLst>
            </p:cNvPr>
            <p:cNvSpPr txBox="1"/>
            <p:nvPr/>
          </p:nvSpPr>
          <p:spPr>
            <a:xfrm>
              <a:off x="5995758" y="4454937"/>
              <a:ext cx="4603909" cy="1107998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>
                <a:defRPr sz="1100">
                  <a:solidFill>
                    <a:srgbClr val="353535"/>
                  </a:solidFill>
                  <a:latin typeface="+mj-lt"/>
                  <a:ea typeface="Lato Semibold" panose="020F0502020204030203" pitchFamily="34" charset="0"/>
                  <a:cs typeface="Lato Semibold" panose="020F0502020204030203" pitchFamily="34" charset="0"/>
                </a:defRPr>
              </a:lvl1pPr>
            </a:lstStyle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{{simulation.projet.organisation.adresse1}}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{{simulation.projet.organisation.adresse2}}</a:t>
              </a:r>
            </a:p>
            <a:p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simulation.projet.organisation.codePostal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{{</a:t>
              </a:r>
              <a:r>
                <a:rPr lang="fr-FR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simulation.projet.organisation.ville</a:t>
              </a:r>
              <a:r>
                <a:rPr lang="fr-F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7B4EF55A-891A-0779-7ED1-5B01FBA0066C}"/>
              </a:ext>
            </a:extLst>
          </p:cNvPr>
          <p:cNvSpPr txBox="1"/>
          <p:nvPr/>
        </p:nvSpPr>
        <p:spPr>
          <a:xfrm>
            <a:off x="3861939" y="5618833"/>
            <a:ext cx="2933716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>
              <a:defRPr sz="1100">
                <a:solidFill>
                  <a:srgbClr val="353535"/>
                </a:solidFill>
                <a:latin typeface="+mj-lt"/>
                <a:ea typeface="Lato Semibold" panose="020F0502020204030203" pitchFamily="34" charset="0"/>
                <a:cs typeface="Lato Semibold" panose="020F0502020204030203" pitchFamily="34" charset="0"/>
              </a:defRPr>
            </a:lvl1pPr>
          </a:lstStyle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28C2B64-DA6C-730E-E852-53E6567B9D7A}"/>
              </a:ext>
            </a:extLst>
          </p:cNvPr>
          <p:cNvSpPr txBox="1"/>
          <p:nvPr/>
        </p:nvSpPr>
        <p:spPr>
          <a:xfrm>
            <a:off x="3857979" y="5318752"/>
            <a:ext cx="311432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>
              <a:defRPr sz="1400" b="1">
                <a:solidFill>
                  <a:srgbClr val="353535"/>
                </a:solidFill>
              </a:defRPr>
            </a:lvl1pPr>
          </a:lstStyle>
          <a:p>
            <a:r>
              <a:rPr lang="fr-F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Offre présentée par :</a:t>
            </a:r>
          </a:p>
        </p:txBody>
      </p:sp>
    </p:spTree>
    <p:extLst>
      <p:ext uri="{BB962C8B-B14F-4D97-AF65-F5344CB8AC3E}">
        <p14:creationId xmlns:p14="http://schemas.microsoft.com/office/powerpoint/2010/main" val="37498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pour une image  4" descr="Une image contenant habits, personne, Visage humain, sourire&#10;&#10;Description générée automatiquement">
            <a:extLst>
              <a:ext uri="{FF2B5EF4-FFF2-40B4-BE49-F238E27FC236}">
                <a16:creationId xmlns:a16="http://schemas.microsoft.com/office/drawing/2014/main" id="{116AC627-3BBA-1ADC-130F-6802410B994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440321-3FF7-5FEB-E1ED-5940F62FD8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Présentation de l’entreprise</a:t>
            </a:r>
          </a:p>
        </p:txBody>
      </p:sp>
    </p:spTree>
    <p:extLst>
      <p:ext uri="{BB962C8B-B14F-4D97-AF65-F5344CB8AC3E}">
        <p14:creationId xmlns:p14="http://schemas.microsoft.com/office/powerpoint/2010/main" val="2912120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54826-40B7-447C-76B5-F8957F879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B76777E-5183-F2DA-2A3B-BDD5F8C8654D}"/>
              </a:ext>
            </a:extLst>
          </p:cNvPr>
          <p:cNvSpPr/>
          <p:nvPr/>
        </p:nvSpPr>
        <p:spPr>
          <a:xfrm>
            <a:off x="5775683" y="2769466"/>
            <a:ext cx="3270471" cy="3270471"/>
          </a:xfrm>
          <a:prstGeom prst="rect">
            <a:avLst/>
          </a:prstGeom>
          <a:solidFill>
            <a:srgbClr val="FAC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BE2D60-6BA3-2BB9-412D-978739BA8E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1" name="Espace réservé du texte 1">
            <a:extLst>
              <a:ext uri="{FF2B5EF4-FFF2-40B4-BE49-F238E27FC236}">
                <a16:creationId xmlns:a16="http://schemas.microsoft.com/office/drawing/2014/main" id="{DDA8900C-1757-DFC3-1243-9B0B814C9287}"/>
              </a:ext>
            </a:extLst>
          </p:cNvPr>
          <p:cNvSpPr txBox="1">
            <a:spLocks/>
          </p:cNvSpPr>
          <p:nvPr/>
        </p:nvSpPr>
        <p:spPr>
          <a:xfrm>
            <a:off x="1510747" y="2858060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b="1" dirty="0">
                <a:solidFill>
                  <a:prstClr val="black"/>
                </a:solidFill>
                <a:latin typeface="Century Gothic" panose="020B0502020202020204" pitchFamily="34" charset="0"/>
              </a:rPr>
              <a:t>Notre solution technique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D6CFF6-9722-A2E1-5887-E742A357121E}"/>
              </a:ext>
            </a:extLst>
          </p:cNvPr>
          <p:cNvSpPr/>
          <p:nvPr/>
        </p:nvSpPr>
        <p:spPr>
          <a:xfrm>
            <a:off x="0" y="3052966"/>
            <a:ext cx="1225118" cy="752067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1">
            <a:extLst>
              <a:ext uri="{FF2B5EF4-FFF2-40B4-BE49-F238E27FC236}">
                <a16:creationId xmlns:a16="http://schemas.microsoft.com/office/drawing/2014/main" id="{D9AAA8A3-6FB7-D70E-9F7D-417DFF7813EF}"/>
              </a:ext>
            </a:extLst>
          </p:cNvPr>
          <p:cNvSpPr txBox="1">
            <a:spLocks/>
          </p:cNvSpPr>
          <p:nvPr/>
        </p:nvSpPr>
        <p:spPr>
          <a:xfrm>
            <a:off x="1510747" y="1604766"/>
            <a:ext cx="3415382" cy="1141878"/>
          </a:xfrm>
          <a:prstGeom prst="rect">
            <a:avLst/>
          </a:prstGeom>
        </p:spPr>
        <p:txBody>
          <a:bodyPr vert="horz" lIns="78203" tIns="39101" rIns="78203" bIns="39101" rtlCol="0" anchor="ctr"/>
          <a:lstStyle>
            <a:defPPr>
              <a:defRPr lang="en-US"/>
            </a:defPPr>
            <a:lvl1pPr marL="0" algn="l" defTabSz="457200" rtl="0" eaLnBrk="1" latinLnBrk="0" hangingPunct="1">
              <a:defRPr sz="1323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390987"/>
            <a:r>
              <a:rPr lang="fr-FR" sz="3600" dirty="0">
                <a:solidFill>
                  <a:srgbClr val="1EA538"/>
                </a:solidFill>
                <a:latin typeface="Century Gothic"/>
              </a:rPr>
              <a:t>Les postes managés</a:t>
            </a:r>
            <a:endParaRPr lang="fr-FR" sz="3600" dirty="0">
              <a:solidFill>
                <a:srgbClr val="1EA538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D50E911D-20A3-EB8F-41C5-5883D652632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5220" y="7158857"/>
            <a:ext cx="1095957" cy="280447"/>
          </a:xfrm>
          <a:prstGeom prst="rect">
            <a:avLst/>
          </a:prstGeom>
        </p:spPr>
      </p:pic>
      <p:pic>
        <p:nvPicPr>
          <p:cNvPr id="4" name="Image 3" descr="Une image contenant habits, personne, Pantalons, Visage humain&#10;&#10;Le contenu généré par l’IA peut être incorrect.">
            <a:extLst>
              <a:ext uri="{FF2B5EF4-FFF2-40B4-BE49-F238E27FC236}">
                <a16:creationId xmlns:a16="http://schemas.microsoft.com/office/drawing/2014/main" id="{E0479BB8-1EB4-E678-E316-49634620F3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5108" y="291213"/>
            <a:ext cx="4846631" cy="7268462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F50F1814-06C6-C95F-544E-054054C94D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6154" y="1122748"/>
            <a:ext cx="1648836" cy="164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391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3060-5106-C8C3-04DA-6D952E1E2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4" name="ZoneTexte 2463">
            <a:extLst>
              <a:ext uri="{FF2B5EF4-FFF2-40B4-BE49-F238E27FC236}">
                <a16:creationId xmlns:a16="http://schemas.microsoft.com/office/drawing/2014/main" id="{20A0AA4B-CA94-898E-AC89-F5C8BE3F5A0A}"/>
              </a:ext>
            </a:extLst>
          </p:cNvPr>
          <p:cNvSpPr txBox="1"/>
          <p:nvPr/>
        </p:nvSpPr>
        <p:spPr>
          <a:xfrm>
            <a:off x="7252472" y="1509115"/>
            <a:ext cx="2153258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4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Supervision </a:t>
            </a:r>
          </a:p>
        </p:txBody>
      </p:sp>
      <p:sp>
        <p:nvSpPr>
          <p:cNvPr id="2471" name="ZoneTexte 2470">
            <a:extLst>
              <a:ext uri="{FF2B5EF4-FFF2-40B4-BE49-F238E27FC236}">
                <a16:creationId xmlns:a16="http://schemas.microsoft.com/office/drawing/2014/main" id="{EA376519-59F2-A0BB-8D6A-974BE4354B25}"/>
              </a:ext>
            </a:extLst>
          </p:cNvPr>
          <p:cNvSpPr txBox="1"/>
          <p:nvPr/>
        </p:nvSpPr>
        <p:spPr>
          <a:xfrm>
            <a:off x="7277604" y="4699236"/>
            <a:ext cx="2157291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 d’investissement</a:t>
            </a:r>
          </a:p>
        </p:txBody>
      </p:sp>
      <p:sp>
        <p:nvSpPr>
          <p:cNvPr id="2477" name="ZoneTexte 2476">
            <a:extLst>
              <a:ext uri="{FF2B5EF4-FFF2-40B4-BE49-F238E27FC236}">
                <a16:creationId xmlns:a16="http://schemas.microsoft.com/office/drawing/2014/main" id="{70F4DB03-CB44-A117-DEB8-A59B57776D02}"/>
              </a:ext>
            </a:extLst>
          </p:cNvPr>
          <p:cNvSpPr txBox="1"/>
          <p:nvPr/>
        </p:nvSpPr>
        <p:spPr>
          <a:xfrm>
            <a:off x="7267968" y="3187892"/>
            <a:ext cx="2176562" cy="307777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defTabSz="801929">
              <a:defRPr/>
            </a:pPr>
            <a:r>
              <a:rPr lang="fr-FR" sz="1400" b="1" kern="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Sécurité &amp; productivité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3326CA5-494C-4640-C990-E777DEA7542D}"/>
              </a:ext>
            </a:extLst>
          </p:cNvPr>
          <p:cNvSpPr txBox="1"/>
          <p:nvPr/>
        </p:nvSpPr>
        <p:spPr>
          <a:xfrm>
            <a:off x="1189658" y="5760432"/>
            <a:ext cx="50899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latin typeface="Arial Nova" panose="020B0504020202020204" pitchFamily="34" charset="0"/>
              </a:rPr>
              <a:t>Le Poste de Travail Managé assure </a:t>
            </a:r>
            <a:r>
              <a:rPr lang="fr-FR" sz="1400" b="1" dirty="0">
                <a:latin typeface="Arial Nova" panose="020B0504020202020204" pitchFamily="34" charset="0"/>
              </a:rPr>
              <a:t>une gestion optimisée </a:t>
            </a:r>
            <a:r>
              <a:rPr lang="fr-FR" sz="1400" dirty="0">
                <a:latin typeface="Arial Nova" panose="020B0504020202020204" pitchFamily="34" charset="0"/>
              </a:rPr>
              <a:t>des ordinateurs de votre entreprise</a:t>
            </a:r>
            <a:r>
              <a:rPr lang="fr-FR" sz="1400" b="1" dirty="0">
                <a:latin typeface="Arial Nova" panose="020B0504020202020204" pitchFamily="34" charset="0"/>
              </a:rPr>
              <a:t>. Avec une supervision proactive, des mises à jour automatiques et une sécurité renforcée, </a:t>
            </a:r>
            <a:r>
              <a:rPr lang="fr-FR" sz="1400" dirty="0">
                <a:latin typeface="Arial Nova" panose="020B0504020202020204" pitchFamily="34" charset="0"/>
              </a:rPr>
              <a:t>vos équipes peuvent se concentrer sur leur travail sans interruption.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062195-EB04-2A70-1708-F9EE12B681EB}"/>
              </a:ext>
            </a:extLst>
          </p:cNvPr>
          <p:cNvSpPr/>
          <p:nvPr/>
        </p:nvSpPr>
        <p:spPr>
          <a:xfrm>
            <a:off x="230" y="772765"/>
            <a:ext cx="203515" cy="601414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AF7296-141F-CEE0-5E11-6919BF0DB84B}"/>
              </a:ext>
            </a:extLst>
          </p:cNvPr>
          <p:cNvSpPr/>
          <p:nvPr/>
        </p:nvSpPr>
        <p:spPr>
          <a:xfrm>
            <a:off x="7004865" y="2086028"/>
            <a:ext cx="2702768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Une supervision en 24/7 pour anticiper et résoudre les problèmes avant qu’ils ne surviennent.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7DFE6D-4476-4E82-EF81-09F69A6B57F4}"/>
              </a:ext>
            </a:extLst>
          </p:cNvPr>
          <p:cNvSpPr/>
          <p:nvPr/>
        </p:nvSpPr>
        <p:spPr>
          <a:xfrm>
            <a:off x="7267968" y="3703197"/>
            <a:ext cx="2176562" cy="43955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Patch management et mise à jour automatique pour une protection et des performance maximales.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6043A-61E9-5F4C-EE8A-9B15A85B36E1}"/>
              </a:ext>
            </a:extLst>
          </p:cNvPr>
          <p:cNvSpPr/>
          <p:nvPr/>
        </p:nvSpPr>
        <p:spPr>
          <a:xfrm>
            <a:off x="7267968" y="5214541"/>
            <a:ext cx="2176562" cy="562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Des experts </a:t>
            </a:r>
            <a:r>
              <a:rPr lang="fr-FR" sz="1200" dirty="0" err="1">
                <a:solidFill>
                  <a:schemeClr val="tx1"/>
                </a:solidFill>
                <a:latin typeface="Arial Nova" panose="020B0504020202020204" pitchFamily="34" charset="0"/>
              </a:rPr>
              <a:t>Koesio</a:t>
            </a:r>
            <a:r>
              <a:rPr lang="fr-FR" sz="1200" dirty="0">
                <a:solidFill>
                  <a:schemeClr val="tx1"/>
                </a:solidFill>
                <a:latin typeface="Arial Nova" panose="020B0504020202020204" pitchFamily="34" charset="0"/>
              </a:rPr>
              <a:t> gèrent la mise en place et la maintenance, en vous évitant tout équipement.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C71E3-9366-1961-A3F3-B307C8260B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859FCBD-48C6-8739-42E9-99197BAB08F3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21F3D-9B5D-0D03-9694-80701BE454C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Espace réservé du texte 26">
            <a:extLst>
              <a:ext uri="{FF2B5EF4-FFF2-40B4-BE49-F238E27FC236}">
                <a16:creationId xmlns:a16="http://schemas.microsoft.com/office/drawing/2014/main" id="{155A61F6-3113-2064-378C-6C8CC906DB1F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638332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INTÉGREZ ET PROTÉGEZ VOS POSTES DE TRAVAIL</a:t>
            </a:r>
          </a:p>
        </p:txBody>
      </p:sp>
      <p:pic>
        <p:nvPicPr>
          <p:cNvPr id="13" name="Image 12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492955BD-D0A0-009C-4453-184437AC8D2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8" name="Image 7" descr="Une image contenant cercle, capture d’écran, Graphiqu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0D4920B3-FB1D-22CC-CFE9-B644878CE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23122" y="1037667"/>
            <a:ext cx="4761905" cy="476190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E53DEBF0-FA15-4D18-4D5D-E86A456F9F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834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5633-45B7-553D-5E94-512E0E7A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618A2BE-0ED6-664F-5046-B7E92FED7874}"/>
              </a:ext>
            </a:extLst>
          </p:cNvPr>
          <p:cNvSpPr/>
          <p:nvPr/>
        </p:nvSpPr>
        <p:spPr>
          <a:xfrm>
            <a:off x="1696318" y="3779837"/>
            <a:ext cx="5591320" cy="3058413"/>
          </a:xfrm>
          <a:prstGeom prst="rect">
            <a:avLst/>
          </a:prstGeom>
          <a:noFill/>
          <a:ln w="28575">
            <a:solidFill>
              <a:srgbClr val="29A6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FF9CB4E7-EB7B-F44B-3468-5B3EC4150379}"/>
              </a:ext>
            </a:extLst>
          </p:cNvPr>
          <p:cNvSpPr txBox="1">
            <a:spLocks/>
          </p:cNvSpPr>
          <p:nvPr/>
        </p:nvSpPr>
        <p:spPr>
          <a:xfrm>
            <a:off x="852098" y="1208948"/>
            <a:ext cx="908884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Le Poste de Travail Managé est intégré à l’infrastructure IT existante de votre entreprise. Il communique avec une console centralisée, permettant un suivi en temps réel et une intervention à distance en cas d’incident.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4860E54-6B2C-B5F7-B492-E6372BDCEA3D}"/>
              </a:ext>
            </a:extLst>
          </p:cNvPr>
          <p:cNvCxnSpPr>
            <a:cxnSpLocks/>
          </p:cNvCxnSpPr>
          <p:nvPr/>
        </p:nvCxnSpPr>
        <p:spPr>
          <a:xfrm>
            <a:off x="830064" y="1255262"/>
            <a:ext cx="0" cy="563972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A08C559-7238-DEAF-0BB7-0B46BADBBAA7}"/>
              </a:ext>
            </a:extLst>
          </p:cNvPr>
          <p:cNvSpPr/>
          <p:nvPr/>
        </p:nvSpPr>
        <p:spPr>
          <a:xfrm>
            <a:off x="545725" y="3027081"/>
            <a:ext cx="1394761" cy="2470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LIEN INTERNET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74CB4D5-244C-F431-CB79-78DFDDD8C157}"/>
              </a:ext>
            </a:extLst>
          </p:cNvPr>
          <p:cNvSpPr/>
          <p:nvPr/>
        </p:nvSpPr>
        <p:spPr>
          <a:xfrm>
            <a:off x="2998860" y="3039691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ROUTEUR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60513BE3-8EC2-6CE9-CB9B-15B79620F1DF}"/>
              </a:ext>
            </a:extLst>
          </p:cNvPr>
          <p:cNvSpPr txBox="1"/>
          <p:nvPr/>
        </p:nvSpPr>
        <p:spPr>
          <a:xfrm>
            <a:off x="1511116" y="2251159"/>
            <a:ext cx="25932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Acheminé au travers d’un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331B1E9-DD4B-E7E3-F89A-F4713E54C72F}"/>
              </a:ext>
            </a:extLst>
          </p:cNvPr>
          <p:cNvSpPr txBox="1"/>
          <p:nvPr/>
        </p:nvSpPr>
        <p:spPr>
          <a:xfrm>
            <a:off x="4298711" y="2119311"/>
            <a:ext cx="17144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Associé pour la sécurisation du réseau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3E6214-BA82-2C62-A96A-F3F9DF94DD53}"/>
              </a:ext>
            </a:extLst>
          </p:cNvPr>
          <p:cNvSpPr/>
          <p:nvPr/>
        </p:nvSpPr>
        <p:spPr>
          <a:xfrm>
            <a:off x="5809404" y="304466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PAREFEU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E747322-B45D-9442-7409-3557B3655F67}"/>
              </a:ext>
            </a:extLst>
          </p:cNvPr>
          <p:cNvSpPr txBox="1"/>
          <p:nvPr/>
        </p:nvSpPr>
        <p:spPr>
          <a:xfrm>
            <a:off x="6828388" y="2049882"/>
            <a:ext cx="1284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Diffusion dans l’entreprise</a:t>
            </a:r>
          </a:p>
        </p:txBody>
      </p:sp>
      <p:pic>
        <p:nvPicPr>
          <p:cNvPr id="6154" name="Picture 10" descr="WiFi Logo : histoire, signification de l'emblème">
            <a:extLst>
              <a:ext uri="{FF2B5EF4-FFF2-40B4-BE49-F238E27FC236}">
                <a16:creationId xmlns:a16="http://schemas.microsoft.com/office/drawing/2014/main" id="{C0BCC713-892F-3260-22F5-54C124378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2463" y="2239502"/>
            <a:ext cx="1122500" cy="631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4AC1310-6789-AC3D-F4EA-228272DDABF8}"/>
              </a:ext>
            </a:extLst>
          </p:cNvPr>
          <p:cNvCxnSpPr>
            <a:cxnSpLocks/>
          </p:cNvCxnSpPr>
          <p:nvPr/>
        </p:nvCxnSpPr>
        <p:spPr>
          <a:xfrm>
            <a:off x="8496165" y="3588035"/>
            <a:ext cx="0" cy="348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9A56675F-2D82-A402-AA52-523CD000E1D3}"/>
              </a:ext>
            </a:extLst>
          </p:cNvPr>
          <p:cNvSpPr txBox="1"/>
          <p:nvPr/>
        </p:nvSpPr>
        <p:spPr>
          <a:xfrm>
            <a:off x="8583310" y="3430219"/>
            <a:ext cx="20376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Transmet le signal et potentiellement l’électricité</a:t>
            </a:r>
          </a:p>
        </p:txBody>
      </p: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4022E014-71ED-B7B2-CAF1-C56E18F523DA}"/>
              </a:ext>
            </a:extLst>
          </p:cNvPr>
          <p:cNvCxnSpPr>
            <a:cxnSpLocks/>
          </p:cNvCxnSpPr>
          <p:nvPr/>
        </p:nvCxnSpPr>
        <p:spPr>
          <a:xfrm flipH="1">
            <a:off x="7542063" y="4024548"/>
            <a:ext cx="2017864" cy="100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158" name="Picture 14" descr="PICTO Câble Ethernet | BULAC">
            <a:extLst>
              <a:ext uri="{FF2B5EF4-FFF2-40B4-BE49-F238E27FC236}">
                <a16:creationId xmlns:a16="http://schemas.microsoft.com/office/drawing/2014/main" id="{802DC0E2-6CC1-8461-8BCF-E40310463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8285839" y="4031604"/>
            <a:ext cx="253225" cy="399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04C9905-2E86-EA1D-2193-E18E9E888E84}"/>
              </a:ext>
            </a:extLst>
          </p:cNvPr>
          <p:cNvCxnSpPr>
            <a:cxnSpLocks/>
          </p:cNvCxnSpPr>
          <p:nvPr/>
        </p:nvCxnSpPr>
        <p:spPr>
          <a:xfrm flipH="1">
            <a:off x="7380888" y="4496563"/>
            <a:ext cx="743776" cy="401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F1F404B2-8DEE-C2C0-698C-048B2561A6BA}"/>
              </a:ext>
            </a:extLst>
          </p:cNvPr>
          <p:cNvSpPr/>
          <p:nvPr/>
        </p:nvSpPr>
        <p:spPr>
          <a:xfrm>
            <a:off x="7922567" y="3059280"/>
            <a:ext cx="1140726" cy="20360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SWITCH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ADFA145-87E4-9271-3194-A8AEB1FC8F04}"/>
              </a:ext>
            </a:extLst>
          </p:cNvPr>
          <p:cNvSpPr txBox="1"/>
          <p:nvPr/>
        </p:nvSpPr>
        <p:spPr>
          <a:xfrm>
            <a:off x="8983824" y="2587677"/>
            <a:ext cx="8765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ET/OU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A19B81C-7A3A-78A7-7317-A2500BD580A0}"/>
              </a:ext>
            </a:extLst>
          </p:cNvPr>
          <p:cNvSpPr/>
          <p:nvPr/>
        </p:nvSpPr>
        <p:spPr>
          <a:xfrm>
            <a:off x="9565430" y="3034570"/>
            <a:ext cx="908726" cy="22699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WIFI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15E418-1562-2EE5-0A4A-219D237D60EB}"/>
              </a:ext>
            </a:extLst>
          </p:cNvPr>
          <p:cNvSpPr/>
          <p:nvPr/>
        </p:nvSpPr>
        <p:spPr>
          <a:xfrm>
            <a:off x="7872865" y="461696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CABLAGE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F2AC3BB-A0B2-DF62-5D15-13CD039BB44D}"/>
              </a:ext>
            </a:extLst>
          </p:cNvPr>
          <p:cNvSpPr/>
          <p:nvPr/>
        </p:nvSpPr>
        <p:spPr>
          <a:xfrm>
            <a:off x="5539962" y="4518454"/>
            <a:ext cx="1394761" cy="402389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Outil collaboratif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16EE31-4D36-CDCD-F49F-F0ABC2438C90}"/>
              </a:ext>
            </a:extLst>
          </p:cNvPr>
          <p:cNvSpPr/>
          <p:nvPr/>
        </p:nvSpPr>
        <p:spPr>
          <a:xfrm>
            <a:off x="5452048" y="6123813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APPLICATIONS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B96D6375-0A6A-8922-B9B2-6AE77353AE90}"/>
              </a:ext>
            </a:extLst>
          </p:cNvPr>
          <p:cNvSpPr/>
          <p:nvPr/>
        </p:nvSpPr>
        <p:spPr>
          <a:xfrm>
            <a:off x="3578812" y="5395417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ORDINATEUR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4C47C23-79E3-AA8D-C1D4-404C6C6F5966}"/>
              </a:ext>
            </a:extLst>
          </p:cNvPr>
          <p:cNvSpPr/>
          <p:nvPr/>
        </p:nvSpPr>
        <p:spPr>
          <a:xfrm>
            <a:off x="1890135" y="4496976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MFA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FABA763-C82C-8011-4A9E-929DA8BCB433}"/>
              </a:ext>
            </a:extLst>
          </p:cNvPr>
          <p:cNvSpPr/>
          <p:nvPr/>
        </p:nvSpPr>
        <p:spPr>
          <a:xfrm>
            <a:off x="1932289" y="6123814"/>
            <a:ext cx="1394761" cy="222673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3" b="1" dirty="0">
                <a:solidFill>
                  <a:schemeClr val="tx1"/>
                </a:solidFill>
              </a:rPr>
              <a:t>Antivirus/EDR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388BD-FC02-C872-BBA3-8A3BFBA9AD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878E9D-979F-E522-6D8C-2297702B5FFA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Espace réservé du texte 26">
            <a:extLst>
              <a:ext uri="{FF2B5EF4-FFF2-40B4-BE49-F238E27FC236}">
                <a16:creationId xmlns:a16="http://schemas.microsoft.com/office/drawing/2014/main" id="{D42C3371-F2BB-2939-3723-97D80FAA9CE3}"/>
              </a:ext>
            </a:extLst>
          </p:cNvPr>
          <p:cNvSpPr txBox="1">
            <a:spLocks/>
          </p:cNvSpPr>
          <p:nvPr/>
        </p:nvSpPr>
        <p:spPr>
          <a:xfrm>
            <a:off x="629635" y="187291"/>
            <a:ext cx="6912427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COMPRENDRE LE POSTE DE TRAVAIL DANS SON ACTION</a:t>
            </a:r>
          </a:p>
        </p:txBody>
      </p:sp>
      <p:pic>
        <p:nvPicPr>
          <p:cNvPr id="11" name="Image 1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3DE8F14B-882E-CF22-E6DA-138353CCFB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16" name="Graphique 15">
            <a:extLst>
              <a:ext uri="{FF2B5EF4-FFF2-40B4-BE49-F238E27FC236}">
                <a16:creationId xmlns:a16="http://schemas.microsoft.com/office/drawing/2014/main" id="{FBB8FA5D-555E-8F73-8ECD-2D28C042D2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6086" y="2269841"/>
            <a:ext cx="548585" cy="548585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9BC029-585A-B341-BC2D-583F0CBE2F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9429" y="2377798"/>
            <a:ext cx="638150" cy="440628"/>
          </a:xfrm>
          <a:prstGeom prst="rect">
            <a:avLst/>
          </a:prstGeom>
        </p:spPr>
      </p:pic>
      <p:pic>
        <p:nvPicPr>
          <p:cNvPr id="18" name="Graphique 17">
            <a:extLst>
              <a:ext uri="{FF2B5EF4-FFF2-40B4-BE49-F238E27FC236}">
                <a16:creationId xmlns:a16="http://schemas.microsoft.com/office/drawing/2014/main" id="{C26936F4-57A4-9F9C-241D-2662AA25D71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39276" y="2241281"/>
            <a:ext cx="643014" cy="587516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3382F8D9-CAA4-25B8-BC87-8206BBB05F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69980" y="2374537"/>
            <a:ext cx="797839" cy="510617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89A1E3D-4F74-402B-274C-78E2C0BF2E6C}"/>
              </a:ext>
            </a:extLst>
          </p:cNvPr>
          <p:cNvCxnSpPr>
            <a:cxnSpLocks/>
          </p:cNvCxnSpPr>
          <p:nvPr/>
        </p:nvCxnSpPr>
        <p:spPr>
          <a:xfrm>
            <a:off x="2060922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D6BAA0D3-9328-4C64-DC24-3D8C0BC960E4}"/>
              </a:ext>
            </a:extLst>
          </p:cNvPr>
          <p:cNvCxnSpPr>
            <a:cxnSpLocks/>
          </p:cNvCxnSpPr>
          <p:nvPr/>
        </p:nvCxnSpPr>
        <p:spPr>
          <a:xfrm>
            <a:off x="4801368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CC12F3C-39E0-ABF7-69AC-D281011C74C7}"/>
              </a:ext>
            </a:extLst>
          </p:cNvPr>
          <p:cNvCxnSpPr>
            <a:cxnSpLocks/>
          </p:cNvCxnSpPr>
          <p:nvPr/>
        </p:nvCxnSpPr>
        <p:spPr>
          <a:xfrm>
            <a:off x="7123946" y="2632598"/>
            <a:ext cx="57747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Graphique 25">
            <a:extLst>
              <a:ext uri="{FF2B5EF4-FFF2-40B4-BE49-F238E27FC236}">
                <a16:creationId xmlns:a16="http://schemas.microsoft.com/office/drawing/2014/main" id="{98C4044A-D75A-CD36-CFF5-7C005A98A1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99531" y="4839640"/>
            <a:ext cx="581832" cy="402389"/>
          </a:xfrm>
          <a:prstGeom prst="rect">
            <a:avLst/>
          </a:prstGeom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E982736B-E6B6-7069-05A1-0DBB99029B68}"/>
              </a:ext>
            </a:extLst>
          </p:cNvPr>
          <p:cNvCxnSpPr>
            <a:cxnSpLocks/>
          </p:cNvCxnSpPr>
          <p:nvPr/>
        </p:nvCxnSpPr>
        <p:spPr>
          <a:xfrm flipH="1" flipV="1">
            <a:off x="3291092" y="4827621"/>
            <a:ext cx="348307" cy="3451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94E3EDF-50F6-0C9C-8A81-AA586E4CC4DB}"/>
              </a:ext>
            </a:extLst>
          </p:cNvPr>
          <p:cNvCxnSpPr>
            <a:cxnSpLocks/>
          </p:cNvCxnSpPr>
          <p:nvPr/>
        </p:nvCxnSpPr>
        <p:spPr>
          <a:xfrm flipH="1">
            <a:off x="3345366" y="5751375"/>
            <a:ext cx="350874" cy="33387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B55BC13D-3BE2-CE6E-8F7A-DC81044A6CEF}"/>
              </a:ext>
            </a:extLst>
          </p:cNvPr>
          <p:cNvCxnSpPr>
            <a:cxnSpLocks/>
          </p:cNvCxnSpPr>
          <p:nvPr/>
        </p:nvCxnSpPr>
        <p:spPr>
          <a:xfrm flipV="1">
            <a:off x="5001901" y="4827621"/>
            <a:ext cx="376944" cy="4008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FA0FFF62-B5E3-76A3-6BFD-AC628A8C23E2}"/>
              </a:ext>
            </a:extLst>
          </p:cNvPr>
          <p:cNvCxnSpPr>
            <a:cxnSpLocks/>
          </p:cNvCxnSpPr>
          <p:nvPr/>
        </p:nvCxnSpPr>
        <p:spPr>
          <a:xfrm>
            <a:off x="5001901" y="5751374"/>
            <a:ext cx="376944" cy="33387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5" name="Graphique 44" descr="Verrou avec un remplissage uni">
            <a:extLst>
              <a:ext uri="{FF2B5EF4-FFF2-40B4-BE49-F238E27FC236}">
                <a16:creationId xmlns:a16="http://schemas.microsoft.com/office/drawing/2014/main" id="{E3C58B61-8347-EFFF-8BE0-9D82B9426E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231711" y="5437985"/>
            <a:ext cx="626778" cy="626778"/>
          </a:xfrm>
          <a:prstGeom prst="rect">
            <a:avLst/>
          </a:prstGeom>
        </p:spPr>
      </p:pic>
      <p:pic>
        <p:nvPicPr>
          <p:cNvPr id="50" name="Graphique 49" descr="Informatique hébergé avec un remplissage uni">
            <a:extLst>
              <a:ext uri="{FF2B5EF4-FFF2-40B4-BE49-F238E27FC236}">
                <a16:creationId xmlns:a16="http://schemas.microsoft.com/office/drawing/2014/main" id="{6CE8D605-008D-8B89-C88B-B54218479D3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09404" y="5356933"/>
            <a:ext cx="675952" cy="675952"/>
          </a:xfrm>
          <a:prstGeom prst="rect">
            <a:avLst/>
          </a:prstGeom>
        </p:spPr>
      </p:pic>
      <p:pic>
        <p:nvPicPr>
          <p:cNvPr id="52" name="Graphique 51" descr="Smartphone avec un remplissage uni">
            <a:extLst>
              <a:ext uri="{FF2B5EF4-FFF2-40B4-BE49-F238E27FC236}">
                <a16:creationId xmlns:a16="http://schemas.microsoft.com/office/drawing/2014/main" id="{DFB2C70F-20C3-E48C-A77D-26104571D164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271576" y="3863873"/>
            <a:ext cx="549068" cy="549068"/>
          </a:xfrm>
          <a:prstGeom prst="rect">
            <a:avLst/>
          </a:prstGeom>
        </p:spPr>
      </p:pic>
      <p:pic>
        <p:nvPicPr>
          <p:cNvPr id="54" name="Graphique 53" descr="Brainstorming de groupe avec un remplissage uni">
            <a:extLst>
              <a:ext uri="{FF2B5EF4-FFF2-40B4-BE49-F238E27FC236}">
                <a16:creationId xmlns:a16="http://schemas.microsoft.com/office/drawing/2014/main" id="{1F2C610C-DE8D-0364-238E-4E351C660F38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09404" y="3816815"/>
            <a:ext cx="675952" cy="675952"/>
          </a:xfrm>
          <a:prstGeom prst="rect">
            <a:avLst/>
          </a:prstGeom>
        </p:spPr>
      </p:pic>
      <p:sp>
        <p:nvSpPr>
          <p:cNvPr id="55" name="ZoneTexte 54">
            <a:extLst>
              <a:ext uri="{FF2B5EF4-FFF2-40B4-BE49-F238E27FC236}">
                <a16:creationId xmlns:a16="http://schemas.microsoft.com/office/drawing/2014/main" id="{CB143FD2-7F3E-719F-5F45-EAD6C9BA111E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C698909C-B1AE-9CAF-0B39-2D8F43737731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2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559FE-A1F6-8136-B0FA-E59AA17B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4" name="Image 2433" descr="Une image contenant texte, capture d’écran, graphisme, Graphique&#10;&#10;Description générée automatiquement">
            <a:extLst>
              <a:ext uri="{FF2B5EF4-FFF2-40B4-BE49-F238E27FC236}">
                <a16:creationId xmlns:a16="http://schemas.microsoft.com/office/drawing/2014/main" id="{63ADC003-3605-B1C3-3F40-B85BE9DA56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13871" y="1598405"/>
            <a:ext cx="2599509" cy="2090585"/>
          </a:xfrm>
          <a:prstGeom prst="rect">
            <a:avLst/>
          </a:prstGeom>
        </p:spPr>
      </p:pic>
      <p:sp>
        <p:nvSpPr>
          <p:cNvPr id="113" name="Rectangle 112">
            <a:extLst>
              <a:ext uri="{FF2B5EF4-FFF2-40B4-BE49-F238E27FC236}">
                <a16:creationId xmlns:a16="http://schemas.microsoft.com/office/drawing/2014/main" id="{C20596DF-6B8F-A4F0-65BA-7392F698513E}"/>
              </a:ext>
            </a:extLst>
          </p:cNvPr>
          <p:cNvSpPr/>
          <p:nvPr/>
        </p:nvSpPr>
        <p:spPr>
          <a:xfrm>
            <a:off x="3047051" y="1146546"/>
            <a:ext cx="3972222" cy="300143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432" dirty="0">
              <a:solidFill>
                <a:srgbClr val="FFFFFF"/>
              </a:solidFill>
              <a:highlight>
                <a:srgbClr val="2F53A0"/>
              </a:highlight>
              <a:latin typeface="Arial Nova" panose="020B0504020202020204" pitchFamily="34" charset="0"/>
            </a:endParaRP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D69C5FD-A6BA-AA35-FFDA-F3E1A3F7EF6F}"/>
              </a:ext>
            </a:extLst>
          </p:cNvPr>
          <p:cNvSpPr txBox="1"/>
          <p:nvPr/>
        </p:nvSpPr>
        <p:spPr>
          <a:xfrm>
            <a:off x="629636" y="4308715"/>
            <a:ext cx="2899552" cy="2737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sont souvent obsolètes et les mises à jour ne sont pas appliquées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Avec le service managé, les mises à jour sont automatisées et les postes restent performants.</a:t>
            </a:r>
          </a:p>
          <a:p>
            <a:endParaRPr lang="fr-FR" sz="1228" b="1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L</a:t>
            </a:r>
            <a:r>
              <a:rPr lang="fr-FR" sz="1228" dirty="0">
                <a:latin typeface="Arial Nova" panose="020B0504020202020204" pitchFamily="34" charset="0"/>
              </a:rPr>
              <a:t>es pannes entraînent des interruptions de travail prolongées.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monitoring en temps réel permet d’anticiper les problèmes et d’intervenir rapidement.</a:t>
            </a:r>
          </a:p>
          <a:p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07" name="ZoneTexte 106">
            <a:extLst>
              <a:ext uri="{FF2B5EF4-FFF2-40B4-BE49-F238E27FC236}">
                <a16:creationId xmlns:a16="http://schemas.microsoft.com/office/drawing/2014/main" id="{E531263D-B59E-C6C1-F635-90021D4EC5D9}"/>
              </a:ext>
            </a:extLst>
          </p:cNvPr>
          <p:cNvSpPr txBox="1"/>
          <p:nvPr/>
        </p:nvSpPr>
        <p:spPr>
          <a:xfrm>
            <a:off x="3839393" y="4317048"/>
            <a:ext cx="2937107" cy="25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Les postes ralentissent à cause de fichiers inutiles et d’un manque d’optimisation.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nettoyage et l’optimisation régulière garantissent des performances stables.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Un poste perdu ou volé expose des données sensibles.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chiffrement et la gestion à distance permettent de sécuriser et effacer les données si nécessaire.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sz="1228" b="1" dirty="0">
              <a:solidFill>
                <a:schemeClr val="bg2"/>
              </a:solidFill>
              <a:latin typeface="Arial Nova" panose="020B0504020202020204" pitchFamily="34" charset="0"/>
            </a:endParaRP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51677825-B1A0-0DFA-2DAF-4BEEDB870FA4}"/>
              </a:ext>
            </a:extLst>
          </p:cNvPr>
          <p:cNvSpPr txBox="1"/>
          <p:nvPr/>
        </p:nvSpPr>
        <p:spPr>
          <a:xfrm>
            <a:off x="3078538" y="1130489"/>
            <a:ext cx="3918701" cy="335348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fr-FR" sz="1579" dirty="0">
                <a:solidFill>
                  <a:schemeClr val="bg1"/>
                </a:solidFill>
                <a:latin typeface="Arial Nova" panose="020B0504020202020204" pitchFamily="34" charset="0"/>
              </a:rPr>
              <a:t>Des cas pratiques qui vous arrivent déjà ! </a:t>
            </a: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C683FEE0-4AAB-CC8A-742E-C46E8F88CEA6}"/>
              </a:ext>
            </a:extLst>
          </p:cNvPr>
          <p:cNvSpPr txBox="1"/>
          <p:nvPr/>
        </p:nvSpPr>
        <p:spPr>
          <a:xfrm>
            <a:off x="629636" y="3688990"/>
            <a:ext cx="2937107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Gestion et Maintenance du Parc Informatique</a:t>
            </a:r>
          </a:p>
        </p:txBody>
      </p: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17B30EA-65CE-A405-5124-AD3E49E4F56E}"/>
              </a:ext>
            </a:extLst>
          </p:cNvPr>
          <p:cNvSpPr txBox="1"/>
          <p:nvPr/>
        </p:nvSpPr>
        <p:spPr>
          <a:xfrm>
            <a:off x="3813871" y="3688990"/>
            <a:ext cx="3184022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Sécurité et Protection des Données</a:t>
            </a:r>
          </a:p>
        </p:txBody>
      </p:sp>
      <p:sp>
        <p:nvSpPr>
          <p:cNvPr id="126" name="ZoneTexte 125">
            <a:extLst>
              <a:ext uri="{FF2B5EF4-FFF2-40B4-BE49-F238E27FC236}">
                <a16:creationId xmlns:a16="http://schemas.microsoft.com/office/drawing/2014/main" id="{0827E455-6148-9445-0890-11A680383694}"/>
              </a:ext>
            </a:extLst>
          </p:cNvPr>
          <p:cNvSpPr txBox="1"/>
          <p:nvPr/>
        </p:nvSpPr>
        <p:spPr>
          <a:xfrm>
            <a:off x="7302169" y="3688990"/>
            <a:ext cx="2599509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Expérience et Obsolescence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36158F0-DAF5-9939-25C1-BFC03453D2EB}"/>
              </a:ext>
            </a:extLst>
          </p:cNvPr>
          <p:cNvSpPr txBox="1"/>
          <p:nvPr/>
        </p:nvSpPr>
        <p:spPr>
          <a:xfrm>
            <a:off x="7302169" y="4319679"/>
            <a:ext cx="3225378" cy="217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28" b="1" dirty="0">
                <a:latin typeface="Arial Nova" panose="020B0504020202020204" pitchFamily="34" charset="0"/>
              </a:rPr>
              <a:t>Exemple 1  </a:t>
            </a:r>
            <a:r>
              <a:rPr lang="fr-FR" sz="1228" dirty="0">
                <a:latin typeface="Arial Nova" panose="020B0504020202020204" pitchFamily="34" charset="0"/>
              </a:rPr>
              <a:t>Le matériel vieillissant ralentit la productivité des équipes.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Un suivi de l’obsolescence planifie le renouvellement des postes pour assurer des performances optimales.</a:t>
            </a:r>
          </a:p>
          <a:p>
            <a:endParaRPr lang="fr-FR" sz="1228" dirty="0">
              <a:latin typeface="Arial Nova" panose="020B0504020202020204" pitchFamily="34" charset="0"/>
            </a:endParaRPr>
          </a:p>
          <a:p>
            <a:r>
              <a:rPr lang="fr-FR" sz="1228" b="1" dirty="0">
                <a:latin typeface="Arial Nova" panose="020B0504020202020204" pitchFamily="34" charset="0"/>
              </a:rPr>
              <a:t>Exemple 2  </a:t>
            </a:r>
            <a:r>
              <a:rPr lang="fr-FR" sz="1228" dirty="0">
                <a:latin typeface="Arial Nova" panose="020B0504020202020204" pitchFamily="34" charset="0"/>
              </a:rPr>
              <a:t>Les équipements ne sont pas uniformisés, ce qui complique la gestion IT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sz="1228" b="1" dirty="0">
                <a:solidFill>
                  <a:schemeClr val="bg2"/>
                </a:solidFill>
                <a:latin typeface="Arial Nova" panose="020B0504020202020204" pitchFamily="34" charset="0"/>
              </a:rPr>
              <a:t>Le parc est standardisé et géré à distance, garantissant une expérience homogène.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88CB21-455C-C5C8-A20B-44E1EE7D8486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93CB6-068A-5D33-A988-28983D60649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91B805F3-EBB7-4355-1B9E-AF5E9DA6591C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ENJEUX DE LA SOLUTION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EECD77F5-85D4-7048-0E7F-00F2FF6AE5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46DE64D-6F5F-9AD7-4C6E-56BEFD275BB4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78B4118-6765-9662-C98B-E08C8745DEB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2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76D9-6998-969D-D349-532FF06AD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Forme libre : forme 6">
            <a:extLst>
              <a:ext uri="{FF2B5EF4-FFF2-40B4-BE49-F238E27FC236}">
                <a16:creationId xmlns:a16="http://schemas.microsoft.com/office/drawing/2014/main" id="{F7084073-0C2A-DF1B-F394-4119B5D11D29}"/>
              </a:ext>
            </a:extLst>
          </p:cNvPr>
          <p:cNvSpPr/>
          <p:nvPr/>
        </p:nvSpPr>
        <p:spPr>
          <a:xfrm rot="13331543" flipH="1">
            <a:off x="5107258" y="4033940"/>
            <a:ext cx="2032721" cy="872424"/>
          </a:xfrm>
          <a:custGeom>
            <a:avLst/>
            <a:gdLst>
              <a:gd name="connsiteX0" fmla="*/ 0 w 2032721"/>
              <a:gd name="connsiteY0" fmla="*/ 769574 h 872424"/>
              <a:gd name="connsiteX1" fmla="*/ 1279212 w 2032721"/>
              <a:gd name="connsiteY1" fmla="*/ 810443 h 872424"/>
              <a:gd name="connsiteX2" fmla="*/ 2032721 w 2032721"/>
              <a:gd name="connsiteY2" fmla="*/ 0 h 8724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32721" h="872424" fill="none" extrusionOk="0">
                <a:moveTo>
                  <a:pt x="0" y="769574"/>
                </a:moveTo>
                <a:cubicBezTo>
                  <a:pt x="352994" y="795017"/>
                  <a:pt x="832830" y="1029654"/>
                  <a:pt x="1279212" y="810443"/>
                </a:cubicBezTo>
                <a:cubicBezTo>
                  <a:pt x="1633149" y="708949"/>
                  <a:pt x="1904599" y="265290"/>
                  <a:pt x="2032721" y="0"/>
                </a:cubicBezTo>
              </a:path>
              <a:path w="2032721" h="872424" stroke="0" extrusionOk="0">
                <a:moveTo>
                  <a:pt x="0" y="769574"/>
                </a:moveTo>
                <a:cubicBezTo>
                  <a:pt x="311246" y="756060"/>
                  <a:pt x="805648" y="978256"/>
                  <a:pt x="1279212" y="810443"/>
                </a:cubicBezTo>
                <a:cubicBezTo>
                  <a:pt x="1679628" y="720353"/>
                  <a:pt x="1835691" y="245361"/>
                  <a:pt x="2032721" y="0"/>
                </a:cubicBezTo>
              </a:path>
            </a:pathLst>
          </a:custGeom>
          <a:ln w="22225">
            <a:solidFill>
              <a:srgbClr val="7030A0"/>
            </a:solidFill>
            <a:prstDash val="sysDot"/>
            <a:headEnd type="stealth" w="med" len="lg"/>
            <a:tailEnd type="stealth" w="med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247887"/>
                      <a:gd name="connsiteY0" fmla="*/ 284551 h 333221"/>
                      <a:gd name="connsiteX1" fmla="*/ 785308 w 1247887"/>
                      <a:gd name="connsiteY1" fmla="*/ 303090 h 333221"/>
                      <a:gd name="connsiteX2" fmla="*/ 1247887 w 1247887"/>
                      <a:gd name="connsiteY2" fmla="*/ 0 h 333221"/>
                      <a:gd name="connsiteX0" fmla="*/ 0 w 1247887"/>
                      <a:gd name="connsiteY0" fmla="*/ 349097 h 395752"/>
                      <a:gd name="connsiteX1" fmla="*/ 785308 w 1247887"/>
                      <a:gd name="connsiteY1" fmla="*/ 367636 h 395752"/>
                      <a:gd name="connsiteX2" fmla="*/ 1247887 w 1247887"/>
                      <a:gd name="connsiteY2" fmla="*/ 0 h 39575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247887" h="395752" extrusionOk="0">
                        <a:moveTo>
                          <a:pt x="0" y="349097"/>
                        </a:moveTo>
                        <a:cubicBezTo>
                          <a:pt x="221791" y="356967"/>
                          <a:pt x="518614" y="437097"/>
                          <a:pt x="785308" y="367636"/>
                        </a:cubicBezTo>
                        <a:cubicBezTo>
                          <a:pt x="1005543" y="322790"/>
                          <a:pt x="1142586" y="110934"/>
                          <a:pt x="1247887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 defTabSz="400964">
              <a:defRPr/>
            </a:pPr>
            <a:endParaRPr lang="fr-FR" sz="1350">
              <a:solidFill>
                <a:srgbClr val="434341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05679A-DFD0-42B3-C572-EE98B0B4CAD8}"/>
              </a:ext>
            </a:extLst>
          </p:cNvPr>
          <p:cNvSpPr/>
          <p:nvPr/>
        </p:nvSpPr>
        <p:spPr>
          <a:xfrm>
            <a:off x="5903089" y="4311419"/>
            <a:ext cx="1266515" cy="2953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7" name="Image 16" descr="Une image contenant habits, meubles, personne, chaussures&#10;&#10;Description générée automatiquement">
            <a:extLst>
              <a:ext uri="{FF2B5EF4-FFF2-40B4-BE49-F238E27FC236}">
                <a16:creationId xmlns:a16="http://schemas.microsoft.com/office/drawing/2014/main" id="{1986C149-E3B4-6257-72B5-E422003EF7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72712" y="5128558"/>
            <a:ext cx="2795353" cy="1863568"/>
          </a:xfrm>
          <a:prstGeom prst="rect">
            <a:avLst/>
          </a:prstGeom>
        </p:spPr>
      </p:pic>
      <p:sp>
        <p:nvSpPr>
          <p:cNvPr id="107" name="ZoneTexte 106">
            <a:extLst>
              <a:ext uri="{FF2B5EF4-FFF2-40B4-BE49-F238E27FC236}">
                <a16:creationId xmlns:a16="http://schemas.microsoft.com/office/drawing/2014/main" id="{EA921CA6-13BB-9FB3-5686-0AB4F989D706}"/>
              </a:ext>
            </a:extLst>
          </p:cNvPr>
          <p:cNvSpPr txBox="1"/>
          <p:nvPr/>
        </p:nvSpPr>
        <p:spPr>
          <a:xfrm>
            <a:off x="7148115" y="3654312"/>
            <a:ext cx="272956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chemeClr val="tx2"/>
                </a:solidFill>
                <a:latin typeface="Arial Nova" panose="020B0504020202020204" pitchFamily="34" charset="0"/>
              </a:rPr>
              <a:t>Avec notre service managé, nous assurons le déploiement, la maintenance proactive, le suivi des garanties et le renouvellement des équipements pour garantir un parc toujours opérationnel et optimisé</a:t>
            </a:r>
          </a:p>
        </p:txBody>
      </p:sp>
      <p:pic>
        <p:nvPicPr>
          <p:cNvPr id="2438" name="Image 243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086AD07-6B9E-493F-4E67-84D6EDF511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7919" y="4298803"/>
            <a:ext cx="1231685" cy="30792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8FBBB54-1900-6140-9E27-229D75E8398A}"/>
              </a:ext>
            </a:extLst>
          </p:cNvPr>
          <p:cNvSpPr txBox="1"/>
          <p:nvPr/>
        </p:nvSpPr>
        <p:spPr>
          <a:xfrm>
            <a:off x="4919693" y="6802306"/>
            <a:ext cx="1086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entreprise</a:t>
            </a:r>
          </a:p>
        </p:txBody>
      </p:sp>
      <p:pic>
        <p:nvPicPr>
          <p:cNvPr id="11" name="Image 10" descr="Une image contenant Dessin d’enfant, clipart, dessin, dessin humoristique&#10;&#10;Description générée automatiquement">
            <a:extLst>
              <a:ext uri="{FF2B5EF4-FFF2-40B4-BE49-F238E27FC236}">
                <a16:creationId xmlns:a16="http://schemas.microsoft.com/office/drawing/2014/main" id="{F2D562A8-7FD9-2D71-4901-720A58FCD0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>
          <a:xfrm>
            <a:off x="2505413" y="5307836"/>
            <a:ext cx="1155335" cy="1425404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7886AD8A-C795-4BB5-F3B4-7B7F23C10E8E}"/>
              </a:ext>
            </a:extLst>
          </p:cNvPr>
          <p:cNvSpPr txBox="1"/>
          <p:nvPr/>
        </p:nvSpPr>
        <p:spPr>
          <a:xfrm>
            <a:off x="2667825" y="6802306"/>
            <a:ext cx="10445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Arial Nova" panose="020B0504020202020204" pitchFamily="34" charset="0"/>
              </a:rPr>
              <a:t>en télétravail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56B3598-3D9E-5955-B1ED-B2E1D367F1A5}"/>
              </a:ext>
            </a:extLst>
          </p:cNvPr>
          <p:cNvSpPr txBox="1"/>
          <p:nvPr/>
        </p:nvSpPr>
        <p:spPr>
          <a:xfrm>
            <a:off x="508452" y="6155975"/>
            <a:ext cx="1720930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fr-FR" sz="1200">
                <a:latin typeface="Arial Nova"/>
              </a:rPr>
              <a:t>bénéficie de postes performants et opérationnels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8106FB-553B-3B05-36C0-87575002FAA5}"/>
              </a:ext>
            </a:extLst>
          </p:cNvPr>
          <p:cNvSpPr txBox="1"/>
          <p:nvPr/>
        </p:nvSpPr>
        <p:spPr>
          <a:xfrm>
            <a:off x="506692" y="5824843"/>
            <a:ext cx="1960946" cy="335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79" b="1" dirty="0">
                <a:latin typeface="Arial Nova" panose="020B0504020202020204" pitchFamily="34" charset="0"/>
              </a:rPr>
              <a:t>Votre entreprise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CECE73-4F35-5BB8-F83E-4B81A89B3D27}"/>
              </a:ext>
            </a:extLst>
          </p:cNvPr>
          <p:cNvSpPr/>
          <p:nvPr/>
        </p:nvSpPr>
        <p:spPr>
          <a:xfrm>
            <a:off x="580282" y="2073515"/>
            <a:ext cx="208386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775">
              <a:defRPr/>
            </a:pPr>
            <a:r>
              <a:rPr lang="fr-FR" sz="1200" dirty="0">
                <a:latin typeface="Arial Nova" panose="020B0504020202020204" pitchFamily="34" charset="0"/>
                <a:cs typeface="Trebuchet MS" panose="020B0502040204020203" pitchFamily="34" charset="0"/>
              </a:rPr>
              <a:t>Dell propose des postes de travail robustes et sécurisés, adaptés aux environnements professionnels exigeants. </a:t>
            </a:r>
          </a:p>
        </p:txBody>
      </p:sp>
      <p:pic>
        <p:nvPicPr>
          <p:cNvPr id="2" name="Picture 4" descr="Analyse réseau pour les réseaux &amp; complexes de grande taille | FortiAnalyzer">
            <a:extLst>
              <a:ext uri="{FF2B5EF4-FFF2-40B4-BE49-F238E27FC236}">
                <a16:creationId xmlns:a16="http://schemas.microsoft.com/office/drawing/2014/main" id="{D9EDDB58-198C-B355-59FB-716A3D085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4048" y="2231867"/>
            <a:ext cx="2171481" cy="14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0295DD0-5577-07A1-8095-0D590298D35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172921-B193-0AC0-4B54-3C6742C5C170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Espace réservé du texte 26">
            <a:extLst>
              <a:ext uri="{FF2B5EF4-FFF2-40B4-BE49-F238E27FC236}">
                <a16:creationId xmlns:a16="http://schemas.microsoft.com/office/drawing/2014/main" id="{3AB42B84-3F19-3822-4933-B1DB54F354E0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 SCHÉMA DE LA SOLUTION</a:t>
            </a:r>
          </a:p>
        </p:txBody>
      </p:sp>
      <p:pic>
        <p:nvPicPr>
          <p:cNvPr id="18" name="Image 17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C4D330F-6BE1-93DA-DF4F-FBE39F05D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3B45C77-FF74-10DA-600A-C595702E6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5598" y="1315677"/>
            <a:ext cx="750071" cy="750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5EE68E-E038-005B-A615-C38BDC7538CC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7561433D-2E5E-1616-C845-28AFD04507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141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1712B-8398-ED11-EFC4-EF62B62E7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ZoneTexte 19">
            <a:extLst>
              <a:ext uri="{FF2B5EF4-FFF2-40B4-BE49-F238E27FC236}">
                <a16:creationId xmlns:a16="http://schemas.microsoft.com/office/drawing/2014/main" id="{40BADCD1-418E-9941-104D-5AC969843488}"/>
              </a:ext>
            </a:extLst>
          </p:cNvPr>
          <p:cNvSpPr txBox="1"/>
          <p:nvPr/>
        </p:nvSpPr>
        <p:spPr>
          <a:xfrm>
            <a:off x="754053" y="2016328"/>
            <a:ext cx="1836418" cy="1308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Vous n’avez pas besoin de vous équiper, on gère tout 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5DA76A-B9E6-C8E9-CB03-7A16DF13BEE3}"/>
              </a:ext>
            </a:extLst>
          </p:cNvPr>
          <p:cNvSpPr/>
          <p:nvPr/>
        </p:nvSpPr>
        <p:spPr>
          <a:xfrm>
            <a:off x="628110" y="1876630"/>
            <a:ext cx="2149648" cy="1623794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90D658AC-307E-A23C-5746-C6128F3020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68841" y="1510102"/>
            <a:ext cx="449342" cy="448608"/>
          </a:xfrm>
          <a:prstGeom prst="rect">
            <a:avLst/>
          </a:prstGeom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60A1BE83-8B41-630F-F30B-7C8267DD043E}"/>
              </a:ext>
            </a:extLst>
          </p:cNvPr>
          <p:cNvGrpSpPr/>
          <p:nvPr/>
        </p:nvGrpSpPr>
        <p:grpSpPr>
          <a:xfrm>
            <a:off x="7937880" y="795958"/>
            <a:ext cx="2207656" cy="5211303"/>
            <a:chOff x="4640762" y="1392187"/>
            <a:chExt cx="1800000" cy="43642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662335-457D-0C51-60DC-DF0ABE23F3E8}"/>
                </a:ext>
              </a:extLst>
            </p:cNvPr>
            <p:cNvSpPr/>
            <p:nvPr/>
          </p:nvSpPr>
          <p:spPr>
            <a:xfrm>
              <a:off x="4640762" y="1968402"/>
              <a:ext cx="1800000" cy="3788042"/>
            </a:xfrm>
            <a:prstGeom prst="rect">
              <a:avLst/>
            </a:prstGeom>
            <a:solidFill>
              <a:srgbClr val="946AAB">
                <a:lumMod val="20000"/>
                <a:lumOff val="80000"/>
              </a:srgbClr>
            </a:solid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fr-FR" sz="998" kern="0">
                <a:solidFill>
                  <a:prstClr val="white"/>
                </a:solidFill>
                <a:latin typeface="Arial Nova" panose="020B0504020202020204" pitchFamily="34" charset="0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896AB58-B9B5-DE3D-AC98-38FE266D1FEC}"/>
                </a:ext>
              </a:extLst>
            </p:cNvPr>
            <p:cNvSpPr txBox="1"/>
            <p:nvPr/>
          </p:nvSpPr>
          <p:spPr>
            <a:xfrm>
              <a:off x="4649083" y="1392187"/>
              <a:ext cx="1791679" cy="226966"/>
            </a:xfrm>
            <a:prstGeom prst="rect">
              <a:avLst/>
            </a:prstGeom>
            <a:solidFill>
              <a:schemeClr val="tx2"/>
            </a:solidFill>
          </p:spPr>
          <p:txBody>
            <a:bodyPr wrap="square">
              <a:spAutoFit/>
            </a:bodyPr>
            <a:lstStyle/>
            <a:p>
              <a:pPr algn="ctr" defTabSz="651567" fontAlgn="base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lang="fr-FR" sz="1228" b="1" kern="0" dirty="0">
                  <a:solidFill>
                    <a:prstClr val="white"/>
                  </a:solidFill>
                  <a:latin typeface="Arial Nova" panose="020B0504020202020204" pitchFamily="34" charset="0"/>
                </a:rPr>
                <a:t>Fonctionnalités incluses</a:t>
              </a:r>
            </a:p>
          </p:txBody>
        </p:sp>
      </p:grpSp>
      <p:graphicFrame>
        <p:nvGraphicFramePr>
          <p:cNvPr id="10" name="Tableau 9">
            <a:extLst>
              <a:ext uri="{FF2B5EF4-FFF2-40B4-BE49-F238E27FC236}">
                <a16:creationId xmlns:a16="http://schemas.microsoft.com/office/drawing/2014/main" id="{0312E9DB-2A3E-B8C5-FB40-A0B3350A06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6838897"/>
              </p:ext>
            </p:extLst>
          </p:nvPr>
        </p:nvGraphicFramePr>
        <p:xfrm>
          <a:off x="3912243" y="1184215"/>
          <a:ext cx="6209963" cy="4655862"/>
        </p:xfrm>
        <a:graphic>
          <a:graphicData uri="http://schemas.openxmlformats.org/drawingml/2006/table">
            <a:tbl>
              <a:tblPr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4146874">
                  <a:extLst>
                    <a:ext uri="{9D8B030D-6E8A-4147-A177-3AD203B41FA5}">
                      <a16:colId xmlns:a16="http://schemas.microsoft.com/office/drawing/2014/main" val="4103786711"/>
                    </a:ext>
                  </a:extLst>
                </a:gridCol>
                <a:gridCol w="2063089">
                  <a:extLst>
                    <a:ext uri="{9D8B030D-6E8A-4147-A177-3AD203B41FA5}">
                      <a16:colId xmlns:a16="http://schemas.microsoft.com/office/drawing/2014/main" val="3349293550"/>
                    </a:ext>
                  </a:extLst>
                </a:gridCol>
              </a:tblGrid>
              <a:tr h="3440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Supervision 24/7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1787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Patch management</a:t>
                      </a:r>
                      <a:endParaRPr lang="fr-FR" sz="110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2982968"/>
                  </a:ext>
                </a:extLst>
              </a:tr>
              <a:tr h="36021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Intervention à distance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585795"/>
                  </a:ext>
                </a:extLst>
              </a:tr>
              <a:tr h="3880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r>
                        <a:rPr lang="fr-FR" sz="1100" dirty="0"/>
                        <a:t>Monitoring des performances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3751370"/>
                  </a:ext>
                </a:extLst>
              </a:tr>
              <a:tr h="3442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Inventaire automatisé du matériel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680224"/>
                  </a:ext>
                </a:extLst>
              </a:tr>
              <a:tr h="3198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Reporting</a:t>
                      </a:r>
                      <a:endParaRPr kumimoji="0" lang="fr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982436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Suivi du cycle de vie de votre parc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8161756"/>
                  </a:ext>
                </a:extLst>
              </a:tr>
              <a:tr h="352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Surveillance de l’état des postes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120341"/>
                  </a:ext>
                </a:extLst>
              </a:tr>
              <a:tr h="35734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Gère et applique les mises à jour Windows, </a:t>
                      </a:r>
                    </a:p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Mac ou Linux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44008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Alerte et traitement en cas de problème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8173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Pré-diagnostique sans déranger l’utilisateur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706870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Liste des applications installés 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✔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867048"/>
                  </a:ext>
                </a:extLst>
              </a:tr>
              <a:tr h="357348">
                <a:tc>
                  <a:txBody>
                    <a:bodyPr/>
                    <a:lstStyle/>
                    <a:p>
                      <a:pPr marL="0" marR="0" lvl="0" indent="0" algn="l" defTabSz="36375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fr-FR" sz="11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Chiffrement des données</a:t>
                      </a:r>
                    </a:p>
                  </a:txBody>
                  <a:tcPr marL="65153" marR="65153" marT="32577" marB="32577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solidFill>
                            <a:schemeClr val="tx2"/>
                          </a:solidFill>
                        </a:rPr>
                        <a:t>Option</a:t>
                      </a:r>
                      <a:endParaRPr lang="fr-FR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65153" marR="65153" marT="32577" marB="32577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220159"/>
                  </a:ext>
                </a:extLst>
              </a:tr>
            </a:tbl>
          </a:graphicData>
        </a:graphic>
      </p:graphicFrame>
      <p:grpSp>
        <p:nvGrpSpPr>
          <p:cNvPr id="23" name="Groupe 22">
            <a:extLst>
              <a:ext uri="{FF2B5EF4-FFF2-40B4-BE49-F238E27FC236}">
                <a16:creationId xmlns:a16="http://schemas.microsoft.com/office/drawing/2014/main" id="{37C80078-4877-0889-924C-D25C7C2F071A}"/>
              </a:ext>
            </a:extLst>
          </p:cNvPr>
          <p:cNvGrpSpPr/>
          <p:nvPr/>
        </p:nvGrpSpPr>
        <p:grpSpPr>
          <a:xfrm>
            <a:off x="4697" y="2943396"/>
            <a:ext cx="3552537" cy="4694788"/>
            <a:chOff x="8353488" y="1473975"/>
            <a:chExt cx="2926079" cy="3888996"/>
          </a:xfrm>
        </p:grpSpPr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F7255D61-BC9F-898C-4610-119C044D17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1777"/>
            <a:stretch/>
          </p:blipFill>
          <p:spPr>
            <a:xfrm>
              <a:off x="8353488" y="1473975"/>
              <a:ext cx="2926079" cy="3888996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14E9FF8-F175-134A-FA6B-ECAEE71F70CE}"/>
                </a:ext>
              </a:extLst>
            </p:cNvPr>
            <p:cNvSpPr/>
            <p:nvPr/>
          </p:nvSpPr>
          <p:spPr>
            <a:xfrm>
              <a:off x="8387305" y="1624911"/>
              <a:ext cx="421309" cy="74595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579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3B3FCE0-12AE-5E92-B464-6A275CEBDED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174C61-C0C4-1E13-F478-6B09E18015D4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Espace réservé du texte 26">
            <a:extLst>
              <a:ext uri="{FF2B5EF4-FFF2-40B4-BE49-F238E27FC236}">
                <a16:creationId xmlns:a16="http://schemas.microsoft.com/office/drawing/2014/main" id="{202212AC-4ADE-ADB6-BAF5-7321FCA4F174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LES FONCTIONNALITÉS DE LA SOLUTION</a:t>
            </a:r>
          </a:p>
        </p:txBody>
      </p:sp>
      <p:pic>
        <p:nvPicPr>
          <p:cNvPr id="16" name="Image 15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5A003F99-5403-8A74-60CE-48B51C13AC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34E90A1-1C72-7B83-7701-1CE06B53234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B15662C6-6163-C3B8-1B18-B3C78504AFE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16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4BFAC-B9F3-E67C-1C83-A38CD033E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habits, personne, Visage humain, Accessoire de mode&#10;&#10;Le contenu généré par l’IA peut être incorrect.">
            <a:extLst>
              <a:ext uri="{FF2B5EF4-FFF2-40B4-BE49-F238E27FC236}">
                <a16:creationId xmlns:a16="http://schemas.microsoft.com/office/drawing/2014/main" id="{B9886BF6-CDD1-B6AC-E199-7DF5BDB7BF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9224" y="2546251"/>
            <a:ext cx="3342965" cy="5013424"/>
          </a:xfrm>
          <a:prstGeom prst="rect">
            <a:avLst/>
          </a:prstGeom>
        </p:spPr>
      </p:pic>
      <p:sp>
        <p:nvSpPr>
          <p:cNvPr id="2453" name="ZoneTexte 2452">
            <a:extLst>
              <a:ext uri="{FF2B5EF4-FFF2-40B4-BE49-F238E27FC236}">
                <a16:creationId xmlns:a16="http://schemas.microsoft.com/office/drawing/2014/main" id="{85726714-6D47-92D5-C149-0A9C0B79E148}"/>
              </a:ext>
            </a:extLst>
          </p:cNvPr>
          <p:cNvSpPr txBox="1"/>
          <p:nvPr/>
        </p:nvSpPr>
        <p:spPr>
          <a:xfrm>
            <a:off x="656419" y="1054642"/>
            <a:ext cx="61409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00964">
              <a:defRPr/>
            </a:pP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Dans le cadre de la transformation numérique, il est essentiel de bien </a:t>
            </a:r>
            <a:r>
              <a:rPr lang="fr-FR" sz="1400" b="1">
                <a:solidFill>
                  <a:srgbClr val="434341"/>
                </a:solidFill>
                <a:latin typeface="Arial Nova" panose="020B0504020202020204" pitchFamily="34" charset="0"/>
              </a:rPr>
              <a:t>adapter les postes de travail aux différents profils d’utilisation des collaborateurs</a:t>
            </a:r>
            <a:r>
              <a:rPr lang="fr-FR" sz="1400">
                <a:solidFill>
                  <a:srgbClr val="434341"/>
                </a:solidFill>
                <a:latin typeface="Arial Nova" panose="020B0504020202020204" pitchFamily="34" charset="0"/>
              </a:rPr>
              <a:t>. On distingue trois types de postes de travail, chacun ayant des exigences spécifiques en termes de performance et de mobilité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08BD3-2B3A-5550-9DF3-2A7931AF516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BB6DE7-66D2-9830-A3F5-8FDA3C9C3A42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Espace réservé du texte 26">
            <a:extLst>
              <a:ext uri="{FF2B5EF4-FFF2-40B4-BE49-F238E27FC236}">
                <a16:creationId xmlns:a16="http://schemas.microsoft.com/office/drawing/2014/main" id="{A3186BD5-CAAA-7265-73EB-1B172020987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 panose="020B0502020202020204" pitchFamily="34" charset="0"/>
              </a:rPr>
              <a:t>DEVOIR DE CONSEIL</a:t>
            </a:r>
          </a:p>
        </p:txBody>
      </p:sp>
      <p:pic>
        <p:nvPicPr>
          <p:cNvPr id="9" name="Image 8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0C9B65E3-A169-5299-BB2F-17A4B6ED6BF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ADE0D81A-F126-48C9-6693-03079A1A688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FCE3989-E703-0B89-3E28-B097351C8EDC}"/>
              </a:ext>
            </a:extLst>
          </p:cNvPr>
          <p:cNvSpPr txBox="1"/>
          <p:nvPr/>
        </p:nvSpPr>
        <p:spPr>
          <a:xfrm>
            <a:off x="185408" y="3503064"/>
            <a:ext cx="2514548" cy="203132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fixe »</a:t>
            </a:r>
            <a:br>
              <a:rPr lang="fr-FR" sz="1400" dirty="0"/>
            </a:br>
            <a:r>
              <a:rPr lang="fr-FR" sz="1400" dirty="0"/>
              <a:t>Destiné au traitement de texte, navigation internet et logiciels SAAS légers. Il sera adapté pour des personnes sédentaires et à l’utilisation de logiciels bureautique et métier utilisant peu de ressources.</a:t>
            </a:r>
            <a:endParaRPr lang="fr-FR" sz="1400" dirty="0">
              <a:ea typeface="Calibri"/>
              <a:cs typeface="Calibri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661CDD9-8650-7C77-E2C3-FE1D9986538D}"/>
              </a:ext>
            </a:extLst>
          </p:cNvPr>
          <p:cNvSpPr txBox="1"/>
          <p:nvPr/>
        </p:nvSpPr>
        <p:spPr>
          <a:xfrm>
            <a:off x="5567213" y="3485388"/>
            <a:ext cx="25145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 « Métier »</a:t>
            </a:r>
            <a:br>
              <a:rPr lang="fr-FR" sz="1400" dirty="0"/>
            </a:br>
            <a:r>
              <a:rPr lang="fr-FR" sz="1400" dirty="0"/>
              <a:t>Pour les utilisateurs de logiciels gourmands en ressources (graphisme, modélisation), nécessitant un PC avec carte graphique dédiée, plus de RAM et de stockage. Il sera adapté à l’utilisation de logiciels métiers spécifiques comme </a:t>
            </a:r>
            <a:r>
              <a:rPr lang="fr-FR" sz="1400" dirty="0" err="1"/>
              <a:t>Autocad</a:t>
            </a:r>
            <a:r>
              <a:rPr lang="fr-FR" sz="1400" dirty="0"/>
              <a:t>, </a:t>
            </a:r>
            <a:r>
              <a:rPr lang="fr-FR" sz="1400" dirty="0" err="1"/>
              <a:t>Archicad</a:t>
            </a:r>
            <a:r>
              <a:rPr lang="fr-FR" sz="1400" dirty="0"/>
              <a:t>, Catia, </a:t>
            </a:r>
            <a:r>
              <a:rPr lang="fr-FR" sz="1400" dirty="0" err="1"/>
              <a:t>Solidworks</a:t>
            </a:r>
            <a:r>
              <a:rPr lang="fr-FR" sz="1400" dirty="0"/>
              <a:t> et autres.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2CCB872-2A26-794B-1ADA-4834AC350ABB}"/>
              </a:ext>
            </a:extLst>
          </p:cNvPr>
          <p:cNvSpPr txBox="1"/>
          <p:nvPr/>
        </p:nvSpPr>
        <p:spPr>
          <a:xfrm>
            <a:off x="2885364" y="3485388"/>
            <a:ext cx="251454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b="1" dirty="0">
                <a:solidFill>
                  <a:srgbClr val="E94B57"/>
                </a:solidFill>
              </a:rPr>
              <a:t>Le Poste de Travail </a:t>
            </a:r>
          </a:p>
          <a:p>
            <a:pPr algn="ctr"/>
            <a:r>
              <a:rPr lang="fr-FR" sz="1400" b="1" dirty="0">
                <a:solidFill>
                  <a:srgbClr val="E94B57"/>
                </a:solidFill>
              </a:rPr>
              <a:t>« Nomade »</a:t>
            </a:r>
            <a:br>
              <a:rPr lang="fr-FR" sz="1400" dirty="0"/>
            </a:br>
            <a:r>
              <a:rPr lang="fr-FR" sz="1400" dirty="0"/>
              <a:t>Adapté aux télétravailleurs ou collaborateurs en déplacement. Il nécessite régulièrement un écran de bureau et une station d’accueil pour un confort d’utilisation au quotidien.</a:t>
            </a:r>
          </a:p>
        </p:txBody>
      </p:sp>
      <p:pic>
        <p:nvPicPr>
          <p:cNvPr id="18" name="Graphique 17" descr="Programmeur avec un remplissage uni">
            <a:extLst>
              <a:ext uri="{FF2B5EF4-FFF2-40B4-BE49-F238E27FC236}">
                <a16:creationId xmlns:a16="http://schemas.microsoft.com/office/drawing/2014/main" id="{B23A2D55-457D-0074-A71E-262117FB88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5968" y="2414714"/>
            <a:ext cx="914400" cy="914400"/>
          </a:xfrm>
          <a:prstGeom prst="rect">
            <a:avLst/>
          </a:prstGeom>
        </p:spPr>
      </p:pic>
      <p:pic>
        <p:nvPicPr>
          <p:cNvPr id="20" name="Graphique 19" descr="Écran avec un remplissage uni">
            <a:extLst>
              <a:ext uri="{FF2B5EF4-FFF2-40B4-BE49-F238E27FC236}">
                <a16:creationId xmlns:a16="http://schemas.microsoft.com/office/drawing/2014/main" id="{08AB1E5B-08C2-9D2A-55E5-A40F7C95D6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9183" y="2546251"/>
            <a:ext cx="914400" cy="914400"/>
          </a:xfrm>
          <a:prstGeom prst="rect">
            <a:avLst/>
          </a:prstGeom>
        </p:spPr>
      </p:pic>
      <p:pic>
        <p:nvPicPr>
          <p:cNvPr id="22" name="Graphique 21" descr="Ordinateur portable avec un remplissage uni">
            <a:extLst>
              <a:ext uri="{FF2B5EF4-FFF2-40B4-BE49-F238E27FC236}">
                <a16:creationId xmlns:a16="http://schemas.microsoft.com/office/drawing/2014/main" id="{6A33AFC9-A6E9-C61B-73B9-6FAA162705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44516" y="2609625"/>
            <a:ext cx="914400" cy="91440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8F671717-15D5-01AC-3AC7-843671085956}"/>
              </a:ext>
            </a:extLst>
          </p:cNvPr>
          <p:cNvSpPr txBox="1"/>
          <p:nvPr/>
        </p:nvSpPr>
        <p:spPr>
          <a:xfrm>
            <a:off x="487499" y="6359346"/>
            <a:ext cx="7530033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fr-FR" sz="1400"/>
          </a:p>
          <a:p>
            <a:pPr>
              <a:buNone/>
            </a:pPr>
            <a:r>
              <a:rPr lang="fr-FR" sz="1600" b="1">
                <a:solidFill>
                  <a:srgbClr val="7030A0"/>
                </a:solidFill>
              </a:rPr>
              <a:t>Ne pas oublier les périphériques</a:t>
            </a:r>
          </a:p>
          <a:p>
            <a:r>
              <a:rPr lang="fr-FR" sz="1400"/>
              <a:t>Assurez-vous que le poste de travail puisse être relié avec les périphériques à connecter (écrans, imprimantes, etc.) pour éviter toute incompatibilité.</a:t>
            </a:r>
          </a:p>
          <a:p>
            <a:endParaRPr lang="fr-FR" sz="140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C4672752-039A-8920-2B22-4D434DFFB227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625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2BFA-0044-229D-E800-6128BD8E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99C7E733-0C87-7190-FC90-F9796B86492F}"/>
              </a:ext>
            </a:extLst>
          </p:cNvPr>
          <p:cNvSpPr txBox="1">
            <a:spLocks/>
          </p:cNvSpPr>
          <p:nvPr/>
        </p:nvSpPr>
        <p:spPr>
          <a:xfrm>
            <a:off x="845662" y="1133700"/>
            <a:ext cx="4566480" cy="610286"/>
          </a:xfrm>
          <a:prstGeom prst="rect">
            <a:avLst/>
          </a:prstGeom>
        </p:spPr>
        <p:txBody>
          <a:bodyPr>
            <a:noAutofit/>
          </a:bodyPr>
          <a:lstStyle>
            <a:lvl1pPr marL="251986" indent="-251986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Char char="•"/>
              <a:defRPr sz="308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Suite à nos échanges et en fonction des différents éléments que vous nous avez communiqués, voici la configuration que nous avons établie pour répondre à vos attentes :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77E04A26-4DA1-C40E-AA87-47BE9E4D7A05}"/>
              </a:ext>
            </a:extLst>
          </p:cNvPr>
          <p:cNvCxnSpPr>
            <a:cxnSpLocks/>
          </p:cNvCxnSpPr>
          <p:nvPr/>
        </p:nvCxnSpPr>
        <p:spPr>
          <a:xfrm>
            <a:off x="741049" y="1161865"/>
            <a:ext cx="0" cy="832729"/>
          </a:xfrm>
          <a:prstGeom prst="line">
            <a:avLst/>
          </a:prstGeom>
          <a:noFill/>
          <a:ln w="25400" cap="flat" cmpd="sng" algn="ctr">
            <a:solidFill>
              <a:srgbClr val="7030A0"/>
            </a:solidFill>
            <a:prstDash val="solid"/>
            <a:miter lim="800000"/>
          </a:ln>
          <a:effectLst/>
        </p:spPr>
      </p:cxnSp>
      <p:graphicFrame>
        <p:nvGraphicFramePr>
          <p:cNvPr id="8" name="tableau_recap_telecom">
            <a:extLst>
              <a:ext uri="{FF2B5EF4-FFF2-40B4-BE49-F238E27FC236}">
                <a16:creationId xmlns:a16="http://schemas.microsoft.com/office/drawing/2014/main" id="{E2473A74-96CF-E8B0-EA39-940EDB3751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33707"/>
              </p:ext>
            </p:extLst>
          </p:nvPr>
        </p:nvGraphicFramePr>
        <p:xfrm>
          <a:off x="845662" y="2972818"/>
          <a:ext cx="2547533" cy="3961985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fixe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3455829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73909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71084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184388"/>
                  </a:ext>
                </a:extLst>
              </a:tr>
            </a:tbl>
          </a:graphicData>
        </a:graphic>
      </p:graphicFrame>
      <p:graphicFrame>
        <p:nvGraphicFramePr>
          <p:cNvPr id="10" name="tableau_recap_telecom">
            <a:extLst>
              <a:ext uri="{FF2B5EF4-FFF2-40B4-BE49-F238E27FC236}">
                <a16:creationId xmlns:a16="http://schemas.microsoft.com/office/drawing/2014/main" id="{5DAA92B9-E5AA-899D-A044-C39ED44C3F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923715"/>
              </p:ext>
            </p:extLst>
          </p:nvPr>
        </p:nvGraphicFramePr>
        <p:xfrm>
          <a:off x="7465562" y="2995720"/>
          <a:ext cx="2288102" cy="2484109"/>
        </p:xfrm>
        <a:graphic>
          <a:graphicData uri="http://schemas.openxmlformats.org/drawingml/2006/table">
            <a:tbl>
              <a:tblPr firstRow="1" bandRow="1"/>
              <a:tblGrid>
                <a:gridCol w="2288102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métier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graphicFrame>
        <p:nvGraphicFramePr>
          <p:cNvPr id="3" name="tableau_recap_telecom">
            <a:extLst>
              <a:ext uri="{FF2B5EF4-FFF2-40B4-BE49-F238E27FC236}">
                <a16:creationId xmlns:a16="http://schemas.microsoft.com/office/drawing/2014/main" id="{3A4115D0-C6CA-B6DD-F11A-407F12285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3118174"/>
              </p:ext>
            </p:extLst>
          </p:nvPr>
        </p:nvGraphicFramePr>
        <p:xfrm>
          <a:off x="4152790" y="2995721"/>
          <a:ext cx="2547533" cy="2484109"/>
        </p:xfrm>
        <a:graphic>
          <a:graphicData uri="http://schemas.openxmlformats.org/drawingml/2006/table">
            <a:tbl>
              <a:tblPr firstRow="1" bandRow="1"/>
              <a:tblGrid>
                <a:gridCol w="2547533">
                  <a:extLst>
                    <a:ext uri="{9D8B030D-6E8A-4147-A177-3AD203B41FA5}">
                      <a16:colId xmlns:a16="http://schemas.microsoft.com/office/drawing/2014/main" val="1769005819"/>
                    </a:ext>
                  </a:extLst>
                </a:gridCol>
              </a:tblGrid>
              <a:tr h="267295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b="1" kern="1200">
                          <a:solidFill>
                            <a:schemeClr val="lt1"/>
                          </a:solidFill>
                          <a:latin typeface="Arial Nova"/>
                        </a:defRPr>
                      </a:lvl9pPr>
                    </a:lstStyle>
                    <a:p>
                      <a:pPr marL="0" algn="l" defTabSz="457200" rtl="0" eaLnBrk="1" latinLnBrk="0" hangingPunct="1"/>
                      <a:r>
                        <a:rPr lang="fr-FR" sz="1200" b="1" kern="1200" dirty="0">
                          <a:solidFill>
                            <a:schemeClr val="bg1"/>
                          </a:solidFill>
                          <a:latin typeface="Arial Nova" panose="020B0504020202020204" pitchFamily="34" charset="0"/>
                          <a:ea typeface="Lato Semibold" panose="020F0502020204030203" pitchFamily="34" charset="0"/>
                          <a:cs typeface="Arial" panose="020B0604020202020204" pitchFamily="34" charset="0"/>
                        </a:rPr>
                        <a:t>Poste portable</a:t>
                      </a: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46A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040576"/>
                  </a:ext>
                </a:extLst>
              </a:tr>
              <a:tr h="369469">
                <a:tc>
                  <a:txBody>
                    <a:bodyPr/>
                    <a:lstStyle>
                      <a:lvl1pPr marL="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1pPr>
                      <a:lvl2pPr marL="430997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2pPr>
                      <a:lvl3pPr marL="86199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3pPr>
                      <a:lvl4pPr marL="1292990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4pPr>
                      <a:lvl5pPr marL="1723986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5pPr>
                      <a:lvl6pPr marL="2154983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6pPr>
                      <a:lvl7pPr marL="2585979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7pPr>
                      <a:lvl8pPr marL="3016975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8pPr>
                      <a:lvl9pPr marL="3447971" algn="l" defTabSz="861993" rtl="0" eaLnBrk="1" latinLnBrk="0" hangingPunct="1">
                        <a:defRPr sz="1697" kern="1200">
                          <a:solidFill>
                            <a:schemeClr val="dk1"/>
                          </a:solidFill>
                          <a:latin typeface="Arial Nova"/>
                        </a:defRPr>
                      </a:lvl9pPr>
                    </a:lstStyle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66915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887244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857465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63563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22707"/>
                  </a:ext>
                </a:extLst>
              </a:tr>
              <a:tr h="36946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200" b="0" u="none" strike="noStrike" kern="1200" cap="none" spc="0" normalizeH="0" baseline="0" dirty="0">
                        <a:ln>
                          <a:noFill/>
                        </a:ln>
                        <a:effectLst/>
                        <a:uLnTx/>
                        <a:uFillTx/>
                        <a:latin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0189" marR="80189" marT="40094" marB="40094" anchor="ctr">
                    <a:lnL>
                      <a:noFill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44140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86221065-7D4A-6D35-CEE7-C9AA4C3C1A4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D3AD7-09A5-7D13-582B-BB2A918B6B9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A78423FA-70AD-4069-F57E-51CF95591BE1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440352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CONFIGURATION DE VOTRE SERVICE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C43F7010-B06F-606E-EF49-A8AC300AE1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5D398F0D-9F8A-DA32-6818-8B1E8CEFC63D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CF3EDE1-C45B-64BF-9245-16718BA5C14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242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F5B6-EB5F-3145-B6B0-E6D4A946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2" name="Connecteur droit 2181">
            <a:extLst>
              <a:ext uri="{FF2B5EF4-FFF2-40B4-BE49-F238E27FC236}">
                <a16:creationId xmlns:a16="http://schemas.microsoft.com/office/drawing/2014/main" id="{75E74595-D781-58BD-4EB7-79ABA48EA536}"/>
              </a:ext>
            </a:extLst>
          </p:cNvPr>
          <p:cNvCxnSpPr>
            <a:cxnSpLocks/>
          </p:cNvCxnSpPr>
          <p:nvPr/>
        </p:nvCxnSpPr>
        <p:spPr>
          <a:xfrm>
            <a:off x="1058469" y="4713592"/>
            <a:ext cx="6620044" cy="12647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7" name="ZoneTexte 2136">
            <a:extLst>
              <a:ext uri="{FF2B5EF4-FFF2-40B4-BE49-F238E27FC236}">
                <a16:creationId xmlns:a16="http://schemas.microsoft.com/office/drawing/2014/main" id="{007A9A1C-CF62-6D40-20CE-1E379E90E8AE}"/>
              </a:ext>
            </a:extLst>
          </p:cNvPr>
          <p:cNvSpPr txBox="1"/>
          <p:nvPr/>
        </p:nvSpPr>
        <p:spPr>
          <a:xfrm>
            <a:off x="821953" y="3127436"/>
            <a:ext cx="200414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Confirmation de la prise en charge par email et communication de vos contacts dédiés</a:t>
            </a:r>
          </a:p>
        </p:txBody>
      </p:sp>
      <p:sp>
        <p:nvSpPr>
          <p:cNvPr id="2141" name="ZoneTexte 2140">
            <a:extLst>
              <a:ext uri="{FF2B5EF4-FFF2-40B4-BE49-F238E27FC236}">
                <a16:creationId xmlns:a16="http://schemas.microsoft.com/office/drawing/2014/main" id="{B92EA356-A16D-EA43-6DC1-4FAF6037A21C}"/>
              </a:ext>
            </a:extLst>
          </p:cNvPr>
          <p:cNvSpPr txBox="1"/>
          <p:nvPr/>
        </p:nvSpPr>
        <p:spPr>
          <a:xfrm>
            <a:off x="4250581" y="3082089"/>
            <a:ext cx="17300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 Analyse des besoins et du parc informatique.et planification de la mise en œuvre de votre solution.</a:t>
            </a:r>
          </a:p>
        </p:txBody>
      </p:sp>
      <p:cxnSp>
        <p:nvCxnSpPr>
          <p:cNvPr id="2151" name="Connecteur droit 2150">
            <a:extLst>
              <a:ext uri="{FF2B5EF4-FFF2-40B4-BE49-F238E27FC236}">
                <a16:creationId xmlns:a16="http://schemas.microsoft.com/office/drawing/2014/main" id="{4C3A485F-E924-78E5-C9C1-13557E0736A9}"/>
              </a:ext>
            </a:extLst>
          </p:cNvPr>
          <p:cNvCxnSpPr>
            <a:cxnSpLocks/>
          </p:cNvCxnSpPr>
          <p:nvPr/>
        </p:nvCxnSpPr>
        <p:spPr>
          <a:xfrm flipV="1">
            <a:off x="1058469" y="2344444"/>
            <a:ext cx="6620044" cy="11878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6" name="ZoneTexte 2195">
            <a:extLst>
              <a:ext uri="{FF2B5EF4-FFF2-40B4-BE49-F238E27FC236}">
                <a16:creationId xmlns:a16="http://schemas.microsoft.com/office/drawing/2014/main" id="{52EBAF0E-7159-3868-BBCC-1D9AD09D121C}"/>
              </a:ext>
            </a:extLst>
          </p:cNvPr>
          <p:cNvSpPr txBox="1"/>
          <p:nvPr/>
        </p:nvSpPr>
        <p:spPr>
          <a:xfrm>
            <a:off x="2355893" y="5553550"/>
            <a:ext cx="1765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Votre ordinateur est prêt à l’emploi !</a:t>
            </a:r>
          </a:p>
        </p:txBody>
      </p: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B72A7656-4EF6-2A2D-5D04-75EDD7DC75B1}"/>
              </a:ext>
            </a:extLst>
          </p:cNvPr>
          <p:cNvCxnSpPr>
            <a:cxnSpLocks/>
          </p:cNvCxnSpPr>
          <p:nvPr/>
        </p:nvCxnSpPr>
        <p:spPr>
          <a:xfrm flipV="1">
            <a:off x="7678513" y="2356015"/>
            <a:ext cx="0" cy="2367773"/>
          </a:xfrm>
          <a:prstGeom prst="line">
            <a:avLst/>
          </a:prstGeom>
          <a:ln w="19050" cap="rnd">
            <a:solidFill>
              <a:srgbClr val="6E398E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6046EA20-C61B-CEEA-9699-DDAE52DD4CE0}"/>
              </a:ext>
            </a:extLst>
          </p:cNvPr>
          <p:cNvSpPr txBox="1"/>
          <p:nvPr/>
        </p:nvSpPr>
        <p:spPr>
          <a:xfrm>
            <a:off x="4696805" y="5539732"/>
            <a:ext cx="2677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</a:rPr>
              <a:t>Nous installons votre solution de en fonction de la configuration recommandée par </a:t>
            </a:r>
            <a:r>
              <a:rPr lang="fr-FR" sz="1200" dirty="0" err="1">
                <a:latin typeface="Arial Nova" panose="020B0504020202020204" pitchFamily="34" charset="0"/>
              </a:rPr>
              <a:t>Koesio</a:t>
            </a:r>
            <a:r>
              <a:rPr lang="fr-FR" sz="1200" dirty="0">
                <a:latin typeface="Arial Nova" panose="020B0504020202020204" pitchFamily="34" charset="0"/>
              </a:rPr>
              <a:t>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D1A0BC-672D-D00F-B688-F3FF86571378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30" name="Espace réservé du texte 26">
            <a:extLst>
              <a:ext uri="{FF2B5EF4-FFF2-40B4-BE49-F238E27FC236}">
                <a16:creationId xmlns:a16="http://schemas.microsoft.com/office/drawing/2014/main" id="{2BF54515-E03C-8D8E-A99A-833E8A2AD6B6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INSTALLATION &amp; DÉPLOIEMENT</a:t>
            </a:r>
          </a:p>
        </p:txBody>
      </p:sp>
      <p:pic>
        <p:nvPicPr>
          <p:cNvPr id="31" name="Image 30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74E7C7BD-5E7F-F635-D42E-A2FA9FF226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1BAE0C-0FF0-4F83-2CBF-FEC92E44FE15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24FB3DB3-B6C2-60DE-5D09-B5DD4130EA06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1 SEUL INTERLOCUTEUR, KOESIO S’OCCUPE DE TOUT !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B681A8-7AC7-DD6B-6E92-BB3B89ED3B4B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5" name="Graphique 34">
            <a:extLst>
              <a:ext uri="{FF2B5EF4-FFF2-40B4-BE49-F238E27FC236}">
                <a16:creationId xmlns:a16="http://schemas.microsoft.com/office/drawing/2014/main" id="{7C4A9F7A-43F8-C856-2F35-8802335EC5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214F948-6C70-C805-E84A-3373BF2FDEA1}"/>
              </a:ext>
            </a:extLst>
          </p:cNvPr>
          <p:cNvSpPr/>
          <p:nvPr/>
        </p:nvSpPr>
        <p:spPr>
          <a:xfrm>
            <a:off x="1562115" y="2141852"/>
            <a:ext cx="416302" cy="41630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7CB42D-BF12-DAF2-3A2D-0DDDA1E4D693}"/>
              </a:ext>
            </a:extLst>
          </p:cNvPr>
          <p:cNvSpPr/>
          <p:nvPr/>
        </p:nvSpPr>
        <p:spPr>
          <a:xfrm>
            <a:off x="4866226" y="2119955"/>
            <a:ext cx="416302" cy="41630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587CE5-0E3D-8C70-EBAE-1BDC536C0205}"/>
              </a:ext>
            </a:extLst>
          </p:cNvPr>
          <p:cNvSpPr/>
          <p:nvPr/>
        </p:nvSpPr>
        <p:spPr>
          <a:xfrm>
            <a:off x="5836108" y="4406606"/>
            <a:ext cx="416302" cy="4163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8E471C1-CE7B-5156-F446-3291F70A493E}"/>
              </a:ext>
            </a:extLst>
          </p:cNvPr>
          <p:cNvSpPr/>
          <p:nvPr/>
        </p:nvSpPr>
        <p:spPr>
          <a:xfrm>
            <a:off x="2924627" y="4439727"/>
            <a:ext cx="416302" cy="4163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latin typeface="Century Gothic" panose="020B0502020202020204" pitchFamily="34" charset="0"/>
              </a:rPr>
              <a:t>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25BDFB-AA3C-7946-B254-5E1C41C34A0B}"/>
              </a:ext>
            </a:extLst>
          </p:cNvPr>
          <p:cNvSpPr/>
          <p:nvPr/>
        </p:nvSpPr>
        <p:spPr>
          <a:xfrm>
            <a:off x="1215392" y="2766121"/>
            <a:ext cx="1140501" cy="26831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Commande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5AF0969-4025-F058-DFB1-760DBA7E6914}"/>
              </a:ext>
            </a:extLst>
          </p:cNvPr>
          <p:cNvSpPr/>
          <p:nvPr/>
        </p:nvSpPr>
        <p:spPr>
          <a:xfrm>
            <a:off x="4545330" y="2766120"/>
            <a:ext cx="1140501" cy="26831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Planification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B82CB6-2F19-95AA-FD80-436B4FCA5377}"/>
              </a:ext>
            </a:extLst>
          </p:cNvPr>
          <p:cNvSpPr/>
          <p:nvPr/>
        </p:nvSpPr>
        <p:spPr>
          <a:xfrm>
            <a:off x="4916138" y="4958437"/>
            <a:ext cx="2314851" cy="5021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Installation et paramétrage de la configuration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C08BA00-C47E-3979-8677-4D6A8B0DA6E0}"/>
              </a:ext>
            </a:extLst>
          </p:cNvPr>
          <p:cNvSpPr/>
          <p:nvPr/>
        </p:nvSpPr>
        <p:spPr>
          <a:xfrm>
            <a:off x="2249925" y="4954923"/>
            <a:ext cx="1765706" cy="50211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latin typeface="Arial Nova" panose="020B0504020202020204" pitchFamily="34" charset="0"/>
              </a:rPr>
              <a:t>Votre poste est sous contrôle</a:t>
            </a:r>
          </a:p>
        </p:txBody>
      </p:sp>
      <p:pic>
        <p:nvPicPr>
          <p:cNvPr id="5" name="Image 4" descr="Une image contenant habits, personne, Pantalons, Coude&#10;&#10;Le contenu généré par l’IA peut être incorrect.">
            <a:extLst>
              <a:ext uri="{FF2B5EF4-FFF2-40B4-BE49-F238E27FC236}">
                <a16:creationId xmlns:a16="http://schemas.microsoft.com/office/drawing/2014/main" id="{49BCBD64-74B2-D727-E36D-5A8DDE72905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6261037" y="2019942"/>
            <a:ext cx="3966563" cy="5948631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1A1F1CE-63CA-00DD-E6F9-CF294F8AA431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AC887657-5D26-30A7-E38D-B1FAD205A05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6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BD580DF-F85B-559E-B513-614452A7329A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3" name="Espace réservé du texte 26">
            <a:extLst>
              <a:ext uri="{FF2B5EF4-FFF2-40B4-BE49-F238E27FC236}">
                <a16:creationId xmlns:a16="http://schemas.microsoft.com/office/drawing/2014/main" id="{2C754AFC-81FF-1450-EC4E-00F0C9B98E5A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NOTRE SERVICE CLIENTS</a:t>
            </a:r>
          </a:p>
        </p:txBody>
      </p:sp>
      <p:pic>
        <p:nvPicPr>
          <p:cNvPr id="14" name="Image 1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3666A70-2F21-1A38-C256-983159B877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17E5445C-6C88-A936-00E5-27BC1412B16F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DFC26-992E-7B0A-E49B-296D70DF659E}"/>
              </a:ext>
            </a:extLst>
          </p:cNvPr>
          <p:cNvSpPr/>
          <p:nvPr/>
        </p:nvSpPr>
        <p:spPr>
          <a:xfrm rot="21441033">
            <a:off x="812123" y="1203727"/>
            <a:ext cx="2327319" cy="400943"/>
          </a:xfrm>
          <a:prstGeom prst="rect">
            <a:avLst/>
          </a:prstGeom>
          <a:solidFill>
            <a:srgbClr val="E94B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01929">
              <a:defRPr/>
            </a:pPr>
            <a:r>
              <a:rPr lang="fr-FR" sz="2105" b="1" dirty="0">
                <a:solidFill>
                  <a:schemeClr val="bg1"/>
                </a:solidFill>
                <a:latin typeface="Arial Nova"/>
              </a:rPr>
              <a:t>100% MAISON !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CFAF7AE0-0695-5430-43F7-2FB24FC4B3E2}"/>
              </a:ext>
            </a:extLst>
          </p:cNvPr>
          <p:cNvSpPr txBox="1"/>
          <p:nvPr/>
        </p:nvSpPr>
        <p:spPr>
          <a:xfrm>
            <a:off x="663535" y="2726389"/>
            <a:ext cx="356059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01929">
              <a:defRPr/>
            </a:pPr>
            <a:r>
              <a:rPr lang="fr-FR" sz="1400" dirty="0" err="1">
                <a:solidFill>
                  <a:srgbClr val="434341"/>
                </a:solidFill>
                <a:latin typeface="Arial Nova" panose="020B0504020202020204" pitchFamily="34" charset="0"/>
              </a:rPr>
              <a:t>Koesio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prend vos défis à cœur au quotidien. 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C’est pourquoi, nous avons fait le choix d’</a:t>
            </a:r>
            <a:r>
              <a:rPr lang="fr-FR" sz="1400" b="1" dirty="0">
                <a:solidFill>
                  <a:srgbClr val="434341"/>
                </a:solidFill>
                <a:latin typeface="Arial Nova" panose="020B0504020202020204" pitchFamily="34" charset="0"/>
              </a:rPr>
              <a:t>internaliser notre service client</a:t>
            </a: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 pour vous garantir une plus grande proximité et réactivité.</a:t>
            </a: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b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</a:br>
            <a:r>
              <a:rPr lang="fr-FR" sz="1400" dirty="0">
                <a:solidFill>
                  <a:srgbClr val="434341"/>
                </a:solidFill>
                <a:latin typeface="Arial Nova" panose="020B0504020202020204" pitchFamily="34" charset="0"/>
              </a:rPr>
              <a:t>Administratifs, commerciaux, logisticiens, préparateurs, techniciens, ils mettent leur savoir-faire à votre service au quotidien. 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229206B-2A88-E02D-703D-6170E052A87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21332067">
            <a:off x="3219904" y="1233416"/>
            <a:ext cx="399265" cy="272082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7A33B74-A714-EDC8-DF4E-3854E4880055}"/>
              </a:ext>
            </a:extLst>
          </p:cNvPr>
          <p:cNvSpPr/>
          <p:nvPr/>
        </p:nvSpPr>
        <p:spPr>
          <a:xfrm>
            <a:off x="5567778" y="492251"/>
            <a:ext cx="4689231" cy="10185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COMMERCIAL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Réponse au prospect, rédaction d’une proposition commerciale, vie du contrat client, renouvellement contrat, up-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r>
              <a:rPr lang="fr-FR" sz="1400" dirty="0">
                <a:latin typeface="Arial Nova" panose="020B0504020202020204" pitchFamily="34" charset="0"/>
              </a:rPr>
              <a:t>, cross-</a:t>
            </a:r>
            <a:r>
              <a:rPr lang="fr-FR" sz="1400" dirty="0" err="1">
                <a:latin typeface="Arial Nova" panose="020B0504020202020204" pitchFamily="34" charset="0"/>
              </a:rPr>
              <a:t>selling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FC64BD-1DEE-DBF6-E1A3-9E713ED63DBC}"/>
              </a:ext>
            </a:extLst>
          </p:cNvPr>
          <p:cNvSpPr/>
          <p:nvPr/>
        </p:nvSpPr>
        <p:spPr>
          <a:xfrm>
            <a:off x="5567778" y="1711451"/>
            <a:ext cx="4689231" cy="101853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ADV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Commande fournisseurs, programmation des livraisons, montage des contrats et facturation, vie du contrat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1C041E-DC90-D843-8DED-62DA9E1A395C}"/>
              </a:ext>
            </a:extLst>
          </p:cNvPr>
          <p:cNvSpPr/>
          <p:nvPr/>
        </p:nvSpPr>
        <p:spPr>
          <a:xfrm>
            <a:off x="5567778" y="2930651"/>
            <a:ext cx="4689231" cy="1018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LOGISTIQUE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Préparation des matériels, livraison, installation chez nos clients, gestion des pièces détachées &amp; envoi consommables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33B958-4174-B1E3-B6F2-F57DF3E28359}"/>
              </a:ext>
            </a:extLst>
          </p:cNvPr>
          <p:cNvSpPr/>
          <p:nvPr/>
        </p:nvSpPr>
        <p:spPr>
          <a:xfrm>
            <a:off x="5567778" y="4149851"/>
            <a:ext cx="4689231" cy="101853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TECHNIQUE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Déploiement des matériels &amp; formation des utilisateurs, support téléphonique, visites préventives ou curatives</a:t>
            </a:r>
            <a:endParaRPr lang="fr-FR" dirty="0">
              <a:latin typeface="Arial Nova" panose="020B05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17B16B-61CB-03C7-B711-4D6349526752}"/>
              </a:ext>
            </a:extLst>
          </p:cNvPr>
          <p:cNvSpPr/>
          <p:nvPr/>
        </p:nvSpPr>
        <p:spPr>
          <a:xfrm>
            <a:off x="5567777" y="5369051"/>
            <a:ext cx="4689231" cy="10185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b="1" dirty="0">
                <a:latin typeface="Arial Nova" panose="020B0504020202020204" pitchFamily="34" charset="0"/>
              </a:rPr>
              <a:t>SERVICE CLIENT</a:t>
            </a:r>
            <a:br>
              <a:rPr lang="fr-FR" dirty="0">
                <a:latin typeface="Arial Nova" panose="020B0504020202020204" pitchFamily="34" charset="0"/>
              </a:rPr>
            </a:br>
            <a:r>
              <a:rPr lang="fr-FR" sz="1400" dirty="0">
                <a:latin typeface="Arial Nova" panose="020B0504020202020204" pitchFamily="34" charset="0"/>
              </a:rPr>
              <a:t>Suivi des installations, résiliation, réclamation, satisfaction clients</a:t>
            </a:r>
            <a:endParaRPr lang="fr-FR" dirty="0">
              <a:latin typeface="Arial Nova" panose="020B0504020202020204" pitchFamily="34" charset="0"/>
            </a:endParaRPr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24BA41DD-99FB-5E90-C857-30F6F9941A1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1427391"/>
            <a:ext cx="419782" cy="389314"/>
          </a:xfrm>
          <a:prstGeom prst="rect">
            <a:avLst/>
          </a:prstGeom>
        </p:spPr>
      </p:pic>
      <p:pic>
        <p:nvPicPr>
          <p:cNvPr id="25" name="Graphique 24">
            <a:extLst>
              <a:ext uri="{FF2B5EF4-FFF2-40B4-BE49-F238E27FC236}">
                <a16:creationId xmlns:a16="http://schemas.microsoft.com/office/drawing/2014/main" id="{A445022B-84D0-71A9-B36F-8EF9531E163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5004720" y="2712865"/>
            <a:ext cx="419782" cy="389314"/>
          </a:xfrm>
          <a:prstGeom prst="rect">
            <a:avLst/>
          </a:prstGeom>
        </p:spPr>
      </p:pic>
      <p:pic>
        <p:nvPicPr>
          <p:cNvPr id="26" name="Graphique 25">
            <a:extLst>
              <a:ext uri="{FF2B5EF4-FFF2-40B4-BE49-F238E27FC236}">
                <a16:creationId xmlns:a16="http://schemas.microsoft.com/office/drawing/2014/main" id="{CDABFB76-3E45-79C0-E212-F5A39BE769E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5" y="4014199"/>
            <a:ext cx="419782" cy="389314"/>
          </a:xfrm>
          <a:prstGeom prst="rect">
            <a:avLst/>
          </a:prstGeom>
        </p:spPr>
      </p:pic>
      <p:pic>
        <p:nvPicPr>
          <p:cNvPr id="27" name="Graphique 26">
            <a:extLst>
              <a:ext uri="{FF2B5EF4-FFF2-40B4-BE49-F238E27FC236}">
                <a16:creationId xmlns:a16="http://schemas.microsoft.com/office/drawing/2014/main" id="{46492920-6399-779A-ECB9-666315A569C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604998">
            <a:off x="4996856" y="5382102"/>
            <a:ext cx="419782" cy="38931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C63523DB-E7CD-C536-C8F0-FAC8E79FF2B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6826C1C-9723-9BE5-E9DC-FA321D67EC0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29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4C73A-951D-07E4-F708-96C567D7E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ZoneTexte 59">
            <a:extLst>
              <a:ext uri="{FF2B5EF4-FFF2-40B4-BE49-F238E27FC236}">
                <a16:creationId xmlns:a16="http://schemas.microsoft.com/office/drawing/2014/main" id="{B60F26DD-0FB2-EE0D-9CE7-32CABECB2DDC}"/>
              </a:ext>
            </a:extLst>
          </p:cNvPr>
          <p:cNvSpPr txBox="1"/>
          <p:nvPr/>
        </p:nvSpPr>
        <p:spPr>
          <a:xfrm>
            <a:off x="604403" y="1160585"/>
            <a:ext cx="5906566" cy="578363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fr-FR" sz="1579" b="1" dirty="0">
                <a:solidFill>
                  <a:prstClr val="white"/>
                </a:solidFill>
                <a:latin typeface="Arial Nova" panose="020B0504020202020204" pitchFamily="34" charset="0"/>
              </a:rPr>
              <a:t>NOUS MAINTENONS EN CONDITIONS OPÉRATIONNELLES VOTRE SOLUTION DE POSTE DE TRAVAIL MANAGE</a:t>
            </a:r>
          </a:p>
        </p:txBody>
      </p:sp>
      <p:pic>
        <p:nvPicPr>
          <p:cNvPr id="80" name="Image 79">
            <a:extLst>
              <a:ext uri="{FF2B5EF4-FFF2-40B4-BE49-F238E27FC236}">
                <a16:creationId xmlns:a16="http://schemas.microsoft.com/office/drawing/2014/main" id="{6CC1C16B-0804-F590-9A62-DC00629C26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59775" y="1405927"/>
            <a:ext cx="4440046" cy="6658149"/>
          </a:xfrm>
          <a:prstGeom prst="rect">
            <a:avLst/>
          </a:prstGeom>
        </p:spPr>
      </p:pic>
      <p:sp>
        <p:nvSpPr>
          <p:cNvPr id="109" name="ZoneTexte 108">
            <a:extLst>
              <a:ext uri="{FF2B5EF4-FFF2-40B4-BE49-F238E27FC236}">
                <a16:creationId xmlns:a16="http://schemas.microsoft.com/office/drawing/2014/main" id="{6986DE46-AB84-A4CD-4E25-B3536FBD7361}"/>
              </a:ext>
            </a:extLst>
          </p:cNvPr>
          <p:cNvSpPr txBox="1"/>
          <p:nvPr/>
        </p:nvSpPr>
        <p:spPr>
          <a:xfrm>
            <a:off x="552271" y="1828302"/>
            <a:ext cx="6135018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Réduction des interruptions et des incidents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Moins de pannes grâce à une surveillance proactive et une gestion préventive.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Visibilité totale sur l’ensemble du parc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Une gestion centralisée pour un suivi complet de tous les postes de travail.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Mises à jour et maintenance centralisées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Nos équipes veillent à la mise à jour régulière de la solution que tous les postes soient toujours à jour et performants sans effort supplémentaire.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du système (disponibilité)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nous assurons de la disponibilité de vos postes avec une surveillance constante dans nos outils.</a:t>
            </a: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Supervision des performances (qualité)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Nous supervisons les éléments clés des postes pour vérifier la bonne performance de vos postes.</a:t>
            </a:r>
          </a:p>
          <a:p>
            <a:pPr marL="171450" indent="-171450">
              <a:buClr>
                <a:srgbClr val="EE5653"/>
              </a:buClr>
              <a:buFont typeface="Arial" panose="020B0604020202020204" pitchFamily="34" charset="0"/>
              <a:buChar char="•"/>
            </a:pPr>
            <a:endParaRPr lang="fr-FR" sz="11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Coût prévisible et réduction des dépenses IT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Planifiez vos dépenses IT avec un coût mensuel fixe et une gestion optimisée des ressources.</a:t>
            </a:r>
          </a:p>
          <a:p>
            <a:pPr>
              <a:buClr>
                <a:srgbClr val="EE5653"/>
              </a:buClr>
            </a:pPr>
            <a:endParaRPr lang="fr-FR" sz="1400" dirty="0">
              <a:latin typeface="Arial Nova" panose="020B0504020202020204" pitchFamily="34" charset="0"/>
            </a:endParaRPr>
          </a:p>
          <a:p>
            <a:pPr marL="285750" indent="-285750">
              <a:buClr>
                <a:srgbClr val="EE5653"/>
              </a:buClr>
              <a:buFont typeface="Arial" panose="020B0604020202020204" pitchFamily="34" charset="0"/>
              <a:buChar char="•"/>
            </a:pPr>
            <a:r>
              <a:rPr lang="fr-FR" sz="1400" b="1" dirty="0">
                <a:latin typeface="Arial Nova" panose="020B0504020202020204" pitchFamily="34" charset="0"/>
              </a:rPr>
              <a:t>Assistance technique en temps réel :</a:t>
            </a:r>
          </a:p>
          <a:p>
            <a:pPr>
              <a:buClr>
                <a:srgbClr val="EE5653"/>
              </a:buClr>
            </a:pPr>
            <a:r>
              <a:rPr lang="fr-FR" sz="1100" dirty="0">
                <a:latin typeface="Arial Nova" panose="020B0504020202020204" pitchFamily="34" charset="0"/>
              </a:rPr>
              <a:t>Bénéficiez d’une assistance instantanée pour résoudre rapidement tous les problèmes techniques.</a:t>
            </a:r>
            <a:endParaRPr lang="fr-FR" sz="1400" dirty="0">
              <a:latin typeface="Arial Nova" panose="020B05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96B100-4374-F66A-A176-26AD96874369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9" name="Espace réservé du texte 26">
            <a:extLst>
              <a:ext uri="{FF2B5EF4-FFF2-40B4-BE49-F238E27FC236}">
                <a16:creationId xmlns:a16="http://schemas.microsoft.com/office/drawing/2014/main" id="{84C5C201-2530-64CD-83C4-E88CC510AD9B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 dirty="0">
                <a:latin typeface="Century Gothic" panose="020B0502020202020204" pitchFamily="34" charset="0"/>
              </a:rPr>
              <a:t>NOS SERVICES ASSOCIÉS</a:t>
            </a:r>
          </a:p>
        </p:txBody>
      </p:sp>
      <p:pic>
        <p:nvPicPr>
          <p:cNvPr id="10" name="Image 9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8412A5AA-5E9A-A485-490F-C5571B3EE7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4CEFAF9-0394-F35C-8A0A-7E6056703B49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5CBD0AA-FA43-1891-BD55-DE128C657272}"/>
              </a:ext>
            </a:extLst>
          </p:cNvPr>
          <p:cNvSpPr txBox="1"/>
          <p:nvPr/>
        </p:nvSpPr>
        <p:spPr>
          <a:xfrm>
            <a:off x="7373855" y="994320"/>
            <a:ext cx="2539399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i="1" dirty="0">
                <a:latin typeface="Century Gothic" panose="020B0502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Le + de la solution :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HOTLINE ILLIMITEE </a:t>
            </a:r>
          </a:p>
          <a:p>
            <a:pPr algn="ctr"/>
            <a:r>
              <a:rPr lang="fr-FR" sz="1300" i="1" dirty="0">
                <a:latin typeface="Arial Nova" panose="020B0504020202020204" pitchFamily="34" charset="0"/>
                <a:ea typeface="STHupo" panose="020B0503020204020204" pitchFamily="2" charset="-122"/>
                <a:cs typeface="Aharoni" panose="02010803020104030203" pitchFamily="2" charset="-79"/>
                <a:sym typeface="Roboto Bold"/>
              </a:rPr>
              <a:t>A VOTRE DISPOSITION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4BF2A4-E5ED-70C3-9208-F4F6A26C97AA}"/>
              </a:ext>
            </a:extLst>
          </p:cNvPr>
          <p:cNvSpPr/>
          <p:nvPr/>
        </p:nvSpPr>
        <p:spPr>
          <a:xfrm>
            <a:off x="7282149" y="886416"/>
            <a:ext cx="2722812" cy="974360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BB3F29AF-3BF0-D269-3AA7-7062B4E60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6044" y="519887"/>
            <a:ext cx="449342" cy="448608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18FF20F-0BC1-23BA-B575-41F49E3443E0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E5547F-5FC4-38F0-B9AE-90B72F8AC3A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276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533C4-C03E-18DE-2EBF-D3120954F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ordinateur, Visage humain, habits, ordinateur portable&#10;&#10;Le contenu généré par l’IA peut être incorrect.">
            <a:extLst>
              <a:ext uri="{FF2B5EF4-FFF2-40B4-BE49-F238E27FC236}">
                <a16:creationId xmlns:a16="http://schemas.microsoft.com/office/drawing/2014/main" id="{82AB2FE1-E6B4-0C6B-4C9B-67DCA9034E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07060" y="2985494"/>
            <a:ext cx="2538523" cy="213705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4D2E44C-D669-7F59-4869-28351FD8034D}"/>
              </a:ext>
            </a:extLst>
          </p:cNvPr>
          <p:cNvSpPr/>
          <p:nvPr/>
        </p:nvSpPr>
        <p:spPr>
          <a:xfrm>
            <a:off x="8113153" y="445972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064F35-A697-8A41-31C0-C96FEFBCBAC0}"/>
              </a:ext>
            </a:extLst>
          </p:cNvPr>
          <p:cNvSpPr/>
          <p:nvPr/>
        </p:nvSpPr>
        <p:spPr>
          <a:xfrm>
            <a:off x="7594591" y="1972143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4B05FB-0574-7F43-7DD9-2DABF218CF0F}"/>
              </a:ext>
            </a:extLst>
          </p:cNvPr>
          <p:cNvSpPr/>
          <p:nvPr/>
        </p:nvSpPr>
        <p:spPr>
          <a:xfrm>
            <a:off x="5053238" y="116454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250F48F-A9BF-403B-798E-6EA5245D6AA4}"/>
              </a:ext>
            </a:extLst>
          </p:cNvPr>
          <p:cNvSpPr txBox="1"/>
          <p:nvPr/>
        </p:nvSpPr>
        <p:spPr>
          <a:xfrm>
            <a:off x="7019353" y="3100169"/>
            <a:ext cx="1773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Réduction des interruptions et des pannes.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CAA59E-3EC0-3D62-596C-408BE376834B}"/>
              </a:ext>
            </a:extLst>
          </p:cNvPr>
          <p:cNvSpPr txBox="1"/>
          <p:nvPr/>
        </p:nvSpPr>
        <p:spPr>
          <a:xfrm>
            <a:off x="4483611" y="2204486"/>
            <a:ext cx="18581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Des postes toujours a jours pour éviter les failles de sécurité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7FF81-2E87-F71C-C74D-BDE6AFB5B94E}"/>
              </a:ext>
            </a:extLst>
          </p:cNvPr>
          <p:cNvSpPr/>
          <p:nvPr/>
        </p:nvSpPr>
        <p:spPr>
          <a:xfrm>
            <a:off x="2273946" y="4521454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553BFC-E26A-73B4-716C-501E9F0A7CA0}"/>
              </a:ext>
            </a:extLst>
          </p:cNvPr>
          <p:cNvSpPr/>
          <p:nvPr/>
        </p:nvSpPr>
        <p:spPr>
          <a:xfrm>
            <a:off x="5185945" y="5573578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4F9B6545-7346-6AF4-4E5A-E72496B47BB6}"/>
              </a:ext>
            </a:extLst>
          </p:cNvPr>
          <p:cNvSpPr txBox="1"/>
          <p:nvPr/>
        </p:nvSpPr>
        <p:spPr>
          <a:xfrm>
            <a:off x="4283171" y="6673271"/>
            <a:ext cx="2455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offre forfaitaire sans surprise.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DE96C45-97B5-9011-CF4A-B99915A17B6F}"/>
              </a:ext>
            </a:extLst>
          </p:cNvPr>
          <p:cNvSpPr txBox="1"/>
          <p:nvPr/>
        </p:nvSpPr>
        <p:spPr>
          <a:xfrm>
            <a:off x="1480001" y="5661772"/>
            <a:ext cx="2240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Une supervision et un contrôle total du parc informatique.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144DBA-45EB-AFD6-2B00-8FEFEBEC824F}"/>
              </a:ext>
            </a:extLst>
          </p:cNvPr>
          <p:cNvSpPr/>
          <p:nvPr/>
        </p:nvSpPr>
        <p:spPr>
          <a:xfrm>
            <a:off x="2376089" y="1904782"/>
            <a:ext cx="543346" cy="5668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79" dirty="0">
              <a:solidFill>
                <a:schemeClr val="tx1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C8CAF60B-EB9B-A0D9-C63B-3589EF44D26C}"/>
              </a:ext>
            </a:extLst>
          </p:cNvPr>
          <p:cNvSpPr txBox="1"/>
          <p:nvPr/>
        </p:nvSpPr>
        <p:spPr>
          <a:xfrm>
            <a:off x="1400225" y="3008132"/>
            <a:ext cx="24036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Nous mettons en place les standards de sécurité et étudions les éléments spécifiques de votre entreprise pour compléter le paramétrage.</a:t>
            </a:r>
            <a:endParaRPr lang="fr-FR" sz="1200" baseline="30000" dirty="0"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EBB2925E-2D27-4A5B-E5AA-ED4B112EE3AD}"/>
              </a:ext>
            </a:extLst>
          </p:cNvPr>
          <p:cNvSpPr txBox="1"/>
          <p:nvPr/>
        </p:nvSpPr>
        <p:spPr>
          <a:xfrm>
            <a:off x="7132295" y="5567161"/>
            <a:ext cx="2609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Arial Nova" panose="020B0504020202020204" pitchFamily="34" charset="0"/>
                <a:cs typeface="Arial" panose="020B0604020202020204" pitchFamily="34" charset="0"/>
              </a:rPr>
              <a:t>Protection et performance garanties.</a:t>
            </a:r>
          </a:p>
        </p:txBody>
      </p:sp>
      <p:pic>
        <p:nvPicPr>
          <p:cNvPr id="55" name="Graphique 54" descr="Engrenage avec un remplissage uni">
            <a:extLst>
              <a:ext uri="{FF2B5EF4-FFF2-40B4-BE49-F238E27FC236}">
                <a16:creationId xmlns:a16="http://schemas.microsoft.com/office/drawing/2014/main" id="{872EC452-0D5C-27F9-F78E-EE40B1AEEA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6169" y="1950859"/>
            <a:ext cx="474647" cy="474647"/>
          </a:xfrm>
          <a:prstGeom prst="rect">
            <a:avLst/>
          </a:prstGeom>
        </p:spPr>
      </p:pic>
      <p:pic>
        <p:nvPicPr>
          <p:cNvPr id="59" name="Graphique 58" descr="Sablier plein avec un remplissage uni">
            <a:extLst>
              <a:ext uri="{FF2B5EF4-FFF2-40B4-BE49-F238E27FC236}">
                <a16:creationId xmlns:a16="http://schemas.microsoft.com/office/drawing/2014/main" id="{9DBE9FAA-D9BB-3125-73EA-A250666144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62757" y="4499556"/>
            <a:ext cx="487133" cy="487133"/>
          </a:xfrm>
          <a:prstGeom prst="rect">
            <a:avLst/>
          </a:prstGeom>
        </p:spPr>
      </p:pic>
      <p:pic>
        <p:nvPicPr>
          <p:cNvPr id="27" name="Graphique 26" descr="Bouclier coche avec un remplissage uni">
            <a:extLst>
              <a:ext uri="{FF2B5EF4-FFF2-40B4-BE49-F238E27FC236}">
                <a16:creationId xmlns:a16="http://schemas.microsoft.com/office/drawing/2014/main" id="{1376E51E-039B-4EDF-51F7-946BEB48EE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11832" y="1199703"/>
            <a:ext cx="452252" cy="452252"/>
          </a:xfrm>
          <a:prstGeom prst="rect">
            <a:avLst/>
          </a:prstGeom>
        </p:spPr>
      </p:pic>
      <p:pic>
        <p:nvPicPr>
          <p:cNvPr id="50" name="Graphique 49" descr="Internet avec un remplissage uni">
            <a:extLst>
              <a:ext uri="{FF2B5EF4-FFF2-40B4-BE49-F238E27FC236}">
                <a16:creationId xmlns:a16="http://schemas.microsoft.com/office/drawing/2014/main" id="{C23483F4-6F85-CEDB-4027-C3A4719591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8077" y="2023698"/>
            <a:ext cx="485830" cy="485830"/>
          </a:xfrm>
          <a:prstGeom prst="rect">
            <a:avLst/>
          </a:prstGeom>
        </p:spPr>
      </p:pic>
      <p:pic>
        <p:nvPicPr>
          <p:cNvPr id="60" name="Graphique 59" descr="Diable avec un remplissage uni">
            <a:extLst>
              <a:ext uri="{FF2B5EF4-FFF2-40B4-BE49-F238E27FC236}">
                <a16:creationId xmlns:a16="http://schemas.microsoft.com/office/drawing/2014/main" id="{4C71C00F-19A6-98BE-5F50-16AD36D3E9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89422" y="4543587"/>
            <a:ext cx="497339" cy="497339"/>
          </a:xfrm>
          <a:prstGeom prst="rect">
            <a:avLst/>
          </a:prstGeom>
        </p:spPr>
      </p:pic>
      <p:pic>
        <p:nvPicPr>
          <p:cNvPr id="64" name="Graphique 63" descr="Covid-19 avec un remplissage uni">
            <a:extLst>
              <a:ext uri="{FF2B5EF4-FFF2-40B4-BE49-F238E27FC236}">
                <a16:creationId xmlns:a16="http://schemas.microsoft.com/office/drawing/2014/main" id="{352315A9-151A-F827-46FE-623B2812F3F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12139" y="5618617"/>
            <a:ext cx="491359" cy="49135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415B455-77BB-BFB8-CDAC-3FBB128EF65C}"/>
              </a:ext>
            </a:extLst>
          </p:cNvPr>
          <p:cNvSpPr/>
          <p:nvPr/>
        </p:nvSpPr>
        <p:spPr>
          <a:xfrm>
            <a:off x="0" y="0"/>
            <a:ext cx="203515" cy="7560000"/>
          </a:xfrm>
          <a:prstGeom prst="rect">
            <a:avLst/>
          </a:prstGeom>
          <a:solidFill>
            <a:srgbClr val="29A6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88" dirty="0"/>
          </a:p>
        </p:txBody>
      </p:sp>
      <p:sp>
        <p:nvSpPr>
          <p:cNvPr id="18" name="Espace réservé du texte 26">
            <a:extLst>
              <a:ext uri="{FF2B5EF4-FFF2-40B4-BE49-F238E27FC236}">
                <a16:creationId xmlns:a16="http://schemas.microsoft.com/office/drawing/2014/main" id="{EBBB04B3-310F-175A-B718-463D1F796515}"/>
              </a:ext>
            </a:extLst>
          </p:cNvPr>
          <p:cNvSpPr txBox="1">
            <a:spLocks/>
          </p:cNvSpPr>
          <p:nvPr/>
        </p:nvSpPr>
        <p:spPr>
          <a:xfrm>
            <a:off x="629636" y="187291"/>
            <a:ext cx="6856866" cy="79725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1007943" rtl="0" eaLnBrk="1" latinLnBrk="0" hangingPunct="1">
              <a:lnSpc>
                <a:spcPct val="90000"/>
              </a:lnSpc>
              <a:spcBef>
                <a:spcPts val="1102"/>
              </a:spcBef>
              <a:buFont typeface="Arial" panose="020B0604020202020204" pitchFamily="34" charset="0"/>
              <a:buNone/>
              <a:defRPr sz="1842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75595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6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9929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220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3900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7872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71844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75815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9787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83758" indent="-251986" algn="l" defTabSz="1007943" rtl="0" eaLnBrk="1" latinLnBrk="0" hangingPunct="1">
              <a:lnSpc>
                <a:spcPct val="90000"/>
              </a:lnSpc>
              <a:spcBef>
                <a:spcPts val="551"/>
              </a:spcBef>
              <a:buFont typeface="Arial" panose="020B0604020202020204" pitchFamily="34" charset="0"/>
              <a:buChar char="•"/>
              <a:defRPr sz="198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2100" dirty="0">
                <a:latin typeface="Century Gothic" panose="020B0502020202020204" pitchFamily="34" charset="0"/>
              </a:rPr>
              <a:t>La solution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fr-FR" sz="1800" b="0">
                <a:latin typeface="Century Gothic"/>
              </a:rPr>
              <a:t>RÉCAPITULATIF DES ATOUTS DES POSTES </a:t>
            </a:r>
            <a:r>
              <a:rPr lang="fr-FR" sz="1800" b="0" err="1">
                <a:latin typeface="Century Gothic"/>
              </a:rPr>
              <a:t>MANAGÉS</a:t>
            </a:r>
            <a:endParaRPr lang="fr-FR" sz="1800" b="0">
              <a:latin typeface="Century Gothic" panose="020B0502020202020204" pitchFamily="34" charset="0"/>
            </a:endParaRPr>
          </a:p>
        </p:txBody>
      </p:sp>
      <p:pic>
        <p:nvPicPr>
          <p:cNvPr id="34" name="Image 33" descr="Une image contenant Police, Graphique, logo, texte&#10;&#10;Description générée automatiquement">
            <a:extLst>
              <a:ext uri="{FF2B5EF4-FFF2-40B4-BE49-F238E27FC236}">
                <a16:creationId xmlns:a16="http://schemas.microsoft.com/office/drawing/2014/main" id="{9539FD24-A16E-3A5D-6969-9C4EF13A108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8841" y="229540"/>
            <a:ext cx="1075840" cy="26896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ECAFA18-A5F7-CA63-27FE-A55C352DB4CB}"/>
              </a:ext>
            </a:extLst>
          </p:cNvPr>
          <p:cNvSpPr/>
          <p:nvPr/>
        </p:nvSpPr>
        <p:spPr>
          <a:xfrm>
            <a:off x="1" y="302470"/>
            <a:ext cx="552270" cy="189781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fr-FR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ED515-8EC8-65FF-6308-858FAF591014}"/>
              </a:ext>
            </a:extLst>
          </p:cNvPr>
          <p:cNvSpPr/>
          <p:nvPr/>
        </p:nvSpPr>
        <p:spPr>
          <a:xfrm>
            <a:off x="4343471" y="194101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Sécurité renforcée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71EE7EE-E25B-0538-24E9-C38882A0D0A4}"/>
              </a:ext>
            </a:extLst>
          </p:cNvPr>
          <p:cNvSpPr/>
          <p:nvPr/>
        </p:nvSpPr>
        <p:spPr>
          <a:xfrm>
            <a:off x="6808333" y="2797658"/>
            <a:ext cx="2207656" cy="2457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Maintenance Proactive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913A375-550E-2275-8A75-9BAED4528D88}"/>
              </a:ext>
            </a:extLst>
          </p:cNvPr>
          <p:cNvSpPr/>
          <p:nvPr/>
        </p:nvSpPr>
        <p:spPr>
          <a:xfrm>
            <a:off x="7019221" y="5192292"/>
            <a:ext cx="2755979" cy="2840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Mises à Jour Automatisées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DA23C57-3BB2-CBCB-18C4-676765B1998D}"/>
              </a:ext>
            </a:extLst>
          </p:cNvPr>
          <p:cNvSpPr/>
          <p:nvPr/>
        </p:nvSpPr>
        <p:spPr>
          <a:xfrm>
            <a:off x="4473131" y="6325278"/>
            <a:ext cx="2065702" cy="254237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 Coût Maîtrisé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D246573-49B6-6F75-537C-B4EBED859310}"/>
              </a:ext>
            </a:extLst>
          </p:cNvPr>
          <p:cNvSpPr/>
          <p:nvPr/>
        </p:nvSpPr>
        <p:spPr>
          <a:xfrm>
            <a:off x="1332769" y="5238335"/>
            <a:ext cx="2538523" cy="2900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Gestion Centralisée</a:t>
            </a:r>
            <a:endParaRPr lang="fr-FR" sz="14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2AF5073-EEA4-77C1-5743-EAFBEA8C0D5B}"/>
              </a:ext>
            </a:extLst>
          </p:cNvPr>
          <p:cNvSpPr/>
          <p:nvPr/>
        </p:nvSpPr>
        <p:spPr>
          <a:xfrm>
            <a:off x="1315253" y="2651687"/>
            <a:ext cx="2588768" cy="29367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latin typeface="Arial Nova" panose="020B0504020202020204" pitchFamily="34" charset="0"/>
              </a:rPr>
              <a:t>Configuration personnalisée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A553095-D55E-0CCA-25BB-9D65EFA4DDD9}"/>
              </a:ext>
            </a:extLst>
          </p:cNvPr>
          <p:cNvSpPr txBox="1"/>
          <p:nvPr/>
        </p:nvSpPr>
        <p:spPr>
          <a:xfrm>
            <a:off x="7559224" y="69352"/>
            <a:ext cx="31325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>
                <a:latin typeface="Arial Nova" panose="020B0504020202020204" pitchFamily="34" charset="0"/>
              </a:rPr>
              <a:t>| Notre solution technique – Poste de travail managé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A27597D-3CBB-D930-0914-019B7AB6D1A4}"/>
              </a:ext>
            </a:extLst>
          </p:cNvPr>
          <p:cNvPicPr>
            <a:picLocks noChangeAspect="1"/>
          </p:cNvPicPr>
          <p:nvPr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15956" y="6549900"/>
            <a:ext cx="760166" cy="760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567421"/>
      </p:ext>
    </p:extLst>
  </p:cSld>
  <p:clrMapOvr>
    <a:masterClrMapping/>
  </p:clrMapOvr>
</p:sld>
</file>

<file path=ppt/theme/theme1.xml><?xml version="1.0" encoding="utf-8"?>
<a:theme xmlns:a="http://schemas.openxmlformats.org/drawingml/2006/main" name="FIN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2.xml><?xml version="1.0" encoding="utf-8"?>
<a:theme xmlns:a="http://schemas.openxmlformats.org/drawingml/2006/main" name="PAGES DE GARDE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3.xml><?xml version="1.0" encoding="utf-8"?>
<a:theme xmlns:a="http://schemas.openxmlformats.org/drawingml/2006/main" name="GRANDS TITRES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6FCBF3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946AAB"/>
      </a:accent6>
      <a:hlink>
        <a:srgbClr val="6E398E"/>
      </a:hlink>
      <a:folHlink>
        <a:srgbClr val="946AAB"/>
      </a:folHlink>
    </a:clrScheme>
    <a:fontScheme name="Typo Koesio PPT">
      <a:majorFont>
        <a:latin typeface="Century Gothic"/>
        <a:ea typeface=""/>
        <a:cs typeface=""/>
      </a:majorFont>
      <a:minorFont>
        <a:latin typeface="Arial Nova"/>
        <a:ea typeface=""/>
        <a:cs typeface="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̀me1" id="{6D739038-0B1F-7042-B3CA-2CAA3A221791}" vid="{7D3B1C09-78F1-1843-A98E-6322F2DC7ACA}"/>
    </a:ext>
  </a:extLst>
</a:theme>
</file>

<file path=ppt/theme/theme4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</Words>
  <Application>Microsoft Office PowerPoint</Application>
  <PresentationFormat>Grand écran</PresentationFormat>
  <Paragraphs>13</Paragraphs>
  <Slides>14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Arial</vt:lpstr>
      <vt:lpstr>Arial Nova</vt:lpstr>
      <vt:lpstr>FIN</vt:lpstr>
      <vt:lpstr>PAGES DE GARDE</vt:lpstr>
      <vt:lpstr>GRANDS TITRES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Carla Rousseau</dc:creator>
  <cp:lastModifiedBy>Jeremy TREDANT</cp:lastModifiedBy>
  <cp:revision>4</cp:revision>
  <dcterms:created xsi:type="dcterms:W3CDTF">2024-02-01T13:27:01Z</dcterms:created>
  <dcterms:modified xsi:type="dcterms:W3CDTF">2025-11-11T22:53:52Z</dcterms:modified>
</cp:coreProperties>
</file>